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9" r:id="rId5"/>
    <p:sldMasterId id="2147483670" r:id="rId6"/>
    <p:sldMasterId id="214748368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</p:sldIdLst>
  <p:sldSz cy="6858000" cx="9144000"/>
  <p:notesSz cx="6858000" cy="9144000"/>
  <p:embeddedFontLst>
    <p:embeddedFont>
      <p:font typeface="Roboto"/>
      <p:regular r:id="rId52"/>
      <p:bold r:id="rId53"/>
      <p:italic r:id="rId54"/>
      <p:boldItalic r:id="rId55"/>
    </p:embeddedFont>
    <p:embeddedFont>
      <p:font typeface="Roboto Medium"/>
      <p:regular r:id="rId56"/>
      <p:bold r:id="rId57"/>
      <p:italic r:id="rId58"/>
      <p:boldItalic r:id="rId59"/>
    </p:embeddedFont>
    <p:embeddedFont>
      <p:font typeface="Gill Sans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84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2" roundtripDataSignature="AMtx7mib693EeNSf2Hfcf5VyXEFFByAN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84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5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2" Type="http://customschemas.google.com/relationships/presentationmetadata" Target="metadata"/><Relationship Id="rId61" Type="http://schemas.openxmlformats.org/officeDocument/2006/relationships/font" Target="fonts/GillSans-bold.fntdata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60" Type="http://schemas.openxmlformats.org/officeDocument/2006/relationships/font" Target="fonts/GillSans-regular.fntdata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font" Target="fonts/Roboto-bold.fntdata"/><Relationship Id="rId52" Type="http://schemas.openxmlformats.org/officeDocument/2006/relationships/font" Target="fonts/Roboto-regular.fntdata"/><Relationship Id="rId11" Type="http://schemas.openxmlformats.org/officeDocument/2006/relationships/slide" Target="slides/slide3.xml"/><Relationship Id="rId55" Type="http://schemas.openxmlformats.org/officeDocument/2006/relationships/font" Target="fonts/Roboto-boldItalic.fntdata"/><Relationship Id="rId10" Type="http://schemas.openxmlformats.org/officeDocument/2006/relationships/slide" Target="slides/slide2.xml"/><Relationship Id="rId54" Type="http://schemas.openxmlformats.org/officeDocument/2006/relationships/font" Target="fonts/Roboto-italic.fntdata"/><Relationship Id="rId13" Type="http://schemas.openxmlformats.org/officeDocument/2006/relationships/slide" Target="slides/slide5.xml"/><Relationship Id="rId57" Type="http://schemas.openxmlformats.org/officeDocument/2006/relationships/font" Target="fonts/RobotoMedium-bold.fntdata"/><Relationship Id="rId12" Type="http://schemas.openxmlformats.org/officeDocument/2006/relationships/slide" Target="slides/slide4.xml"/><Relationship Id="rId56" Type="http://schemas.openxmlformats.org/officeDocument/2006/relationships/font" Target="fonts/RobotoMedium-regular.fntdata"/><Relationship Id="rId15" Type="http://schemas.openxmlformats.org/officeDocument/2006/relationships/slide" Target="slides/slide7.xml"/><Relationship Id="rId59" Type="http://schemas.openxmlformats.org/officeDocument/2006/relationships/font" Target="fonts/RobotoMedium-boldItalic.fntdata"/><Relationship Id="rId14" Type="http://schemas.openxmlformats.org/officeDocument/2006/relationships/slide" Target="slides/slide6.xml"/><Relationship Id="rId58" Type="http://schemas.openxmlformats.org/officeDocument/2006/relationships/font" Target="fonts/RobotoMedium-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d409340aa3_0_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d409340aa3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7" name="Google Shape;35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a2a2ac745b_0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3" name="Google Shape;363;g3a2a2ac745b_0_13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a2a2ac745b_0_13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a2a2ac745b_0_1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a2a2ac745b_0_13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3a2a2ac745b_0_1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a2a2ac745b_0_13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3a2a2ac745b_0_1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rgbClr val="66666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a2a2ac745b_0_13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g3a2a2ac745b_0_1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2a2ac745b_0_13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g3a2a2ac745b_0_1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a2a2ac745b_0_1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8" name="Google Shape;458;g3a2a2ac745b_0_14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a2a2ac745b_0_1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4" name="Google Shape;464;g3a2a2ac745b_0_18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a2a2ac745b_0_19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g3a2a2ac745b_0_1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a2a2ac745b_0_19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g3a2a2ac745b_0_1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a2a2ac745b_0_19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g3a2a2ac745b_0_1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a2a2ac745b_0_19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g3a2a2ac745b_0_1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a2a2ac745b_0_19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g3a2a2ac745b_0_1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a2a2ac745b_0_19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g3a2a2ac745b_0_1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a2a2ac745b_0_19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g3a2a2ac745b_0_1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a2a2ac745b_0_20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g3a2a2ac745b_0_2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a2a2ac745b_0_20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g3a2a2ac745b_0_2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a2a2ac745b_0_20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g3a2a2ac745b_0_2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a2a2ac745b_0_20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g3a2a2ac745b_0_2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a2a2ac745b_0_20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g3a2a2ac745b_0_2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a2a2ac745b_0_2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2" name="Google Shape;662;g3a2a2ac745b_0_20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a2a2ac745b_0_2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8" name="Google Shape;668;g3a2a2ac745b_0_22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a2a2ac745b_0_22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g3a2a2ac745b_0_2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a2a2ac745b_0_22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g3a2a2ac745b_0_2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a2a2ac745b_0_22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g3a2a2ac745b_0_2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a2a2ac745b_0_22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g3a2a2ac745b_0_2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a2a2ac745b_0_23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7" name="Google Shape;747;g3a2a2ac745b_0_2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a2a2ac745b_0_23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g3a2a2ac745b_0_2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a2a2ac745b_0_23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8" name="Google Shape;788;g3a2a2ac745b_0_2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a2a2ac745b_0_2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3" name="Google Shape;793;g3a2a2ac745b_0_23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a2a2ac745b_0_2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9" name="Google Shape;799;g3a2a2ac745b_0_24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a2a2ac745b_0_2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7" name="Google Shape;807;g3a2a2ac745b_0_25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a2a2ac745b_0_2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3" name="Google Shape;813;g3a2a2ac745b_0_25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a2a2ac745b_0_2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0" name="Google Shape;820;g3a2a2ac745b_0_25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a2a2ac745b_0_2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7" name="Google Shape;827;g3a2a2ac745b_0_25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a2a2ac745b_0_2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4" name="Google Shape;834;g3a2a2ac745b_0_25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a2a2ac745b_0_2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1" name="Google Shape;841;g3a2a2ac745b_0_25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a2a2ac745b_0_2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8" name="Google Shape;848;g3a2a2ac745b_0_25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body"/>
          </p:nvPr>
        </p:nvSpPr>
        <p:spPr>
          <a:xfrm>
            <a:off x="254000" y="1209040"/>
            <a:ext cx="8625840" cy="4561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9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9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5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0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0"/>
          <p:cNvSpPr txBox="1"/>
          <p:nvPr>
            <p:ph idx="1" type="body"/>
          </p:nvPr>
        </p:nvSpPr>
        <p:spPr>
          <a:xfrm>
            <a:off x="623888" y="4589465"/>
            <a:ext cx="7886700" cy="1181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30" name="Google Shape;30;p6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1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1"/>
          <p:cNvSpPr txBox="1"/>
          <p:nvPr>
            <p:ph idx="1" type="body"/>
          </p:nvPr>
        </p:nvSpPr>
        <p:spPr>
          <a:xfrm>
            <a:off x="254000" y="1239521"/>
            <a:ext cx="407416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1"/>
          <p:cNvSpPr txBox="1"/>
          <p:nvPr>
            <p:ph idx="2" type="body"/>
          </p:nvPr>
        </p:nvSpPr>
        <p:spPr>
          <a:xfrm>
            <a:off x="4572000" y="1239521"/>
            <a:ext cx="43180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2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2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2"/>
          <p:cNvSpPr txBox="1"/>
          <p:nvPr>
            <p:ph idx="2" type="body"/>
          </p:nvPr>
        </p:nvSpPr>
        <p:spPr>
          <a:xfrm>
            <a:off x="629842" y="2505075"/>
            <a:ext cx="3868340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2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2"/>
          <p:cNvSpPr txBox="1"/>
          <p:nvPr>
            <p:ph idx="4" type="body"/>
          </p:nvPr>
        </p:nvSpPr>
        <p:spPr>
          <a:xfrm>
            <a:off x="4629150" y="2505075"/>
            <a:ext cx="3887391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3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2" name="Google Shape;52;p63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3" name="Google Shape;53;p6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4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64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6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5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5"/>
          <p:cNvSpPr txBox="1"/>
          <p:nvPr>
            <p:ph idx="1" type="body"/>
          </p:nvPr>
        </p:nvSpPr>
        <p:spPr>
          <a:xfrm rot="5400000">
            <a:off x="2634932" y="-180658"/>
            <a:ext cx="3874135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6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6"/>
          <p:cNvSpPr txBox="1"/>
          <p:nvPr>
            <p:ph type="title"/>
          </p:nvPr>
        </p:nvSpPr>
        <p:spPr>
          <a:xfrm rot="5400000">
            <a:off x="4867275" y="2041525"/>
            <a:ext cx="5324475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6"/>
          <p:cNvSpPr txBox="1"/>
          <p:nvPr>
            <p:ph idx="1" type="body"/>
          </p:nvPr>
        </p:nvSpPr>
        <p:spPr>
          <a:xfrm rot="5400000">
            <a:off x="866775" y="127000"/>
            <a:ext cx="5324475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6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9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9"/>
          <p:cNvSpPr txBox="1"/>
          <p:nvPr>
            <p:ph idx="1" type="body"/>
          </p:nvPr>
        </p:nvSpPr>
        <p:spPr>
          <a:xfrm>
            <a:off x="254000" y="1239521"/>
            <a:ext cx="407416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9"/>
          <p:cNvSpPr txBox="1"/>
          <p:nvPr>
            <p:ph idx="2" type="body"/>
          </p:nvPr>
        </p:nvSpPr>
        <p:spPr>
          <a:xfrm>
            <a:off x="4572000" y="1239521"/>
            <a:ext cx="431800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3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0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0"/>
          <p:cNvSpPr txBox="1"/>
          <p:nvPr>
            <p:ph idx="1" type="body"/>
          </p:nvPr>
        </p:nvSpPr>
        <p:spPr>
          <a:xfrm>
            <a:off x="254000" y="1209040"/>
            <a:ext cx="8625840" cy="4561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4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1"/>
          <p:cNvSpPr txBox="1"/>
          <p:nvPr>
            <p:ph type="title"/>
          </p:nvPr>
        </p:nvSpPr>
        <p:spPr>
          <a:xfrm>
            <a:off x="254000" y="254001"/>
            <a:ext cx="756920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1"/>
          <p:cNvSpPr txBox="1"/>
          <p:nvPr>
            <p:ph idx="1" type="body"/>
          </p:nvPr>
        </p:nvSpPr>
        <p:spPr>
          <a:xfrm>
            <a:off x="254000" y="1209040"/>
            <a:ext cx="7569200" cy="4561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4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8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4" name="Google Shape;104;p8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8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8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6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86"/>
          <p:cNvSpPr txBox="1"/>
          <p:nvPr>
            <p:ph idx="1" type="body"/>
          </p:nvPr>
        </p:nvSpPr>
        <p:spPr>
          <a:xfrm>
            <a:off x="623888" y="4589465"/>
            <a:ext cx="7886700" cy="1181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110" name="Google Shape;110;p8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8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8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7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87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87"/>
          <p:cNvSpPr txBox="1"/>
          <p:nvPr>
            <p:ph idx="2" type="body"/>
          </p:nvPr>
        </p:nvSpPr>
        <p:spPr>
          <a:xfrm>
            <a:off x="629842" y="2505075"/>
            <a:ext cx="3868340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87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87"/>
          <p:cNvSpPr txBox="1"/>
          <p:nvPr>
            <p:ph idx="4" type="body"/>
          </p:nvPr>
        </p:nvSpPr>
        <p:spPr>
          <a:xfrm>
            <a:off x="4629150" y="2505075"/>
            <a:ext cx="3887391" cy="3036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8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8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8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8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5" name="Google Shape;125;p8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6" name="Google Shape;126;p8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8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8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9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9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3" name="Google Shape;133;p9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9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9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1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91"/>
          <p:cNvSpPr txBox="1"/>
          <p:nvPr>
            <p:ph idx="1" type="body"/>
          </p:nvPr>
        </p:nvSpPr>
        <p:spPr>
          <a:xfrm rot="5400000">
            <a:off x="2634932" y="-180658"/>
            <a:ext cx="3874135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9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9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9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2"/>
          <p:cNvSpPr txBox="1"/>
          <p:nvPr>
            <p:ph type="title"/>
          </p:nvPr>
        </p:nvSpPr>
        <p:spPr>
          <a:xfrm rot="5400000">
            <a:off x="4867275" y="2041525"/>
            <a:ext cx="5324475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92"/>
          <p:cNvSpPr txBox="1"/>
          <p:nvPr>
            <p:ph idx="1" type="body"/>
          </p:nvPr>
        </p:nvSpPr>
        <p:spPr>
          <a:xfrm rot="5400000">
            <a:off x="866775" y="127000"/>
            <a:ext cx="5324475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9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9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9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2a2ac745b_0_2093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g3a2a2ac745b_0_2093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a2a2ac745b_0_209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2a2ac745b_0_209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g3a2a2ac745b_0_2097"/>
          <p:cNvSpPr txBox="1"/>
          <p:nvPr>
            <p:ph idx="1" type="body"/>
          </p:nvPr>
        </p:nvSpPr>
        <p:spPr>
          <a:xfrm>
            <a:off x="254000" y="1209040"/>
            <a:ext cx="86259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g3a2a2ac745b_0_2097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g3a2a2ac745b_0_2097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g3a2a2ac745b_0_2097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2a2ac745b_0_2103"/>
          <p:cNvSpPr txBox="1"/>
          <p:nvPr>
            <p:ph type="ctrTitle"/>
          </p:nvPr>
        </p:nvSpPr>
        <p:spPr>
          <a:xfrm>
            <a:off x="685800" y="1122363"/>
            <a:ext cx="77724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g3a2a2ac745b_0_2103"/>
          <p:cNvSpPr txBox="1"/>
          <p:nvPr>
            <p:ph idx="1" type="subTitle"/>
          </p:nvPr>
        </p:nvSpPr>
        <p:spPr>
          <a:xfrm>
            <a:off x="1143000" y="3602038"/>
            <a:ext cx="685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7" name="Google Shape;167;g3a2a2ac745b_0_2103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g3a2a2ac745b_0_2103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g3a2a2ac745b_0_210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2a2ac745b_0_2109"/>
          <p:cNvSpPr txBox="1"/>
          <p:nvPr>
            <p:ph type="title"/>
          </p:nvPr>
        </p:nvSpPr>
        <p:spPr>
          <a:xfrm>
            <a:off x="623888" y="1709739"/>
            <a:ext cx="78867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g3a2a2ac745b_0_2109"/>
          <p:cNvSpPr txBox="1"/>
          <p:nvPr>
            <p:ph idx="1" type="body"/>
          </p:nvPr>
        </p:nvSpPr>
        <p:spPr>
          <a:xfrm>
            <a:off x="623888" y="4589465"/>
            <a:ext cx="78867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173" name="Google Shape;173;g3a2a2ac745b_0_2109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g3a2a2ac745b_0_2109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g3a2a2ac745b_0_2109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2a2ac745b_0_211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g3a2a2ac745b_0_2115"/>
          <p:cNvSpPr txBox="1"/>
          <p:nvPr>
            <p:ph idx="1" type="body"/>
          </p:nvPr>
        </p:nvSpPr>
        <p:spPr>
          <a:xfrm>
            <a:off x="254000" y="1239521"/>
            <a:ext cx="40743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g3a2a2ac745b_0_2115"/>
          <p:cNvSpPr txBox="1"/>
          <p:nvPr>
            <p:ph idx="2" type="body"/>
          </p:nvPr>
        </p:nvSpPr>
        <p:spPr>
          <a:xfrm>
            <a:off x="4572000" y="1239521"/>
            <a:ext cx="43179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g3a2a2ac745b_0_2115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g3a2a2ac745b_0_2115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g3a2a2ac745b_0_2115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2a2ac745b_0_2122"/>
          <p:cNvSpPr txBox="1"/>
          <p:nvPr>
            <p:ph type="title"/>
          </p:nvPr>
        </p:nvSpPr>
        <p:spPr>
          <a:xfrm>
            <a:off x="629841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g3a2a2ac745b_0_2122"/>
          <p:cNvSpPr txBox="1"/>
          <p:nvPr>
            <p:ph idx="1" type="body"/>
          </p:nvPr>
        </p:nvSpPr>
        <p:spPr>
          <a:xfrm>
            <a:off x="629842" y="1681163"/>
            <a:ext cx="3868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6" name="Google Shape;186;g3a2a2ac745b_0_2122"/>
          <p:cNvSpPr txBox="1"/>
          <p:nvPr>
            <p:ph idx="2" type="body"/>
          </p:nvPr>
        </p:nvSpPr>
        <p:spPr>
          <a:xfrm>
            <a:off x="629842" y="2505075"/>
            <a:ext cx="38682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g3a2a2ac745b_0_2122"/>
          <p:cNvSpPr txBox="1"/>
          <p:nvPr>
            <p:ph idx="3" type="body"/>
          </p:nvPr>
        </p:nvSpPr>
        <p:spPr>
          <a:xfrm>
            <a:off x="4629150" y="1681163"/>
            <a:ext cx="38874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8" name="Google Shape;188;g3a2a2ac745b_0_2122"/>
          <p:cNvSpPr txBox="1"/>
          <p:nvPr>
            <p:ph idx="4" type="body"/>
          </p:nvPr>
        </p:nvSpPr>
        <p:spPr>
          <a:xfrm>
            <a:off x="4629150" y="2505075"/>
            <a:ext cx="38874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g3a2a2ac745b_0_2122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g3a2a2ac745b_0_2122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g3a2a2ac745b_0_2122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2a2ac745b_0_2131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g3a2a2ac745b_0_2131"/>
          <p:cNvSpPr txBox="1"/>
          <p:nvPr>
            <p:ph idx="1" type="body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95" name="Google Shape;195;g3a2a2ac745b_0_2131"/>
          <p:cNvSpPr txBox="1"/>
          <p:nvPr>
            <p:ph idx="2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6" name="Google Shape;196;g3a2a2ac745b_0_2131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g3a2a2ac745b_0_2131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g3a2a2ac745b_0_213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2a2ac745b_0_2138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g3a2a2ac745b_0_2138"/>
          <p:cNvSpPr/>
          <p:nvPr>
            <p:ph idx="2" type="pic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g3a2a2ac745b_0_2138"/>
          <p:cNvSpPr txBox="1"/>
          <p:nvPr>
            <p:ph idx="1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3" name="Google Shape;203;g3a2a2ac745b_0_2138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g3a2a2ac745b_0_2138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g3a2a2ac745b_0_2138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2a2ac745b_0_214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g3a2a2ac745b_0_2145"/>
          <p:cNvSpPr txBox="1"/>
          <p:nvPr>
            <p:ph idx="1" type="body"/>
          </p:nvPr>
        </p:nvSpPr>
        <p:spPr>
          <a:xfrm rot="5400000">
            <a:off x="2634899" y="-180626"/>
            <a:ext cx="38742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g3a2a2ac745b_0_2145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g3a2a2ac745b_0_2145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g3a2a2ac745b_0_2145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2a2ac745b_0_2151"/>
          <p:cNvSpPr txBox="1"/>
          <p:nvPr>
            <p:ph type="title"/>
          </p:nvPr>
        </p:nvSpPr>
        <p:spPr>
          <a:xfrm rot="5400000">
            <a:off x="4867350" y="2041525"/>
            <a:ext cx="53244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g3a2a2ac745b_0_2151"/>
          <p:cNvSpPr txBox="1"/>
          <p:nvPr>
            <p:ph idx="1" type="body"/>
          </p:nvPr>
        </p:nvSpPr>
        <p:spPr>
          <a:xfrm rot="5400000">
            <a:off x="866775" y="126925"/>
            <a:ext cx="53244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" name="Google Shape;215;g3a2a2ac745b_0_2151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g3a2a2ac745b_0_2151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g3a2a2ac745b_0_215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2a2ac745b_0_261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g3a2a2ac745b_0_2619"/>
          <p:cNvSpPr txBox="1"/>
          <p:nvPr>
            <p:ph idx="1" type="body"/>
          </p:nvPr>
        </p:nvSpPr>
        <p:spPr>
          <a:xfrm>
            <a:off x="254000" y="1209040"/>
            <a:ext cx="86259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g3a2a2ac745b_0_2619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g3a2a2ac745b_0_2619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g3a2a2ac745b_0_2619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g3a2a2ac745b_0_2619"/>
          <p:cNvSpPr txBox="1"/>
          <p:nvPr/>
        </p:nvSpPr>
        <p:spPr>
          <a:xfrm>
            <a:off x="5779958" y="6344082"/>
            <a:ext cx="32202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1400" u="none" cap="none" strike="noStrike">
                <a:solidFill>
                  <a:srgbClr val="757070"/>
                </a:solidFill>
                <a:latin typeface="Roboto"/>
                <a:ea typeface="Roboto"/>
                <a:cs typeface="Roboto"/>
                <a:sym typeface="Roboto"/>
              </a:rPr>
              <a:t>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2a2ac745b_0_2164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g3a2a2ac745b_0_2164"/>
          <p:cNvSpPr txBox="1"/>
          <p:nvPr>
            <p:ph idx="1" type="body"/>
          </p:nvPr>
        </p:nvSpPr>
        <p:spPr>
          <a:xfrm>
            <a:off x="254000" y="1239521"/>
            <a:ext cx="40743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" name="Google Shape;235;g3a2a2ac745b_0_2164"/>
          <p:cNvSpPr txBox="1"/>
          <p:nvPr>
            <p:ph idx="2" type="body"/>
          </p:nvPr>
        </p:nvSpPr>
        <p:spPr>
          <a:xfrm>
            <a:off x="4572000" y="1239521"/>
            <a:ext cx="43179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6" name="Google Shape;236;g3a2a2ac745b_0_2164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g3a2a2ac745b_0_2164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g3a2a2ac745b_0_2164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2a2ac745b_0_2171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g3a2a2ac745b_0_2171"/>
          <p:cNvSpPr txBox="1"/>
          <p:nvPr>
            <p:ph idx="1" type="body"/>
          </p:nvPr>
        </p:nvSpPr>
        <p:spPr>
          <a:xfrm>
            <a:off x="254000" y="1209040"/>
            <a:ext cx="86259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2" name="Google Shape;242;g3a2a2ac745b_0_2171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g3a2a2ac745b_0_2171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g3a2a2ac745b_0_217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2a2ac745b_0_2177"/>
          <p:cNvSpPr txBox="1"/>
          <p:nvPr>
            <p:ph type="title"/>
          </p:nvPr>
        </p:nvSpPr>
        <p:spPr>
          <a:xfrm>
            <a:off x="254000" y="254001"/>
            <a:ext cx="75693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g3a2a2ac745b_0_2177"/>
          <p:cNvSpPr txBox="1"/>
          <p:nvPr>
            <p:ph idx="1" type="body"/>
          </p:nvPr>
        </p:nvSpPr>
        <p:spPr>
          <a:xfrm>
            <a:off x="254000" y="1209040"/>
            <a:ext cx="7569300" cy="4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8" name="Google Shape;248;g3a2a2ac745b_0_2177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g3a2a2ac745b_0_2177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g3a2a2ac745b_0_2177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2a2ac745b_0_2183"/>
          <p:cNvSpPr txBox="1"/>
          <p:nvPr>
            <p:ph type="ctrTitle"/>
          </p:nvPr>
        </p:nvSpPr>
        <p:spPr>
          <a:xfrm>
            <a:off x="685800" y="1122363"/>
            <a:ext cx="77724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g3a2a2ac745b_0_2183"/>
          <p:cNvSpPr txBox="1"/>
          <p:nvPr>
            <p:ph idx="1" type="subTitle"/>
          </p:nvPr>
        </p:nvSpPr>
        <p:spPr>
          <a:xfrm>
            <a:off x="1143000" y="3602038"/>
            <a:ext cx="685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4" name="Google Shape;254;g3a2a2ac745b_0_2183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g3a2a2ac745b_0_2183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g3a2a2ac745b_0_2183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2a2ac745b_0_2189"/>
          <p:cNvSpPr txBox="1"/>
          <p:nvPr>
            <p:ph type="title"/>
          </p:nvPr>
        </p:nvSpPr>
        <p:spPr>
          <a:xfrm>
            <a:off x="623888" y="1709739"/>
            <a:ext cx="78867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g3a2a2ac745b_0_2189"/>
          <p:cNvSpPr txBox="1"/>
          <p:nvPr>
            <p:ph idx="1" type="body"/>
          </p:nvPr>
        </p:nvSpPr>
        <p:spPr>
          <a:xfrm>
            <a:off x="623888" y="4589465"/>
            <a:ext cx="78867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2000"/>
              <a:buNone/>
              <a:defRPr sz="2000">
                <a:solidFill>
                  <a:srgbClr val="8A8A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800"/>
              <a:buNone/>
              <a:defRPr sz="1800">
                <a:solidFill>
                  <a:srgbClr val="8A8A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91"/>
              </a:buClr>
              <a:buSzPts val="1600"/>
              <a:buNone/>
              <a:defRPr sz="1600">
                <a:solidFill>
                  <a:srgbClr val="8A8A91"/>
                </a:solidFill>
              </a:defRPr>
            </a:lvl9pPr>
          </a:lstStyle>
          <a:p/>
        </p:txBody>
      </p:sp>
      <p:sp>
        <p:nvSpPr>
          <p:cNvPr id="260" name="Google Shape;260;g3a2a2ac745b_0_2189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g3a2a2ac745b_0_2189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g3a2a2ac745b_0_2189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2a2ac745b_0_2195"/>
          <p:cNvSpPr txBox="1"/>
          <p:nvPr>
            <p:ph type="title"/>
          </p:nvPr>
        </p:nvSpPr>
        <p:spPr>
          <a:xfrm>
            <a:off x="629841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g3a2a2ac745b_0_2195"/>
          <p:cNvSpPr txBox="1"/>
          <p:nvPr>
            <p:ph idx="1" type="body"/>
          </p:nvPr>
        </p:nvSpPr>
        <p:spPr>
          <a:xfrm>
            <a:off x="629842" y="1681163"/>
            <a:ext cx="3868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6" name="Google Shape;266;g3a2a2ac745b_0_2195"/>
          <p:cNvSpPr txBox="1"/>
          <p:nvPr>
            <p:ph idx="2" type="body"/>
          </p:nvPr>
        </p:nvSpPr>
        <p:spPr>
          <a:xfrm>
            <a:off x="629842" y="2505075"/>
            <a:ext cx="38682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" name="Google Shape;267;g3a2a2ac745b_0_2195"/>
          <p:cNvSpPr txBox="1"/>
          <p:nvPr>
            <p:ph idx="3" type="body"/>
          </p:nvPr>
        </p:nvSpPr>
        <p:spPr>
          <a:xfrm>
            <a:off x="4629150" y="1681163"/>
            <a:ext cx="38874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8" name="Google Shape;268;g3a2a2ac745b_0_2195"/>
          <p:cNvSpPr txBox="1"/>
          <p:nvPr>
            <p:ph idx="4" type="body"/>
          </p:nvPr>
        </p:nvSpPr>
        <p:spPr>
          <a:xfrm>
            <a:off x="4629150" y="2505075"/>
            <a:ext cx="3887400" cy="30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" name="Google Shape;269;g3a2a2ac745b_0_2195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g3a2a2ac745b_0_2195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g3a2a2ac745b_0_2195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2a2ac745b_0_2204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g3a2a2ac745b_0_2204"/>
          <p:cNvSpPr txBox="1"/>
          <p:nvPr>
            <p:ph idx="1" type="body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75" name="Google Shape;275;g3a2a2ac745b_0_2204"/>
          <p:cNvSpPr txBox="1"/>
          <p:nvPr>
            <p:ph idx="2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76" name="Google Shape;276;g3a2a2ac745b_0_2204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g3a2a2ac745b_0_2204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g3a2a2ac745b_0_2204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2a2ac745b_0_2211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g3a2a2ac745b_0_2211"/>
          <p:cNvSpPr/>
          <p:nvPr>
            <p:ph idx="2" type="pic"/>
          </p:nvPr>
        </p:nvSpPr>
        <p:spPr>
          <a:xfrm>
            <a:off x="3887391" y="987426"/>
            <a:ext cx="46293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g3a2a2ac745b_0_2211"/>
          <p:cNvSpPr txBox="1"/>
          <p:nvPr>
            <p:ph idx="1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83" name="Google Shape;283;g3a2a2ac745b_0_2211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g3a2a2ac745b_0_2211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g3a2a2ac745b_0_2211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2a2ac745b_0_221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g3a2a2ac745b_0_2218"/>
          <p:cNvSpPr txBox="1"/>
          <p:nvPr>
            <p:ph idx="1" type="body"/>
          </p:nvPr>
        </p:nvSpPr>
        <p:spPr>
          <a:xfrm rot="5400000">
            <a:off x="2634899" y="-180626"/>
            <a:ext cx="38742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9" name="Google Shape;289;g3a2a2ac745b_0_2218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g3a2a2ac745b_0_2218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g3a2a2ac745b_0_2218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2a2ac745b_0_2224"/>
          <p:cNvSpPr txBox="1"/>
          <p:nvPr>
            <p:ph type="title"/>
          </p:nvPr>
        </p:nvSpPr>
        <p:spPr>
          <a:xfrm rot="5400000">
            <a:off x="4867350" y="2041525"/>
            <a:ext cx="53244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g3a2a2ac745b_0_2224"/>
          <p:cNvSpPr txBox="1"/>
          <p:nvPr>
            <p:ph idx="1" type="body"/>
          </p:nvPr>
        </p:nvSpPr>
        <p:spPr>
          <a:xfrm rot="5400000">
            <a:off x="866775" y="126925"/>
            <a:ext cx="53244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5" name="Google Shape;295;g3a2a2ac745b_0_2224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g3a2a2ac745b_0_2224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g3a2a2ac745b_0_2224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5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3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9"/>
          <p:cNvSpPr txBox="1"/>
          <p:nvPr>
            <p:ph idx="1" type="body"/>
          </p:nvPr>
        </p:nvSpPr>
        <p:spPr>
          <a:xfrm>
            <a:off x="254000" y="1219201"/>
            <a:ext cx="8625840" cy="4582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7"/>
          <p:cNvSpPr txBox="1"/>
          <p:nvPr>
            <p:ph type="title"/>
          </p:nvPr>
        </p:nvSpPr>
        <p:spPr>
          <a:xfrm>
            <a:off x="254000" y="254001"/>
            <a:ext cx="8625840" cy="80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37"/>
          <p:cNvSpPr txBox="1"/>
          <p:nvPr>
            <p:ph idx="1" type="body"/>
          </p:nvPr>
        </p:nvSpPr>
        <p:spPr>
          <a:xfrm>
            <a:off x="254000" y="1219201"/>
            <a:ext cx="8625840" cy="4582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3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3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3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37"/>
          <p:cNvSpPr txBox="1"/>
          <p:nvPr/>
        </p:nvSpPr>
        <p:spPr>
          <a:xfrm>
            <a:off x="5779958" y="6344082"/>
            <a:ext cx="3220344" cy="35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2 Pre-registration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2a2ac745b_0_208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" name="Google Shape;150;g3a2a2ac745b_0_2087"/>
          <p:cNvSpPr txBox="1"/>
          <p:nvPr>
            <p:ph idx="1" type="body"/>
          </p:nvPr>
        </p:nvSpPr>
        <p:spPr>
          <a:xfrm>
            <a:off x="254000" y="1219201"/>
            <a:ext cx="8625900" cy="45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" name="Google Shape;151;g3a2a2ac745b_0_2087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g3a2a2ac745b_0_2087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g3a2a2ac745b_0_2087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2a2ac745b_0_215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" name="Google Shape;227;g3a2a2ac745b_0_2157"/>
          <p:cNvSpPr txBox="1"/>
          <p:nvPr>
            <p:ph idx="1" type="body"/>
          </p:nvPr>
        </p:nvSpPr>
        <p:spPr>
          <a:xfrm>
            <a:off x="254000" y="1219201"/>
            <a:ext cx="8625900" cy="45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8" name="Google Shape;228;g3a2a2ac745b_0_2157"/>
          <p:cNvSpPr txBox="1"/>
          <p:nvPr>
            <p:ph idx="10" type="dt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9" name="Google Shape;229;g3a2a2ac745b_0_2157"/>
          <p:cNvSpPr txBox="1"/>
          <p:nvPr>
            <p:ph idx="11" type="ftr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0" name="Google Shape;230;g3a2a2ac745b_0_2157"/>
          <p:cNvSpPr txBox="1"/>
          <p:nvPr>
            <p:ph idx="12" type="sldNum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A8A9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g3a2a2ac745b_0_2157"/>
          <p:cNvSpPr txBox="1"/>
          <p:nvPr/>
        </p:nvSpPr>
        <p:spPr>
          <a:xfrm>
            <a:off x="5779958" y="6344082"/>
            <a:ext cx="32202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2 Pre-registration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jp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43.png"/><Relationship Id="rId5" Type="http://schemas.openxmlformats.org/officeDocument/2006/relationships/image" Target="../media/image51.png"/><Relationship Id="rId6" Type="http://schemas.openxmlformats.org/officeDocument/2006/relationships/image" Target="../media/image33.png"/><Relationship Id="rId7" Type="http://schemas.openxmlformats.org/officeDocument/2006/relationships/image" Target="../media/image71.png"/><Relationship Id="rId8" Type="http://schemas.openxmlformats.org/officeDocument/2006/relationships/image" Target="../media/image4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1.png"/><Relationship Id="rId4" Type="http://schemas.openxmlformats.org/officeDocument/2006/relationships/image" Target="../media/image14.png"/><Relationship Id="rId9" Type="http://schemas.openxmlformats.org/officeDocument/2006/relationships/image" Target="../media/image32.png"/><Relationship Id="rId5" Type="http://schemas.openxmlformats.org/officeDocument/2006/relationships/image" Target="../media/image58.png"/><Relationship Id="rId6" Type="http://schemas.openxmlformats.org/officeDocument/2006/relationships/image" Target="../media/image48.png"/><Relationship Id="rId7" Type="http://schemas.openxmlformats.org/officeDocument/2006/relationships/image" Target="../media/image36.png"/><Relationship Id="rId8" Type="http://schemas.openxmlformats.org/officeDocument/2006/relationships/image" Target="../media/image4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jp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5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3.png"/><Relationship Id="rId4" Type="http://schemas.openxmlformats.org/officeDocument/2006/relationships/image" Target="../media/image14.png"/><Relationship Id="rId5" Type="http://schemas.openxmlformats.org/officeDocument/2006/relationships/image" Target="../media/image40.png"/><Relationship Id="rId6" Type="http://schemas.openxmlformats.org/officeDocument/2006/relationships/image" Target="../media/image6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14.png"/><Relationship Id="rId5" Type="http://schemas.openxmlformats.org/officeDocument/2006/relationships/image" Target="../media/image6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63.png"/><Relationship Id="rId5" Type="http://schemas.openxmlformats.org/officeDocument/2006/relationships/image" Target="../media/image4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8.png"/><Relationship Id="rId4" Type="http://schemas.openxmlformats.org/officeDocument/2006/relationships/image" Target="../media/image46.png"/><Relationship Id="rId5" Type="http://schemas.openxmlformats.org/officeDocument/2006/relationships/image" Target="../media/image74.png"/><Relationship Id="rId6" Type="http://schemas.openxmlformats.org/officeDocument/2006/relationships/image" Target="../media/image81.png"/><Relationship Id="rId7" Type="http://schemas.openxmlformats.org/officeDocument/2006/relationships/image" Target="../media/image6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7.png"/><Relationship Id="rId4" Type="http://schemas.openxmlformats.org/officeDocument/2006/relationships/image" Target="../media/image73.png"/><Relationship Id="rId5" Type="http://schemas.openxmlformats.org/officeDocument/2006/relationships/image" Target="../media/image14.png"/><Relationship Id="rId6" Type="http://schemas.openxmlformats.org/officeDocument/2006/relationships/image" Target="../media/image5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help.osf.io/hc/en-us/articles/360019738834-Create-a-Preregistration" TargetMode="External"/><Relationship Id="rId4" Type="http://schemas.openxmlformats.org/officeDocument/2006/relationships/image" Target="../media/image52.png"/><Relationship Id="rId5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jpg"/><Relationship Id="rId4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86.png"/><Relationship Id="rId6" Type="http://schemas.openxmlformats.org/officeDocument/2006/relationships/image" Target="../media/image7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jpg"/><Relationship Id="rId4" Type="http://schemas.openxmlformats.org/officeDocument/2006/relationships/image" Target="../media/image1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youtube.com/watch?v=fcQu8BkxCqU" TargetMode="External"/><Relationship Id="rId4" Type="http://schemas.openxmlformats.org/officeDocument/2006/relationships/hyperlink" Target="https://www.youtube.com/watch?v=fcQu8BkxCqU" TargetMode="External"/><Relationship Id="rId5" Type="http://schemas.openxmlformats.org/officeDocument/2006/relationships/hyperlink" Target="https://youtu.be/fcQu8BkxCqU" TargetMode="External"/><Relationship Id="rId6" Type="http://schemas.openxmlformats.org/officeDocument/2006/relationships/hyperlink" Target="https://www.theguardian.com/science/blog/2013/jun/05/trust-in-science-study-pre-registration" TargetMode="External"/><Relationship Id="rId7" Type="http://schemas.openxmlformats.org/officeDocument/2006/relationships/hyperlink" Target="https://www.psychologicalscience.org/observer/seven-selfish-reasons-for-preregistration" TargetMode="External"/><Relationship Id="rId8" Type="http://schemas.openxmlformats.org/officeDocument/2006/relationships/hyperlink" Target="https://www.cos.io/blog/preregistration-plan-not-prison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osf.io/8v2n7/" TargetMode="External"/><Relationship Id="rId4" Type="http://schemas.openxmlformats.org/officeDocument/2006/relationships/hyperlink" Target="https://www.cos.io/initiatives/prereg" TargetMode="External"/><Relationship Id="rId5" Type="http://schemas.openxmlformats.org/officeDocument/2006/relationships/hyperlink" Target="https://www.cos.io/our-services/badges" TargetMode="External"/><Relationship Id="rId6" Type="http://schemas.openxmlformats.org/officeDocument/2006/relationships/hyperlink" Target="https://www.youtube.com/watch?v=2TV21gOzfhw&amp;t=18s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doi.org/10.31234/osf.io/egbcv" TargetMode="External"/><Relationship Id="rId4" Type="http://schemas.openxmlformats.org/officeDocument/2006/relationships/hyperlink" Target="https://www.nature.com/articles/s41562-019-0701-8#:~:text=Hannah%20Hobson%2C%20a%20Lecturer%20at,joy%20back%20into%20data%20collection." TargetMode="External"/><Relationship Id="rId5" Type="http://schemas.openxmlformats.org/officeDocument/2006/relationships/hyperlink" Target="https://doi.org/10.1016/j.tics.2019.07.009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doi.org/10.3389/fpsyg.2018.01831" TargetMode="External"/><Relationship Id="rId4" Type="http://schemas.openxmlformats.org/officeDocument/2006/relationships/hyperlink" Target="https://doi.org/10.1073/pnas.1708274114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doi.org/10.1080/08989621.2019.1580147" TargetMode="External"/><Relationship Id="rId4" Type="http://schemas.openxmlformats.org/officeDocument/2006/relationships/hyperlink" Target="https://doi.org/10.1073/pnas.1708274114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.jp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302" name="Google Shape;302;p1"/>
          <p:cNvPicPr preferRelativeResize="0"/>
          <p:nvPr/>
        </p:nvPicPr>
        <p:blipFill rotWithShape="1">
          <a:blip r:embed="rId3">
            <a:alphaModFix/>
          </a:blip>
          <a:srcRect b="11539" l="33076" r="0" t="0"/>
          <a:stretch/>
        </p:blipFill>
        <p:spPr>
          <a:xfrm>
            <a:off x="2150534" y="0"/>
            <a:ext cx="6993466" cy="6933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303" name="Google Shape;30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"/>
          <p:cNvSpPr txBox="1"/>
          <p:nvPr/>
        </p:nvSpPr>
        <p:spPr>
          <a:xfrm>
            <a:off x="364243" y="1660140"/>
            <a:ext cx="3697118" cy="906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1"/>
          <p:cNvSpPr txBox="1"/>
          <p:nvPr/>
        </p:nvSpPr>
        <p:spPr>
          <a:xfrm>
            <a:off x="364243" y="2239799"/>
            <a:ext cx="3613991" cy="126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</a:t>
            </a:r>
            <a:b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venn diagram&#10;&#10;Description automatically generated" id="310" name="Google Shape;3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8200" y="1555200"/>
            <a:ext cx="3747600" cy="37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"/>
          <p:cNvSpPr txBox="1"/>
          <p:nvPr/>
        </p:nvSpPr>
        <p:spPr>
          <a:xfrm>
            <a:off x="2741571" y="1555200"/>
            <a:ext cx="3631442" cy="1148877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31372"/>
              </a:srgbClr>
            </a:outerShdw>
          </a:effectLst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What is </a:t>
            </a:r>
            <a:endParaRPr/>
          </a:p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pre-registration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What is pre-registration?</a:t>
            </a:r>
            <a:endParaRPr b="1" sz="2400"/>
          </a:p>
        </p:txBody>
      </p:sp>
      <p:grpSp>
        <p:nvGrpSpPr>
          <p:cNvPr id="317" name="Google Shape;317;p5"/>
          <p:cNvGrpSpPr/>
          <p:nvPr/>
        </p:nvGrpSpPr>
        <p:grpSpPr>
          <a:xfrm>
            <a:off x="823585" y="1734557"/>
            <a:ext cx="7496830" cy="1534820"/>
            <a:chOff x="678835" y="1734557"/>
            <a:chExt cx="7496830" cy="1534820"/>
          </a:xfrm>
        </p:grpSpPr>
        <p:grpSp>
          <p:nvGrpSpPr>
            <p:cNvPr id="318" name="Google Shape;318;p5"/>
            <p:cNvGrpSpPr/>
            <p:nvPr/>
          </p:nvGrpSpPr>
          <p:grpSpPr>
            <a:xfrm>
              <a:off x="678835" y="1734557"/>
              <a:ext cx="1526116" cy="1526116"/>
              <a:chOff x="640735" y="2390120"/>
              <a:chExt cx="1526116" cy="1526116"/>
            </a:xfrm>
          </p:grpSpPr>
          <p:sp>
            <p:nvSpPr>
              <p:cNvPr id="319" name="Google Shape;319;p5"/>
              <p:cNvSpPr/>
              <p:nvPr/>
            </p:nvSpPr>
            <p:spPr>
              <a:xfrm>
                <a:off x="640735" y="2390120"/>
                <a:ext cx="1526116" cy="1526116"/>
              </a:xfrm>
              <a:prstGeom prst="ellipse">
                <a:avLst/>
              </a:prstGeom>
              <a:solidFill>
                <a:srgbClr val="F5BA36"/>
              </a:solidFill>
              <a:ln cap="flat" cmpd="sng" w="9525">
                <a:solidFill>
                  <a:srgbClr val="F5BA3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20" name="Google Shape;320;p5"/>
              <p:cNvPicPr preferRelativeResize="0"/>
              <p:nvPr/>
            </p:nvPicPr>
            <p:blipFill rotWithShape="1">
              <a:blip r:embed="rId3">
                <a:alphaModFix/>
              </a:blip>
              <a:srcRect b="10313" l="0" r="17564" t="0"/>
              <a:stretch/>
            </p:blipFill>
            <p:spPr>
              <a:xfrm>
                <a:off x="801978" y="2653622"/>
                <a:ext cx="647933" cy="71901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1" name="Google Shape;321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rot="9853316">
                <a:off x="1183610" y="2965786"/>
                <a:ext cx="810247" cy="75507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22" name="Google Shape;322;p5"/>
            <p:cNvGrpSpPr/>
            <p:nvPr/>
          </p:nvGrpSpPr>
          <p:grpSpPr>
            <a:xfrm>
              <a:off x="3664192" y="1734557"/>
              <a:ext cx="1526116" cy="1526116"/>
              <a:chOff x="3803892" y="2290673"/>
              <a:chExt cx="1526116" cy="1526116"/>
            </a:xfrm>
          </p:grpSpPr>
          <p:sp>
            <p:nvSpPr>
              <p:cNvPr id="323" name="Google Shape;323;p5"/>
              <p:cNvSpPr/>
              <p:nvPr/>
            </p:nvSpPr>
            <p:spPr>
              <a:xfrm>
                <a:off x="3803892" y="2290673"/>
                <a:ext cx="1526116" cy="1526116"/>
              </a:xfrm>
              <a:prstGeom prst="ellipse">
                <a:avLst/>
              </a:prstGeom>
              <a:solidFill>
                <a:srgbClr val="F5BA36"/>
              </a:solidFill>
              <a:ln cap="flat" cmpd="sng" w="9525">
                <a:solidFill>
                  <a:srgbClr val="F5BA3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24" name="Google Shape;324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054203" y="2469820"/>
                <a:ext cx="1035594" cy="10791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25" name="Google Shape;325;p5"/>
            <p:cNvGrpSpPr/>
            <p:nvPr/>
          </p:nvGrpSpPr>
          <p:grpSpPr>
            <a:xfrm>
              <a:off x="6649549" y="1743261"/>
              <a:ext cx="1526116" cy="1526116"/>
              <a:chOff x="6738573" y="2263439"/>
              <a:chExt cx="1526116" cy="1526116"/>
            </a:xfrm>
          </p:grpSpPr>
          <p:sp>
            <p:nvSpPr>
              <p:cNvPr id="326" name="Google Shape;326;p5"/>
              <p:cNvSpPr/>
              <p:nvPr/>
            </p:nvSpPr>
            <p:spPr>
              <a:xfrm>
                <a:off x="6738573" y="2263439"/>
                <a:ext cx="1526116" cy="1526116"/>
              </a:xfrm>
              <a:prstGeom prst="ellipse">
                <a:avLst/>
              </a:prstGeom>
              <a:solidFill>
                <a:srgbClr val="F5BA36"/>
              </a:solidFill>
              <a:ln cap="flat" cmpd="sng" w="9525">
                <a:solidFill>
                  <a:srgbClr val="F5BA3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27" name="Google Shape;327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6967049" y="2489247"/>
                <a:ext cx="1080732" cy="107683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28" name="Google Shape;328;p5"/>
          <p:cNvSpPr txBox="1"/>
          <p:nvPr/>
        </p:nvSpPr>
        <p:spPr>
          <a:xfrm>
            <a:off x="242064" y="3541160"/>
            <a:ext cx="2689200" cy="14772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Time-stamped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time-stamped record of research processes and decisions 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5"/>
          <p:cNvSpPr txBox="1"/>
          <p:nvPr/>
        </p:nvSpPr>
        <p:spPr>
          <a:xfrm>
            <a:off x="3222350" y="3541160"/>
            <a:ext cx="2689200" cy="17235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Created in advance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Created and shared before data are collected or become accessible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5"/>
          <p:cNvSpPr txBox="1"/>
          <p:nvPr/>
        </p:nvSpPr>
        <p:spPr>
          <a:xfrm>
            <a:off x="6212778" y="3541160"/>
            <a:ext cx="2689158" cy="19389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Made publicly available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pre-registration document should be publicly available on a registry or repository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gd409340aa3_0_91"/>
          <p:cNvGrpSpPr/>
          <p:nvPr/>
        </p:nvGrpSpPr>
        <p:grpSpPr>
          <a:xfrm>
            <a:off x="347400" y="2952343"/>
            <a:ext cx="8449200" cy="3410358"/>
            <a:chOff x="347400" y="2952343"/>
            <a:chExt cx="8449200" cy="3410358"/>
          </a:xfrm>
        </p:grpSpPr>
        <p:sp>
          <p:nvSpPr>
            <p:cNvPr id="336" name="Google Shape;336;gd409340aa3_0_91"/>
            <p:cNvSpPr/>
            <p:nvPr/>
          </p:nvSpPr>
          <p:spPr>
            <a:xfrm>
              <a:off x="347400" y="3476301"/>
              <a:ext cx="8449200" cy="2451600"/>
            </a:xfrm>
            <a:prstGeom prst="rect">
              <a:avLst/>
            </a:prstGeom>
            <a:solidFill>
              <a:srgbClr val="FFC000">
                <a:alpha val="27843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7" name="Google Shape;337;gd409340aa3_0_91"/>
            <p:cNvPicPr preferRelativeResize="0"/>
            <p:nvPr/>
          </p:nvPicPr>
          <p:blipFill rotWithShape="1">
            <a:blip r:embed="rId3">
              <a:alphaModFix/>
            </a:blip>
            <a:srcRect b="26249" l="6769" r="53690" t="10844"/>
            <a:stretch/>
          </p:blipFill>
          <p:spPr>
            <a:xfrm flipH="1" rot="2947218">
              <a:off x="2137379" y="3281703"/>
              <a:ext cx="2128708" cy="27516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8" name="Google Shape;338;gd409340aa3_0_91"/>
            <p:cNvSpPr txBox="1"/>
            <p:nvPr/>
          </p:nvSpPr>
          <p:spPr>
            <a:xfrm>
              <a:off x="2316910" y="3795600"/>
              <a:ext cx="2151000" cy="1303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How is a                               pre-registration     different to an ethics application?</a:t>
              </a:r>
              <a:endPara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Logo&#10;&#10;Description automatically generated" id="339" name="Google Shape;339;gd409340aa3_0_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369287" y="4123504"/>
              <a:ext cx="1656490" cy="18577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0" name="Google Shape;340;gd409340aa3_0_91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How is this different to an ethics application?</a:t>
            </a:r>
            <a:endParaRPr b="1" sz="2400"/>
          </a:p>
        </p:txBody>
      </p:sp>
      <p:grpSp>
        <p:nvGrpSpPr>
          <p:cNvPr id="341" name="Google Shape;341;gd409340aa3_0_91"/>
          <p:cNvGrpSpPr/>
          <p:nvPr/>
        </p:nvGrpSpPr>
        <p:grpSpPr>
          <a:xfrm>
            <a:off x="4598713" y="961433"/>
            <a:ext cx="4251536" cy="2466225"/>
            <a:chOff x="4598713" y="961433"/>
            <a:chExt cx="4251536" cy="2466225"/>
          </a:xfrm>
        </p:grpSpPr>
        <p:sp>
          <p:nvSpPr>
            <p:cNvPr id="342" name="Google Shape;342;gd409340aa3_0_91"/>
            <p:cNvSpPr/>
            <p:nvPr/>
          </p:nvSpPr>
          <p:spPr>
            <a:xfrm>
              <a:off x="4598713" y="976058"/>
              <a:ext cx="4176000" cy="2451600"/>
            </a:xfrm>
            <a:prstGeom prst="rect">
              <a:avLst/>
            </a:prstGeom>
            <a:solidFill>
              <a:srgbClr val="FFC000">
                <a:alpha val="27843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3" name="Google Shape;343;gd409340aa3_0_91"/>
            <p:cNvPicPr preferRelativeResize="0"/>
            <p:nvPr/>
          </p:nvPicPr>
          <p:blipFill rotWithShape="1">
            <a:blip r:embed="rId3">
              <a:alphaModFix/>
            </a:blip>
            <a:srcRect b="26249" l="6769" r="53690" t="10844"/>
            <a:stretch/>
          </p:blipFill>
          <p:spPr>
            <a:xfrm>
              <a:off x="4677425" y="961433"/>
              <a:ext cx="2607758" cy="2261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4" name="Google Shape;344;gd409340aa3_0_91"/>
            <p:cNvSpPr txBox="1"/>
            <p:nvPr/>
          </p:nvSpPr>
          <p:spPr>
            <a:xfrm>
              <a:off x="4856042" y="1220776"/>
              <a:ext cx="2151000" cy="1303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This is typical for studies involving people, existing data, and in the sciences</a:t>
              </a:r>
              <a:endPara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A picture containing text, vector graphics&#10;&#10;Description automatically generated" id="345" name="Google Shape;345;gd409340aa3_0_91"/>
            <p:cNvPicPr preferRelativeResize="0"/>
            <p:nvPr/>
          </p:nvPicPr>
          <p:blipFill rotWithShape="1">
            <a:blip r:embed="rId5">
              <a:alphaModFix/>
            </a:blip>
            <a:srcRect b="50833" l="0" r="21480" t="0"/>
            <a:stretch/>
          </p:blipFill>
          <p:spPr>
            <a:xfrm>
              <a:off x="6699249" y="1544917"/>
              <a:ext cx="2151000" cy="188080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6" name="Google Shape;346;gd409340aa3_0_91"/>
          <p:cNvGrpSpPr/>
          <p:nvPr/>
        </p:nvGrpSpPr>
        <p:grpSpPr>
          <a:xfrm>
            <a:off x="4558336" y="3429000"/>
            <a:ext cx="4126463" cy="2633716"/>
            <a:chOff x="4558336" y="3429000"/>
            <a:chExt cx="4126463" cy="2633716"/>
          </a:xfrm>
        </p:grpSpPr>
        <p:pic>
          <p:nvPicPr>
            <p:cNvPr id="347" name="Google Shape;347;gd409340aa3_0_91"/>
            <p:cNvPicPr preferRelativeResize="0"/>
            <p:nvPr/>
          </p:nvPicPr>
          <p:blipFill rotWithShape="1">
            <a:blip r:embed="rId3">
              <a:alphaModFix/>
            </a:blip>
            <a:srcRect b="26249" l="6769" r="53690" t="10844"/>
            <a:stretch/>
          </p:blipFill>
          <p:spPr>
            <a:xfrm flipH="1" rot="10800000">
              <a:off x="4558336" y="3577462"/>
              <a:ext cx="3268222" cy="24516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gd409340aa3_0_91"/>
            <p:cNvSpPr txBox="1"/>
            <p:nvPr/>
          </p:nvSpPr>
          <p:spPr>
            <a:xfrm>
              <a:off x="5028987" y="4123504"/>
              <a:ext cx="2151000" cy="15516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Pre-registrations and ethics applications contain much of the same information, but they serve different aims</a:t>
              </a:r>
              <a:endPara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A picture containing text&#10;&#10;Description automatically generated" id="349" name="Google Shape;349;gd409340aa3_0_9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969698" y="3429000"/>
              <a:ext cx="1715101" cy="26337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0" name="Google Shape;350;gd409340aa3_0_91"/>
          <p:cNvGrpSpPr/>
          <p:nvPr/>
        </p:nvGrpSpPr>
        <p:grpSpPr>
          <a:xfrm>
            <a:off x="347177" y="662367"/>
            <a:ext cx="4176000" cy="2765291"/>
            <a:chOff x="347177" y="662367"/>
            <a:chExt cx="4176000" cy="2765291"/>
          </a:xfrm>
        </p:grpSpPr>
        <p:sp>
          <p:nvSpPr>
            <p:cNvPr id="351" name="Google Shape;351;gd409340aa3_0_91"/>
            <p:cNvSpPr/>
            <p:nvPr/>
          </p:nvSpPr>
          <p:spPr>
            <a:xfrm>
              <a:off x="347177" y="976058"/>
              <a:ext cx="4176000" cy="2451600"/>
            </a:xfrm>
            <a:prstGeom prst="rect">
              <a:avLst/>
            </a:prstGeom>
            <a:solidFill>
              <a:srgbClr val="FFC000">
                <a:alpha val="27843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2" name="Google Shape;352;gd409340aa3_0_91"/>
            <p:cNvPicPr preferRelativeResize="0"/>
            <p:nvPr/>
          </p:nvPicPr>
          <p:blipFill rotWithShape="1">
            <a:blip r:embed="rId3">
              <a:alphaModFix/>
            </a:blip>
            <a:srcRect b="32666" l="6769" r="53690" t="14229"/>
            <a:stretch/>
          </p:blipFill>
          <p:spPr>
            <a:xfrm flipH="1" rot="1047945">
              <a:off x="1532797" y="925138"/>
              <a:ext cx="2069555" cy="20737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gd409340aa3_0_91"/>
            <p:cNvSpPr txBox="1"/>
            <p:nvPr/>
          </p:nvSpPr>
          <p:spPr>
            <a:xfrm>
              <a:off x="1869900" y="940531"/>
              <a:ext cx="1596589" cy="15516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For many research projects you will need to submit an    ethics application</a:t>
              </a:r>
              <a:endPara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descr="A picture containing text, vector graphics&#10;&#10;Description automatically generated" id="354" name="Google Shape;354;gd409340aa3_0_91"/>
            <p:cNvPicPr preferRelativeResize="0"/>
            <p:nvPr/>
          </p:nvPicPr>
          <p:blipFill rotWithShape="1">
            <a:blip r:embed="rId7">
              <a:alphaModFix/>
            </a:blip>
            <a:srcRect b="56142" l="21709" r="0" t="0"/>
            <a:stretch/>
          </p:blipFill>
          <p:spPr>
            <a:xfrm>
              <a:off x="369287" y="1618706"/>
              <a:ext cx="3099295" cy="17954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359" name="Google Shape;3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360" name="Google Shape;36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365" name="Google Shape;365;g3a2a2ac745b_0_1327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366" name="Google Shape;366;g3a2a2ac745b_0_13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g3a2a2ac745b_0_1327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g3a2a2ac745b_0_1327"/>
          <p:cNvSpPr txBox="1"/>
          <p:nvPr/>
        </p:nvSpPr>
        <p:spPr>
          <a:xfrm>
            <a:off x="364243" y="2239799"/>
            <a:ext cx="36141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, venn diagram&#10;&#10;Description automatically generated" id="373" name="Google Shape;373;g3a2a2ac745b_0_13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8200" y="1555200"/>
            <a:ext cx="3747600" cy="37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a2a2ac745b_0_1334"/>
          <p:cNvSpPr txBox="1"/>
          <p:nvPr/>
        </p:nvSpPr>
        <p:spPr>
          <a:xfrm>
            <a:off x="2741571" y="1555200"/>
            <a:ext cx="3631500" cy="15774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31370"/>
              </a:srgbClr>
            </a:outerShdw>
          </a:effectLst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Why is </a:t>
            </a:r>
            <a:endParaRPr/>
          </a:p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pre-registration important?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a2a2ac745b_0_133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Why is pre-registration important? </a:t>
            </a:r>
            <a:endParaRPr b="1" sz="2400"/>
          </a:p>
        </p:txBody>
      </p:sp>
      <p:sp>
        <p:nvSpPr>
          <p:cNvPr id="380" name="Google Shape;380;g3a2a2ac745b_0_1339"/>
          <p:cNvSpPr txBox="1"/>
          <p:nvPr/>
        </p:nvSpPr>
        <p:spPr>
          <a:xfrm>
            <a:off x="497350" y="2612450"/>
            <a:ext cx="28218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Why is </a:t>
            </a:r>
            <a:br>
              <a:rPr b="0" i="0" lang="en-US" sz="1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pre-registration important?</a:t>
            </a:r>
            <a:endParaRPr b="0" i="0" sz="1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1" name="Google Shape;381;g3a2a2ac745b_0_13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37075"/>
            <a:ext cx="9093173" cy="511199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3a2a2ac745b_0_1339"/>
          <p:cNvSpPr txBox="1"/>
          <p:nvPr/>
        </p:nvSpPr>
        <p:spPr>
          <a:xfrm>
            <a:off x="4217488" y="1229625"/>
            <a:ext cx="65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g3a2a2ac745b_0_1339"/>
          <p:cNvSpPr txBox="1"/>
          <p:nvPr/>
        </p:nvSpPr>
        <p:spPr>
          <a:xfrm>
            <a:off x="4889925" y="1058775"/>
            <a:ext cx="38151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 encourages researchers to identify the goals of their project before collecting data or starting analysis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g3a2a2ac745b_0_1339"/>
          <p:cNvSpPr txBox="1"/>
          <p:nvPr/>
        </p:nvSpPr>
        <p:spPr>
          <a:xfrm>
            <a:off x="4889925" y="2212250"/>
            <a:ext cx="381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 creates accountability in research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g3a2a2ac745b_0_1339"/>
          <p:cNvSpPr txBox="1"/>
          <p:nvPr/>
        </p:nvSpPr>
        <p:spPr>
          <a:xfrm>
            <a:off x="4889925" y="2956575"/>
            <a:ext cx="38151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 discourages researchers from conducting after-the-fact analyses to find significant/novel/exciting results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g3a2a2ac745b_0_1339"/>
          <p:cNvSpPr txBox="1"/>
          <p:nvPr/>
        </p:nvSpPr>
        <p:spPr>
          <a:xfrm>
            <a:off x="4889925" y="4030025"/>
            <a:ext cx="3815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 helps researchers manage the personal biases that might influence their research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g3a2a2ac745b_0_1339"/>
          <p:cNvSpPr txBox="1"/>
          <p:nvPr/>
        </p:nvSpPr>
        <p:spPr>
          <a:xfrm>
            <a:off x="4889925" y="5105900"/>
            <a:ext cx="381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 makes research findings easier to locate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g3a2a2ac745b_0_1339"/>
          <p:cNvSpPr txBox="1"/>
          <p:nvPr/>
        </p:nvSpPr>
        <p:spPr>
          <a:xfrm>
            <a:off x="4217475" y="2212250"/>
            <a:ext cx="65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g3a2a2ac745b_0_1339"/>
          <p:cNvSpPr txBox="1"/>
          <p:nvPr/>
        </p:nvSpPr>
        <p:spPr>
          <a:xfrm>
            <a:off x="4217463" y="3173625"/>
            <a:ext cx="65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g3a2a2ac745b_0_1339"/>
          <p:cNvSpPr txBox="1"/>
          <p:nvPr/>
        </p:nvSpPr>
        <p:spPr>
          <a:xfrm>
            <a:off x="4217488" y="4135000"/>
            <a:ext cx="65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g3a2a2ac745b_0_1339"/>
          <p:cNvSpPr txBox="1"/>
          <p:nvPr/>
        </p:nvSpPr>
        <p:spPr>
          <a:xfrm>
            <a:off x="4217463" y="5075150"/>
            <a:ext cx="65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g3a2a2ac745b_0_1339"/>
          <p:cNvSpPr txBox="1"/>
          <p:nvPr/>
        </p:nvSpPr>
        <p:spPr>
          <a:xfrm>
            <a:off x="726550" y="2748038"/>
            <a:ext cx="2592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Why is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pre-registration important?</a:t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7" name="Google Shape;397;g3a2a2ac745b_0_1356"/>
          <p:cNvGrpSpPr/>
          <p:nvPr/>
        </p:nvGrpSpPr>
        <p:grpSpPr>
          <a:xfrm>
            <a:off x="78985" y="3326303"/>
            <a:ext cx="8713365" cy="2633321"/>
            <a:chOff x="78985" y="3326303"/>
            <a:chExt cx="8713365" cy="2633321"/>
          </a:xfrm>
        </p:grpSpPr>
        <p:sp>
          <p:nvSpPr>
            <p:cNvPr id="398" name="Google Shape;398;g3a2a2ac745b_0_1356"/>
            <p:cNvSpPr/>
            <p:nvPr/>
          </p:nvSpPr>
          <p:spPr>
            <a:xfrm>
              <a:off x="343150" y="3508024"/>
              <a:ext cx="8449200" cy="2451600"/>
            </a:xfrm>
            <a:prstGeom prst="rect">
              <a:avLst/>
            </a:prstGeom>
            <a:solidFill>
              <a:srgbClr val="FFC000">
                <a:alpha val="27840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9" name="Google Shape;399;g3a2a2ac745b_0_1356"/>
            <p:cNvPicPr preferRelativeResize="0"/>
            <p:nvPr/>
          </p:nvPicPr>
          <p:blipFill rotWithShape="1">
            <a:blip r:embed="rId3">
              <a:alphaModFix/>
            </a:blip>
            <a:srcRect b="26250" l="6769" r="53691" t="10844"/>
            <a:stretch/>
          </p:blipFill>
          <p:spPr>
            <a:xfrm flipH="1">
              <a:off x="1612858" y="3441380"/>
              <a:ext cx="2607758" cy="2261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0" name="Google Shape;400;g3a2a2ac745b_0_1356"/>
            <p:cNvSpPr txBox="1"/>
            <p:nvPr/>
          </p:nvSpPr>
          <p:spPr>
            <a:xfrm>
              <a:off x="1993771" y="3782854"/>
              <a:ext cx="2058900" cy="11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You may also be able to earn a digital badge for pre-registering your study!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1" name="Google Shape;401;g3a2a2ac745b_0_1356"/>
            <p:cNvPicPr preferRelativeResize="0"/>
            <p:nvPr/>
          </p:nvPicPr>
          <p:blipFill rotWithShape="1">
            <a:blip r:embed="rId4">
              <a:alphaModFix/>
            </a:blip>
            <a:srcRect b="45916" l="0" r="0" t="0"/>
            <a:stretch/>
          </p:blipFill>
          <p:spPr>
            <a:xfrm>
              <a:off x="78985" y="3326303"/>
              <a:ext cx="2607758" cy="26022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2" name="Google Shape;402;g3a2a2ac745b_0_135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Why should you pre-register your study?</a:t>
            </a:r>
            <a:endParaRPr b="1" sz="2400"/>
          </a:p>
        </p:txBody>
      </p:sp>
      <p:grpSp>
        <p:nvGrpSpPr>
          <p:cNvPr id="403" name="Google Shape;403;g3a2a2ac745b_0_1356"/>
          <p:cNvGrpSpPr/>
          <p:nvPr/>
        </p:nvGrpSpPr>
        <p:grpSpPr>
          <a:xfrm>
            <a:off x="132256" y="1008651"/>
            <a:ext cx="4390494" cy="2543341"/>
            <a:chOff x="132256" y="1008651"/>
            <a:chExt cx="4390494" cy="2543341"/>
          </a:xfrm>
        </p:grpSpPr>
        <p:sp>
          <p:nvSpPr>
            <p:cNvPr id="404" name="Google Shape;404;g3a2a2ac745b_0_1356"/>
            <p:cNvSpPr/>
            <p:nvPr/>
          </p:nvSpPr>
          <p:spPr>
            <a:xfrm>
              <a:off x="343150" y="1008651"/>
              <a:ext cx="4179600" cy="2451600"/>
            </a:xfrm>
            <a:prstGeom prst="rect">
              <a:avLst/>
            </a:prstGeom>
            <a:solidFill>
              <a:srgbClr val="FFC000">
                <a:alpha val="27840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5" name="Google Shape;405;g3a2a2ac745b_0_1356"/>
            <p:cNvPicPr preferRelativeResize="0"/>
            <p:nvPr/>
          </p:nvPicPr>
          <p:blipFill rotWithShape="1">
            <a:blip r:embed="rId5">
              <a:alphaModFix/>
            </a:blip>
            <a:srcRect b="45512" l="0" r="0" t="0"/>
            <a:stretch/>
          </p:blipFill>
          <p:spPr>
            <a:xfrm flipH="1">
              <a:off x="132256" y="1184128"/>
              <a:ext cx="2636012" cy="226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6" name="Google Shape;406;g3a2a2ac745b_0_1356"/>
            <p:cNvPicPr preferRelativeResize="0"/>
            <p:nvPr/>
          </p:nvPicPr>
          <p:blipFill rotWithShape="1">
            <a:blip r:embed="rId3">
              <a:alphaModFix/>
            </a:blip>
            <a:srcRect b="26250" l="6769" r="53691" t="10844"/>
            <a:stretch/>
          </p:blipFill>
          <p:spPr>
            <a:xfrm rot="10800000">
              <a:off x="1842852" y="1290491"/>
              <a:ext cx="2607758" cy="2261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g3a2a2ac745b_0_1356"/>
            <p:cNvSpPr txBox="1"/>
            <p:nvPr/>
          </p:nvSpPr>
          <p:spPr>
            <a:xfrm>
              <a:off x="2177610" y="1985926"/>
              <a:ext cx="2151000" cy="8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Pre-registration is easy once you have learnt how to do it </a:t>
              </a:r>
              <a:endPara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08" name="Google Shape;408;g3a2a2ac745b_0_1356"/>
          <p:cNvGrpSpPr/>
          <p:nvPr/>
        </p:nvGrpSpPr>
        <p:grpSpPr>
          <a:xfrm>
            <a:off x="4621252" y="759694"/>
            <a:ext cx="4304478" cy="2700557"/>
            <a:chOff x="4551319" y="756212"/>
            <a:chExt cx="4304478" cy="2700557"/>
          </a:xfrm>
        </p:grpSpPr>
        <p:sp>
          <p:nvSpPr>
            <p:cNvPr id="409" name="Google Shape;409;g3a2a2ac745b_0_1356"/>
            <p:cNvSpPr/>
            <p:nvPr/>
          </p:nvSpPr>
          <p:spPr>
            <a:xfrm>
              <a:off x="4551319" y="1005169"/>
              <a:ext cx="4179600" cy="2451600"/>
            </a:xfrm>
            <a:prstGeom prst="rect">
              <a:avLst/>
            </a:prstGeom>
            <a:solidFill>
              <a:srgbClr val="FFC000">
                <a:alpha val="27840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0" name="Google Shape;410;g3a2a2ac745b_0_1356"/>
            <p:cNvPicPr preferRelativeResize="0"/>
            <p:nvPr/>
          </p:nvPicPr>
          <p:blipFill rotWithShape="1">
            <a:blip r:embed="rId3">
              <a:alphaModFix/>
            </a:blip>
            <a:srcRect b="26250" l="6769" r="53691" t="10844"/>
            <a:stretch/>
          </p:blipFill>
          <p:spPr>
            <a:xfrm>
              <a:off x="4554579" y="854674"/>
              <a:ext cx="2607758" cy="2261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1" name="Google Shape;411;g3a2a2ac745b_0_1356"/>
            <p:cNvPicPr preferRelativeResize="0"/>
            <p:nvPr/>
          </p:nvPicPr>
          <p:blipFill rotWithShape="1">
            <a:blip r:embed="rId6">
              <a:alphaModFix/>
            </a:blip>
            <a:srcRect b="36876" l="0" r="0" t="0"/>
            <a:stretch/>
          </p:blipFill>
          <p:spPr>
            <a:xfrm>
              <a:off x="6430263" y="1521593"/>
              <a:ext cx="1771250" cy="19197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2" name="Google Shape;412;g3a2a2ac745b_0_135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528971" y="756212"/>
              <a:ext cx="1326826" cy="13268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g3a2a2ac745b_0_1356"/>
            <p:cNvSpPr txBox="1"/>
            <p:nvPr/>
          </p:nvSpPr>
          <p:spPr>
            <a:xfrm>
              <a:off x="4733644" y="1138887"/>
              <a:ext cx="20589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It builds your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reputation as a researcher and allows you to take credit for your ideas and plans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14" name="Google Shape;414;g3a2a2ac745b_0_1356"/>
          <p:cNvGrpSpPr/>
          <p:nvPr/>
        </p:nvGrpSpPr>
        <p:grpSpPr>
          <a:xfrm>
            <a:off x="4674401" y="3546119"/>
            <a:ext cx="4117949" cy="2413505"/>
            <a:chOff x="4674401" y="3546119"/>
            <a:chExt cx="4117949" cy="2413505"/>
          </a:xfrm>
        </p:grpSpPr>
        <p:pic>
          <p:nvPicPr>
            <p:cNvPr id="415" name="Google Shape;415;g3a2a2ac745b_0_1356"/>
            <p:cNvPicPr preferRelativeResize="0"/>
            <p:nvPr/>
          </p:nvPicPr>
          <p:blipFill rotWithShape="1">
            <a:blip r:embed="rId8">
              <a:alphaModFix/>
            </a:blip>
            <a:srcRect b="41121" l="14478" r="0" t="0"/>
            <a:stretch/>
          </p:blipFill>
          <p:spPr>
            <a:xfrm flipH="1">
              <a:off x="6542471" y="3546119"/>
              <a:ext cx="2249879" cy="23783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6" name="Google Shape;416;g3a2a2ac745b_0_1356"/>
            <p:cNvPicPr preferRelativeResize="0"/>
            <p:nvPr/>
          </p:nvPicPr>
          <p:blipFill rotWithShape="1">
            <a:blip r:embed="rId3">
              <a:alphaModFix/>
            </a:blip>
            <a:srcRect b="26250" l="6769" r="53691" t="10844"/>
            <a:stretch/>
          </p:blipFill>
          <p:spPr>
            <a:xfrm flipH="1" rot="10800000">
              <a:off x="4674401" y="3698123"/>
              <a:ext cx="2607758" cy="2261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g3a2a2ac745b_0_1356"/>
            <p:cNvSpPr txBox="1"/>
            <p:nvPr/>
          </p:nvSpPr>
          <p:spPr>
            <a:xfrm>
              <a:off x="4772655" y="4514368"/>
              <a:ext cx="2286000" cy="80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These are offered by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over 60 research journals in multiple disciplines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a2a2ac745b_0_1380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Why aren’t all studies pre-registered?</a:t>
            </a:r>
            <a:endParaRPr b="1" sz="2400"/>
          </a:p>
        </p:txBody>
      </p:sp>
      <p:sp>
        <p:nvSpPr>
          <p:cNvPr id="423" name="Google Shape;423;g3a2a2ac745b_0_1380"/>
          <p:cNvSpPr txBox="1"/>
          <p:nvPr/>
        </p:nvSpPr>
        <p:spPr>
          <a:xfrm>
            <a:off x="4679675" y="4436303"/>
            <a:ext cx="40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a2a2ac745b_0_1380"/>
          <p:cNvSpPr txBox="1"/>
          <p:nvPr/>
        </p:nvSpPr>
        <p:spPr>
          <a:xfrm>
            <a:off x="293088" y="4428488"/>
            <a:ext cx="40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25" name="Google Shape;425;g3a2a2ac745b_0_1380"/>
          <p:cNvGrpSpPr/>
          <p:nvPr/>
        </p:nvGrpSpPr>
        <p:grpSpPr>
          <a:xfrm>
            <a:off x="490299" y="1472400"/>
            <a:ext cx="8101101" cy="3913200"/>
            <a:chOff x="490299" y="1472400"/>
            <a:chExt cx="8101101" cy="3913200"/>
          </a:xfrm>
        </p:grpSpPr>
        <p:sp>
          <p:nvSpPr>
            <p:cNvPr id="426" name="Google Shape;426;g3a2a2ac745b_0_1380"/>
            <p:cNvSpPr/>
            <p:nvPr/>
          </p:nvSpPr>
          <p:spPr>
            <a:xfrm>
              <a:off x="552600" y="1472400"/>
              <a:ext cx="8038800" cy="3913200"/>
            </a:xfrm>
            <a:prstGeom prst="rect">
              <a:avLst/>
            </a:prstGeom>
            <a:solidFill>
              <a:srgbClr val="FFC000">
                <a:alpha val="27840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27" name="Google Shape;427;g3a2a2ac745b_0_1380"/>
            <p:cNvPicPr preferRelativeResize="0"/>
            <p:nvPr/>
          </p:nvPicPr>
          <p:blipFill rotWithShape="1">
            <a:blip r:embed="rId3">
              <a:alphaModFix/>
            </a:blip>
            <a:srcRect b="26250" l="6769" r="53691" t="10844"/>
            <a:stretch/>
          </p:blipFill>
          <p:spPr>
            <a:xfrm rot="10124380">
              <a:off x="1617908" y="2203050"/>
              <a:ext cx="3253903" cy="2821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8" name="Google Shape;428;g3a2a2ac745b_0_1380"/>
            <p:cNvPicPr preferRelativeResize="0"/>
            <p:nvPr/>
          </p:nvPicPr>
          <p:blipFill rotWithShape="1">
            <a:blip r:embed="rId4">
              <a:alphaModFix/>
            </a:blip>
            <a:srcRect b="3651" l="0" r="0" t="0"/>
            <a:stretch/>
          </p:blipFill>
          <p:spPr>
            <a:xfrm>
              <a:off x="490299" y="2105426"/>
              <a:ext cx="1789349" cy="31749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g3a2a2ac745b_0_1380"/>
            <p:cNvSpPr txBox="1"/>
            <p:nvPr/>
          </p:nvSpPr>
          <p:spPr>
            <a:xfrm>
              <a:off x="2061884" y="3031999"/>
              <a:ext cx="2665500" cy="13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Pre-registration might 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present challenges for some types of research, like exploratory research or secondary analyses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0" name="Google Shape;430;g3a2a2ac745b_0_1380"/>
          <p:cNvGrpSpPr/>
          <p:nvPr/>
        </p:nvGrpSpPr>
        <p:grpSpPr>
          <a:xfrm>
            <a:off x="5234018" y="1472400"/>
            <a:ext cx="3252243" cy="3967075"/>
            <a:chOff x="5234018" y="1472400"/>
            <a:chExt cx="3252243" cy="3967075"/>
          </a:xfrm>
        </p:grpSpPr>
        <p:pic>
          <p:nvPicPr>
            <p:cNvPr id="431" name="Google Shape;431;g3a2a2ac745b_0_1380"/>
            <p:cNvPicPr preferRelativeResize="0"/>
            <p:nvPr/>
          </p:nvPicPr>
          <p:blipFill rotWithShape="1">
            <a:blip r:embed="rId5">
              <a:alphaModFix/>
            </a:blip>
            <a:srcRect b="1185" l="0" r="17095" t="0"/>
            <a:stretch/>
          </p:blipFill>
          <p:spPr>
            <a:xfrm>
              <a:off x="6616699" y="2209799"/>
              <a:ext cx="1869562" cy="32296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2" name="Google Shape;432;g3a2a2ac745b_0_1380"/>
            <p:cNvPicPr preferRelativeResize="0"/>
            <p:nvPr/>
          </p:nvPicPr>
          <p:blipFill rotWithShape="1">
            <a:blip r:embed="rId3">
              <a:alphaModFix/>
            </a:blip>
            <a:srcRect b="26250" l="6769" r="53691" t="10844"/>
            <a:stretch/>
          </p:blipFill>
          <p:spPr>
            <a:xfrm>
              <a:off x="5234018" y="1472400"/>
              <a:ext cx="2273299" cy="21078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g3a2a2ac745b_0_1380"/>
            <p:cNvSpPr txBox="1"/>
            <p:nvPr/>
          </p:nvSpPr>
          <p:spPr>
            <a:xfrm>
              <a:off x="5451373" y="1987066"/>
              <a:ext cx="1696800" cy="80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But challenges do not mean it can’t be done!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a2a2ac745b_0_139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000"/>
              <a:t>Why aren’t all studies pre-registered?</a:t>
            </a:r>
            <a:endParaRPr b="1" sz="2000"/>
          </a:p>
        </p:txBody>
      </p:sp>
      <p:grpSp>
        <p:nvGrpSpPr>
          <p:cNvPr id="439" name="Google Shape;439;g3a2a2ac745b_0_1395"/>
          <p:cNvGrpSpPr/>
          <p:nvPr/>
        </p:nvGrpSpPr>
        <p:grpSpPr>
          <a:xfrm>
            <a:off x="347400" y="2860664"/>
            <a:ext cx="8449200" cy="3565135"/>
            <a:chOff x="347400" y="2860664"/>
            <a:chExt cx="8449200" cy="3565135"/>
          </a:xfrm>
        </p:grpSpPr>
        <p:sp>
          <p:nvSpPr>
            <p:cNvPr id="440" name="Google Shape;440;g3a2a2ac745b_0_1395"/>
            <p:cNvSpPr/>
            <p:nvPr/>
          </p:nvSpPr>
          <p:spPr>
            <a:xfrm>
              <a:off x="347400" y="3398376"/>
              <a:ext cx="8449200" cy="2451600"/>
            </a:xfrm>
            <a:prstGeom prst="rect">
              <a:avLst/>
            </a:prstGeom>
            <a:solidFill>
              <a:srgbClr val="FFC000">
                <a:alpha val="27840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41" name="Google Shape;441;g3a2a2ac745b_0_1395"/>
            <p:cNvPicPr preferRelativeResize="0"/>
            <p:nvPr/>
          </p:nvPicPr>
          <p:blipFill rotWithShape="1">
            <a:blip r:embed="rId3">
              <a:alphaModFix/>
            </a:blip>
            <a:srcRect b="45512" l="0" r="7817" t="0"/>
            <a:stretch/>
          </p:blipFill>
          <p:spPr>
            <a:xfrm flipH="1">
              <a:off x="395781" y="3573643"/>
              <a:ext cx="2429929" cy="2261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2" name="Google Shape;442;g3a2a2ac745b_0_1395"/>
            <p:cNvPicPr preferRelativeResize="0"/>
            <p:nvPr/>
          </p:nvPicPr>
          <p:blipFill rotWithShape="1">
            <a:blip r:embed="rId4">
              <a:alphaModFix/>
            </a:blip>
            <a:srcRect b="26250" l="6769" r="53691" t="10844"/>
            <a:stretch/>
          </p:blipFill>
          <p:spPr>
            <a:xfrm flipH="1" rot="1036409">
              <a:off x="1673790" y="3228902"/>
              <a:ext cx="2909924" cy="28286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3" name="Google Shape;443;g3a2a2ac745b_0_1395"/>
            <p:cNvSpPr txBox="1"/>
            <p:nvPr/>
          </p:nvSpPr>
          <p:spPr>
            <a:xfrm>
              <a:off x="2100479" y="3715637"/>
              <a:ext cx="2268900" cy="13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Some researchers think pre-registration is not applicable or appropriate for more constructivist research </a:t>
              </a:r>
              <a:endPara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44" name="Google Shape;444;g3a2a2ac745b_0_1395"/>
          <p:cNvGrpSpPr/>
          <p:nvPr/>
        </p:nvGrpSpPr>
        <p:grpSpPr>
          <a:xfrm>
            <a:off x="4158352" y="2421811"/>
            <a:ext cx="4638248" cy="4123816"/>
            <a:chOff x="4158352" y="2421811"/>
            <a:chExt cx="4638248" cy="4123816"/>
          </a:xfrm>
        </p:grpSpPr>
        <p:pic>
          <p:nvPicPr>
            <p:cNvPr id="445" name="Google Shape;445;g3a2a2ac745b_0_1395"/>
            <p:cNvPicPr preferRelativeResize="0"/>
            <p:nvPr/>
          </p:nvPicPr>
          <p:blipFill rotWithShape="1">
            <a:blip r:embed="rId5">
              <a:alphaModFix/>
            </a:blip>
            <a:srcRect b="53029" l="9066" r="0" t="0"/>
            <a:stretch/>
          </p:blipFill>
          <p:spPr>
            <a:xfrm flipH="1">
              <a:off x="6244648" y="3519799"/>
              <a:ext cx="2551952" cy="23114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6" name="Google Shape;446;g3a2a2ac745b_0_1395"/>
            <p:cNvPicPr preferRelativeResize="0"/>
            <p:nvPr/>
          </p:nvPicPr>
          <p:blipFill rotWithShape="1">
            <a:blip r:embed="rId4">
              <a:alphaModFix/>
            </a:blip>
            <a:srcRect b="26250" l="6769" r="53691" t="10844"/>
            <a:stretch/>
          </p:blipFill>
          <p:spPr>
            <a:xfrm flipH="1" rot="-8870931">
              <a:off x="4729585" y="2982152"/>
              <a:ext cx="2971355" cy="30031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7" name="Google Shape;447;g3a2a2ac745b_0_1395"/>
            <p:cNvSpPr txBox="1"/>
            <p:nvPr/>
          </p:nvSpPr>
          <p:spPr>
            <a:xfrm>
              <a:off x="4952239" y="3733000"/>
              <a:ext cx="2128500" cy="163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But being transparent about what we plan to do before we begin our research projects is important for </a:t>
              </a:r>
              <a:r>
                <a:rPr b="1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any</a:t>
              </a: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type of research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8" name="Google Shape;448;g3a2a2ac745b_0_1395"/>
          <p:cNvGrpSpPr/>
          <p:nvPr/>
        </p:nvGrpSpPr>
        <p:grpSpPr>
          <a:xfrm>
            <a:off x="80384" y="220847"/>
            <a:ext cx="8716217" cy="3662400"/>
            <a:chOff x="75334" y="2864706"/>
            <a:chExt cx="8716217" cy="3662400"/>
          </a:xfrm>
        </p:grpSpPr>
        <p:sp>
          <p:nvSpPr>
            <p:cNvPr id="449" name="Google Shape;449;g3a2a2ac745b_0_1395"/>
            <p:cNvSpPr/>
            <p:nvPr/>
          </p:nvSpPr>
          <p:spPr>
            <a:xfrm>
              <a:off x="342350" y="3460063"/>
              <a:ext cx="8449200" cy="2451600"/>
            </a:xfrm>
            <a:prstGeom prst="rect">
              <a:avLst/>
            </a:prstGeom>
            <a:solidFill>
              <a:srgbClr val="FFC000">
                <a:alpha val="27840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50" name="Google Shape;450;g3a2a2ac745b_0_139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3190504" y="3318488"/>
              <a:ext cx="2309011" cy="27548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1" name="Google Shape;451;g3a2a2ac745b_0_1395"/>
            <p:cNvPicPr preferRelativeResize="0"/>
            <p:nvPr/>
          </p:nvPicPr>
          <p:blipFill rotWithShape="1">
            <a:blip r:embed="rId4">
              <a:alphaModFix/>
            </a:blip>
            <a:srcRect b="26250" l="6769" r="53691" t="10844"/>
            <a:stretch/>
          </p:blipFill>
          <p:spPr>
            <a:xfrm flipH="1" rot="-9780060">
              <a:off x="417917" y="3280131"/>
              <a:ext cx="3265076" cy="28315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g3a2a2ac745b_0_1395"/>
            <p:cNvSpPr txBox="1"/>
            <p:nvPr/>
          </p:nvSpPr>
          <p:spPr>
            <a:xfrm>
              <a:off x="620817" y="4050719"/>
              <a:ext cx="2407800" cy="13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Pre-registration takes time, planning and figuring out requirements for pre-registration for the target repository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Circle&#10;&#10;Description automatically generated" id="453" name="Google Shape;453;g3a2a2ac745b_0_139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20770" y="3444296"/>
              <a:ext cx="731225" cy="726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text, furniture, file, chest of drawers&#10;&#10;Description automatically generated" id="454" name="Google Shape;454;g3a2a2ac745b_0_139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452796" y="3924458"/>
              <a:ext cx="1338755" cy="2026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text&#10;&#10;Description automatically generated" id="455" name="Google Shape;455;g3a2a2ac745b_0_139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038729" y="3476637"/>
              <a:ext cx="1586855" cy="14193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460" name="Google Shape;460;g3a2a2ac745b_0_14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461" name="Google Shape;461;g3a2a2ac745b_0_14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466" name="Google Shape;466;g3a2a2ac745b_0_1897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467" name="Google Shape;467;g3a2a2ac745b_0_18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g3a2a2ac745b_0_1897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" name="Google Shape;469;g3a2a2ac745b_0_1897"/>
          <p:cNvSpPr txBox="1"/>
          <p:nvPr/>
        </p:nvSpPr>
        <p:spPr>
          <a:xfrm>
            <a:off x="364243" y="2239799"/>
            <a:ext cx="36141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&#10;&#10;Description automatically generated" id="474" name="Google Shape;474;g3a2a2ac745b_0_19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8200" y="1555200"/>
            <a:ext cx="3747600" cy="37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g3a2a2ac745b_0_1904"/>
          <p:cNvSpPr txBox="1"/>
          <p:nvPr/>
        </p:nvSpPr>
        <p:spPr>
          <a:xfrm>
            <a:off x="2741571" y="1555200"/>
            <a:ext cx="3631500" cy="11133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31370"/>
              </a:srgbClr>
            </a:outerShdw>
          </a:effectLst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How do you pre-register a study?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a2a2ac745b_0_190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Pre-registering Your Study</a:t>
            </a:r>
            <a:endParaRPr b="1" sz="2400"/>
          </a:p>
        </p:txBody>
      </p:sp>
      <p:sp>
        <p:nvSpPr>
          <p:cNvPr id="481" name="Google Shape;481;g3a2a2ac745b_0_1909"/>
          <p:cNvSpPr/>
          <p:nvPr/>
        </p:nvSpPr>
        <p:spPr>
          <a:xfrm>
            <a:off x="552600" y="1472400"/>
            <a:ext cx="8038800" cy="3913200"/>
          </a:xfrm>
          <a:prstGeom prst="rect">
            <a:avLst/>
          </a:prstGeom>
          <a:solidFill>
            <a:srgbClr val="FFC000">
              <a:alpha val="27840"/>
            </a:srgbClr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a2a2ac745b_0_1909"/>
          <p:cNvSpPr txBox="1"/>
          <p:nvPr/>
        </p:nvSpPr>
        <p:spPr>
          <a:xfrm>
            <a:off x="4679675" y="4436303"/>
            <a:ext cx="40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a2a2ac745b_0_1909"/>
          <p:cNvSpPr txBox="1"/>
          <p:nvPr/>
        </p:nvSpPr>
        <p:spPr>
          <a:xfrm>
            <a:off x="293088" y="4428488"/>
            <a:ext cx="40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4" name="Google Shape;484;g3a2a2ac745b_0_1909"/>
          <p:cNvPicPr preferRelativeResize="0"/>
          <p:nvPr/>
        </p:nvPicPr>
        <p:blipFill rotWithShape="1">
          <a:blip r:embed="rId3">
            <a:alphaModFix/>
          </a:blip>
          <a:srcRect b="26250" l="6769" r="53691" t="10844"/>
          <a:stretch/>
        </p:blipFill>
        <p:spPr>
          <a:xfrm>
            <a:off x="2255150" y="1494578"/>
            <a:ext cx="2099213" cy="2258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g3a2a2ac745b_0_1909"/>
          <p:cNvPicPr preferRelativeResize="0"/>
          <p:nvPr/>
        </p:nvPicPr>
        <p:blipFill rotWithShape="1">
          <a:blip r:embed="rId4">
            <a:alphaModFix/>
          </a:blip>
          <a:srcRect b="35521" l="0" r="0" t="0"/>
          <a:stretch/>
        </p:blipFill>
        <p:spPr>
          <a:xfrm>
            <a:off x="3103036" y="2541000"/>
            <a:ext cx="3023250" cy="284452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3a2a2ac745b_0_1909"/>
          <p:cNvSpPr txBox="1"/>
          <p:nvPr/>
        </p:nvSpPr>
        <p:spPr>
          <a:xfrm>
            <a:off x="2498215" y="2037802"/>
            <a:ext cx="1443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sounds like a lot of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7" name="Google Shape;487;g3a2a2ac745b_0_1909"/>
          <p:cNvGrpSpPr/>
          <p:nvPr/>
        </p:nvGrpSpPr>
        <p:grpSpPr>
          <a:xfrm>
            <a:off x="4789637" y="1411587"/>
            <a:ext cx="2099213" cy="2258677"/>
            <a:chOff x="4789637" y="1411587"/>
            <a:chExt cx="2099213" cy="2258677"/>
          </a:xfrm>
        </p:grpSpPr>
        <p:pic>
          <p:nvPicPr>
            <p:cNvPr id="488" name="Google Shape;488;g3a2a2ac745b_0_1909"/>
            <p:cNvPicPr preferRelativeResize="0"/>
            <p:nvPr/>
          </p:nvPicPr>
          <p:blipFill rotWithShape="1">
            <a:blip r:embed="rId3">
              <a:alphaModFix/>
            </a:blip>
            <a:srcRect b="26250" l="6769" r="53691" t="10844"/>
            <a:stretch/>
          </p:blipFill>
          <p:spPr>
            <a:xfrm flipH="1">
              <a:off x="4789637" y="1411587"/>
              <a:ext cx="2099213" cy="22586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g3a2a2ac745b_0_1909"/>
            <p:cNvSpPr txBox="1"/>
            <p:nvPr/>
          </p:nvSpPr>
          <p:spPr>
            <a:xfrm>
              <a:off x="5087711" y="1822541"/>
              <a:ext cx="1729800" cy="8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And what if I want to change my research plan?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a2a2ac745b_0_192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Pre-registering Your Study</a:t>
            </a:r>
            <a:endParaRPr b="1" sz="2400"/>
          </a:p>
        </p:txBody>
      </p:sp>
      <p:sp>
        <p:nvSpPr>
          <p:cNvPr id="495" name="Google Shape;495;g3a2a2ac745b_0_1922"/>
          <p:cNvSpPr txBox="1"/>
          <p:nvPr/>
        </p:nvSpPr>
        <p:spPr>
          <a:xfrm>
            <a:off x="4679675" y="4436303"/>
            <a:ext cx="40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g3a2a2ac745b_0_1922"/>
          <p:cNvSpPr txBox="1"/>
          <p:nvPr/>
        </p:nvSpPr>
        <p:spPr>
          <a:xfrm>
            <a:off x="293088" y="4428488"/>
            <a:ext cx="40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97" name="Google Shape;497;g3a2a2ac745b_0_1922"/>
          <p:cNvGrpSpPr/>
          <p:nvPr/>
        </p:nvGrpSpPr>
        <p:grpSpPr>
          <a:xfrm>
            <a:off x="378277" y="1346200"/>
            <a:ext cx="8213123" cy="4039400"/>
            <a:chOff x="378277" y="1346200"/>
            <a:chExt cx="8213123" cy="4039400"/>
          </a:xfrm>
        </p:grpSpPr>
        <p:sp>
          <p:nvSpPr>
            <p:cNvPr id="498" name="Google Shape;498;g3a2a2ac745b_0_1922"/>
            <p:cNvSpPr/>
            <p:nvPr/>
          </p:nvSpPr>
          <p:spPr>
            <a:xfrm>
              <a:off x="552600" y="1472400"/>
              <a:ext cx="8038800" cy="3913200"/>
            </a:xfrm>
            <a:prstGeom prst="rect">
              <a:avLst/>
            </a:prstGeom>
            <a:solidFill>
              <a:srgbClr val="FFC000">
                <a:alpha val="27840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9" name="Google Shape;499;g3a2a2ac745b_0_1922"/>
            <p:cNvPicPr preferRelativeResize="0"/>
            <p:nvPr/>
          </p:nvPicPr>
          <p:blipFill rotWithShape="1">
            <a:blip r:embed="rId3">
              <a:alphaModFix/>
            </a:blip>
            <a:srcRect b="34426" l="0" r="0" t="0"/>
            <a:stretch/>
          </p:blipFill>
          <p:spPr>
            <a:xfrm>
              <a:off x="378277" y="3266337"/>
              <a:ext cx="2254896" cy="2099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0" name="Google Shape;500;g3a2a2ac745b_0_1922"/>
            <p:cNvPicPr preferRelativeResize="0"/>
            <p:nvPr/>
          </p:nvPicPr>
          <p:blipFill rotWithShape="1">
            <a:blip r:embed="rId4">
              <a:alphaModFix/>
            </a:blip>
            <a:srcRect b="26250" l="6769" r="53691" t="10844"/>
            <a:stretch/>
          </p:blipFill>
          <p:spPr>
            <a:xfrm flipH="1">
              <a:off x="936275" y="1346200"/>
              <a:ext cx="2695925" cy="30901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g3a2a2ac745b_0_1922"/>
            <p:cNvSpPr txBox="1"/>
            <p:nvPr/>
          </p:nvSpPr>
          <p:spPr>
            <a:xfrm>
              <a:off x="1163811" y="1877323"/>
              <a:ext cx="2344800" cy="13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Your pre-registration is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the research plan you will put together with your supervisor and/or for ethics approval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2" name="Google Shape;502;g3a2a2ac745b_0_1922"/>
          <p:cNvGrpSpPr/>
          <p:nvPr/>
        </p:nvGrpSpPr>
        <p:grpSpPr>
          <a:xfrm>
            <a:off x="5371521" y="1292358"/>
            <a:ext cx="3219219" cy="4093241"/>
            <a:chOff x="5371521" y="1292358"/>
            <a:chExt cx="3219219" cy="4093241"/>
          </a:xfrm>
        </p:grpSpPr>
        <p:pic>
          <p:nvPicPr>
            <p:cNvPr descr="Logo&#10;&#10;Description automatically generated" id="503" name="Google Shape;503;g3a2a2ac745b_0_1922"/>
            <p:cNvPicPr preferRelativeResize="0"/>
            <p:nvPr/>
          </p:nvPicPr>
          <p:blipFill rotWithShape="1">
            <a:blip r:embed="rId5">
              <a:alphaModFix/>
            </a:blip>
            <a:srcRect b="28791" l="30980" r="2692" t="2427"/>
            <a:stretch/>
          </p:blipFill>
          <p:spPr>
            <a:xfrm flipH="1">
              <a:off x="6510829" y="2901591"/>
              <a:ext cx="2079911" cy="2484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4" name="Google Shape;504;g3a2a2ac745b_0_1922"/>
            <p:cNvPicPr preferRelativeResize="0"/>
            <p:nvPr/>
          </p:nvPicPr>
          <p:blipFill rotWithShape="1">
            <a:blip r:embed="rId4">
              <a:alphaModFix/>
            </a:blip>
            <a:srcRect b="26250" l="6769" r="53691" t="10844"/>
            <a:stretch/>
          </p:blipFill>
          <p:spPr>
            <a:xfrm>
              <a:off x="5371521" y="1292358"/>
              <a:ext cx="2580893" cy="28777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5" name="Google Shape;505;g3a2a2ac745b_0_1922"/>
            <p:cNvSpPr txBox="1"/>
            <p:nvPr/>
          </p:nvSpPr>
          <p:spPr>
            <a:xfrm>
              <a:off x="5514403" y="1785252"/>
              <a:ext cx="2184900" cy="13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There are lots of </a:t>
              </a:r>
              <a:b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resources and templates you can use to pre-register; this makes it much easier!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6" name="Google Shape;506;g3a2a2ac745b_0_1922"/>
          <p:cNvGrpSpPr/>
          <p:nvPr/>
        </p:nvGrpSpPr>
        <p:grpSpPr>
          <a:xfrm>
            <a:off x="2908934" y="2329549"/>
            <a:ext cx="3245414" cy="3018264"/>
            <a:chOff x="2908934" y="2329549"/>
            <a:chExt cx="3245414" cy="3018264"/>
          </a:xfrm>
        </p:grpSpPr>
        <p:pic>
          <p:nvPicPr>
            <p:cNvPr descr="A picture containing logo&#10;&#10;Description automatically generated" id="507" name="Google Shape;507;g3a2a2ac745b_0_1922"/>
            <p:cNvPicPr preferRelativeResize="0"/>
            <p:nvPr/>
          </p:nvPicPr>
          <p:blipFill rotWithShape="1">
            <a:blip r:embed="rId6">
              <a:alphaModFix/>
            </a:blip>
            <a:srcRect b="39402" l="0" r="24647" t="3392"/>
            <a:stretch/>
          </p:blipFill>
          <p:spPr>
            <a:xfrm flipH="1">
              <a:off x="4067309" y="3652144"/>
              <a:ext cx="2087039" cy="16956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8" name="Google Shape;508;g3a2a2ac745b_0_1922"/>
            <p:cNvPicPr preferRelativeResize="0"/>
            <p:nvPr/>
          </p:nvPicPr>
          <p:blipFill rotWithShape="1">
            <a:blip r:embed="rId4">
              <a:alphaModFix/>
            </a:blip>
            <a:srcRect b="26250" l="6769" r="53691" t="10844"/>
            <a:stretch/>
          </p:blipFill>
          <p:spPr>
            <a:xfrm rot="-964801">
              <a:off x="3180098" y="2566448"/>
              <a:ext cx="2027620" cy="22444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9" name="Google Shape;509;g3a2a2ac745b_0_1922"/>
            <p:cNvSpPr/>
            <p:nvPr/>
          </p:nvSpPr>
          <p:spPr>
            <a:xfrm>
              <a:off x="3256831" y="3165296"/>
              <a:ext cx="1683000" cy="7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So, you will be doing much of the  work anyway!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4" name="Google Shape;514;g3a2a2ac745b_0_1941"/>
          <p:cNvGrpSpPr/>
          <p:nvPr/>
        </p:nvGrpSpPr>
        <p:grpSpPr>
          <a:xfrm>
            <a:off x="552600" y="817088"/>
            <a:ext cx="8038800" cy="4569015"/>
            <a:chOff x="552600" y="817088"/>
            <a:chExt cx="8038800" cy="4569015"/>
          </a:xfrm>
        </p:grpSpPr>
        <p:sp>
          <p:nvSpPr>
            <p:cNvPr id="515" name="Google Shape;515;g3a2a2ac745b_0_1941"/>
            <p:cNvSpPr/>
            <p:nvPr/>
          </p:nvSpPr>
          <p:spPr>
            <a:xfrm>
              <a:off x="552600" y="1472400"/>
              <a:ext cx="8038800" cy="3913200"/>
            </a:xfrm>
            <a:prstGeom prst="rect">
              <a:avLst/>
            </a:prstGeom>
            <a:solidFill>
              <a:srgbClr val="FFC000">
                <a:alpha val="27840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close-up of a person's face&#10;&#10;Description automatically generated with low confidence" id="516" name="Google Shape;516;g3a2a2ac745b_0_19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2600" y="2055993"/>
              <a:ext cx="1743695" cy="3330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7" name="Google Shape;517;g3a2a2ac745b_0_1941"/>
            <p:cNvPicPr preferRelativeResize="0"/>
            <p:nvPr/>
          </p:nvPicPr>
          <p:blipFill rotWithShape="1">
            <a:blip r:embed="rId4">
              <a:alphaModFix/>
            </a:blip>
            <a:srcRect b="26250" l="6769" r="53691" t="10844"/>
            <a:stretch/>
          </p:blipFill>
          <p:spPr>
            <a:xfrm flipH="1" rot="2471924">
              <a:off x="1468714" y="1271894"/>
              <a:ext cx="2381604" cy="26622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g3a2a2ac745b_0_1941"/>
            <p:cNvSpPr txBox="1"/>
            <p:nvPr/>
          </p:nvSpPr>
          <p:spPr>
            <a:xfrm>
              <a:off x="2003495" y="1757796"/>
              <a:ext cx="1713000" cy="154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You can also update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your pre-registration up until you begin data analysis.</a:t>
              </a:r>
              <a:endParaRPr b="1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19" name="Google Shape;519;g3a2a2ac745b_0_1941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Pre-registering Your Study</a:t>
            </a:r>
            <a:endParaRPr b="1" sz="2400"/>
          </a:p>
        </p:txBody>
      </p:sp>
      <p:sp>
        <p:nvSpPr>
          <p:cNvPr id="520" name="Google Shape;520;g3a2a2ac745b_0_1941"/>
          <p:cNvSpPr txBox="1"/>
          <p:nvPr/>
        </p:nvSpPr>
        <p:spPr>
          <a:xfrm>
            <a:off x="4679675" y="4436303"/>
            <a:ext cx="40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g3a2a2ac745b_0_1941"/>
          <p:cNvSpPr txBox="1"/>
          <p:nvPr/>
        </p:nvSpPr>
        <p:spPr>
          <a:xfrm>
            <a:off x="293088" y="4428488"/>
            <a:ext cx="40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22" name="Google Shape;522;g3a2a2ac745b_0_1941"/>
          <p:cNvGrpSpPr/>
          <p:nvPr/>
        </p:nvGrpSpPr>
        <p:grpSpPr>
          <a:xfrm>
            <a:off x="4199694" y="1450097"/>
            <a:ext cx="4515044" cy="3969608"/>
            <a:chOff x="4199694" y="1450097"/>
            <a:chExt cx="4515044" cy="3969608"/>
          </a:xfrm>
        </p:grpSpPr>
        <p:pic>
          <p:nvPicPr>
            <p:cNvPr id="523" name="Google Shape;523;g3a2a2ac745b_0_1941"/>
            <p:cNvPicPr preferRelativeResize="0"/>
            <p:nvPr/>
          </p:nvPicPr>
          <p:blipFill rotWithShape="1">
            <a:blip r:embed="rId4">
              <a:alphaModFix/>
            </a:blip>
            <a:srcRect b="26250" l="6769" r="53691" t="10844"/>
            <a:stretch/>
          </p:blipFill>
          <p:spPr>
            <a:xfrm>
              <a:off x="4199694" y="1450097"/>
              <a:ext cx="3005597" cy="23816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g3a2a2ac745b_0_1941"/>
            <p:cNvSpPr/>
            <p:nvPr/>
          </p:nvSpPr>
          <p:spPr>
            <a:xfrm>
              <a:off x="4499981" y="1883696"/>
              <a:ext cx="2222100" cy="131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Your pre-registration will outline how you plan to conduct your study, and can be amended- up to a point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text, book&#10;&#10;Description automatically generated" id="525" name="Google Shape;525;g3a2a2ac745b_0_194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92537" y="2722758"/>
              <a:ext cx="2322201" cy="26969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a2a2ac745b_0_1956"/>
          <p:cNvSpPr/>
          <p:nvPr/>
        </p:nvSpPr>
        <p:spPr>
          <a:xfrm>
            <a:off x="552600" y="1472400"/>
            <a:ext cx="8038800" cy="3913200"/>
          </a:xfrm>
          <a:prstGeom prst="rect">
            <a:avLst/>
          </a:prstGeom>
          <a:solidFill>
            <a:srgbClr val="FFC000">
              <a:alpha val="27840"/>
            </a:srgbClr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g3a2a2ac745b_0_195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Pre-registering Your Study</a:t>
            </a:r>
            <a:endParaRPr b="1" sz="2400"/>
          </a:p>
        </p:txBody>
      </p:sp>
      <p:sp>
        <p:nvSpPr>
          <p:cNvPr id="532" name="Google Shape;532;g3a2a2ac745b_0_1956"/>
          <p:cNvSpPr txBox="1"/>
          <p:nvPr/>
        </p:nvSpPr>
        <p:spPr>
          <a:xfrm>
            <a:off x="4679675" y="4436303"/>
            <a:ext cx="40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3a2a2ac745b_0_1956"/>
          <p:cNvSpPr txBox="1"/>
          <p:nvPr/>
        </p:nvSpPr>
        <p:spPr>
          <a:xfrm>
            <a:off x="293088" y="4428488"/>
            <a:ext cx="40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4" name="Google Shape;534;g3a2a2ac745b_0_1956"/>
          <p:cNvPicPr preferRelativeResize="0"/>
          <p:nvPr/>
        </p:nvPicPr>
        <p:blipFill rotWithShape="1">
          <a:blip r:embed="rId3">
            <a:alphaModFix/>
          </a:blip>
          <a:srcRect b="26250" l="6769" r="53691" t="10844"/>
          <a:stretch/>
        </p:blipFill>
        <p:spPr>
          <a:xfrm>
            <a:off x="1319427" y="1448962"/>
            <a:ext cx="2535701" cy="2198999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g3a2a2ac745b_0_1956"/>
          <p:cNvSpPr txBox="1"/>
          <p:nvPr/>
        </p:nvSpPr>
        <p:spPr>
          <a:xfrm>
            <a:off x="1617528" y="1867098"/>
            <a:ext cx="19395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Okay, sounds good -- so how do I </a:t>
            </a:r>
            <a:b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actually do it?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A picture containing text&#10;&#10;Description automatically generated" id="536" name="Google Shape;536;g3a2a2ac745b_0_19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6545" y="1837028"/>
            <a:ext cx="2441737" cy="35433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&#10;&#10;Description automatically generated" id="537" name="Google Shape;537;g3a2a2ac745b_0_19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01727" y="1669191"/>
            <a:ext cx="1673674" cy="1978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a2a2ac745b_0_196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How do you pre-register a study?</a:t>
            </a:r>
            <a:endParaRPr b="1" sz="2400"/>
          </a:p>
        </p:txBody>
      </p:sp>
      <p:sp>
        <p:nvSpPr>
          <p:cNvPr id="543" name="Google Shape;543;g3a2a2ac745b_0_1967"/>
          <p:cNvSpPr txBox="1"/>
          <p:nvPr>
            <p:ph idx="1" type="body"/>
          </p:nvPr>
        </p:nvSpPr>
        <p:spPr>
          <a:xfrm>
            <a:off x="254000" y="1239525"/>
            <a:ext cx="8625900" cy="49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t/>
            </a:r>
            <a:endParaRPr sz="1800"/>
          </a:p>
          <a:p>
            <a:pPr indent="0" lvl="0" marL="76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/>
              <a:t>To pre-register your study you need to decide the following in advance</a:t>
            </a:r>
            <a:endParaRPr/>
          </a:p>
          <a:p>
            <a:pPr indent="-2286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t/>
            </a:r>
            <a:endParaRPr sz="1800"/>
          </a:p>
          <a:p>
            <a:pPr indent="-2286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t/>
            </a:r>
            <a:endParaRPr sz="1800"/>
          </a:p>
        </p:txBody>
      </p:sp>
      <p:grpSp>
        <p:nvGrpSpPr>
          <p:cNvPr id="544" name="Google Shape;544;g3a2a2ac745b_0_1967"/>
          <p:cNvGrpSpPr/>
          <p:nvPr/>
        </p:nvGrpSpPr>
        <p:grpSpPr>
          <a:xfrm>
            <a:off x="823585" y="2638539"/>
            <a:ext cx="7496814" cy="1580905"/>
            <a:chOff x="798185" y="2923881"/>
            <a:chExt cx="7496814" cy="1580905"/>
          </a:xfrm>
        </p:grpSpPr>
        <p:grpSp>
          <p:nvGrpSpPr>
            <p:cNvPr id="545" name="Google Shape;545;g3a2a2ac745b_0_1967"/>
            <p:cNvGrpSpPr/>
            <p:nvPr/>
          </p:nvGrpSpPr>
          <p:grpSpPr>
            <a:xfrm>
              <a:off x="798185" y="2969982"/>
              <a:ext cx="1526100" cy="1526100"/>
              <a:chOff x="721985" y="5210566"/>
              <a:chExt cx="1526100" cy="1526100"/>
            </a:xfrm>
          </p:grpSpPr>
          <p:sp>
            <p:nvSpPr>
              <p:cNvPr id="546" name="Google Shape;546;g3a2a2ac745b_0_1967"/>
              <p:cNvSpPr/>
              <p:nvPr/>
            </p:nvSpPr>
            <p:spPr>
              <a:xfrm>
                <a:off x="721985" y="5210566"/>
                <a:ext cx="1526100" cy="1526100"/>
              </a:xfrm>
              <a:prstGeom prst="ellipse">
                <a:avLst/>
              </a:prstGeom>
              <a:solidFill>
                <a:srgbClr val="F5BA36"/>
              </a:solidFill>
              <a:ln cap="flat" cmpd="sng" w="9525">
                <a:solidFill>
                  <a:srgbClr val="F5BA3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 picture containing text&#10;&#10;Description automatically generated" id="547" name="Google Shape;547;g3a2a2ac745b_0_196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15883" y="5422698"/>
                <a:ext cx="938321" cy="105872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48" name="Google Shape;548;g3a2a2ac745b_0_1967"/>
            <p:cNvGrpSpPr/>
            <p:nvPr/>
          </p:nvGrpSpPr>
          <p:grpSpPr>
            <a:xfrm>
              <a:off x="6768899" y="2978686"/>
              <a:ext cx="1526100" cy="1526100"/>
              <a:chOff x="6692699" y="5219270"/>
              <a:chExt cx="1526100" cy="1526100"/>
            </a:xfrm>
          </p:grpSpPr>
          <p:sp>
            <p:nvSpPr>
              <p:cNvPr id="549" name="Google Shape;549;g3a2a2ac745b_0_1967"/>
              <p:cNvSpPr/>
              <p:nvPr/>
            </p:nvSpPr>
            <p:spPr>
              <a:xfrm>
                <a:off x="6692699" y="5219270"/>
                <a:ext cx="1526100" cy="1526100"/>
              </a:xfrm>
              <a:prstGeom prst="ellipse">
                <a:avLst/>
              </a:prstGeom>
              <a:solidFill>
                <a:srgbClr val="F5BA36"/>
              </a:solidFill>
              <a:ln cap="flat" cmpd="sng" w="9525">
                <a:solidFill>
                  <a:srgbClr val="F5BA3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Icon&#10;&#10;Description automatically generated" id="550" name="Google Shape;550;g3a2a2ac745b_0_196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6757071" y="5228341"/>
                <a:ext cx="1194859" cy="132510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51" name="Google Shape;551;g3a2a2ac745b_0_1967"/>
            <p:cNvGrpSpPr/>
            <p:nvPr/>
          </p:nvGrpSpPr>
          <p:grpSpPr>
            <a:xfrm>
              <a:off x="3783542" y="2923881"/>
              <a:ext cx="1526100" cy="1572201"/>
              <a:chOff x="3707342" y="5164465"/>
              <a:chExt cx="1526100" cy="1572201"/>
            </a:xfrm>
          </p:grpSpPr>
          <p:sp>
            <p:nvSpPr>
              <p:cNvPr id="552" name="Google Shape;552;g3a2a2ac745b_0_1967"/>
              <p:cNvSpPr/>
              <p:nvPr/>
            </p:nvSpPr>
            <p:spPr>
              <a:xfrm>
                <a:off x="3707342" y="5210566"/>
                <a:ext cx="1526100" cy="1526100"/>
              </a:xfrm>
              <a:prstGeom prst="ellipse">
                <a:avLst/>
              </a:prstGeom>
              <a:solidFill>
                <a:srgbClr val="F5BA36"/>
              </a:solidFill>
              <a:ln cap="flat" cmpd="sng" w="9525">
                <a:solidFill>
                  <a:srgbClr val="F5BA3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3" name="Google Shape;553;g3a2a2ac745b_0_1967"/>
              <p:cNvGrpSpPr/>
              <p:nvPr/>
            </p:nvGrpSpPr>
            <p:grpSpPr>
              <a:xfrm>
                <a:off x="3949779" y="5164465"/>
                <a:ext cx="1076148" cy="1523851"/>
                <a:chOff x="4022635" y="5098547"/>
                <a:chExt cx="1076148" cy="1523851"/>
              </a:xfrm>
            </p:grpSpPr>
            <p:pic>
              <p:nvPicPr>
                <p:cNvPr descr="A picture containing text, weapon, knife&#10;&#10;Description automatically generated" id="554" name="Google Shape;554;g3a2a2ac745b_0_1967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4104509" y="5098547"/>
                  <a:ext cx="860832" cy="128518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 picture containing icon&#10;&#10;Description automatically generated" id="555" name="Google Shape;555;g3a2a2ac745b_0_1967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27299" l="0" r="34464" t="0"/>
                <a:stretch/>
              </p:blipFill>
              <p:spPr>
                <a:xfrm flipH="1">
                  <a:off x="4022635" y="5349107"/>
                  <a:ext cx="600847" cy="96314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A picture containing icon&#10;&#10;Description automatically generated" id="556" name="Google Shape;556;g3a2a2ac745b_0_1967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0" t="0"/>
                <a:stretch/>
              </p:blipFill>
              <p:spPr>
                <a:xfrm>
                  <a:off x="4310698" y="5890892"/>
                  <a:ext cx="788086" cy="73150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557" name="Google Shape;557;g3a2a2ac745b_0_1967"/>
          <p:cNvSpPr/>
          <p:nvPr/>
        </p:nvSpPr>
        <p:spPr>
          <a:xfrm>
            <a:off x="530735" y="4393780"/>
            <a:ext cx="21117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Your study design and methods </a:t>
            </a:r>
            <a:endParaRPr/>
          </a:p>
        </p:txBody>
      </p:sp>
      <p:sp>
        <p:nvSpPr>
          <p:cNvPr id="558" name="Google Shape;558;g3a2a2ac745b_0_1967"/>
          <p:cNvSpPr/>
          <p:nvPr/>
        </p:nvSpPr>
        <p:spPr>
          <a:xfrm>
            <a:off x="3596318" y="4393780"/>
            <a:ext cx="21117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you will collect your data</a:t>
            </a:r>
            <a:endParaRPr/>
          </a:p>
        </p:txBody>
      </p:sp>
      <p:sp>
        <p:nvSpPr>
          <p:cNvPr id="559" name="Google Shape;559;g3a2a2ac745b_0_1967"/>
          <p:cNvSpPr/>
          <p:nvPr/>
        </p:nvSpPr>
        <p:spPr>
          <a:xfrm>
            <a:off x="6501451" y="4393780"/>
            <a:ext cx="21117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you will analyse your data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a2a2ac745b_0_198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chemeClr val="dk1"/>
                </a:solidFill>
              </a:rPr>
              <a:t>How do you pre-register a study?</a:t>
            </a:r>
            <a:endParaRPr b="1" sz="2400">
              <a:solidFill>
                <a:schemeClr val="dk1"/>
              </a:solidFill>
            </a:endParaRPr>
          </a:p>
        </p:txBody>
      </p:sp>
      <p:grpSp>
        <p:nvGrpSpPr>
          <p:cNvPr id="565" name="Google Shape;565;g3a2a2ac745b_0_1988"/>
          <p:cNvGrpSpPr/>
          <p:nvPr/>
        </p:nvGrpSpPr>
        <p:grpSpPr>
          <a:xfrm>
            <a:off x="1938903" y="1338359"/>
            <a:ext cx="5266100" cy="4284207"/>
            <a:chOff x="1933853" y="1338359"/>
            <a:chExt cx="5266100" cy="4284207"/>
          </a:xfrm>
        </p:grpSpPr>
        <p:grpSp>
          <p:nvGrpSpPr>
            <p:cNvPr id="566" name="Google Shape;566;g3a2a2ac745b_0_1988"/>
            <p:cNvGrpSpPr/>
            <p:nvPr/>
          </p:nvGrpSpPr>
          <p:grpSpPr>
            <a:xfrm>
              <a:off x="1933853" y="1338359"/>
              <a:ext cx="5266099" cy="923401"/>
              <a:chOff x="886411" y="1325296"/>
              <a:chExt cx="5266099" cy="923401"/>
            </a:xfrm>
          </p:grpSpPr>
          <p:sp>
            <p:nvSpPr>
              <p:cNvPr id="567" name="Google Shape;567;g3a2a2ac745b_0_1988"/>
              <p:cNvSpPr/>
              <p:nvPr/>
            </p:nvSpPr>
            <p:spPr>
              <a:xfrm>
                <a:off x="1267310" y="1325296"/>
                <a:ext cx="4885200" cy="923400"/>
              </a:xfrm>
              <a:prstGeom prst="rect">
                <a:avLst/>
              </a:prstGeom>
              <a:solidFill>
                <a:srgbClr val="F5BA36"/>
              </a:solidFill>
              <a:ln cap="flat" cmpd="sng" w="25400">
                <a:solidFill>
                  <a:srgbClr val="F5BA3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g3a2a2ac745b_0_1988"/>
              <p:cNvSpPr txBox="1"/>
              <p:nvPr/>
            </p:nvSpPr>
            <p:spPr>
              <a:xfrm>
                <a:off x="1790687" y="1448406"/>
                <a:ext cx="40224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You should have a clear plan including all the relevant information and details </a:t>
                </a:r>
                <a:endParaRPr/>
              </a:p>
            </p:txBody>
          </p:sp>
          <p:sp>
            <p:nvSpPr>
              <p:cNvPr id="569" name="Google Shape;569;g3a2a2ac745b_0_1988"/>
              <p:cNvSpPr/>
              <p:nvPr/>
            </p:nvSpPr>
            <p:spPr>
              <a:xfrm>
                <a:off x="886411" y="1325297"/>
                <a:ext cx="868800" cy="923400"/>
              </a:xfrm>
              <a:prstGeom prst="roundRect">
                <a:avLst>
                  <a:gd fmla="val 16667" name="adj"/>
                </a:avLst>
              </a:prstGeom>
              <a:solidFill>
                <a:srgbClr val="F76640"/>
              </a:solidFill>
              <a:ln cap="flat" cmpd="sng" w="25400">
                <a:solidFill>
                  <a:srgbClr val="F766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g3a2a2ac745b_0_1988"/>
              <p:cNvSpPr txBox="1"/>
              <p:nvPr/>
            </p:nvSpPr>
            <p:spPr>
              <a:xfrm>
                <a:off x="1172938" y="1540739"/>
                <a:ext cx="2757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0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1</a:t>
                </a:r>
                <a:endParaRPr b="1" i="0" sz="20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571" name="Google Shape;571;g3a2a2ac745b_0_1988"/>
            <p:cNvGrpSpPr/>
            <p:nvPr/>
          </p:nvGrpSpPr>
          <p:grpSpPr>
            <a:xfrm>
              <a:off x="1933853" y="2450040"/>
              <a:ext cx="5266100" cy="923401"/>
              <a:chOff x="886411" y="2377600"/>
              <a:chExt cx="5266100" cy="923401"/>
            </a:xfrm>
          </p:grpSpPr>
          <p:sp>
            <p:nvSpPr>
              <p:cNvPr id="572" name="Google Shape;572;g3a2a2ac745b_0_1988"/>
              <p:cNvSpPr/>
              <p:nvPr/>
            </p:nvSpPr>
            <p:spPr>
              <a:xfrm>
                <a:off x="1267311" y="2377600"/>
                <a:ext cx="4885200" cy="923400"/>
              </a:xfrm>
              <a:prstGeom prst="rect">
                <a:avLst/>
              </a:prstGeom>
              <a:solidFill>
                <a:srgbClr val="F5BA36"/>
              </a:solidFill>
              <a:ln cap="flat" cmpd="sng" w="25400">
                <a:solidFill>
                  <a:srgbClr val="F5BA3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g3a2a2ac745b_0_1988"/>
              <p:cNvSpPr txBox="1"/>
              <p:nvPr/>
            </p:nvSpPr>
            <p:spPr>
              <a:xfrm>
                <a:off x="1790687" y="2500710"/>
                <a:ext cx="39309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You then need to decide where you are going to pre-register your study</a:t>
                </a:r>
                <a:endParaRPr/>
              </a:p>
            </p:txBody>
          </p:sp>
          <p:sp>
            <p:nvSpPr>
              <p:cNvPr id="574" name="Google Shape;574;g3a2a2ac745b_0_1988"/>
              <p:cNvSpPr/>
              <p:nvPr/>
            </p:nvSpPr>
            <p:spPr>
              <a:xfrm>
                <a:off x="886411" y="2377601"/>
                <a:ext cx="868800" cy="923400"/>
              </a:xfrm>
              <a:prstGeom prst="roundRect">
                <a:avLst>
                  <a:gd fmla="val 16667" name="adj"/>
                </a:avLst>
              </a:prstGeom>
              <a:solidFill>
                <a:srgbClr val="F76640"/>
              </a:solidFill>
              <a:ln cap="flat" cmpd="sng" w="25400">
                <a:solidFill>
                  <a:srgbClr val="F766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g3a2a2ac745b_0_1988"/>
              <p:cNvSpPr txBox="1"/>
              <p:nvPr/>
            </p:nvSpPr>
            <p:spPr>
              <a:xfrm>
                <a:off x="1182936" y="2593043"/>
                <a:ext cx="2757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0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2</a:t>
                </a:r>
                <a:endParaRPr b="1" i="0" sz="20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576" name="Google Shape;576;g3a2a2ac745b_0_1988"/>
            <p:cNvGrpSpPr/>
            <p:nvPr/>
          </p:nvGrpSpPr>
          <p:grpSpPr>
            <a:xfrm>
              <a:off x="1933853" y="3561721"/>
              <a:ext cx="5266099" cy="936283"/>
              <a:chOff x="886411" y="3488364"/>
              <a:chExt cx="5266099" cy="936283"/>
            </a:xfrm>
          </p:grpSpPr>
          <p:sp>
            <p:nvSpPr>
              <p:cNvPr id="577" name="Google Shape;577;g3a2a2ac745b_0_1988"/>
              <p:cNvSpPr/>
              <p:nvPr/>
            </p:nvSpPr>
            <p:spPr>
              <a:xfrm>
                <a:off x="1267310" y="3488364"/>
                <a:ext cx="4885200" cy="923400"/>
              </a:xfrm>
              <a:prstGeom prst="rect">
                <a:avLst/>
              </a:prstGeom>
              <a:solidFill>
                <a:srgbClr val="F5BA36"/>
              </a:solidFill>
              <a:ln cap="flat" cmpd="sng" w="25400">
                <a:solidFill>
                  <a:srgbClr val="F5BA3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g3a2a2ac745b_0_1988"/>
              <p:cNvSpPr txBox="1"/>
              <p:nvPr/>
            </p:nvSpPr>
            <p:spPr>
              <a:xfrm>
                <a:off x="1790687" y="3488364"/>
                <a:ext cx="3930900" cy="9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Different pre-registration platforms will provide templates for pre-registering your study </a:t>
                </a:r>
                <a:endParaRPr/>
              </a:p>
            </p:txBody>
          </p:sp>
          <p:sp>
            <p:nvSpPr>
              <p:cNvPr id="579" name="Google Shape;579;g3a2a2ac745b_0_1988"/>
              <p:cNvSpPr/>
              <p:nvPr/>
            </p:nvSpPr>
            <p:spPr>
              <a:xfrm>
                <a:off x="886411" y="3501247"/>
                <a:ext cx="868800" cy="923400"/>
              </a:xfrm>
              <a:prstGeom prst="roundRect">
                <a:avLst>
                  <a:gd fmla="val 16667" name="adj"/>
                </a:avLst>
              </a:prstGeom>
              <a:solidFill>
                <a:srgbClr val="F76640"/>
              </a:solidFill>
              <a:ln cap="flat" cmpd="sng" w="25400">
                <a:solidFill>
                  <a:srgbClr val="F766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g3a2a2ac745b_0_1988"/>
              <p:cNvSpPr txBox="1"/>
              <p:nvPr/>
            </p:nvSpPr>
            <p:spPr>
              <a:xfrm>
                <a:off x="1182936" y="3690924"/>
                <a:ext cx="2757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0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3</a:t>
                </a:r>
                <a:endParaRPr b="1" i="0" sz="20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581" name="Google Shape;581;g3a2a2ac745b_0_1988"/>
            <p:cNvGrpSpPr/>
            <p:nvPr/>
          </p:nvGrpSpPr>
          <p:grpSpPr>
            <a:xfrm>
              <a:off x="1933853" y="4686283"/>
              <a:ext cx="5266100" cy="936283"/>
              <a:chOff x="886411" y="4673220"/>
              <a:chExt cx="5266100" cy="936283"/>
            </a:xfrm>
          </p:grpSpPr>
          <p:sp>
            <p:nvSpPr>
              <p:cNvPr id="582" name="Google Shape;582;g3a2a2ac745b_0_1988"/>
              <p:cNvSpPr/>
              <p:nvPr/>
            </p:nvSpPr>
            <p:spPr>
              <a:xfrm>
                <a:off x="1267311" y="4673220"/>
                <a:ext cx="4885200" cy="923400"/>
              </a:xfrm>
              <a:prstGeom prst="rect">
                <a:avLst/>
              </a:prstGeom>
              <a:solidFill>
                <a:srgbClr val="F5BA36"/>
              </a:solidFill>
              <a:ln cap="flat" cmpd="sng" w="25400">
                <a:solidFill>
                  <a:srgbClr val="F5BA3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g3a2a2ac745b_0_1988"/>
              <p:cNvSpPr txBox="1"/>
              <p:nvPr/>
            </p:nvSpPr>
            <p:spPr>
              <a:xfrm>
                <a:off x="1790687" y="4673220"/>
                <a:ext cx="4022400" cy="9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Templates are meant to serve as a guide because pre-registration may require some flexibility</a:t>
                </a:r>
                <a:endParaRPr/>
              </a:p>
            </p:txBody>
          </p:sp>
          <p:sp>
            <p:nvSpPr>
              <p:cNvPr id="584" name="Google Shape;584;g3a2a2ac745b_0_1988"/>
              <p:cNvSpPr/>
              <p:nvPr/>
            </p:nvSpPr>
            <p:spPr>
              <a:xfrm>
                <a:off x="886411" y="4686103"/>
                <a:ext cx="868800" cy="923400"/>
              </a:xfrm>
              <a:prstGeom prst="roundRect">
                <a:avLst>
                  <a:gd fmla="val 16667" name="adj"/>
                </a:avLst>
              </a:prstGeom>
              <a:solidFill>
                <a:srgbClr val="F76640"/>
              </a:solidFill>
              <a:ln cap="flat" cmpd="sng" w="25400">
                <a:solidFill>
                  <a:srgbClr val="F7664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g3a2a2ac745b_0_1988"/>
              <p:cNvSpPr txBox="1"/>
              <p:nvPr/>
            </p:nvSpPr>
            <p:spPr>
              <a:xfrm>
                <a:off x="1182936" y="4906962"/>
                <a:ext cx="2757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0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4</a:t>
                </a:r>
                <a:endParaRPr b="1" i="0" sz="20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a2a2ac745b_0_201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chemeClr val="dk1"/>
                </a:solidFill>
              </a:rPr>
              <a:t>How do you pre-register a study?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591" name="Google Shape;591;g3a2a2ac745b_0_2013"/>
          <p:cNvSpPr txBox="1"/>
          <p:nvPr>
            <p:ph idx="1" type="body"/>
          </p:nvPr>
        </p:nvSpPr>
        <p:spPr>
          <a:xfrm>
            <a:off x="254000" y="1239525"/>
            <a:ext cx="8328300" cy="49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400"/>
              <a:t>Different disciplines may require different methods for pre-registration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400"/>
              <a:t>A list of discipline-specific templates is included in the Additional Resources section</a:t>
            </a:r>
            <a:endParaRPr/>
          </a:p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400"/>
              <a:t>This is not an exhaustive list and there may be other applicable templates</a:t>
            </a:r>
            <a:endParaRPr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a2a2ac745b_0_2018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chemeClr val="dk1"/>
                </a:solidFill>
              </a:rPr>
              <a:t>Pre-registering on OSF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597" name="Google Shape;597;g3a2a2ac745b_0_2018"/>
          <p:cNvSpPr txBox="1"/>
          <p:nvPr>
            <p:ph idx="1" type="body"/>
          </p:nvPr>
        </p:nvSpPr>
        <p:spPr>
          <a:xfrm>
            <a:off x="254000" y="971850"/>
            <a:ext cx="8625900" cy="49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76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</p:txBody>
      </p:sp>
      <p:grpSp>
        <p:nvGrpSpPr>
          <p:cNvPr id="598" name="Google Shape;598;g3a2a2ac745b_0_2018"/>
          <p:cNvGrpSpPr/>
          <p:nvPr/>
        </p:nvGrpSpPr>
        <p:grpSpPr>
          <a:xfrm>
            <a:off x="2577315" y="4065090"/>
            <a:ext cx="3987759" cy="1650962"/>
            <a:chOff x="571500" y="1962150"/>
            <a:chExt cx="7924800" cy="2934000"/>
          </a:xfrm>
        </p:grpSpPr>
        <p:sp>
          <p:nvSpPr>
            <p:cNvPr id="599" name="Google Shape;599;g3a2a2ac745b_0_2018"/>
            <p:cNvSpPr/>
            <p:nvPr/>
          </p:nvSpPr>
          <p:spPr>
            <a:xfrm>
              <a:off x="571500" y="1981200"/>
              <a:ext cx="7924800" cy="27432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Icon&#10;&#10;Description automatically generated" id="600" name="Google Shape;600;g3a2a2ac745b_0_20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3100" y="1962150"/>
              <a:ext cx="7798597" cy="29340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grpSp>
        <p:nvGrpSpPr>
          <p:cNvPr id="601" name="Google Shape;601;g3a2a2ac745b_0_2018"/>
          <p:cNvGrpSpPr/>
          <p:nvPr/>
        </p:nvGrpSpPr>
        <p:grpSpPr>
          <a:xfrm>
            <a:off x="0" y="1238528"/>
            <a:ext cx="4009819" cy="4915298"/>
            <a:chOff x="0" y="1238528"/>
            <a:chExt cx="4009819" cy="4915298"/>
          </a:xfrm>
        </p:grpSpPr>
        <p:pic>
          <p:nvPicPr>
            <p:cNvPr id="602" name="Google Shape;602;g3a2a2ac745b_0_20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2999252"/>
              <a:ext cx="1625600" cy="31545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3" name="Google Shape;603;g3a2a2ac745b_0_2018"/>
            <p:cNvPicPr preferRelativeResize="0"/>
            <p:nvPr/>
          </p:nvPicPr>
          <p:blipFill rotWithShape="1">
            <a:blip r:embed="rId5">
              <a:alphaModFix/>
            </a:blip>
            <a:srcRect b="26250" l="6769" r="53691" t="10844"/>
            <a:stretch/>
          </p:blipFill>
          <p:spPr>
            <a:xfrm flipH="1" rot="1478103">
              <a:off x="1021806" y="1615530"/>
              <a:ext cx="2469674" cy="30262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g3a2a2ac745b_0_2018"/>
            <p:cNvSpPr/>
            <p:nvPr/>
          </p:nvSpPr>
          <p:spPr>
            <a:xfrm>
              <a:off x="1256088" y="2375426"/>
              <a:ext cx="2286000" cy="10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OSF (Open Science Framework) is a popular repository (platform) for pre-registering projects</a:t>
              </a:r>
              <a:endParaRPr/>
            </a:p>
          </p:txBody>
        </p:sp>
      </p:grpSp>
      <p:grpSp>
        <p:nvGrpSpPr>
          <p:cNvPr id="605" name="Google Shape;605;g3a2a2ac745b_0_2018"/>
          <p:cNvGrpSpPr/>
          <p:nvPr/>
        </p:nvGrpSpPr>
        <p:grpSpPr>
          <a:xfrm>
            <a:off x="5804854" y="1550939"/>
            <a:ext cx="3395720" cy="4602888"/>
            <a:chOff x="5804854" y="1550939"/>
            <a:chExt cx="3395720" cy="4602888"/>
          </a:xfrm>
        </p:grpSpPr>
        <p:pic>
          <p:nvPicPr>
            <p:cNvPr id="606" name="Google Shape;606;g3a2a2ac745b_0_2018"/>
            <p:cNvPicPr preferRelativeResize="0"/>
            <p:nvPr/>
          </p:nvPicPr>
          <p:blipFill rotWithShape="1">
            <a:blip r:embed="rId5">
              <a:alphaModFix/>
            </a:blip>
            <a:srcRect b="26250" l="6769" r="53691" t="10844"/>
            <a:stretch/>
          </p:blipFill>
          <p:spPr>
            <a:xfrm rot="-418539">
              <a:off x="5953348" y="1685552"/>
              <a:ext cx="2374675" cy="25901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g3a2a2ac745b_0_2018"/>
            <p:cNvSpPr/>
            <p:nvPr/>
          </p:nvSpPr>
          <p:spPr>
            <a:xfrm>
              <a:off x="6077370" y="2256521"/>
              <a:ext cx="1980600" cy="10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For this reason, PaPOR TRaIL focuses on OSF for pre-registration</a:t>
              </a:r>
              <a:endParaRPr/>
            </a:p>
          </p:txBody>
        </p:sp>
        <p:pic>
          <p:nvPicPr>
            <p:cNvPr descr="A picture containing text&#10;&#10;Description automatically generated" id="608" name="Google Shape;608;g3a2a2ac745b_0_20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28307" y="2887563"/>
              <a:ext cx="2072267" cy="326626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a2a2ac745b_0_2034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chemeClr val="dk1"/>
                </a:solidFill>
              </a:rPr>
              <a:t>Pre-registering on OSF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614" name="Google Shape;614;g3a2a2ac745b_0_2034"/>
          <p:cNvSpPr txBox="1"/>
          <p:nvPr>
            <p:ph idx="1" type="body"/>
          </p:nvPr>
        </p:nvSpPr>
        <p:spPr>
          <a:xfrm>
            <a:off x="254000" y="1239525"/>
            <a:ext cx="8625900" cy="49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400">
                <a:solidFill>
                  <a:srgbClr val="000000"/>
                </a:solidFill>
              </a:rPr>
              <a:t>A complete guide to pre-registering projects on OSF is available on their website </a:t>
            </a:r>
            <a:r>
              <a:rPr lang="en-US" sz="2400" u="sng">
                <a:solidFill>
                  <a:schemeClr val="accent4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endParaRPr sz="2400" u="sng">
              <a:solidFill>
                <a:schemeClr val="accent4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400">
                <a:solidFill>
                  <a:srgbClr val="000000"/>
                </a:solidFill>
              </a:rPr>
              <a:t>A brief overview is presented on the next slide</a:t>
            </a:r>
            <a:endParaRPr sz="2400"/>
          </a:p>
        </p:txBody>
      </p:sp>
      <p:pic>
        <p:nvPicPr>
          <p:cNvPr descr="A picture containing text&#10;&#10;Description automatically generated" id="615" name="Google Shape;615;g3a2a2ac745b_0_2034"/>
          <p:cNvPicPr preferRelativeResize="0"/>
          <p:nvPr/>
        </p:nvPicPr>
        <p:blipFill rotWithShape="1">
          <a:blip r:embed="rId4">
            <a:alphaModFix/>
          </a:blip>
          <a:srcRect b="47992" l="12242" r="0" t="0"/>
          <a:stretch/>
        </p:blipFill>
        <p:spPr>
          <a:xfrm flipH="1">
            <a:off x="6821661" y="3697357"/>
            <a:ext cx="2322338" cy="2368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g3a2a2ac745b_0_2034"/>
          <p:cNvPicPr preferRelativeResize="0"/>
          <p:nvPr/>
        </p:nvPicPr>
        <p:blipFill rotWithShape="1">
          <a:blip r:embed="rId5">
            <a:alphaModFix/>
          </a:blip>
          <a:srcRect b="26250" l="6769" r="53691" t="10844"/>
          <a:stretch/>
        </p:blipFill>
        <p:spPr>
          <a:xfrm flipH="1" rot="-8221260">
            <a:off x="4720834" y="3276055"/>
            <a:ext cx="2702342" cy="3211183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g3a2a2ac745b_0_2034"/>
          <p:cNvSpPr/>
          <p:nvPr/>
        </p:nvSpPr>
        <p:spPr>
          <a:xfrm>
            <a:off x="4689193" y="4304397"/>
            <a:ext cx="2292600" cy="13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Remember, another platform may be more suitable for you, but for this course we are just focusing on OSF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a2a2ac745b_0_204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chemeClr val="dk1"/>
                </a:solidFill>
              </a:rPr>
              <a:t>Pre-registering on OSF</a:t>
            </a:r>
            <a:endParaRPr b="1" sz="2400">
              <a:solidFill>
                <a:schemeClr val="dk1"/>
              </a:solidFill>
            </a:endParaRPr>
          </a:p>
        </p:txBody>
      </p:sp>
      <p:grpSp>
        <p:nvGrpSpPr>
          <p:cNvPr id="623" name="Google Shape;623;g3a2a2ac745b_0_2042"/>
          <p:cNvGrpSpPr/>
          <p:nvPr/>
        </p:nvGrpSpPr>
        <p:grpSpPr>
          <a:xfrm>
            <a:off x="61829" y="1435310"/>
            <a:ext cx="9020342" cy="3908390"/>
            <a:chOff x="54221" y="1435310"/>
            <a:chExt cx="9020342" cy="3908390"/>
          </a:xfrm>
        </p:grpSpPr>
        <p:cxnSp>
          <p:nvCxnSpPr>
            <p:cNvPr id="624" name="Google Shape;624;g3a2a2ac745b_0_2042"/>
            <p:cNvCxnSpPr>
              <a:stCxn id="625" idx="3"/>
              <a:endCxn id="626" idx="1"/>
            </p:cNvCxnSpPr>
            <p:nvPr/>
          </p:nvCxnSpPr>
          <p:spPr>
            <a:xfrm>
              <a:off x="998471" y="3306823"/>
              <a:ext cx="6881400" cy="1200"/>
            </a:xfrm>
            <a:prstGeom prst="straightConnector1">
              <a:avLst/>
            </a:prstGeom>
            <a:noFill/>
            <a:ln cap="flat" cmpd="sng" w="9525">
              <a:solidFill>
                <a:srgbClr val="2320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27" name="Google Shape;627;g3a2a2ac745b_0_2042"/>
            <p:cNvSpPr txBox="1"/>
            <p:nvPr/>
          </p:nvSpPr>
          <p:spPr>
            <a:xfrm>
              <a:off x="1087122" y="1866198"/>
              <a:ext cx="15702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Select to ‘start a new-pre-registration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28" name="Google Shape;628;g3a2a2ac745b_0_2042"/>
            <p:cNvSpPr txBox="1"/>
            <p:nvPr/>
          </p:nvSpPr>
          <p:spPr>
            <a:xfrm>
              <a:off x="3223652" y="1435310"/>
              <a:ext cx="23235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Include your research plan. This is your research design/approach, and how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you will collect and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analyse data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29" name="Google Shape;629;g3a2a2ac745b_0_2042"/>
            <p:cNvSpPr txBox="1"/>
            <p:nvPr/>
          </p:nvSpPr>
          <p:spPr>
            <a:xfrm>
              <a:off x="6225532" y="1650754"/>
              <a:ext cx="1346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Preview and review your pre-registration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0" name="Google Shape;630;g3a2a2ac745b_0_2042"/>
            <p:cNvSpPr txBox="1"/>
            <p:nvPr/>
          </p:nvSpPr>
          <p:spPr>
            <a:xfrm>
              <a:off x="54221" y="3866200"/>
              <a:ext cx="12303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Set up an account on the Open Science Framework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1" name="Google Shape;631;g3a2a2ac745b_0_2042"/>
            <p:cNvSpPr txBox="1"/>
            <p:nvPr/>
          </p:nvSpPr>
          <p:spPr>
            <a:xfrm>
              <a:off x="2275951" y="3866200"/>
              <a:ext cx="18132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Include your project title and a description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(this is called your ‘metadata’)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2" name="Google Shape;632;g3a2a2ac745b_0_2042"/>
            <p:cNvSpPr txBox="1"/>
            <p:nvPr/>
          </p:nvSpPr>
          <p:spPr>
            <a:xfrm>
              <a:off x="4830081" y="3866200"/>
              <a:ext cx="1731300" cy="147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Register it and make it public. You can make it immediately public or public at a later date.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3" name="Google Shape;633;g3a2a2ac745b_0_2042"/>
            <p:cNvSpPr txBox="1"/>
            <p:nvPr/>
          </p:nvSpPr>
          <p:spPr>
            <a:xfrm>
              <a:off x="7343263" y="3866200"/>
              <a:ext cx="1731300" cy="147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You can add attachments if you need more space or have additional components to share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4" name="Google Shape;634;g3a2a2ac745b_0_2042"/>
            <p:cNvSpPr/>
            <p:nvPr/>
          </p:nvSpPr>
          <p:spPr>
            <a:xfrm>
              <a:off x="354371" y="2989337"/>
              <a:ext cx="630000" cy="635100"/>
            </a:xfrm>
            <a:prstGeom prst="ellipse">
              <a:avLst/>
            </a:prstGeom>
            <a:solidFill>
              <a:srgbClr val="F5BA36"/>
            </a:solidFill>
            <a:ln cap="flat" cmpd="sng" w="9525">
              <a:solidFill>
                <a:srgbClr val="F5BA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g3a2a2ac745b_0_2042"/>
            <p:cNvSpPr/>
            <p:nvPr/>
          </p:nvSpPr>
          <p:spPr>
            <a:xfrm>
              <a:off x="1610961" y="2989338"/>
              <a:ext cx="630000" cy="635100"/>
            </a:xfrm>
            <a:prstGeom prst="ellipse">
              <a:avLst/>
            </a:prstGeom>
            <a:solidFill>
              <a:srgbClr val="F5BA36"/>
            </a:solidFill>
            <a:ln cap="flat" cmpd="sng" w="9525">
              <a:solidFill>
                <a:srgbClr val="F5BA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g3a2a2ac745b_0_2042"/>
            <p:cNvSpPr/>
            <p:nvPr/>
          </p:nvSpPr>
          <p:spPr>
            <a:xfrm>
              <a:off x="2867551" y="2989338"/>
              <a:ext cx="630000" cy="635100"/>
            </a:xfrm>
            <a:prstGeom prst="ellipse">
              <a:avLst/>
            </a:prstGeom>
            <a:solidFill>
              <a:srgbClr val="F5BA36"/>
            </a:solidFill>
            <a:ln cap="flat" cmpd="sng" w="9525">
              <a:solidFill>
                <a:srgbClr val="F5BA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g3a2a2ac745b_0_2042"/>
            <p:cNvSpPr/>
            <p:nvPr/>
          </p:nvSpPr>
          <p:spPr>
            <a:xfrm>
              <a:off x="4124141" y="2989338"/>
              <a:ext cx="630000" cy="635100"/>
            </a:xfrm>
            <a:prstGeom prst="ellipse">
              <a:avLst/>
            </a:prstGeom>
            <a:solidFill>
              <a:srgbClr val="F5BA36"/>
            </a:solidFill>
            <a:ln cap="flat" cmpd="sng" w="9525">
              <a:solidFill>
                <a:srgbClr val="F5BA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g3a2a2ac745b_0_2042"/>
            <p:cNvSpPr/>
            <p:nvPr/>
          </p:nvSpPr>
          <p:spPr>
            <a:xfrm>
              <a:off x="5380731" y="2989338"/>
              <a:ext cx="630000" cy="635100"/>
            </a:xfrm>
            <a:prstGeom prst="ellipse">
              <a:avLst/>
            </a:prstGeom>
            <a:solidFill>
              <a:srgbClr val="F5BA36"/>
            </a:solidFill>
            <a:ln cap="flat" cmpd="sng" w="9525">
              <a:solidFill>
                <a:srgbClr val="F5BA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g3a2a2ac745b_0_2042"/>
            <p:cNvSpPr/>
            <p:nvPr/>
          </p:nvSpPr>
          <p:spPr>
            <a:xfrm>
              <a:off x="6637321" y="2989338"/>
              <a:ext cx="630000" cy="635100"/>
            </a:xfrm>
            <a:prstGeom prst="ellipse">
              <a:avLst/>
            </a:prstGeom>
            <a:solidFill>
              <a:srgbClr val="F5BA36"/>
            </a:solidFill>
            <a:ln cap="flat" cmpd="sng" w="9525">
              <a:solidFill>
                <a:srgbClr val="F5BA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g3a2a2ac745b_0_2042"/>
            <p:cNvSpPr/>
            <p:nvPr/>
          </p:nvSpPr>
          <p:spPr>
            <a:xfrm>
              <a:off x="7893913" y="2989337"/>
              <a:ext cx="630000" cy="635100"/>
            </a:xfrm>
            <a:prstGeom prst="ellipse">
              <a:avLst/>
            </a:prstGeom>
            <a:solidFill>
              <a:srgbClr val="F5BA36"/>
            </a:solidFill>
            <a:ln cap="flat" cmpd="sng" w="9525">
              <a:solidFill>
                <a:srgbClr val="F5BA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g3a2a2ac745b_0_2042"/>
            <p:cNvSpPr txBox="1"/>
            <p:nvPr/>
          </p:nvSpPr>
          <p:spPr>
            <a:xfrm>
              <a:off x="340271" y="3075973"/>
              <a:ext cx="658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1" name="Google Shape;641;g3a2a2ac745b_0_2042"/>
            <p:cNvSpPr txBox="1"/>
            <p:nvPr/>
          </p:nvSpPr>
          <p:spPr>
            <a:xfrm>
              <a:off x="1596861" y="3075973"/>
              <a:ext cx="658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2" name="Google Shape;642;g3a2a2ac745b_0_2042"/>
            <p:cNvSpPr txBox="1"/>
            <p:nvPr/>
          </p:nvSpPr>
          <p:spPr>
            <a:xfrm>
              <a:off x="2853451" y="3075973"/>
              <a:ext cx="658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3" name="Google Shape;643;g3a2a2ac745b_0_2042"/>
            <p:cNvSpPr txBox="1"/>
            <p:nvPr/>
          </p:nvSpPr>
          <p:spPr>
            <a:xfrm>
              <a:off x="4110041" y="3075973"/>
              <a:ext cx="658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4" name="Google Shape;644;g3a2a2ac745b_0_2042"/>
            <p:cNvSpPr txBox="1"/>
            <p:nvPr/>
          </p:nvSpPr>
          <p:spPr>
            <a:xfrm>
              <a:off x="5366631" y="3075973"/>
              <a:ext cx="658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5" name="Google Shape;645;g3a2a2ac745b_0_2042"/>
            <p:cNvSpPr txBox="1"/>
            <p:nvPr/>
          </p:nvSpPr>
          <p:spPr>
            <a:xfrm>
              <a:off x="6623221" y="3075973"/>
              <a:ext cx="658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26" name="Google Shape;626;g3a2a2ac745b_0_2042"/>
            <p:cNvSpPr txBox="1"/>
            <p:nvPr/>
          </p:nvSpPr>
          <p:spPr>
            <a:xfrm>
              <a:off x="7879813" y="3077272"/>
              <a:ext cx="658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46" name="Google Shape;646;g3a2a2ac745b_0_2042"/>
            <p:cNvCxnSpPr>
              <a:stCxn id="634" idx="4"/>
              <a:endCxn id="630" idx="0"/>
            </p:cNvCxnSpPr>
            <p:nvPr/>
          </p:nvCxnSpPr>
          <p:spPr>
            <a:xfrm>
              <a:off x="669371" y="3624437"/>
              <a:ext cx="0" cy="241800"/>
            </a:xfrm>
            <a:prstGeom prst="straightConnector1">
              <a:avLst/>
            </a:prstGeom>
            <a:noFill/>
            <a:ln cap="flat" cmpd="sng" w="9525">
              <a:solidFill>
                <a:srgbClr val="23204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47" name="Google Shape;647;g3a2a2ac745b_0_2042"/>
            <p:cNvCxnSpPr>
              <a:stCxn id="635" idx="0"/>
            </p:cNvCxnSpPr>
            <p:nvPr/>
          </p:nvCxnSpPr>
          <p:spPr>
            <a:xfrm rot="10800000">
              <a:off x="1925961" y="2748738"/>
              <a:ext cx="0" cy="240600"/>
            </a:xfrm>
            <a:prstGeom prst="straightConnector1">
              <a:avLst/>
            </a:prstGeom>
            <a:noFill/>
            <a:ln cap="flat" cmpd="sng" w="9525">
              <a:solidFill>
                <a:srgbClr val="23204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48" name="Google Shape;648;g3a2a2ac745b_0_2042"/>
            <p:cNvCxnSpPr>
              <a:stCxn id="636" idx="4"/>
              <a:endCxn id="631" idx="0"/>
            </p:cNvCxnSpPr>
            <p:nvPr/>
          </p:nvCxnSpPr>
          <p:spPr>
            <a:xfrm>
              <a:off x="3182551" y="3624438"/>
              <a:ext cx="0" cy="241800"/>
            </a:xfrm>
            <a:prstGeom prst="straightConnector1">
              <a:avLst/>
            </a:prstGeom>
            <a:noFill/>
            <a:ln cap="flat" cmpd="sng" w="9525">
              <a:solidFill>
                <a:srgbClr val="23204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49" name="Google Shape;649;g3a2a2ac745b_0_2042"/>
            <p:cNvCxnSpPr>
              <a:stCxn id="637" idx="0"/>
            </p:cNvCxnSpPr>
            <p:nvPr/>
          </p:nvCxnSpPr>
          <p:spPr>
            <a:xfrm rot="10800000">
              <a:off x="4439141" y="2748738"/>
              <a:ext cx="0" cy="240600"/>
            </a:xfrm>
            <a:prstGeom prst="straightConnector1">
              <a:avLst/>
            </a:prstGeom>
            <a:noFill/>
            <a:ln cap="flat" cmpd="sng" w="9525">
              <a:solidFill>
                <a:srgbClr val="23204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50" name="Google Shape;650;g3a2a2ac745b_0_2042"/>
            <p:cNvCxnSpPr>
              <a:stCxn id="638" idx="4"/>
              <a:endCxn id="632" idx="0"/>
            </p:cNvCxnSpPr>
            <p:nvPr/>
          </p:nvCxnSpPr>
          <p:spPr>
            <a:xfrm>
              <a:off x="5695731" y="3624438"/>
              <a:ext cx="0" cy="241800"/>
            </a:xfrm>
            <a:prstGeom prst="straightConnector1">
              <a:avLst/>
            </a:prstGeom>
            <a:noFill/>
            <a:ln cap="flat" cmpd="sng" w="9525">
              <a:solidFill>
                <a:srgbClr val="23204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51" name="Google Shape;651;g3a2a2ac745b_0_2042"/>
            <p:cNvCxnSpPr>
              <a:stCxn id="639" idx="0"/>
            </p:cNvCxnSpPr>
            <p:nvPr/>
          </p:nvCxnSpPr>
          <p:spPr>
            <a:xfrm rot="10800000">
              <a:off x="6952321" y="2748738"/>
              <a:ext cx="0" cy="240600"/>
            </a:xfrm>
            <a:prstGeom prst="straightConnector1">
              <a:avLst/>
            </a:prstGeom>
            <a:noFill/>
            <a:ln cap="flat" cmpd="sng" w="9525">
              <a:solidFill>
                <a:srgbClr val="23204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52" name="Google Shape;652;g3a2a2ac745b_0_2042"/>
            <p:cNvCxnSpPr>
              <a:endCxn id="633" idx="0"/>
            </p:cNvCxnSpPr>
            <p:nvPr/>
          </p:nvCxnSpPr>
          <p:spPr>
            <a:xfrm>
              <a:off x="8208913" y="3624400"/>
              <a:ext cx="0" cy="241800"/>
            </a:xfrm>
            <a:prstGeom prst="straightConnector1">
              <a:avLst/>
            </a:prstGeom>
            <a:noFill/>
            <a:ln cap="flat" cmpd="sng" w="9525">
              <a:solidFill>
                <a:srgbClr val="23204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a2a2ac745b_0_2076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Pre-registering on OSF: The finished project</a:t>
            </a:r>
            <a:endParaRPr b="1" sz="2400"/>
          </a:p>
        </p:txBody>
      </p:sp>
      <p:sp>
        <p:nvSpPr>
          <p:cNvPr id="658" name="Google Shape;658;g3a2a2ac745b_0_2076"/>
          <p:cNvSpPr txBox="1"/>
          <p:nvPr>
            <p:ph idx="1" type="body"/>
          </p:nvPr>
        </p:nvSpPr>
        <p:spPr>
          <a:xfrm>
            <a:off x="254000" y="1056500"/>
            <a:ext cx="8625900" cy="49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3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br>
              <a:rPr lang="en-US" sz="2400"/>
            </a:br>
            <a:r>
              <a:rPr lang="en-US" sz="2000"/>
              <a:t>The full pre-registration of this study is included in the resources for your reference</a:t>
            </a:r>
            <a:endParaRPr sz="2400"/>
          </a:p>
        </p:txBody>
      </p:sp>
      <p:pic>
        <p:nvPicPr>
          <p:cNvPr descr="Screenshot 2021-02-14 at 12.59.08.png" id="659" name="Google Shape;659;g3a2a2ac745b_0_20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350" y="1056501"/>
            <a:ext cx="8179602" cy="327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664" name="Google Shape;664;g3a2a2ac745b_0_20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665" name="Google Shape;665;g3a2a2ac745b_0_20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670" name="Google Shape;670;g3a2a2ac745b_0_2230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671" name="Google Shape;671;g3a2a2ac745b_0_22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g3a2a2ac745b_0_2230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g3a2a2ac745b_0_2230"/>
          <p:cNvSpPr txBox="1"/>
          <p:nvPr/>
        </p:nvSpPr>
        <p:spPr>
          <a:xfrm>
            <a:off x="364243" y="2239799"/>
            <a:ext cx="36141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&#10;&#10;Description automatically generated" id="678" name="Google Shape;678;g3a2a2ac745b_0_22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8200" y="1555200"/>
            <a:ext cx="3747600" cy="37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g3a2a2ac745b_0_2237"/>
          <p:cNvSpPr txBox="1"/>
          <p:nvPr/>
        </p:nvSpPr>
        <p:spPr>
          <a:xfrm>
            <a:off x="2741571" y="1555200"/>
            <a:ext cx="36315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108000" spcFirstLastPara="1" rIns="108000" wrap="square" tIns="108000">
            <a:spAutoFit/>
          </a:bodyPr>
          <a:lstStyle/>
          <a:p>
            <a:pPr indent="0" lvl="0" marL="0" marR="0" rtl="0" algn="l">
              <a:lnSpc>
                <a:spcPct val="107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What is a registered report?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4" name="Google Shape;684;g3a2a2ac745b_0_2242"/>
          <p:cNvGrpSpPr/>
          <p:nvPr/>
        </p:nvGrpSpPr>
        <p:grpSpPr>
          <a:xfrm>
            <a:off x="552600" y="1056501"/>
            <a:ext cx="8038800" cy="4410629"/>
            <a:chOff x="552600" y="1056501"/>
            <a:chExt cx="8038800" cy="4410629"/>
          </a:xfrm>
        </p:grpSpPr>
        <p:sp>
          <p:nvSpPr>
            <p:cNvPr id="685" name="Google Shape;685;g3a2a2ac745b_0_2242"/>
            <p:cNvSpPr/>
            <p:nvPr/>
          </p:nvSpPr>
          <p:spPr>
            <a:xfrm>
              <a:off x="552600" y="1472400"/>
              <a:ext cx="8038800" cy="3913200"/>
            </a:xfrm>
            <a:prstGeom prst="rect">
              <a:avLst/>
            </a:prstGeom>
            <a:solidFill>
              <a:srgbClr val="FFC000">
                <a:alpha val="27840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86" name="Google Shape;686;g3a2a2ac745b_0_2242"/>
            <p:cNvPicPr preferRelativeResize="0"/>
            <p:nvPr/>
          </p:nvPicPr>
          <p:blipFill rotWithShape="1">
            <a:blip r:embed="rId3">
              <a:alphaModFix/>
            </a:blip>
            <a:srcRect b="26250" l="6769" r="53691" t="10844"/>
            <a:stretch/>
          </p:blipFill>
          <p:spPr>
            <a:xfrm flipH="1" rot="784933">
              <a:off x="873225" y="1296914"/>
              <a:ext cx="2437949" cy="2735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7" name="Google Shape;687;g3a2a2ac745b_0_2242"/>
            <p:cNvSpPr/>
            <p:nvPr/>
          </p:nvSpPr>
          <p:spPr>
            <a:xfrm>
              <a:off x="1193803" y="1921923"/>
              <a:ext cx="20310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Typically when we want to publish a paper we submit it to a journal after the study is finished </a:t>
              </a:r>
              <a:endParaRPr/>
            </a:p>
          </p:txBody>
        </p:sp>
        <p:pic>
          <p:nvPicPr>
            <p:cNvPr descr="A picture containing text, vector graphics&#10;&#10;Description automatically generated" id="688" name="Google Shape;688;g3a2a2ac745b_0_2242"/>
            <p:cNvPicPr preferRelativeResize="0"/>
            <p:nvPr/>
          </p:nvPicPr>
          <p:blipFill rotWithShape="1">
            <a:blip r:embed="rId4">
              <a:alphaModFix/>
            </a:blip>
            <a:srcRect b="0" l="23389" r="0" t="0"/>
            <a:stretch/>
          </p:blipFill>
          <p:spPr>
            <a:xfrm>
              <a:off x="579413" y="2762178"/>
              <a:ext cx="2004005" cy="270495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9" name="Google Shape;689;g3a2a2ac745b_0_224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chemeClr val="dk1"/>
                </a:solidFill>
              </a:rPr>
              <a:t>What is a registered report?</a:t>
            </a:r>
            <a:endParaRPr sz="2000">
              <a:solidFill>
                <a:schemeClr val="dk1"/>
              </a:solidFill>
            </a:endParaRPr>
          </a:p>
        </p:txBody>
      </p:sp>
      <p:grpSp>
        <p:nvGrpSpPr>
          <p:cNvPr id="690" name="Google Shape;690;g3a2a2ac745b_0_2242"/>
          <p:cNvGrpSpPr/>
          <p:nvPr/>
        </p:nvGrpSpPr>
        <p:grpSpPr>
          <a:xfrm>
            <a:off x="2336695" y="2207308"/>
            <a:ext cx="3765941" cy="3537976"/>
            <a:chOff x="2336695" y="2207308"/>
            <a:chExt cx="3765941" cy="3537976"/>
          </a:xfrm>
        </p:grpSpPr>
        <p:grpSp>
          <p:nvGrpSpPr>
            <p:cNvPr id="691" name="Google Shape;691;g3a2a2ac745b_0_2242"/>
            <p:cNvGrpSpPr/>
            <p:nvPr/>
          </p:nvGrpSpPr>
          <p:grpSpPr>
            <a:xfrm>
              <a:off x="2336695" y="2207308"/>
              <a:ext cx="3340217" cy="3537976"/>
              <a:chOff x="2022751" y="2385764"/>
              <a:chExt cx="3340217" cy="3537976"/>
            </a:xfrm>
          </p:grpSpPr>
          <p:pic>
            <p:nvPicPr>
              <p:cNvPr id="692" name="Google Shape;692;g3a2a2ac745b_0_2242"/>
              <p:cNvPicPr preferRelativeResize="0"/>
              <p:nvPr/>
            </p:nvPicPr>
            <p:blipFill rotWithShape="1">
              <a:blip r:embed="rId3">
                <a:alphaModFix/>
              </a:blip>
              <a:srcRect b="26250" l="6769" r="53691" t="10844"/>
              <a:stretch/>
            </p:blipFill>
            <p:spPr>
              <a:xfrm flipH="1" rot="-9321902">
                <a:off x="2496348" y="2757320"/>
                <a:ext cx="2393024" cy="279486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3" name="Google Shape;693;g3a2a2ac745b_0_2242"/>
              <p:cNvSpPr/>
              <p:nvPr/>
            </p:nvSpPr>
            <p:spPr>
              <a:xfrm>
                <a:off x="2560400" y="3656804"/>
                <a:ext cx="1843200" cy="131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7620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The journal and its peer-reviewers then decide if the study can be published in that journal </a:t>
                </a:r>
                <a:endParaRPr/>
              </a:p>
            </p:txBody>
          </p:sp>
        </p:grpSp>
        <p:pic>
          <p:nvPicPr>
            <p:cNvPr descr="A picture containing text, vector graphics&#10;&#10;Description automatically generated" id="694" name="Google Shape;694;g3a2a2ac745b_0_224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23059" y="2440953"/>
              <a:ext cx="1579577" cy="302872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95" name="Google Shape;695;g3a2a2ac745b_0_2242"/>
          <p:cNvGrpSpPr/>
          <p:nvPr/>
        </p:nvGrpSpPr>
        <p:grpSpPr>
          <a:xfrm>
            <a:off x="5312847" y="1112715"/>
            <a:ext cx="3251740" cy="4272888"/>
            <a:chOff x="5312847" y="1112715"/>
            <a:chExt cx="3251740" cy="4272888"/>
          </a:xfrm>
        </p:grpSpPr>
        <p:pic>
          <p:nvPicPr>
            <p:cNvPr id="696" name="Google Shape;696;g3a2a2ac745b_0_2242"/>
            <p:cNvPicPr preferRelativeResize="0"/>
            <p:nvPr/>
          </p:nvPicPr>
          <p:blipFill rotWithShape="1">
            <a:blip r:embed="rId3">
              <a:alphaModFix/>
            </a:blip>
            <a:srcRect b="26250" l="6769" r="53691" t="10844"/>
            <a:stretch/>
          </p:blipFill>
          <p:spPr>
            <a:xfrm rot="-577030">
              <a:off x="5524341" y="1315214"/>
              <a:ext cx="2655996" cy="27553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7" name="Google Shape;697;g3a2a2ac745b_0_2242"/>
            <p:cNvSpPr/>
            <p:nvPr/>
          </p:nvSpPr>
          <p:spPr>
            <a:xfrm>
              <a:off x="5606692" y="1919851"/>
              <a:ext cx="2204100" cy="131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7620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There is evidence that studies with significant, novel or exciting findings are more likely to get published</a:t>
              </a:r>
              <a:endParaRPr/>
            </a:p>
          </p:txBody>
        </p:sp>
        <p:pic>
          <p:nvPicPr>
            <p:cNvPr descr="A picture containing text, vector graphics&#10;&#10;Description automatically generated" id="698" name="Google Shape;698;g3a2a2ac745b_0_2242"/>
            <p:cNvPicPr preferRelativeResize="0"/>
            <p:nvPr/>
          </p:nvPicPr>
          <p:blipFill rotWithShape="1">
            <a:blip r:embed="rId6">
              <a:alphaModFix/>
            </a:blip>
            <a:srcRect b="5311" l="0" r="38544" t="0"/>
            <a:stretch/>
          </p:blipFill>
          <p:spPr>
            <a:xfrm>
              <a:off x="7431798" y="2356872"/>
              <a:ext cx="1132789" cy="302873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3" name="Google Shape;703;g3a2a2ac745b_0_2260"/>
          <p:cNvPicPr preferRelativeResize="0"/>
          <p:nvPr/>
        </p:nvPicPr>
        <p:blipFill rotWithShape="1">
          <a:blip r:embed="rId3">
            <a:alphaModFix/>
          </a:blip>
          <a:srcRect b="26250" l="6769" r="53691" t="10844"/>
          <a:stretch/>
        </p:blipFill>
        <p:spPr>
          <a:xfrm>
            <a:off x="308960" y="1842448"/>
            <a:ext cx="3508200" cy="3247120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g3a2a2ac745b_0_2260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chemeClr val="dk1"/>
                </a:solidFill>
              </a:rPr>
              <a:t>What is a registered report?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705" name="Google Shape;705;g3a2a2ac745b_0_2260"/>
          <p:cNvSpPr txBox="1"/>
          <p:nvPr/>
        </p:nvSpPr>
        <p:spPr>
          <a:xfrm>
            <a:off x="620645" y="2577008"/>
            <a:ext cx="2600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are registered reports?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06" name="Google Shape;706;g3a2a2ac745b_0_2260"/>
          <p:cNvGrpSpPr/>
          <p:nvPr/>
        </p:nvGrpSpPr>
        <p:grpSpPr>
          <a:xfrm>
            <a:off x="4008433" y="1495473"/>
            <a:ext cx="4751600" cy="949166"/>
            <a:chOff x="4008433" y="1270930"/>
            <a:chExt cx="4751600" cy="949166"/>
          </a:xfrm>
        </p:grpSpPr>
        <p:sp>
          <p:nvSpPr>
            <p:cNvPr id="707" name="Google Shape;707;g3a2a2ac745b_0_2260"/>
            <p:cNvSpPr/>
            <p:nvPr/>
          </p:nvSpPr>
          <p:spPr>
            <a:xfrm>
              <a:off x="4389333" y="1296695"/>
              <a:ext cx="4370700" cy="923400"/>
            </a:xfrm>
            <a:prstGeom prst="rect">
              <a:avLst/>
            </a:prstGeom>
            <a:solidFill>
              <a:srgbClr val="F5BA36"/>
            </a:solidFill>
            <a:ln cap="flat" cmpd="sng" w="25400">
              <a:solidFill>
                <a:srgbClr val="F5BA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g3a2a2ac745b_0_2260"/>
            <p:cNvSpPr txBox="1"/>
            <p:nvPr/>
          </p:nvSpPr>
          <p:spPr>
            <a:xfrm>
              <a:off x="4912709" y="1270930"/>
              <a:ext cx="35082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Registered reports are research papers outlining the proposed study methods and approach </a:t>
              </a:r>
              <a:endParaRPr/>
            </a:p>
          </p:txBody>
        </p:sp>
        <p:sp>
          <p:nvSpPr>
            <p:cNvPr id="709" name="Google Shape;709;g3a2a2ac745b_0_2260"/>
            <p:cNvSpPr/>
            <p:nvPr/>
          </p:nvSpPr>
          <p:spPr>
            <a:xfrm>
              <a:off x="4008433" y="1296696"/>
              <a:ext cx="868800" cy="923400"/>
            </a:xfrm>
            <a:prstGeom prst="roundRect">
              <a:avLst>
                <a:gd fmla="val 16667" name="adj"/>
              </a:avLst>
            </a:prstGeom>
            <a:solidFill>
              <a:srgbClr val="F76640"/>
            </a:solidFill>
            <a:ln cap="flat" cmpd="sng" w="25400">
              <a:solidFill>
                <a:srgbClr val="F766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0" name="Google Shape;710;g3a2a2ac745b_0_2260"/>
          <p:cNvGrpSpPr/>
          <p:nvPr/>
        </p:nvGrpSpPr>
        <p:grpSpPr>
          <a:xfrm>
            <a:off x="4008433" y="2920575"/>
            <a:ext cx="4751600" cy="949166"/>
            <a:chOff x="4008433" y="2684257"/>
            <a:chExt cx="4751600" cy="949166"/>
          </a:xfrm>
        </p:grpSpPr>
        <p:sp>
          <p:nvSpPr>
            <p:cNvPr id="711" name="Google Shape;711;g3a2a2ac745b_0_2260"/>
            <p:cNvSpPr/>
            <p:nvPr/>
          </p:nvSpPr>
          <p:spPr>
            <a:xfrm>
              <a:off x="4389333" y="2710022"/>
              <a:ext cx="4370700" cy="923400"/>
            </a:xfrm>
            <a:prstGeom prst="rect">
              <a:avLst/>
            </a:prstGeom>
            <a:solidFill>
              <a:srgbClr val="F5BA36"/>
            </a:solidFill>
            <a:ln cap="flat" cmpd="sng" w="25400">
              <a:solidFill>
                <a:srgbClr val="F5BA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g3a2a2ac745b_0_2260"/>
            <p:cNvSpPr txBox="1"/>
            <p:nvPr/>
          </p:nvSpPr>
          <p:spPr>
            <a:xfrm>
              <a:off x="4912709" y="2684257"/>
              <a:ext cx="35082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 potential for publication of these papers is evaluated by the journal </a:t>
              </a:r>
              <a:r>
                <a:rPr b="1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before</a:t>
              </a:r>
              <a:r>
                <a:rPr b="0" i="1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any data collection</a:t>
              </a:r>
              <a:endParaRPr/>
            </a:p>
          </p:txBody>
        </p:sp>
        <p:sp>
          <p:nvSpPr>
            <p:cNvPr id="713" name="Google Shape;713;g3a2a2ac745b_0_2260"/>
            <p:cNvSpPr/>
            <p:nvPr/>
          </p:nvSpPr>
          <p:spPr>
            <a:xfrm>
              <a:off x="4008433" y="2710023"/>
              <a:ext cx="868800" cy="923400"/>
            </a:xfrm>
            <a:prstGeom prst="roundRect">
              <a:avLst>
                <a:gd fmla="val 16667" name="adj"/>
              </a:avLst>
            </a:prstGeom>
            <a:solidFill>
              <a:srgbClr val="F76640"/>
            </a:solidFill>
            <a:ln cap="flat" cmpd="sng" w="25400">
              <a:solidFill>
                <a:srgbClr val="F766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4" name="Google Shape;714;g3a2a2ac745b_0_2260"/>
          <p:cNvGrpSpPr/>
          <p:nvPr/>
        </p:nvGrpSpPr>
        <p:grpSpPr>
          <a:xfrm>
            <a:off x="4008433" y="4345676"/>
            <a:ext cx="4751600" cy="949166"/>
            <a:chOff x="4008433" y="4121133"/>
            <a:chExt cx="4751600" cy="949166"/>
          </a:xfrm>
        </p:grpSpPr>
        <p:sp>
          <p:nvSpPr>
            <p:cNvPr id="715" name="Google Shape;715;g3a2a2ac745b_0_2260"/>
            <p:cNvSpPr/>
            <p:nvPr/>
          </p:nvSpPr>
          <p:spPr>
            <a:xfrm>
              <a:off x="4389333" y="4146898"/>
              <a:ext cx="4370700" cy="923400"/>
            </a:xfrm>
            <a:prstGeom prst="rect">
              <a:avLst/>
            </a:prstGeom>
            <a:solidFill>
              <a:srgbClr val="F5BA36"/>
            </a:solidFill>
            <a:ln cap="flat" cmpd="sng" w="25400">
              <a:solidFill>
                <a:srgbClr val="F5BA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g3a2a2ac745b_0_2260"/>
            <p:cNvSpPr txBox="1"/>
            <p:nvPr/>
          </p:nvSpPr>
          <p:spPr>
            <a:xfrm>
              <a:off x="4912709" y="4121133"/>
              <a:ext cx="35082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This means they are evaluating the proposed study methods, rather than the findings</a:t>
              </a:r>
              <a:endParaRPr/>
            </a:p>
          </p:txBody>
        </p:sp>
        <p:sp>
          <p:nvSpPr>
            <p:cNvPr id="717" name="Google Shape;717;g3a2a2ac745b_0_2260"/>
            <p:cNvSpPr/>
            <p:nvPr/>
          </p:nvSpPr>
          <p:spPr>
            <a:xfrm>
              <a:off x="4008433" y="4146899"/>
              <a:ext cx="868800" cy="923400"/>
            </a:xfrm>
            <a:prstGeom prst="roundRect">
              <a:avLst>
                <a:gd fmla="val 16667" name="adj"/>
              </a:avLst>
            </a:prstGeom>
            <a:solidFill>
              <a:srgbClr val="F76640"/>
            </a:solidFill>
            <a:ln cap="flat" cmpd="sng" w="25400">
              <a:solidFill>
                <a:srgbClr val="F766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8" name="Google Shape;718;g3a2a2ac745b_0_2260"/>
          <p:cNvSpPr txBox="1"/>
          <p:nvPr/>
        </p:nvSpPr>
        <p:spPr>
          <a:xfrm>
            <a:off x="4294960" y="1736681"/>
            <a:ext cx="27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9" name="Google Shape;719;g3a2a2ac745b_0_2260"/>
          <p:cNvSpPr txBox="1"/>
          <p:nvPr/>
        </p:nvSpPr>
        <p:spPr>
          <a:xfrm>
            <a:off x="4294960" y="3131022"/>
            <a:ext cx="27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0" name="Google Shape;720;g3a2a2ac745b_0_2260"/>
          <p:cNvSpPr txBox="1"/>
          <p:nvPr/>
        </p:nvSpPr>
        <p:spPr>
          <a:xfrm>
            <a:off x="4294960" y="4586732"/>
            <a:ext cx="27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a2a2ac745b_0_2281"/>
          <p:cNvSpPr txBox="1"/>
          <p:nvPr>
            <p:ph type="title"/>
          </p:nvPr>
        </p:nvSpPr>
        <p:spPr>
          <a:xfrm>
            <a:off x="254000" y="350005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chemeClr val="dk1"/>
                </a:solidFill>
              </a:rPr>
              <a:t>What is a registered report?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726" name="Google Shape;726;g3a2a2ac745b_0_2281"/>
          <p:cNvSpPr txBox="1"/>
          <p:nvPr/>
        </p:nvSpPr>
        <p:spPr>
          <a:xfrm>
            <a:off x="6878136" y="1510713"/>
            <a:ext cx="165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Stage 2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27" name="Google Shape;727;g3a2a2ac745b_0_2281"/>
          <p:cNvGrpSpPr/>
          <p:nvPr/>
        </p:nvGrpSpPr>
        <p:grpSpPr>
          <a:xfrm>
            <a:off x="5779097" y="1026598"/>
            <a:ext cx="2980019" cy="4804831"/>
            <a:chOff x="459147" y="1267097"/>
            <a:chExt cx="2980019" cy="4804831"/>
          </a:xfrm>
        </p:grpSpPr>
        <p:sp>
          <p:nvSpPr>
            <p:cNvPr id="728" name="Google Shape;728;g3a2a2ac745b_0_2281"/>
            <p:cNvSpPr/>
            <p:nvPr/>
          </p:nvSpPr>
          <p:spPr>
            <a:xfrm>
              <a:off x="459147" y="1388628"/>
              <a:ext cx="2979900" cy="4683300"/>
            </a:xfrm>
            <a:prstGeom prst="roundRect">
              <a:avLst>
                <a:gd fmla="val 16667" name="adj"/>
              </a:avLst>
            </a:prstGeom>
            <a:solidFill>
              <a:srgbClr val="FDF2D9"/>
            </a:solidFill>
            <a:ln cap="flat" cmpd="sng" w="25400">
              <a:solidFill>
                <a:srgbClr val="FDF2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g3a2a2ac745b_0_2281"/>
            <p:cNvSpPr/>
            <p:nvPr/>
          </p:nvSpPr>
          <p:spPr>
            <a:xfrm>
              <a:off x="459147" y="1267097"/>
              <a:ext cx="2979900" cy="648000"/>
            </a:xfrm>
            <a:prstGeom prst="roundRect">
              <a:avLst>
                <a:gd fmla="val 16667" name="adj"/>
              </a:avLst>
            </a:prstGeom>
            <a:solidFill>
              <a:srgbClr val="F5BA36"/>
            </a:solidFill>
            <a:ln cap="flat" cmpd="sng" w="25400">
              <a:solidFill>
                <a:srgbClr val="F5BA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g3a2a2ac745b_0_2281"/>
            <p:cNvSpPr txBox="1"/>
            <p:nvPr/>
          </p:nvSpPr>
          <p:spPr>
            <a:xfrm>
              <a:off x="574766" y="2214500"/>
              <a:ext cx="2864400" cy="287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Researchers then submit completed manuscripts, including: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1. A justification for the work</a:t>
              </a:r>
              <a:endParaRPr/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2. The approved protocol from Stage 1</a:t>
              </a:r>
              <a:endParaRPr/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3. Results, discussion, and any exploratory analyses</a:t>
              </a:r>
              <a:endParaRPr/>
            </a:p>
          </p:txBody>
        </p:sp>
        <p:sp>
          <p:nvSpPr>
            <p:cNvPr id="731" name="Google Shape;731;g3a2a2ac745b_0_2281"/>
            <p:cNvSpPr txBox="1"/>
            <p:nvPr/>
          </p:nvSpPr>
          <p:spPr>
            <a:xfrm>
              <a:off x="1122432" y="1314047"/>
              <a:ext cx="16533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Stage 2</a:t>
              </a:r>
              <a:endParaRPr b="1" i="0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32" name="Google Shape;732;g3a2a2ac745b_0_2281"/>
          <p:cNvGrpSpPr/>
          <p:nvPr/>
        </p:nvGrpSpPr>
        <p:grpSpPr>
          <a:xfrm>
            <a:off x="385033" y="1026598"/>
            <a:ext cx="2979900" cy="4804831"/>
            <a:chOff x="459147" y="1267097"/>
            <a:chExt cx="2979900" cy="4804831"/>
          </a:xfrm>
        </p:grpSpPr>
        <p:sp>
          <p:nvSpPr>
            <p:cNvPr id="733" name="Google Shape;733;g3a2a2ac745b_0_2281"/>
            <p:cNvSpPr/>
            <p:nvPr/>
          </p:nvSpPr>
          <p:spPr>
            <a:xfrm>
              <a:off x="459147" y="1388628"/>
              <a:ext cx="2979900" cy="4683300"/>
            </a:xfrm>
            <a:prstGeom prst="roundRect">
              <a:avLst>
                <a:gd fmla="val 16667" name="adj"/>
              </a:avLst>
            </a:prstGeom>
            <a:solidFill>
              <a:srgbClr val="FDF2D9"/>
            </a:solidFill>
            <a:ln cap="flat" cmpd="sng" w="25400">
              <a:solidFill>
                <a:srgbClr val="FDF2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g3a2a2ac745b_0_2281"/>
            <p:cNvSpPr/>
            <p:nvPr/>
          </p:nvSpPr>
          <p:spPr>
            <a:xfrm>
              <a:off x="459147" y="1267097"/>
              <a:ext cx="2979900" cy="648000"/>
            </a:xfrm>
            <a:prstGeom prst="roundRect">
              <a:avLst>
                <a:gd fmla="val 16667" name="adj"/>
              </a:avLst>
            </a:prstGeom>
            <a:solidFill>
              <a:srgbClr val="F5BA36"/>
            </a:solidFill>
            <a:ln cap="flat" cmpd="sng" w="25400">
              <a:solidFill>
                <a:srgbClr val="F5BA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g3a2a2ac745b_0_2281"/>
            <p:cNvSpPr txBox="1"/>
            <p:nvPr/>
          </p:nvSpPr>
          <p:spPr>
            <a:xfrm>
              <a:off x="516956" y="1991679"/>
              <a:ext cx="2864400" cy="362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Researchers submit their research question(s), theory, hypotheses, detailed methods, analysis plans, and any existing data. </a:t>
              </a: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b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Studies are then reviewed.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If the review is favourable, the study receives an in-principle acceptance and is registered in a repository.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6" name="Google Shape;736;g3a2a2ac745b_0_2281"/>
            <p:cNvSpPr txBox="1"/>
            <p:nvPr/>
          </p:nvSpPr>
          <p:spPr>
            <a:xfrm>
              <a:off x="1122432" y="1314047"/>
              <a:ext cx="16533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Stage 1</a:t>
              </a:r>
              <a:endParaRPr b="1" i="0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737" name="Google Shape;737;g3a2a2ac745b_0_2281"/>
          <p:cNvCxnSpPr/>
          <p:nvPr/>
        </p:nvCxnSpPr>
        <p:spPr>
          <a:xfrm>
            <a:off x="1874968" y="3108048"/>
            <a:ext cx="0" cy="381600"/>
          </a:xfrm>
          <a:prstGeom prst="straightConnector1">
            <a:avLst/>
          </a:prstGeom>
          <a:noFill/>
          <a:ln cap="flat" cmpd="sng" w="9525">
            <a:solidFill>
              <a:srgbClr val="23204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8" name="Google Shape;738;g3a2a2ac745b_0_2281"/>
          <p:cNvCxnSpPr/>
          <p:nvPr/>
        </p:nvCxnSpPr>
        <p:spPr>
          <a:xfrm>
            <a:off x="1874968" y="3887465"/>
            <a:ext cx="0" cy="381600"/>
          </a:xfrm>
          <a:prstGeom prst="straightConnector1">
            <a:avLst/>
          </a:prstGeom>
          <a:noFill/>
          <a:ln cap="flat" cmpd="sng" w="9525">
            <a:solidFill>
              <a:srgbClr val="232042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739" name="Google Shape;739;g3a2a2ac745b_0_2281"/>
          <p:cNvGrpSpPr/>
          <p:nvPr/>
        </p:nvGrpSpPr>
        <p:grpSpPr>
          <a:xfrm>
            <a:off x="3364933" y="2548102"/>
            <a:ext cx="2414100" cy="3283300"/>
            <a:chOff x="3364933" y="2548102"/>
            <a:chExt cx="2414100" cy="3283300"/>
          </a:xfrm>
        </p:grpSpPr>
        <p:grpSp>
          <p:nvGrpSpPr>
            <p:cNvPr id="740" name="Google Shape;740;g3a2a2ac745b_0_2281"/>
            <p:cNvGrpSpPr/>
            <p:nvPr/>
          </p:nvGrpSpPr>
          <p:grpSpPr>
            <a:xfrm>
              <a:off x="3682753" y="2548102"/>
              <a:ext cx="1778400" cy="658076"/>
              <a:chOff x="3561820" y="2548102"/>
              <a:chExt cx="1778400" cy="658076"/>
            </a:xfrm>
          </p:grpSpPr>
          <p:sp>
            <p:nvSpPr>
              <p:cNvPr id="741" name="Google Shape;741;g3a2a2ac745b_0_2281"/>
              <p:cNvSpPr/>
              <p:nvPr/>
            </p:nvSpPr>
            <p:spPr>
              <a:xfrm>
                <a:off x="3561820" y="2548102"/>
                <a:ext cx="1778400" cy="648000"/>
              </a:xfrm>
              <a:prstGeom prst="roundRect">
                <a:avLst>
                  <a:gd fmla="val 16667" name="adj"/>
                </a:avLst>
              </a:prstGeom>
              <a:solidFill>
                <a:srgbClr val="F5BA36"/>
              </a:solidFill>
              <a:ln cap="flat" cmpd="sng" w="25400">
                <a:solidFill>
                  <a:srgbClr val="F5BA3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g3a2a2ac745b_0_2281"/>
              <p:cNvSpPr txBox="1"/>
              <p:nvPr/>
            </p:nvSpPr>
            <p:spPr>
              <a:xfrm>
                <a:off x="3624417" y="2558178"/>
                <a:ext cx="1653300" cy="64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The research is conducted</a:t>
                </a:r>
                <a:endParaRPr b="0" i="0" sz="14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pic>
          <p:nvPicPr>
            <p:cNvPr descr="Logo&#10;&#10;Description automatically generated" id="743" name="Google Shape;743;g3a2a2ac745b_0_22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731964" y="3783161"/>
              <a:ext cx="1778495" cy="204824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44" name="Google Shape;744;g3a2a2ac745b_0_2281"/>
            <p:cNvCxnSpPr>
              <a:stCxn id="733" idx="3"/>
              <a:endCxn id="728" idx="1"/>
            </p:cNvCxnSpPr>
            <p:nvPr/>
          </p:nvCxnSpPr>
          <p:spPr>
            <a:xfrm>
              <a:off x="3364933" y="3489779"/>
              <a:ext cx="2414100" cy="0"/>
            </a:xfrm>
            <a:prstGeom prst="straightConnector1">
              <a:avLst/>
            </a:prstGeom>
            <a:noFill/>
            <a:ln cap="flat" cmpd="sng" w="12700">
              <a:solidFill>
                <a:srgbClr val="23204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a2a2ac745b_0_2304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chemeClr val="dk1"/>
                </a:solidFill>
              </a:rPr>
              <a:t>How do you publish a registered report?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cxnSp>
        <p:nvCxnSpPr>
          <p:cNvPr id="750" name="Google Shape;750;g3a2a2ac745b_0_2304"/>
          <p:cNvCxnSpPr/>
          <p:nvPr/>
        </p:nvCxnSpPr>
        <p:spPr>
          <a:xfrm>
            <a:off x="3408597" y="2805353"/>
            <a:ext cx="400200" cy="0"/>
          </a:xfrm>
          <a:prstGeom prst="straightConnector1">
            <a:avLst/>
          </a:prstGeom>
          <a:noFill/>
          <a:ln cap="flat" cmpd="sng" w="9525">
            <a:solidFill>
              <a:srgbClr val="23204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1" name="Google Shape;751;g3a2a2ac745b_0_2304"/>
          <p:cNvCxnSpPr/>
          <p:nvPr/>
        </p:nvCxnSpPr>
        <p:spPr>
          <a:xfrm>
            <a:off x="1691399" y="2805353"/>
            <a:ext cx="282900" cy="0"/>
          </a:xfrm>
          <a:prstGeom prst="straightConnector1">
            <a:avLst/>
          </a:prstGeom>
          <a:noFill/>
          <a:ln cap="flat" cmpd="sng" w="9525">
            <a:solidFill>
              <a:srgbClr val="23204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2" name="Google Shape;752;g3a2a2ac745b_0_2304"/>
          <p:cNvCxnSpPr/>
          <p:nvPr/>
        </p:nvCxnSpPr>
        <p:spPr>
          <a:xfrm>
            <a:off x="5335058" y="2805353"/>
            <a:ext cx="366000" cy="0"/>
          </a:xfrm>
          <a:prstGeom prst="straightConnector1">
            <a:avLst/>
          </a:prstGeom>
          <a:noFill/>
          <a:ln cap="flat" cmpd="sng" w="9525">
            <a:solidFill>
              <a:srgbClr val="23204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3" name="Google Shape;753;g3a2a2ac745b_0_2304"/>
          <p:cNvCxnSpPr/>
          <p:nvPr/>
        </p:nvCxnSpPr>
        <p:spPr>
          <a:xfrm>
            <a:off x="7050030" y="2805353"/>
            <a:ext cx="500100" cy="0"/>
          </a:xfrm>
          <a:prstGeom prst="straightConnector1">
            <a:avLst/>
          </a:prstGeom>
          <a:noFill/>
          <a:ln cap="flat" cmpd="sng" w="9525">
            <a:solidFill>
              <a:srgbClr val="23204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4" name="Google Shape;754;g3a2a2ac745b_0_2304"/>
          <p:cNvCxnSpPr/>
          <p:nvPr/>
        </p:nvCxnSpPr>
        <p:spPr>
          <a:xfrm flipH="1">
            <a:off x="4554946" y="3277619"/>
            <a:ext cx="12000" cy="451800"/>
          </a:xfrm>
          <a:prstGeom prst="straightConnector1">
            <a:avLst/>
          </a:prstGeom>
          <a:noFill/>
          <a:ln cap="flat" cmpd="sng" w="9525">
            <a:solidFill>
              <a:srgbClr val="23204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5" name="Google Shape;755;g3a2a2ac745b_0_2304"/>
          <p:cNvCxnSpPr>
            <a:stCxn id="756" idx="6"/>
            <a:endCxn id="757" idx="2"/>
          </p:cNvCxnSpPr>
          <p:nvPr/>
        </p:nvCxnSpPr>
        <p:spPr>
          <a:xfrm>
            <a:off x="5318107" y="4513083"/>
            <a:ext cx="205800" cy="0"/>
          </a:xfrm>
          <a:prstGeom prst="straightConnector1">
            <a:avLst/>
          </a:prstGeom>
          <a:noFill/>
          <a:ln cap="flat" cmpd="sng" w="9525">
            <a:solidFill>
              <a:srgbClr val="23204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58" name="Google Shape;758;g3a2a2ac745b_0_2304"/>
          <p:cNvCxnSpPr/>
          <p:nvPr/>
        </p:nvCxnSpPr>
        <p:spPr>
          <a:xfrm rot="10800000">
            <a:off x="6335586" y="3568534"/>
            <a:ext cx="0" cy="181500"/>
          </a:xfrm>
          <a:prstGeom prst="straightConnector1">
            <a:avLst/>
          </a:prstGeom>
          <a:noFill/>
          <a:ln cap="flat" cmpd="sng" w="9525">
            <a:solidFill>
              <a:srgbClr val="23204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9" name="Google Shape;759;g3a2a2ac745b_0_2304"/>
          <p:cNvSpPr/>
          <p:nvPr/>
        </p:nvSpPr>
        <p:spPr>
          <a:xfrm>
            <a:off x="165283" y="2042295"/>
            <a:ext cx="1526100" cy="1526100"/>
          </a:xfrm>
          <a:prstGeom prst="ellipse">
            <a:avLst/>
          </a:prstGeom>
          <a:solidFill>
            <a:srgbClr val="F5BA36"/>
          </a:solidFill>
          <a:ln cap="flat" cmpd="sng" w="9525">
            <a:solidFill>
              <a:srgbClr val="F5B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Plan your study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0" name="Google Shape;760;g3a2a2ac745b_0_2304"/>
          <p:cNvSpPr/>
          <p:nvPr/>
        </p:nvSpPr>
        <p:spPr>
          <a:xfrm>
            <a:off x="2011488" y="2042295"/>
            <a:ext cx="1526100" cy="1526100"/>
          </a:xfrm>
          <a:prstGeom prst="ellipse">
            <a:avLst/>
          </a:prstGeom>
          <a:solidFill>
            <a:srgbClr val="F5BA36"/>
          </a:solidFill>
          <a:ln cap="flat" cmpd="sng" w="9525">
            <a:solidFill>
              <a:srgbClr val="F5B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Submit study proposal to journal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1" name="Google Shape;761;g3a2a2ac745b_0_2304"/>
          <p:cNvSpPr/>
          <p:nvPr/>
        </p:nvSpPr>
        <p:spPr>
          <a:xfrm>
            <a:off x="3857693" y="2042295"/>
            <a:ext cx="1526100" cy="1526100"/>
          </a:xfrm>
          <a:prstGeom prst="ellipse">
            <a:avLst/>
          </a:prstGeom>
          <a:solidFill>
            <a:srgbClr val="F5BA36"/>
          </a:solidFill>
          <a:ln cap="flat" cmpd="sng" w="9525">
            <a:solidFill>
              <a:srgbClr val="F5B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Proposal will be reviewed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Google Shape;756;g3a2a2ac745b_0_2304"/>
          <p:cNvSpPr/>
          <p:nvPr/>
        </p:nvSpPr>
        <p:spPr>
          <a:xfrm>
            <a:off x="3792007" y="3750033"/>
            <a:ext cx="1526100" cy="1526100"/>
          </a:xfrm>
          <a:prstGeom prst="ellipse">
            <a:avLst/>
          </a:prstGeom>
          <a:solidFill>
            <a:srgbClr val="F5BA36"/>
          </a:solidFill>
          <a:ln cap="flat" cmpd="sng" w="9525">
            <a:solidFill>
              <a:srgbClr val="F5B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Receive and respond to feedback 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7" name="Google Shape;757;g3a2a2ac745b_0_2304"/>
          <p:cNvSpPr/>
          <p:nvPr/>
        </p:nvSpPr>
        <p:spPr>
          <a:xfrm>
            <a:off x="5523914" y="3750033"/>
            <a:ext cx="1526100" cy="1526100"/>
          </a:xfrm>
          <a:prstGeom prst="ellipse">
            <a:avLst/>
          </a:prstGeom>
          <a:solidFill>
            <a:srgbClr val="F5BA36"/>
          </a:solidFill>
          <a:ln cap="flat" cmpd="sng" w="9525">
            <a:solidFill>
              <a:srgbClr val="F5B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If accepted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2" name="Google Shape;762;g3a2a2ac745b_0_2304"/>
          <p:cNvSpPr/>
          <p:nvPr/>
        </p:nvSpPr>
        <p:spPr>
          <a:xfrm>
            <a:off x="5703898" y="2042295"/>
            <a:ext cx="1526100" cy="1526100"/>
          </a:xfrm>
          <a:prstGeom prst="ellipse">
            <a:avLst/>
          </a:prstGeom>
          <a:solidFill>
            <a:srgbClr val="F5BA36"/>
          </a:solidFill>
          <a:ln cap="flat" cmpd="sng" w="9525">
            <a:solidFill>
              <a:srgbClr val="F5B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Do the study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3" name="Google Shape;763;g3a2a2ac745b_0_2304"/>
          <p:cNvSpPr/>
          <p:nvPr/>
        </p:nvSpPr>
        <p:spPr>
          <a:xfrm>
            <a:off x="7550103" y="2042295"/>
            <a:ext cx="1526100" cy="1526100"/>
          </a:xfrm>
          <a:prstGeom prst="ellipse">
            <a:avLst/>
          </a:prstGeom>
          <a:solidFill>
            <a:srgbClr val="F5BA36"/>
          </a:solidFill>
          <a:ln cap="flat" cmpd="sng" w="9525">
            <a:solidFill>
              <a:srgbClr val="F5B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Publish the final paper in the journal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" name="Google Shape;768;g3a2a2ac745b_0_2322"/>
          <p:cNvPicPr preferRelativeResize="0"/>
          <p:nvPr/>
        </p:nvPicPr>
        <p:blipFill rotWithShape="1">
          <a:blip r:embed="rId3">
            <a:alphaModFix/>
          </a:blip>
          <a:srcRect b="26250" l="6769" r="53691" t="10844"/>
          <a:stretch/>
        </p:blipFill>
        <p:spPr>
          <a:xfrm>
            <a:off x="308960" y="1842448"/>
            <a:ext cx="3508200" cy="3247120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g3a2a2ac745b_0_2322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solidFill>
                  <a:schemeClr val="dk1"/>
                </a:solidFill>
              </a:rPr>
              <a:t>Why are registered reports important?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770" name="Google Shape;770;g3a2a2ac745b_0_2322"/>
          <p:cNvSpPr txBox="1"/>
          <p:nvPr/>
        </p:nvSpPr>
        <p:spPr>
          <a:xfrm>
            <a:off x="620645" y="2577008"/>
            <a:ext cx="2600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Why are registered reports important?</a:t>
            </a:r>
            <a:endParaRPr b="0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71" name="Google Shape;771;g3a2a2ac745b_0_2322"/>
          <p:cNvGrpSpPr/>
          <p:nvPr/>
        </p:nvGrpSpPr>
        <p:grpSpPr>
          <a:xfrm>
            <a:off x="4008433" y="1495473"/>
            <a:ext cx="4751600" cy="949166"/>
            <a:chOff x="4008433" y="1270930"/>
            <a:chExt cx="4751600" cy="949166"/>
          </a:xfrm>
        </p:grpSpPr>
        <p:sp>
          <p:nvSpPr>
            <p:cNvPr id="772" name="Google Shape;772;g3a2a2ac745b_0_2322"/>
            <p:cNvSpPr/>
            <p:nvPr/>
          </p:nvSpPr>
          <p:spPr>
            <a:xfrm>
              <a:off x="4389333" y="1296695"/>
              <a:ext cx="4370700" cy="923400"/>
            </a:xfrm>
            <a:prstGeom prst="rect">
              <a:avLst/>
            </a:prstGeom>
            <a:solidFill>
              <a:srgbClr val="F5BA36"/>
            </a:solidFill>
            <a:ln cap="flat" cmpd="sng" w="25400">
              <a:solidFill>
                <a:srgbClr val="F5BA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g3a2a2ac745b_0_2322"/>
            <p:cNvSpPr txBox="1"/>
            <p:nvPr/>
          </p:nvSpPr>
          <p:spPr>
            <a:xfrm>
              <a:off x="4912709" y="1270930"/>
              <a:ext cx="35082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They put the focus on the research question and the methodological quality of the study</a:t>
              </a:r>
              <a:endParaRPr/>
            </a:p>
          </p:txBody>
        </p:sp>
        <p:sp>
          <p:nvSpPr>
            <p:cNvPr id="774" name="Google Shape;774;g3a2a2ac745b_0_2322"/>
            <p:cNvSpPr/>
            <p:nvPr/>
          </p:nvSpPr>
          <p:spPr>
            <a:xfrm>
              <a:off x="4008433" y="1296696"/>
              <a:ext cx="868800" cy="923400"/>
            </a:xfrm>
            <a:prstGeom prst="roundRect">
              <a:avLst>
                <a:gd fmla="val 16667" name="adj"/>
              </a:avLst>
            </a:prstGeom>
            <a:solidFill>
              <a:srgbClr val="F76640"/>
            </a:solidFill>
            <a:ln cap="flat" cmpd="sng" w="25400">
              <a:solidFill>
                <a:srgbClr val="F766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5" name="Google Shape;775;g3a2a2ac745b_0_2322"/>
          <p:cNvGrpSpPr/>
          <p:nvPr/>
        </p:nvGrpSpPr>
        <p:grpSpPr>
          <a:xfrm>
            <a:off x="4008433" y="2920575"/>
            <a:ext cx="4751600" cy="949166"/>
            <a:chOff x="4008433" y="2684257"/>
            <a:chExt cx="4751600" cy="949166"/>
          </a:xfrm>
        </p:grpSpPr>
        <p:sp>
          <p:nvSpPr>
            <p:cNvPr id="776" name="Google Shape;776;g3a2a2ac745b_0_2322"/>
            <p:cNvSpPr/>
            <p:nvPr/>
          </p:nvSpPr>
          <p:spPr>
            <a:xfrm>
              <a:off x="4389333" y="2710022"/>
              <a:ext cx="4370700" cy="923400"/>
            </a:xfrm>
            <a:prstGeom prst="rect">
              <a:avLst/>
            </a:prstGeom>
            <a:solidFill>
              <a:srgbClr val="F5BA36"/>
            </a:solidFill>
            <a:ln cap="flat" cmpd="sng" w="25400">
              <a:solidFill>
                <a:srgbClr val="F5BA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g3a2a2ac745b_0_2322"/>
            <p:cNvSpPr txBox="1"/>
            <p:nvPr/>
          </p:nvSpPr>
          <p:spPr>
            <a:xfrm>
              <a:off x="4912709" y="2684257"/>
              <a:ext cx="37128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They alleviate perceived pressures to obtain significant or exciting results, and to publish</a:t>
              </a:r>
              <a:endParaRPr/>
            </a:p>
          </p:txBody>
        </p:sp>
        <p:sp>
          <p:nvSpPr>
            <p:cNvPr id="778" name="Google Shape;778;g3a2a2ac745b_0_2322"/>
            <p:cNvSpPr/>
            <p:nvPr/>
          </p:nvSpPr>
          <p:spPr>
            <a:xfrm>
              <a:off x="4008433" y="2710023"/>
              <a:ext cx="868800" cy="923400"/>
            </a:xfrm>
            <a:prstGeom prst="roundRect">
              <a:avLst>
                <a:gd fmla="val 16667" name="adj"/>
              </a:avLst>
            </a:prstGeom>
            <a:solidFill>
              <a:srgbClr val="F76640"/>
            </a:solidFill>
            <a:ln cap="flat" cmpd="sng" w="25400">
              <a:solidFill>
                <a:srgbClr val="F766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9" name="Google Shape;779;g3a2a2ac745b_0_2322"/>
          <p:cNvGrpSpPr/>
          <p:nvPr/>
        </p:nvGrpSpPr>
        <p:grpSpPr>
          <a:xfrm>
            <a:off x="4008433" y="4345676"/>
            <a:ext cx="4751600" cy="949166"/>
            <a:chOff x="4008433" y="4121133"/>
            <a:chExt cx="4751600" cy="949166"/>
          </a:xfrm>
        </p:grpSpPr>
        <p:sp>
          <p:nvSpPr>
            <p:cNvPr id="780" name="Google Shape;780;g3a2a2ac745b_0_2322"/>
            <p:cNvSpPr/>
            <p:nvPr/>
          </p:nvSpPr>
          <p:spPr>
            <a:xfrm>
              <a:off x="4389333" y="4146898"/>
              <a:ext cx="4370700" cy="923400"/>
            </a:xfrm>
            <a:prstGeom prst="rect">
              <a:avLst/>
            </a:prstGeom>
            <a:solidFill>
              <a:srgbClr val="F5BA36"/>
            </a:solidFill>
            <a:ln cap="flat" cmpd="sng" w="25400">
              <a:solidFill>
                <a:srgbClr val="F5BA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g3a2a2ac745b_0_2322"/>
            <p:cNvSpPr txBox="1"/>
            <p:nvPr/>
          </p:nvSpPr>
          <p:spPr>
            <a:xfrm>
              <a:off x="4912709" y="4121133"/>
              <a:ext cx="35082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Many journals are starting to adopt registered reports as standard practice</a:t>
              </a:r>
              <a:endParaRPr/>
            </a:p>
          </p:txBody>
        </p:sp>
        <p:sp>
          <p:nvSpPr>
            <p:cNvPr id="782" name="Google Shape;782;g3a2a2ac745b_0_2322"/>
            <p:cNvSpPr/>
            <p:nvPr/>
          </p:nvSpPr>
          <p:spPr>
            <a:xfrm>
              <a:off x="4008433" y="4146899"/>
              <a:ext cx="868800" cy="923400"/>
            </a:xfrm>
            <a:prstGeom prst="roundRect">
              <a:avLst>
                <a:gd fmla="val 16667" name="adj"/>
              </a:avLst>
            </a:prstGeom>
            <a:solidFill>
              <a:srgbClr val="F76640"/>
            </a:solidFill>
            <a:ln cap="flat" cmpd="sng" w="25400">
              <a:solidFill>
                <a:srgbClr val="F766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3" name="Google Shape;783;g3a2a2ac745b_0_2322"/>
          <p:cNvSpPr txBox="1"/>
          <p:nvPr/>
        </p:nvSpPr>
        <p:spPr>
          <a:xfrm>
            <a:off x="4294960" y="1736681"/>
            <a:ext cx="27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4" name="Google Shape;784;g3a2a2ac745b_0_2322"/>
          <p:cNvSpPr txBox="1"/>
          <p:nvPr/>
        </p:nvSpPr>
        <p:spPr>
          <a:xfrm>
            <a:off x="4294960" y="3131022"/>
            <a:ext cx="27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5" name="Google Shape;785;g3a2a2ac745b_0_2322"/>
          <p:cNvSpPr txBox="1"/>
          <p:nvPr/>
        </p:nvSpPr>
        <p:spPr>
          <a:xfrm>
            <a:off x="4294960" y="4586732"/>
            <a:ext cx="27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a2a2ac745b_0_2343"/>
          <p:cNvSpPr txBox="1"/>
          <p:nvPr>
            <p:ph idx="1" type="body"/>
          </p:nvPr>
        </p:nvSpPr>
        <p:spPr>
          <a:xfrm>
            <a:off x="254000" y="1239525"/>
            <a:ext cx="8625900" cy="46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400"/>
              <a:t>Complete an activity on Canvas. 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400"/>
              <a:t>There are 3 to choose from depending on what research stage you are currently at.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•"/>
            </a:pPr>
            <a:r>
              <a:rPr lang="en-US" sz="2400"/>
              <a:t>You must complete at least one activity, but you can complete more if you like!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t/>
            </a:r>
            <a:endParaRPr sz="2400"/>
          </a:p>
          <a:p>
            <a:pPr indent="-228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795" name="Google Shape;795;g3a2a2ac745b_0_23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796" name="Google Shape;796;g3a2a2ac745b_0_23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801" name="Google Shape;801;g3a2a2ac745b_0_2495"/>
          <p:cNvPicPr preferRelativeResize="0"/>
          <p:nvPr/>
        </p:nvPicPr>
        <p:blipFill rotWithShape="1">
          <a:blip r:embed="rId3">
            <a:alphaModFix/>
          </a:blip>
          <a:srcRect b="11535" l="33074" r="0" t="0"/>
          <a:stretch/>
        </p:blipFill>
        <p:spPr>
          <a:xfrm>
            <a:off x="2150534" y="0"/>
            <a:ext cx="6993469" cy="6933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802" name="Google Shape;802;g3a2a2ac745b_0_24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g3a2a2ac745b_0_2495"/>
          <p:cNvSpPr txBox="1"/>
          <p:nvPr/>
        </p:nvSpPr>
        <p:spPr>
          <a:xfrm>
            <a:off x="364243" y="1660140"/>
            <a:ext cx="36972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Principles &amp; Practices </a:t>
            </a:r>
            <a:b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of Open Research</a:t>
            </a:r>
            <a:endParaRPr b="1" i="0" sz="2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4" name="Google Shape;804;g3a2a2ac745b_0_2495"/>
          <p:cNvSpPr txBox="1"/>
          <p:nvPr/>
        </p:nvSpPr>
        <p:spPr>
          <a:xfrm>
            <a:off x="364243" y="2239799"/>
            <a:ext cx="36141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52244"/>
              </a:buClr>
              <a:buSzPts val="6000"/>
              <a:buFont typeface="Calibri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online module for undergraduate and 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Masters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a2a2ac745b_0_2502"/>
          <p:cNvSpPr txBox="1"/>
          <p:nvPr>
            <p:ph idx="1" type="body"/>
          </p:nvPr>
        </p:nvSpPr>
        <p:spPr>
          <a:xfrm>
            <a:off x="254000" y="1209050"/>
            <a:ext cx="84897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952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</a:pPr>
            <a:br>
              <a:rPr b="1" lang="en-US"/>
            </a:b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b="1" sz="1800"/>
          </a:p>
        </p:txBody>
      </p:sp>
      <p:sp>
        <p:nvSpPr>
          <p:cNvPr id="810" name="Google Shape;810;g3a2a2ac745b_0_2502"/>
          <p:cNvSpPr txBox="1"/>
          <p:nvPr/>
        </p:nvSpPr>
        <p:spPr>
          <a:xfrm>
            <a:off x="322100" y="2379465"/>
            <a:ext cx="8489700" cy="14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625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Additional Resources</a:t>
            </a:r>
            <a:endParaRPr b="0" i="0" sz="2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285"/>
              <a:buFont typeface="Arial"/>
              <a:buNone/>
            </a:pPr>
            <a:r>
              <a:t/>
            </a:r>
            <a:endParaRPr b="0" i="0" sz="2800" u="sng" cap="none" strike="noStrike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5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4285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a2a2ac745b_0_2507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chemeClr val="dk1"/>
                </a:solidFill>
              </a:rPr>
              <a:t>Want to know more about...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816" name="Google Shape;816;g3a2a2ac745b_0_2507"/>
          <p:cNvSpPr txBox="1"/>
          <p:nvPr>
            <p:ph idx="1" type="body"/>
          </p:nvPr>
        </p:nvSpPr>
        <p:spPr>
          <a:xfrm>
            <a:off x="254000" y="1209050"/>
            <a:ext cx="84897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952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</a:pPr>
            <a:br>
              <a:rPr b="1" lang="en-US"/>
            </a:b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b="1" sz="1800"/>
          </a:p>
        </p:txBody>
      </p:sp>
      <p:sp>
        <p:nvSpPr>
          <p:cNvPr id="817" name="Google Shape;817;g3a2a2ac745b_0_2507"/>
          <p:cNvSpPr txBox="1"/>
          <p:nvPr/>
        </p:nvSpPr>
        <p:spPr>
          <a:xfrm>
            <a:off x="264100" y="862899"/>
            <a:ext cx="8489700" cy="57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purpose of pre-registering a study?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0175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Take a look at </a:t>
            </a:r>
            <a:r>
              <a:rPr b="0" i="0" lang="en-US" sz="2000" u="sng" cap="none" strike="noStrike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this short introductory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video on pre-registration: </a:t>
            </a:r>
            <a:r>
              <a:rPr b="0" i="0" lang="en-US" sz="2000" u="sng" cap="none" strike="noStrike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Introduction to Pre-registration</a:t>
            </a:r>
            <a:endParaRPr b="0" i="0" sz="2000" u="none" cap="none" strike="noStrike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76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Arial"/>
              <a:buNone/>
            </a:pPr>
            <a:r>
              <a:t/>
            </a:r>
            <a:endParaRPr b="0" i="0" sz="2000" u="sng" cap="none" strike="noStrike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76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Read this newspaper article titled: </a:t>
            </a:r>
            <a:r>
              <a:rPr b="0" i="0" lang="en-US" sz="2000" u="sng" cap="none" strike="noStrike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Trust in science would be improved by study pre-registration</a:t>
            </a:r>
            <a:endParaRPr b="0" i="0" sz="2000" u="sng" cap="none" strike="noStrike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76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Arial"/>
              <a:buNone/>
            </a:pPr>
            <a:r>
              <a:t/>
            </a:r>
            <a:endParaRPr b="0" i="0" sz="2000" u="sng" cap="none" strike="noStrike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76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Read about: </a:t>
            </a:r>
            <a:r>
              <a:rPr b="0" i="0" lang="en-US" sz="2000" u="sng" cap="none" strike="noStrike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Seven Selfish Reasons for Pre-registration</a:t>
            </a:r>
            <a:endParaRPr b="0" i="0" sz="2000" u="none" cap="none" strike="noStrike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76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Arial"/>
              <a:buNone/>
            </a:pPr>
            <a:r>
              <a:t/>
            </a:r>
            <a:endParaRPr b="0" i="0" sz="2000" u="sng" cap="none" strike="noStrike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76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this brief outline of why pre-registration is  </a:t>
            </a:r>
            <a:r>
              <a:rPr b="0" i="0" lang="en-US" sz="2000" u="sng" cap="none" strike="noStrike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“A Plan, Not a Prison”</a:t>
            </a:r>
            <a:endParaRPr b="0" i="0" sz="2000" u="none" cap="none" strike="noStrike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800" u="sng" cap="none" strike="noStrike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a2a2ac745b_0_2513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chemeClr val="dk1"/>
                </a:solidFill>
              </a:rPr>
              <a:t>Want to know more about...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823" name="Google Shape;823;g3a2a2ac745b_0_2513"/>
          <p:cNvSpPr txBox="1"/>
          <p:nvPr>
            <p:ph idx="1" type="body"/>
          </p:nvPr>
        </p:nvSpPr>
        <p:spPr>
          <a:xfrm>
            <a:off x="254000" y="1209050"/>
            <a:ext cx="84897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952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</a:pPr>
            <a:br>
              <a:rPr b="1" lang="en-US"/>
            </a:b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b="1" sz="1800"/>
          </a:p>
        </p:txBody>
      </p:sp>
      <p:sp>
        <p:nvSpPr>
          <p:cNvPr id="824" name="Google Shape;824;g3a2a2ac745b_0_2513"/>
          <p:cNvSpPr txBox="1"/>
          <p:nvPr/>
        </p:nvSpPr>
        <p:spPr>
          <a:xfrm>
            <a:off x="254000" y="1020376"/>
            <a:ext cx="8625900" cy="57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to pre-register?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Char char="•"/>
            </a:pPr>
            <a:r>
              <a:rPr b="0" i="0" lang="en-US" sz="2000" u="sng" cap="none" strike="noStrike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Pre-registration and Registered Reports: A primer from UKRN</a:t>
            </a:r>
            <a:endParaRPr b="0" i="0" sz="2000" u="none" cap="none" strike="noStrike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Additional resources on Pre-registration are also available through the </a:t>
            </a:r>
            <a:r>
              <a:rPr b="0" i="0" lang="en-US" sz="2000" u="sng" cap="none" strike="noStrike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Center for Open Science</a:t>
            </a:r>
            <a:endParaRPr b="0" i="1" sz="2000" u="none" cap="none" strike="noStrike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76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journals give a digital badge for pre-registration?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2000" u="sng" cap="none" strike="noStrike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OSF-Badges</a:t>
            </a:r>
            <a:r>
              <a:rPr b="0" i="0" lang="en-US" sz="2000" u="none" cap="none" strike="noStrike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 this list</a:t>
            </a:r>
            <a:endParaRPr/>
          </a:p>
          <a:p>
            <a:pPr indent="-1143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How to navigate OSF?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Roboto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short video on </a:t>
            </a:r>
            <a:r>
              <a:rPr b="0" i="0" lang="en-US" sz="2000" u="sng" cap="none" strike="noStrike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Getting started with OSF: Sign up, navigate OSF, register your study </a:t>
            </a:r>
            <a:endParaRPr b="0" i="0" sz="2400" u="none" cap="none" strike="noStrike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a2a2ac745b_0_2519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chemeClr val="dk1"/>
                </a:solidFill>
              </a:rPr>
              <a:t>Supplemental Reading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830" name="Google Shape;830;g3a2a2ac745b_0_2519"/>
          <p:cNvSpPr txBox="1"/>
          <p:nvPr>
            <p:ph idx="1" type="body"/>
          </p:nvPr>
        </p:nvSpPr>
        <p:spPr>
          <a:xfrm>
            <a:off x="254000" y="1209050"/>
            <a:ext cx="84897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952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</a:pPr>
            <a:br>
              <a:rPr b="1" lang="en-US"/>
            </a:b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b="1" sz="1800"/>
          </a:p>
        </p:txBody>
      </p:sp>
      <p:sp>
        <p:nvSpPr>
          <p:cNvPr id="831" name="Google Shape;831;g3a2a2ac745b_0_2519"/>
          <p:cNvSpPr txBox="1"/>
          <p:nvPr/>
        </p:nvSpPr>
        <p:spPr>
          <a:xfrm>
            <a:off x="264100" y="862899"/>
            <a:ext cx="8489700" cy="57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benefits of registered reports and pre-registration, including for students: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1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Pownall, M. (2020, February 24). Pre-Registration in the Undergraduate Dissertation: A Critical Discussion. </a:t>
            </a:r>
            <a:r>
              <a:rPr b="0" i="0" lang="en-US" sz="2000" u="sng" cap="none" strike="noStrike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https://doi.org/10.31234/osf.io/egbcv</a:t>
            </a:r>
            <a:endParaRPr b="0" i="0" sz="2000" u="sng" cap="none" strike="noStrike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Hobson, H. (2019). </a:t>
            </a:r>
            <a:r>
              <a:rPr b="0" i="0" lang="en-US" sz="2000" u="sng" cap="none" strike="noStrike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Registered reports are an ally to early career researchers</a:t>
            </a: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Nature Human Behaviour, 3,</a:t>
            </a: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1010.</a:t>
            </a:r>
            <a:br>
              <a:rPr b="1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1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Nosek, B.A., Beck, E.D., Campbell, L., Flake, J.K., Hardwicke, T.E., Mellor, D.T., van 't Veer, A.E., &amp; Vazire, S. (2019). pre-registration Is Hard, And Worthwhile. Trends in Cognitive Sciences, 23(10), 815-818. </a:t>
            </a:r>
            <a:r>
              <a:rPr b="0" i="0" lang="en-US" sz="2000" u="sng" cap="none" strike="noStrike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https://doi.org/10.1016/j.tics.2019.07.009</a:t>
            </a:r>
            <a:endParaRPr b="0" i="0" sz="2800" u="sng" cap="none" strike="noStrike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a2a2ac745b_0_2525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chemeClr val="dk1"/>
                </a:solidFill>
              </a:rPr>
              <a:t>Supplemental Reading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837" name="Google Shape;837;g3a2a2ac745b_0_2525"/>
          <p:cNvSpPr txBox="1"/>
          <p:nvPr>
            <p:ph idx="1" type="body"/>
          </p:nvPr>
        </p:nvSpPr>
        <p:spPr>
          <a:xfrm>
            <a:off x="254000" y="1209050"/>
            <a:ext cx="84897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952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</a:pPr>
            <a:br>
              <a:rPr b="1" lang="en-US"/>
            </a:b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b="1" sz="1800"/>
          </a:p>
        </p:txBody>
      </p:sp>
      <p:sp>
        <p:nvSpPr>
          <p:cNvPr id="838" name="Google Shape;838;g3a2a2ac745b_0_2525"/>
          <p:cNvSpPr txBox="1"/>
          <p:nvPr/>
        </p:nvSpPr>
        <p:spPr>
          <a:xfrm>
            <a:off x="264100" y="862899"/>
            <a:ext cx="8489700" cy="57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 the uses, pitfalls, and potential successors to the Pre-registration model: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Yamada, Y. (2018). How to Crack Pre-registration: Toward Transparent and Open Science. Frontiers in Psychology, 9, 1831. </a:t>
            </a:r>
            <a:r>
              <a:rPr b="0" i="0" lang="en-US" sz="2000" u="sng" cap="none" strike="noStrike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https://doi.org/10.3389/fpsyg.2018.01831 </a:t>
            </a:r>
            <a:endParaRPr b="0" i="0" sz="2000" u="none" cap="none" strike="noStrike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 the role of pre-registration in improving the integrity of research, even when data is pre-existing: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Nosek, B. A., Ebersole, C. R., DeHaven, A. C., &amp; Mellor, D. T. (2018). The Pre-registration revolution. Proceedings of the National Academy of Sciences of the United States of America, 115(11), 2600–2606. </a:t>
            </a:r>
            <a:r>
              <a:rPr b="0" i="0" lang="en-US" sz="2000" u="sng" cap="none" strike="noStrike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https://doi.org/10.1073/pnas.1708274114</a:t>
            </a:r>
            <a:endParaRPr b="1" i="0" sz="2000" u="none" cap="none" strike="noStrike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a2a2ac745b_0_2531"/>
          <p:cNvSpPr txBox="1"/>
          <p:nvPr>
            <p:ph type="title"/>
          </p:nvPr>
        </p:nvSpPr>
        <p:spPr>
          <a:xfrm>
            <a:off x="254000" y="254001"/>
            <a:ext cx="8625900" cy="8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r>
              <a:rPr b="1" lang="en-US" sz="2400">
                <a:solidFill>
                  <a:schemeClr val="dk1"/>
                </a:solidFill>
              </a:rPr>
              <a:t>Supplemental Reading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844" name="Google Shape;844;g3a2a2ac745b_0_2531"/>
          <p:cNvSpPr txBox="1"/>
          <p:nvPr>
            <p:ph idx="1" type="body"/>
          </p:nvPr>
        </p:nvSpPr>
        <p:spPr>
          <a:xfrm>
            <a:off x="254000" y="1209050"/>
            <a:ext cx="8489700" cy="5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952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800"/>
              <a:buNone/>
            </a:pPr>
            <a:br>
              <a:rPr b="1" lang="en-US"/>
            </a:b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b="1" sz="1800"/>
          </a:p>
        </p:txBody>
      </p:sp>
      <p:sp>
        <p:nvSpPr>
          <p:cNvPr id="845" name="Google Shape;845;g3a2a2ac745b_0_2531"/>
          <p:cNvSpPr txBox="1"/>
          <p:nvPr/>
        </p:nvSpPr>
        <p:spPr>
          <a:xfrm>
            <a:off x="264100" y="862899"/>
            <a:ext cx="8489700" cy="57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 the benefits and appropriateness of pre-registration in qualitative studies: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Haven, T.L., &amp; Van Grootel, L. (2019). pre-registering qualitative research. Policies and Quality Assurance, 26(3), 229-244. </a:t>
            </a:r>
            <a:r>
              <a:rPr b="0" i="0" lang="en-US" sz="2000" u="sng" cap="none" strike="noStrike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https://doi.org/10.1080/08989621.2019.1580147 </a:t>
            </a:r>
            <a:br>
              <a:rPr b="0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0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-US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 the role of pre-registration in improving the integrity of research, even when data is pre-existing: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Nosek, B. A., Ebersole, C. R., DeHaven, A. C., &amp; Mellor, D. T. (2018). The Pre-registration revolution. Proceedings of the National Academy of Sciences of the United States of America, 115(11), 2600–2606. </a:t>
            </a:r>
            <a:r>
              <a:rPr b="0" i="0" lang="en-US" sz="2000" u="sng" cap="none" strike="noStrike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https://doi.org/10.1073/pnas.1708274114</a:t>
            </a:r>
            <a:endParaRPr b="1" i="0" sz="2000" u="none" cap="none" strike="noStrike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on a stage&#10;&#10;Description automatically generated with low confidence" id="850" name="Google Shape;850;g3a2a2ac745b_0_25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89036"/>
            <a:ext cx="9144000" cy="5144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851" name="Google Shape;851;g3a2a2ac745b_0_25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278" y="32835"/>
            <a:ext cx="2905357" cy="1388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3_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3_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PAPOR TRAIL">
      <a:dk1>
        <a:srgbClr val="252244"/>
      </a:dk1>
      <a:lt1>
        <a:srgbClr val="FFFFFF"/>
      </a:lt1>
      <a:dk2>
        <a:srgbClr val="44546A"/>
      </a:dk2>
      <a:lt2>
        <a:srgbClr val="E7E6E6"/>
      </a:lt2>
      <a:accent1>
        <a:srgbClr val="17B1E7"/>
      </a:accent1>
      <a:accent2>
        <a:srgbClr val="47B27C"/>
      </a:accent2>
      <a:accent3>
        <a:srgbClr val="F6663F"/>
      </a:accent3>
      <a:accent4>
        <a:srgbClr val="FFC000"/>
      </a:accent4>
      <a:accent5>
        <a:srgbClr val="FA7FB1"/>
      </a:accent5>
      <a:accent6>
        <a:srgbClr val="9127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2021-03-16T17:05:21Z</dcterms:created>
  <dc:creator>Orlagh O'Brien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0x010100AA7A9ED9D3E8CD4BAE96912ACCE469BD</vt:lpwstr>
  </property>
</Properties>
</file>