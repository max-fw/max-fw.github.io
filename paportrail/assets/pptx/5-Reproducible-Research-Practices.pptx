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y="6858000" cx="9144000"/>
  <p:notesSz cx="6858000" cy="9144000"/>
  <p:embeddedFontLst>
    <p:embeddedFont>
      <p:font typeface="Roboto"/>
      <p:regular r:id="rId58"/>
      <p:bold r:id="rId59"/>
      <p:italic r:id="rId60"/>
      <p:boldItalic r:id="rId61"/>
    </p:embeddedFont>
    <p:embeddedFont>
      <p:font typeface="Roboto Medium"/>
      <p:regular r:id="rId62"/>
      <p:bold r:id="rId63"/>
      <p:italic r:id="rId64"/>
      <p:boldItalic r:id="rId6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584">
          <p15:clr>
            <a:srgbClr val="9AA0A6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66" roundtripDataSignature="AMtx7mgmtS/PqxC92GnXbeKi8E1Tx0L4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584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RobotoMedium-regular.fntdata"/><Relationship Id="rId61" Type="http://schemas.openxmlformats.org/officeDocument/2006/relationships/font" Target="fonts/Roboto-boldItalic.fntdata"/><Relationship Id="rId20" Type="http://schemas.openxmlformats.org/officeDocument/2006/relationships/slide" Target="slides/slide14.xml"/><Relationship Id="rId64" Type="http://schemas.openxmlformats.org/officeDocument/2006/relationships/font" Target="fonts/RobotoMedium-italic.fntdata"/><Relationship Id="rId63" Type="http://schemas.openxmlformats.org/officeDocument/2006/relationships/font" Target="fonts/RobotoMedium-bold.fntdata"/><Relationship Id="rId22" Type="http://schemas.openxmlformats.org/officeDocument/2006/relationships/slide" Target="slides/slide16.xml"/><Relationship Id="rId66" Type="http://customschemas.google.com/relationships/presentationmetadata" Target="metadata"/><Relationship Id="rId21" Type="http://schemas.openxmlformats.org/officeDocument/2006/relationships/slide" Target="slides/slide15.xml"/><Relationship Id="rId65" Type="http://schemas.openxmlformats.org/officeDocument/2006/relationships/font" Target="fonts/RobotoMedium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Roboto-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font" Target="fonts/Roboto-bold.fntdata"/><Relationship Id="rId14" Type="http://schemas.openxmlformats.org/officeDocument/2006/relationships/slide" Target="slides/slide8.xml"/><Relationship Id="rId58" Type="http://schemas.openxmlformats.org/officeDocument/2006/relationships/font" Target="fonts/Roboto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endParaRPr b="1" sz="140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76" name="Google Shape;17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d409340aa3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gd409340aa3_0_1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d409340aa3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gd409340aa3_0_1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09340aa3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gd409340aa3_0_1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d409340aa3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5" name="Google Shape;255;gd409340aa3_0_2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d3e4c91a71_1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1" name="Google Shape;281;gd3e4c91a71_1_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d3e4c91a71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9" name="Google Shape;299;gd3e4c91a71_1_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d3e4c91a71_1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6" name="Google Shape;316;gd3e4c91a71_1_9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d4e44be53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endParaRPr b="1" sz="140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32" name="Google Shape;332;gd4e44be53a_0_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5" name="Google Shape;355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a2a2411f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1" name="Google Shape;361;g3a2a2411fe0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a2a2411fe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9" name="Google Shape;369;g3a2a2411fe0_0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a2a2411fe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6" name="Google Shape;376;g3a2a2411fe0_0_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a2a2411fe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4" name="Google Shape;404;g3a2a2411fe0_0_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a2a2411fe0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1" name="Google Shape;411;g3a2a2411fe0_0_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a2a2411fe0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1" name="Google Shape;421;g3a2a2411fe0_0_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a2a2411fe0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428" name="Google Shape;428;g3a2a2411fe0_0_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a2a2411fe0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5" name="Google Shape;435;g3a2a2411fe0_0_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a2a2411fe0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3" name="Google Shape;443;g3a2a2411fe0_0_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2a2411fe0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0" name="Google Shape;450;g3a2a2411fe0_0_8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a2a2411fe0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6" name="Google Shape;456;g3a2a2411fe0_0_2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a2a2411fe0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4" name="Google Shape;464;g3a2a2411fe0_0_2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a2a2411fe0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endParaRPr b="1" sz="140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471" name="Google Shape;471;g3a2a2411fe0_0_2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a2a2411fe0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40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498" name="Google Shape;498;g3a2a2411fe0_0_2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a2a2411fe0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40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526" name="Google Shape;526;g3a2a2411fe0_0_29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a2a2411fe0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40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544" name="Google Shape;544;g3a2a2411fe0_0_3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a2a2411fe0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7" name="Google Shape;557;g3a2a2411fe0_0_3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a2a2411fe0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3" name="Google Shape;563;g3a2a2411fe0_0_4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a2a2411fe0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1" name="Google Shape;571;g3a2a2411fe0_0_48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a2a2411fe0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40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578" name="Google Shape;578;g3a2a2411fe0_0_4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a2a2411fe0_0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400">
              <a:solidFill>
                <a:srgbClr val="FF0000"/>
              </a:solidFill>
            </a:endParaRPr>
          </a:p>
        </p:txBody>
      </p:sp>
      <p:sp>
        <p:nvSpPr>
          <p:cNvPr id="594" name="Google Shape;594;g3a2a2411fe0_0_50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a2a2411fe0_0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/>
          </a:p>
        </p:txBody>
      </p:sp>
      <p:sp>
        <p:nvSpPr>
          <p:cNvPr id="611" name="Google Shape;611;g3a2a2411fe0_0_5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a2a2411fe0_0_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/>
          </a:p>
        </p:txBody>
      </p:sp>
      <p:sp>
        <p:nvSpPr>
          <p:cNvPr id="638" name="Google Shape;638;g3a2a2411fe0_0_5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a2a2411fe0_0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/>
          </a:p>
        </p:txBody>
      </p:sp>
      <p:sp>
        <p:nvSpPr>
          <p:cNvPr id="654" name="Google Shape;654;g3a2a2411fe0_0_5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a2a2411fe0_0_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5" name="Google Shape;665;g3a2a2411fe0_0_5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a2a2411fe0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/>
          </a:p>
        </p:txBody>
      </p:sp>
      <p:sp>
        <p:nvSpPr>
          <p:cNvPr id="678" name="Google Shape;678;g3a2a2411fe0_0_58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a2a2411fe0_0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/>
          </a:p>
        </p:txBody>
      </p:sp>
      <p:sp>
        <p:nvSpPr>
          <p:cNvPr id="685" name="Google Shape;685;g3a2a2411fe0_0_5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a2a2411fe0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/>
          </a:p>
        </p:txBody>
      </p:sp>
      <p:sp>
        <p:nvSpPr>
          <p:cNvPr id="692" name="Google Shape;692;g3a2a2411fe0_0_59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a2a2411fe0_0_6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highlight>
                <a:srgbClr val="FFFF00"/>
              </a:highlight>
            </a:endParaRPr>
          </a:p>
        </p:txBody>
      </p:sp>
      <p:sp>
        <p:nvSpPr>
          <p:cNvPr id="701" name="Google Shape;701;g3a2a2411fe0_0_60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a2a2411fe0_0_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0" name="Google Shape;710;g3a2a2411fe0_0_60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a2a2411fe0_0_7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6" name="Google Shape;716;g3a2a2411fe0_0_7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a2a2411fe0_0_7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4" name="Google Shape;724;g3a2a2411fe0_0_7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a2a2411fe0_0_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0" name="Google Shape;730;g3a2a2411fe0_0_7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a2a2411fe0_0_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6" name="Google Shape;736;g3a2a2411fe0_0_7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a2a2411fe0_0_7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5" name="Google Shape;745;g3a2a2411fe0_0_78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3a2a2411fe0_0_7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1" name="Google Shape;751;g3a2a2411fe0_0_78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3a2a2411fe0_0_7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7" name="Google Shape;757;g3a2a2411fe0_0_79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a2a2411fe0_0_7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3" name="Google Shape;763;g3a2a2411fe0_0_79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a2a2411fe0_0_8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9" name="Google Shape;769;g3a2a2411fe0_0_80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2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2"/>
          <p:cNvSpPr txBox="1"/>
          <p:nvPr>
            <p:ph idx="1" type="body"/>
          </p:nvPr>
        </p:nvSpPr>
        <p:spPr>
          <a:xfrm>
            <a:off x="254000" y="1209040"/>
            <a:ext cx="8625840" cy="4561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3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9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9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5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0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0"/>
          <p:cNvSpPr txBox="1"/>
          <p:nvPr>
            <p:ph idx="1" type="body"/>
          </p:nvPr>
        </p:nvSpPr>
        <p:spPr>
          <a:xfrm>
            <a:off x="623888" y="4589465"/>
            <a:ext cx="7886700" cy="1181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2000"/>
              <a:buNone/>
              <a:defRPr sz="2000">
                <a:solidFill>
                  <a:srgbClr val="8A8A9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800"/>
              <a:buNone/>
              <a:defRPr sz="1800">
                <a:solidFill>
                  <a:srgbClr val="8A8A9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9pPr>
          </a:lstStyle>
          <a:p/>
        </p:txBody>
      </p:sp>
      <p:sp>
        <p:nvSpPr>
          <p:cNvPr id="30" name="Google Shape;30;p6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1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1"/>
          <p:cNvSpPr txBox="1"/>
          <p:nvPr>
            <p:ph idx="1" type="body"/>
          </p:nvPr>
        </p:nvSpPr>
        <p:spPr>
          <a:xfrm>
            <a:off x="254000" y="1239521"/>
            <a:ext cx="407416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1"/>
          <p:cNvSpPr txBox="1"/>
          <p:nvPr>
            <p:ph idx="2" type="body"/>
          </p:nvPr>
        </p:nvSpPr>
        <p:spPr>
          <a:xfrm>
            <a:off x="4572000" y="1239521"/>
            <a:ext cx="431800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2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2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2"/>
          <p:cNvSpPr txBox="1"/>
          <p:nvPr>
            <p:ph idx="2" type="body"/>
          </p:nvPr>
        </p:nvSpPr>
        <p:spPr>
          <a:xfrm>
            <a:off x="629842" y="2505075"/>
            <a:ext cx="3868340" cy="3036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2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2"/>
          <p:cNvSpPr txBox="1"/>
          <p:nvPr>
            <p:ph idx="4" type="body"/>
          </p:nvPr>
        </p:nvSpPr>
        <p:spPr>
          <a:xfrm>
            <a:off x="4629150" y="2505075"/>
            <a:ext cx="3887391" cy="3036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3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3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2" name="Google Shape;52;p63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3" name="Google Shape;53;p6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4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4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64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6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6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5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65"/>
          <p:cNvSpPr txBox="1"/>
          <p:nvPr>
            <p:ph idx="1" type="body"/>
          </p:nvPr>
        </p:nvSpPr>
        <p:spPr>
          <a:xfrm rot="5400000">
            <a:off x="2634932" y="-180658"/>
            <a:ext cx="3874135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6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6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6"/>
          <p:cNvSpPr txBox="1"/>
          <p:nvPr>
            <p:ph type="title"/>
          </p:nvPr>
        </p:nvSpPr>
        <p:spPr>
          <a:xfrm rot="5400000">
            <a:off x="4867275" y="2041525"/>
            <a:ext cx="5324475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6"/>
          <p:cNvSpPr txBox="1"/>
          <p:nvPr>
            <p:ph idx="1" type="body"/>
          </p:nvPr>
        </p:nvSpPr>
        <p:spPr>
          <a:xfrm rot="5400000">
            <a:off x="866775" y="127000"/>
            <a:ext cx="5324475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6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2a2411fe0_0_227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g3a2a2411fe0_0_227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3a2a2411fe0_0_227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g3a2a2411fe0_0_227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2a2411fe0_0_883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g3a2a2411fe0_0_883"/>
          <p:cNvSpPr txBox="1"/>
          <p:nvPr>
            <p:ph idx="1" type="body"/>
          </p:nvPr>
        </p:nvSpPr>
        <p:spPr>
          <a:xfrm>
            <a:off x="254000" y="1209040"/>
            <a:ext cx="8625900" cy="4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g3a2a2411fe0_0_883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g3a2a2411fe0_0_883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g3a2a2411fe0_0_883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" name="Google Shape;86;g3a2a2411fe0_0_883"/>
          <p:cNvSpPr txBox="1"/>
          <p:nvPr/>
        </p:nvSpPr>
        <p:spPr>
          <a:xfrm>
            <a:off x="5779958" y="6344082"/>
            <a:ext cx="32202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1400" u="none" cap="none" strike="noStrike">
                <a:solidFill>
                  <a:srgbClr val="757070"/>
                </a:solidFill>
                <a:latin typeface="Roboto"/>
                <a:ea typeface="Roboto"/>
                <a:cs typeface="Roboto"/>
                <a:sym typeface="Roboto"/>
              </a:rPr>
              <a:t>References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7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4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8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48"/>
          <p:cNvSpPr txBox="1"/>
          <p:nvPr>
            <p:ph idx="1" type="body"/>
          </p:nvPr>
        </p:nvSpPr>
        <p:spPr>
          <a:xfrm>
            <a:off x="254000" y="1209040"/>
            <a:ext cx="8625840" cy="4561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4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4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3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93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8" name="Google Shape;108;p9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9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9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4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94"/>
          <p:cNvSpPr txBox="1"/>
          <p:nvPr>
            <p:ph idx="1" type="body"/>
          </p:nvPr>
        </p:nvSpPr>
        <p:spPr>
          <a:xfrm>
            <a:off x="623888" y="4589465"/>
            <a:ext cx="7886700" cy="1181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2000"/>
              <a:buNone/>
              <a:defRPr sz="2000">
                <a:solidFill>
                  <a:srgbClr val="8A8A9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800"/>
              <a:buNone/>
              <a:defRPr sz="1800">
                <a:solidFill>
                  <a:srgbClr val="8A8A9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9pPr>
          </a:lstStyle>
          <a:p/>
        </p:txBody>
      </p:sp>
      <p:sp>
        <p:nvSpPr>
          <p:cNvPr id="114" name="Google Shape;114;p9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9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9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5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95"/>
          <p:cNvSpPr txBox="1"/>
          <p:nvPr>
            <p:ph idx="1" type="body"/>
          </p:nvPr>
        </p:nvSpPr>
        <p:spPr>
          <a:xfrm>
            <a:off x="254000" y="1239521"/>
            <a:ext cx="407416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95"/>
          <p:cNvSpPr txBox="1"/>
          <p:nvPr>
            <p:ph idx="2" type="body"/>
          </p:nvPr>
        </p:nvSpPr>
        <p:spPr>
          <a:xfrm>
            <a:off x="4572000" y="1239521"/>
            <a:ext cx="431800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9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9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9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6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96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7" name="Google Shape;127;p96"/>
          <p:cNvSpPr txBox="1"/>
          <p:nvPr>
            <p:ph idx="2" type="body"/>
          </p:nvPr>
        </p:nvSpPr>
        <p:spPr>
          <a:xfrm>
            <a:off x="629842" y="2505075"/>
            <a:ext cx="3868340" cy="3036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96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9" name="Google Shape;129;p96"/>
          <p:cNvSpPr txBox="1"/>
          <p:nvPr>
            <p:ph idx="4" type="body"/>
          </p:nvPr>
        </p:nvSpPr>
        <p:spPr>
          <a:xfrm>
            <a:off x="4629150" y="2505075"/>
            <a:ext cx="3887391" cy="3036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9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9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9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8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98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6" name="Google Shape;136;p98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7" name="Google Shape;137;p9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9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9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9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99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99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4" name="Google Shape;144;p9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9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9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0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00"/>
          <p:cNvSpPr txBox="1"/>
          <p:nvPr>
            <p:ph idx="1" type="body"/>
          </p:nvPr>
        </p:nvSpPr>
        <p:spPr>
          <a:xfrm rot="5400000">
            <a:off x="2634932" y="-180658"/>
            <a:ext cx="3874135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10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0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0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1"/>
          <p:cNvSpPr txBox="1"/>
          <p:nvPr>
            <p:ph type="title"/>
          </p:nvPr>
        </p:nvSpPr>
        <p:spPr>
          <a:xfrm rot="5400000">
            <a:off x="4867275" y="2041525"/>
            <a:ext cx="5324475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01"/>
          <p:cNvSpPr txBox="1"/>
          <p:nvPr>
            <p:ph idx="1" type="body"/>
          </p:nvPr>
        </p:nvSpPr>
        <p:spPr>
          <a:xfrm rot="5400000">
            <a:off x="866775" y="127000"/>
            <a:ext cx="5324475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10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0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0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9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9"/>
          <p:cNvSpPr txBox="1"/>
          <p:nvPr>
            <p:ph idx="1" type="body"/>
          </p:nvPr>
        </p:nvSpPr>
        <p:spPr>
          <a:xfrm>
            <a:off x="254000" y="1219201"/>
            <a:ext cx="8625840" cy="4582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6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46"/>
          <p:cNvSpPr txBox="1"/>
          <p:nvPr>
            <p:ph idx="1" type="body"/>
          </p:nvPr>
        </p:nvSpPr>
        <p:spPr>
          <a:xfrm>
            <a:off x="254000" y="1219201"/>
            <a:ext cx="8625840" cy="4582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" name="Google Shape;90;p4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p4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p4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" name="Google Shape;93;p46"/>
          <p:cNvSpPr txBox="1"/>
          <p:nvPr/>
        </p:nvSpPr>
        <p:spPr>
          <a:xfrm>
            <a:off x="4572000" y="6344082"/>
            <a:ext cx="4428302" cy="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 – Reproducible Practices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9.png"/><Relationship Id="rId5" Type="http://schemas.openxmlformats.org/officeDocument/2006/relationships/image" Target="../media/image21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34.png"/><Relationship Id="rId5" Type="http://schemas.openxmlformats.org/officeDocument/2006/relationships/image" Target="../media/image9.png"/><Relationship Id="rId6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5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8.png"/><Relationship Id="rId4" Type="http://schemas.openxmlformats.org/officeDocument/2006/relationships/image" Target="../media/image9.png"/><Relationship Id="rId5" Type="http://schemas.openxmlformats.org/officeDocument/2006/relationships/image" Target="../media/image5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48.png"/><Relationship Id="rId5" Type="http://schemas.openxmlformats.org/officeDocument/2006/relationships/image" Target="../media/image32.png"/><Relationship Id="rId6" Type="http://schemas.openxmlformats.org/officeDocument/2006/relationships/image" Target="../media/image55.png"/><Relationship Id="rId7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jp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7.png"/><Relationship Id="rId4" Type="http://schemas.openxmlformats.org/officeDocument/2006/relationships/image" Target="../media/image9.png"/><Relationship Id="rId5" Type="http://schemas.openxmlformats.org/officeDocument/2006/relationships/image" Target="../media/image25.png"/><Relationship Id="rId6" Type="http://schemas.openxmlformats.org/officeDocument/2006/relationships/image" Target="../media/image30.png"/><Relationship Id="rId7" Type="http://schemas.openxmlformats.org/officeDocument/2006/relationships/image" Target="../media/image3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3.png"/><Relationship Id="rId4" Type="http://schemas.openxmlformats.org/officeDocument/2006/relationships/image" Target="../media/image3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9.png"/><Relationship Id="rId4" Type="http://schemas.openxmlformats.org/officeDocument/2006/relationships/image" Target="../media/image3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jpg"/><Relationship Id="rId4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png"/><Relationship Id="rId4" Type="http://schemas.openxmlformats.org/officeDocument/2006/relationships/image" Target="../media/image9.png"/><Relationship Id="rId5" Type="http://schemas.openxmlformats.org/officeDocument/2006/relationships/image" Target="../media/image64.png"/><Relationship Id="rId6" Type="http://schemas.openxmlformats.org/officeDocument/2006/relationships/image" Target="../media/image47.png"/><Relationship Id="rId7" Type="http://schemas.openxmlformats.org/officeDocument/2006/relationships/image" Target="../media/image6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Relationship Id="rId4" Type="http://schemas.openxmlformats.org/officeDocument/2006/relationships/image" Target="../media/image47.png"/><Relationship Id="rId5" Type="http://schemas.openxmlformats.org/officeDocument/2006/relationships/image" Target="../media/image65.png"/><Relationship Id="rId6" Type="http://schemas.openxmlformats.org/officeDocument/2006/relationships/image" Target="../media/image6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1.png"/><Relationship Id="rId4" Type="http://schemas.openxmlformats.org/officeDocument/2006/relationships/image" Target="../media/image74.png"/><Relationship Id="rId5" Type="http://schemas.openxmlformats.org/officeDocument/2006/relationships/image" Target="../media/image70.png"/><Relationship Id="rId6" Type="http://schemas.openxmlformats.org/officeDocument/2006/relationships/image" Target="../media/image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.jpg"/><Relationship Id="rId4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Relationship Id="rId4" Type="http://schemas.openxmlformats.org/officeDocument/2006/relationships/image" Target="../media/image25.png"/><Relationship Id="rId5" Type="http://schemas.openxmlformats.org/officeDocument/2006/relationships/image" Target="../media/image6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.png"/><Relationship Id="rId4" Type="http://schemas.openxmlformats.org/officeDocument/2006/relationships/image" Target="../media/image73.png"/><Relationship Id="rId5" Type="http://schemas.openxmlformats.org/officeDocument/2006/relationships/image" Target="../media/image82.png"/><Relationship Id="rId6" Type="http://schemas.openxmlformats.org/officeDocument/2006/relationships/image" Target="../media/image7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0.png"/><Relationship Id="rId4" Type="http://schemas.openxmlformats.org/officeDocument/2006/relationships/image" Target="../media/image93.png"/><Relationship Id="rId5" Type="http://schemas.openxmlformats.org/officeDocument/2006/relationships/image" Target="../media/image86.png"/><Relationship Id="rId6" Type="http://schemas.openxmlformats.org/officeDocument/2006/relationships/image" Target="../media/image85.png"/><Relationship Id="rId7" Type="http://schemas.openxmlformats.org/officeDocument/2006/relationships/image" Target="../media/image8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9.png"/><Relationship Id="rId4" Type="http://schemas.openxmlformats.org/officeDocument/2006/relationships/image" Target="../media/image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www.ucc.ie/en/research/support/integrity/digitalbadge/" TargetMode="External"/><Relationship Id="rId4" Type="http://schemas.openxmlformats.org/officeDocument/2006/relationships/hyperlink" Target="https://www.ucc.ie/admin/registrar/modules/?mod=pg6030" TargetMode="External"/><Relationship Id="rId5" Type="http://schemas.openxmlformats.org/officeDocument/2006/relationships/hyperlink" Target="https://www.ucc.ie/admin/registrar/modules/?mod=pg6015" TargetMode="External"/><Relationship Id="rId6" Type="http://schemas.openxmlformats.org/officeDocument/2006/relationships/hyperlink" Target="https://libguides.ucc.ie/library" TargetMode="External"/><Relationship Id="rId7" Type="http://schemas.openxmlformats.org/officeDocument/2006/relationships/hyperlink" Target="https://libguides.ucc.ie/library" TargetMode="External"/><Relationship Id="rId8" Type="http://schemas.openxmlformats.org/officeDocument/2006/relationships/hyperlink" Target="https://libcal.ucc.ie/calendar/librarytraining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www.ukrn.org/" TargetMode="External"/><Relationship Id="rId4" Type="http://schemas.openxmlformats.org/officeDocument/2006/relationships/hyperlink" Target="https://repro4everyone.org/" TargetMode="External"/><Relationship Id="rId5" Type="http://schemas.openxmlformats.org/officeDocument/2006/relationships/hyperlink" Target="https://reproducibilitea.org/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3.png"/><Relationship Id="rId4" Type="http://schemas.openxmlformats.org/officeDocument/2006/relationships/image" Target="../media/image91.png"/><Relationship Id="rId5" Type="http://schemas.openxmlformats.org/officeDocument/2006/relationships/image" Target="../media/image8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90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8.jpg"/><Relationship Id="rId4" Type="http://schemas.openxmlformats.org/officeDocument/2006/relationships/image" Target="../media/image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thenib.com/repeat-after-me/" TargetMode="External"/><Relationship Id="rId4" Type="http://schemas.openxmlformats.org/officeDocument/2006/relationships/hyperlink" Target="https://fivethirtyeight.com/features/failure-is-moving-science-forward/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www.youtube.com/watch?v=FpCrY7x5nEE" TargetMode="External"/><Relationship Id="rId4" Type="http://schemas.openxmlformats.org/officeDocument/2006/relationships/image" Target="../media/image9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doi.org/10.1057/s41599-018-0149-x" TargetMode="External"/><Relationship Id="rId4" Type="http://schemas.openxmlformats.org/officeDocument/2006/relationships/hyperlink" Target="https://doi.org/10.1002/smj.3015" TargetMode="Externa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www.youtube.com/watch?v=pjL2uP-fmPY" TargetMode="External"/><Relationship Id="rId4" Type="http://schemas.openxmlformats.org/officeDocument/2006/relationships/hyperlink" Target="https://www.youtube.com/watch?v=VOaN33aAcEw" TargetMode="External"/><Relationship Id="rId5" Type="http://schemas.openxmlformats.org/officeDocument/2006/relationships/hyperlink" Target="https://www.youtube.com/watch?v=SppP5TXnmwc" TargetMode="External"/><Relationship Id="rId6" Type="http://schemas.openxmlformats.org/officeDocument/2006/relationships/hyperlink" Target="https://www.youtube.com/watch?v=bmfpgwoDW5w" TargetMode="Externa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www.nature.com/news/how-scientists-fool-themselves-and-how-they-can-stop-1.18517" TargetMode="External"/><Relationship Id="rId4" Type="http://schemas.openxmlformats.org/officeDocument/2006/relationships/hyperlink" Target="https://doi.org/10.1038/d41586-018-05990-5" TargetMode="Externa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Relationship Id="rId3" Type="http://schemas.openxmlformats.org/officeDocument/2006/relationships/hyperlink" Target="https://osf.io/ezcuj/" TargetMode="External"/><Relationship Id="rId4" Type="http://schemas.openxmlformats.org/officeDocument/2006/relationships/hyperlink" Target="https://osf.io/wx7ck/" TargetMode="External"/><Relationship Id="rId5" Type="http://schemas.openxmlformats.org/officeDocument/2006/relationships/hyperlink" Target="https://replicationindex.com/" TargetMode="External"/><Relationship Id="rId6" Type="http://schemas.openxmlformats.org/officeDocument/2006/relationships/hyperlink" Target="https://www.forbes.com/sites/kimelsesser/2018/04/03/power-posing-is-back-amy-cuddy-successfully-refutes-criticism/?sh=37adefbe3b8e" TargetMode="Externa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8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63" name="Google Shape;163;p1"/>
          <p:cNvPicPr preferRelativeResize="0"/>
          <p:nvPr/>
        </p:nvPicPr>
        <p:blipFill rotWithShape="1">
          <a:blip r:embed="rId3">
            <a:alphaModFix/>
          </a:blip>
          <a:srcRect b="11539" l="33076" r="0" t="0"/>
          <a:stretch/>
        </p:blipFill>
        <p:spPr>
          <a:xfrm>
            <a:off x="2150534" y="0"/>
            <a:ext cx="6993466" cy="69330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164" name="Google Shape;16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"/>
          <p:cNvSpPr txBox="1"/>
          <p:nvPr/>
        </p:nvSpPr>
        <p:spPr>
          <a:xfrm>
            <a:off x="364243" y="1660140"/>
            <a:ext cx="3697118" cy="9068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i="0" lang="en-US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Principles &amp; Practices </a:t>
            </a:r>
            <a:br>
              <a:rPr b="1" i="0" lang="en-US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 Open Research</a:t>
            </a:r>
            <a:endParaRPr b="1"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1"/>
          <p:cNvSpPr txBox="1"/>
          <p:nvPr/>
        </p:nvSpPr>
        <p:spPr>
          <a:xfrm>
            <a:off x="364243" y="2239799"/>
            <a:ext cx="3613991" cy="1260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0" i="0" lang="en-US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 online module for undergraduate and </a:t>
            </a:r>
            <a:br>
              <a:rPr b="0" i="0" lang="en-US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Masters students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venn diagram&#10;&#10;Description automatically generated" id="171" name="Google Shape;17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8200" y="1555200"/>
            <a:ext cx="3747600" cy="374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lang="en-US" sz="2000"/>
              <a:t>Module 4 – </a:t>
            </a:r>
            <a:r>
              <a:rPr b="1" lang="en-US" sz="2000"/>
              <a:t>Reproducible Practices</a:t>
            </a:r>
            <a:endParaRPr sz="2000"/>
          </a:p>
        </p:txBody>
      </p:sp>
      <p:sp>
        <p:nvSpPr>
          <p:cNvPr id="173" name="Google Shape;173;p19"/>
          <p:cNvSpPr txBox="1"/>
          <p:nvPr/>
        </p:nvSpPr>
        <p:spPr>
          <a:xfrm>
            <a:off x="2743224" y="1565991"/>
            <a:ext cx="3702577" cy="1315076"/>
          </a:xfrm>
          <a:prstGeom prst="rect">
            <a:avLst/>
          </a:prstGeom>
          <a:noFill/>
          <a:ln>
            <a:noFill/>
          </a:ln>
          <a:effectLst>
            <a:outerShdw blurRad="165100" sx="103000" rotWithShape="0" algn="tl" dir="2700000" dist="38100" sy="103000">
              <a:srgbClr val="000000">
                <a:alpha val="24313"/>
              </a:srgbClr>
            </a:outerShdw>
          </a:effectLst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What is reproducibility?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What is research reproducibility?</a:t>
            </a:r>
            <a:endParaRPr/>
          </a:p>
        </p:txBody>
      </p:sp>
      <p:grpSp>
        <p:nvGrpSpPr>
          <p:cNvPr id="179" name="Google Shape;179;p3"/>
          <p:cNvGrpSpPr/>
          <p:nvPr/>
        </p:nvGrpSpPr>
        <p:grpSpPr>
          <a:xfrm>
            <a:off x="54571" y="1334542"/>
            <a:ext cx="3798253" cy="3979624"/>
            <a:chOff x="35623" y="941188"/>
            <a:chExt cx="3798253" cy="3979624"/>
          </a:xfrm>
        </p:grpSpPr>
        <p:pic>
          <p:nvPicPr>
            <p:cNvPr id="180" name="Google Shape;180;p3"/>
            <p:cNvPicPr preferRelativeResize="0"/>
            <p:nvPr/>
          </p:nvPicPr>
          <p:blipFill rotWithShape="1">
            <a:blip r:embed="rId3">
              <a:alphaModFix/>
            </a:blip>
            <a:srcRect b="22630" l="0" r="58461" t="0"/>
            <a:stretch/>
          </p:blipFill>
          <p:spPr>
            <a:xfrm>
              <a:off x="35623" y="941188"/>
              <a:ext cx="3798253" cy="39796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" name="Google Shape;181;p3"/>
            <p:cNvSpPr txBox="1"/>
            <p:nvPr/>
          </p:nvSpPr>
          <p:spPr>
            <a:xfrm>
              <a:off x="673699" y="2576596"/>
              <a:ext cx="2522100" cy="9232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What is research reproducibility?</a:t>
              </a:r>
              <a:endParaRPr b="0" i="0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2" name="Google Shape;182;p3"/>
          <p:cNvGrpSpPr/>
          <p:nvPr/>
        </p:nvGrpSpPr>
        <p:grpSpPr>
          <a:xfrm>
            <a:off x="3937563" y="1479542"/>
            <a:ext cx="4838649" cy="3834624"/>
            <a:chOff x="482466" y="1407009"/>
            <a:chExt cx="4838649" cy="3834624"/>
          </a:xfrm>
        </p:grpSpPr>
        <p:grpSp>
          <p:nvGrpSpPr>
            <p:cNvPr id="183" name="Google Shape;183;p3"/>
            <p:cNvGrpSpPr/>
            <p:nvPr/>
          </p:nvGrpSpPr>
          <p:grpSpPr>
            <a:xfrm>
              <a:off x="482466" y="1407009"/>
              <a:ext cx="4838649" cy="1046410"/>
              <a:chOff x="3062010" y="921998"/>
              <a:chExt cx="4838649" cy="1046410"/>
            </a:xfrm>
          </p:grpSpPr>
          <p:grpSp>
            <p:nvGrpSpPr>
              <p:cNvPr id="184" name="Google Shape;184;p3"/>
              <p:cNvGrpSpPr/>
              <p:nvPr/>
            </p:nvGrpSpPr>
            <p:grpSpPr>
              <a:xfrm>
                <a:off x="3062010" y="986290"/>
                <a:ext cx="4838649" cy="928499"/>
                <a:chOff x="3062010" y="986290"/>
                <a:chExt cx="4838649" cy="928499"/>
              </a:xfrm>
            </p:grpSpPr>
            <p:sp>
              <p:nvSpPr>
                <p:cNvPr id="185" name="Google Shape;185;p3"/>
                <p:cNvSpPr/>
                <p:nvPr/>
              </p:nvSpPr>
              <p:spPr>
                <a:xfrm>
                  <a:off x="3778762" y="986291"/>
                  <a:ext cx="4121897" cy="917824"/>
                </a:xfrm>
                <a:prstGeom prst="rect">
                  <a:avLst/>
                </a:prstGeom>
                <a:solidFill>
                  <a:srgbClr val="FDCADF"/>
                </a:solidFill>
                <a:ln cap="flat" cmpd="sng" w="25400">
                  <a:solidFill>
                    <a:srgbClr val="FDCAD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6" name="Google Shape;186;p3"/>
                <p:cNvSpPr/>
                <p:nvPr/>
              </p:nvSpPr>
              <p:spPr>
                <a:xfrm>
                  <a:off x="3062010" y="986290"/>
                  <a:ext cx="940904" cy="928499"/>
                </a:xfrm>
                <a:prstGeom prst="roundRect">
                  <a:avLst>
                    <a:gd fmla="val 16667" name="adj"/>
                  </a:avLst>
                </a:prstGeom>
                <a:solidFill>
                  <a:schemeClr val="accent5"/>
                </a:solidFill>
                <a:ln cap="flat" cmpd="sng" w="25400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87" name="Google Shape;187;p3"/>
              <p:cNvSpPr txBox="1"/>
              <p:nvPr/>
            </p:nvSpPr>
            <p:spPr>
              <a:xfrm>
                <a:off x="4087653" y="921998"/>
                <a:ext cx="3706229" cy="10464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It means that research is conducted and reported so that another researcher could reach the same results and conclusions using the same approaches</a:t>
                </a:r>
                <a:endParaRPr/>
              </a:p>
            </p:txBody>
          </p:sp>
          <p:sp>
            <p:nvSpPr>
              <p:cNvPr id="188" name="Google Shape;188;p3"/>
              <p:cNvSpPr txBox="1"/>
              <p:nvPr/>
            </p:nvSpPr>
            <p:spPr>
              <a:xfrm>
                <a:off x="3299791" y="1219707"/>
                <a:ext cx="478971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400" u="none" cap="none" strike="noStrik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1</a:t>
                </a:r>
                <a:endParaRPr/>
              </a:p>
            </p:txBody>
          </p:sp>
        </p:grpSp>
        <p:grpSp>
          <p:nvGrpSpPr>
            <p:cNvPr id="189" name="Google Shape;189;p3"/>
            <p:cNvGrpSpPr/>
            <p:nvPr/>
          </p:nvGrpSpPr>
          <p:grpSpPr>
            <a:xfrm>
              <a:off x="506273" y="2892217"/>
              <a:ext cx="4814842" cy="928499"/>
              <a:chOff x="3062010" y="986290"/>
              <a:chExt cx="4814842" cy="928499"/>
            </a:xfrm>
          </p:grpSpPr>
          <p:grpSp>
            <p:nvGrpSpPr>
              <p:cNvPr id="190" name="Google Shape;190;p3"/>
              <p:cNvGrpSpPr/>
              <p:nvPr/>
            </p:nvGrpSpPr>
            <p:grpSpPr>
              <a:xfrm>
                <a:off x="3062010" y="986290"/>
                <a:ext cx="4814842" cy="928499"/>
                <a:chOff x="3062010" y="986290"/>
                <a:chExt cx="4814842" cy="928499"/>
              </a:xfrm>
            </p:grpSpPr>
            <p:sp>
              <p:nvSpPr>
                <p:cNvPr id="191" name="Google Shape;191;p3"/>
                <p:cNvSpPr/>
                <p:nvPr/>
              </p:nvSpPr>
              <p:spPr>
                <a:xfrm>
                  <a:off x="3778762" y="986291"/>
                  <a:ext cx="4098090" cy="917824"/>
                </a:xfrm>
                <a:prstGeom prst="rect">
                  <a:avLst/>
                </a:prstGeom>
                <a:solidFill>
                  <a:srgbClr val="FDCADF"/>
                </a:solidFill>
                <a:ln cap="flat" cmpd="sng" w="25400">
                  <a:solidFill>
                    <a:srgbClr val="FDCAD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2" name="Google Shape;192;p3"/>
                <p:cNvSpPr/>
                <p:nvPr/>
              </p:nvSpPr>
              <p:spPr>
                <a:xfrm>
                  <a:off x="3062010" y="986290"/>
                  <a:ext cx="940904" cy="928499"/>
                </a:xfrm>
                <a:prstGeom prst="roundRect">
                  <a:avLst>
                    <a:gd fmla="val 16667" name="adj"/>
                  </a:avLst>
                </a:prstGeom>
                <a:solidFill>
                  <a:schemeClr val="accent5"/>
                </a:solidFill>
                <a:ln cap="flat" cmpd="sng" w="25400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93" name="Google Shape;193;p3"/>
              <p:cNvSpPr txBox="1"/>
              <p:nvPr/>
            </p:nvSpPr>
            <p:spPr>
              <a:xfrm>
                <a:off x="4111460" y="1145377"/>
                <a:ext cx="3440533" cy="6155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It does </a:t>
                </a:r>
                <a:r>
                  <a:rPr b="1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not</a:t>
                </a: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 mean enabling others to copy research</a:t>
                </a:r>
                <a:endParaRPr/>
              </a:p>
            </p:txBody>
          </p:sp>
          <p:sp>
            <p:nvSpPr>
              <p:cNvPr id="194" name="Google Shape;194;p3"/>
              <p:cNvSpPr txBox="1"/>
              <p:nvPr/>
            </p:nvSpPr>
            <p:spPr>
              <a:xfrm>
                <a:off x="3299791" y="1219707"/>
                <a:ext cx="478971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400" u="none" cap="none" strike="noStrik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2</a:t>
                </a:r>
                <a:endParaRPr/>
              </a:p>
            </p:txBody>
          </p:sp>
        </p:grpSp>
        <p:grpSp>
          <p:nvGrpSpPr>
            <p:cNvPr id="195" name="Google Shape;195;p3"/>
            <p:cNvGrpSpPr/>
            <p:nvPr/>
          </p:nvGrpSpPr>
          <p:grpSpPr>
            <a:xfrm>
              <a:off x="506273" y="4313134"/>
              <a:ext cx="4814842" cy="928499"/>
              <a:chOff x="3062010" y="986290"/>
              <a:chExt cx="4814842" cy="928499"/>
            </a:xfrm>
          </p:grpSpPr>
          <p:grpSp>
            <p:nvGrpSpPr>
              <p:cNvPr id="196" name="Google Shape;196;p3"/>
              <p:cNvGrpSpPr/>
              <p:nvPr/>
            </p:nvGrpSpPr>
            <p:grpSpPr>
              <a:xfrm>
                <a:off x="3062010" y="986290"/>
                <a:ext cx="4814842" cy="928499"/>
                <a:chOff x="3062010" y="986290"/>
                <a:chExt cx="4814842" cy="928499"/>
              </a:xfrm>
            </p:grpSpPr>
            <p:sp>
              <p:nvSpPr>
                <p:cNvPr id="197" name="Google Shape;197;p3"/>
                <p:cNvSpPr/>
                <p:nvPr/>
              </p:nvSpPr>
              <p:spPr>
                <a:xfrm>
                  <a:off x="3778762" y="986291"/>
                  <a:ext cx="4098090" cy="917824"/>
                </a:xfrm>
                <a:prstGeom prst="rect">
                  <a:avLst/>
                </a:prstGeom>
                <a:solidFill>
                  <a:srgbClr val="FDCADF"/>
                </a:solidFill>
                <a:ln cap="flat" cmpd="sng" w="25400">
                  <a:solidFill>
                    <a:srgbClr val="FDCAD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" name="Google Shape;198;p3"/>
                <p:cNvSpPr/>
                <p:nvPr/>
              </p:nvSpPr>
              <p:spPr>
                <a:xfrm>
                  <a:off x="3062010" y="986290"/>
                  <a:ext cx="940904" cy="928499"/>
                </a:xfrm>
                <a:prstGeom prst="roundRect">
                  <a:avLst>
                    <a:gd fmla="val 16667" name="adj"/>
                  </a:avLst>
                </a:prstGeom>
                <a:solidFill>
                  <a:schemeClr val="accent5"/>
                </a:solidFill>
                <a:ln cap="flat" cmpd="sng" w="25400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99" name="Google Shape;199;p3"/>
              <p:cNvSpPr txBox="1"/>
              <p:nvPr/>
            </p:nvSpPr>
            <p:spPr>
              <a:xfrm>
                <a:off x="4063846" y="1029720"/>
                <a:ext cx="3797656" cy="8309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It is instead intended to allow people to confirm or correct findings through reproducing the methods</a:t>
                </a:r>
                <a:endParaRPr/>
              </a:p>
            </p:txBody>
          </p:sp>
          <p:sp>
            <p:nvSpPr>
              <p:cNvPr id="200" name="Google Shape;200;p3"/>
              <p:cNvSpPr txBox="1"/>
              <p:nvPr/>
            </p:nvSpPr>
            <p:spPr>
              <a:xfrm>
                <a:off x="3299791" y="1219707"/>
                <a:ext cx="478971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400" u="none" cap="none" strike="noStrik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3</a:t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d409340aa3_0_171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What is research reproducibility?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t/>
            </a:r>
            <a:endParaRPr/>
          </a:p>
        </p:txBody>
      </p:sp>
      <p:sp>
        <p:nvSpPr>
          <p:cNvPr id="206" name="Google Shape;206;gd409340aa3_0_171"/>
          <p:cNvSpPr txBox="1"/>
          <p:nvPr>
            <p:ph idx="4294967295" type="body"/>
          </p:nvPr>
        </p:nvSpPr>
        <p:spPr>
          <a:xfrm>
            <a:off x="254000" y="1334796"/>
            <a:ext cx="8379600" cy="4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r>
              <a:rPr lang="en-US" sz="2000">
                <a:solidFill>
                  <a:srgbClr val="000000"/>
                </a:solidFill>
              </a:rPr>
              <a:t>If another researcher cannot reproduce the research, this does not necessarily mean the findings aren’t valid 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</a:pPr>
            <a:r>
              <a:t/>
            </a:r>
            <a:endParaRPr sz="10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r>
              <a:rPr lang="en-US" sz="2000">
                <a:solidFill>
                  <a:srgbClr val="000000"/>
                </a:solidFill>
              </a:rPr>
              <a:t>This is because reproducibility does not equal truth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</a:pPr>
            <a:r>
              <a:t/>
            </a:r>
            <a:endParaRPr sz="10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r>
              <a:rPr lang="en-US" sz="2000">
                <a:solidFill>
                  <a:srgbClr val="000000"/>
                </a:solidFill>
              </a:rPr>
              <a:t>But lack of reproducibility does raise questions about a study’s validity and reliability</a:t>
            </a:r>
            <a:endParaRPr sz="2000">
              <a:solidFill>
                <a:srgbClr val="000000"/>
              </a:solidFill>
            </a:endParaRPr>
          </a:p>
        </p:txBody>
      </p:sp>
      <p:pic>
        <p:nvPicPr>
          <p:cNvPr descr="Logo&#10;&#10;Description automatically generated with medium confidence" id="207" name="Google Shape;207;gd409340aa3_0_1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63139" y="3717785"/>
            <a:ext cx="1961322" cy="2318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d409340aa3_0_176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What is research reproducibility?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t/>
            </a:r>
            <a:endParaRPr/>
          </a:p>
        </p:txBody>
      </p:sp>
      <p:sp>
        <p:nvSpPr>
          <p:cNvPr id="213" name="Google Shape;213;gd409340aa3_0_176"/>
          <p:cNvSpPr txBox="1"/>
          <p:nvPr>
            <p:ph idx="4294967295" type="body"/>
          </p:nvPr>
        </p:nvSpPr>
        <p:spPr>
          <a:xfrm>
            <a:off x="254000" y="1056500"/>
            <a:ext cx="83796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2000">
                <a:solidFill>
                  <a:srgbClr val="000000"/>
                </a:solidFill>
              </a:rPr>
              <a:t>Reproducibility can also be understood as</a:t>
            </a:r>
            <a:endParaRPr sz="2000">
              <a:solidFill>
                <a:srgbClr val="000000"/>
              </a:solidFill>
            </a:endParaRPr>
          </a:p>
        </p:txBody>
      </p:sp>
      <p:grpSp>
        <p:nvGrpSpPr>
          <p:cNvPr id="214" name="Google Shape;214;gd409340aa3_0_176"/>
          <p:cNvGrpSpPr/>
          <p:nvPr/>
        </p:nvGrpSpPr>
        <p:grpSpPr>
          <a:xfrm>
            <a:off x="1853616" y="1985000"/>
            <a:ext cx="5426668" cy="928499"/>
            <a:chOff x="3062010" y="986290"/>
            <a:chExt cx="5426668" cy="928499"/>
          </a:xfrm>
        </p:grpSpPr>
        <p:grpSp>
          <p:nvGrpSpPr>
            <p:cNvPr id="215" name="Google Shape;215;gd409340aa3_0_176"/>
            <p:cNvGrpSpPr/>
            <p:nvPr/>
          </p:nvGrpSpPr>
          <p:grpSpPr>
            <a:xfrm>
              <a:off x="3062010" y="986290"/>
              <a:ext cx="5426668" cy="928499"/>
              <a:chOff x="3062010" y="986290"/>
              <a:chExt cx="5426668" cy="928499"/>
            </a:xfrm>
          </p:grpSpPr>
          <p:sp>
            <p:nvSpPr>
              <p:cNvPr id="216" name="Google Shape;216;gd409340aa3_0_176"/>
              <p:cNvSpPr/>
              <p:nvPr/>
            </p:nvSpPr>
            <p:spPr>
              <a:xfrm>
                <a:off x="3778762" y="986291"/>
                <a:ext cx="4709916" cy="917824"/>
              </a:xfrm>
              <a:prstGeom prst="rect">
                <a:avLst/>
              </a:prstGeom>
              <a:solidFill>
                <a:srgbClr val="FDCADF"/>
              </a:solidFill>
              <a:ln cap="flat" cmpd="sng" w="25400">
                <a:solidFill>
                  <a:srgbClr val="FDCAD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gd409340aa3_0_176"/>
              <p:cNvSpPr/>
              <p:nvPr/>
            </p:nvSpPr>
            <p:spPr>
              <a:xfrm>
                <a:off x="3062010" y="986290"/>
                <a:ext cx="940904" cy="928499"/>
              </a:xfrm>
              <a:prstGeom prst="roundRect">
                <a:avLst>
                  <a:gd fmla="val 16667" name="adj"/>
                </a:avLst>
              </a:prstGeom>
              <a:solidFill>
                <a:schemeClr val="accent5"/>
              </a:solidFill>
              <a:ln cap="flat" cmpd="sng" w="2540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8" name="Google Shape;218;gd409340aa3_0_176"/>
            <p:cNvSpPr txBox="1"/>
            <p:nvPr/>
          </p:nvSpPr>
          <p:spPr>
            <a:xfrm>
              <a:off x="4079196" y="1034889"/>
              <a:ext cx="43332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Methods reproducibility: </a:t>
              </a: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enough information is 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provided about the study methods for it to be repeated 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9" name="Google Shape;219;gd409340aa3_0_176"/>
            <p:cNvSpPr txBox="1"/>
            <p:nvPr/>
          </p:nvSpPr>
          <p:spPr>
            <a:xfrm>
              <a:off x="3299791" y="1219707"/>
              <a:ext cx="47897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/>
            </a:p>
          </p:txBody>
        </p:sp>
      </p:grpSp>
      <p:grpSp>
        <p:nvGrpSpPr>
          <p:cNvPr id="220" name="Google Shape;220;gd409340aa3_0_176"/>
          <p:cNvGrpSpPr/>
          <p:nvPr/>
        </p:nvGrpSpPr>
        <p:grpSpPr>
          <a:xfrm>
            <a:off x="1877423" y="3405916"/>
            <a:ext cx="5426668" cy="928499"/>
            <a:chOff x="3062010" y="986290"/>
            <a:chExt cx="5426668" cy="928499"/>
          </a:xfrm>
        </p:grpSpPr>
        <p:grpSp>
          <p:nvGrpSpPr>
            <p:cNvPr id="221" name="Google Shape;221;gd409340aa3_0_176"/>
            <p:cNvGrpSpPr/>
            <p:nvPr/>
          </p:nvGrpSpPr>
          <p:grpSpPr>
            <a:xfrm>
              <a:off x="3062010" y="986290"/>
              <a:ext cx="5426668" cy="928499"/>
              <a:chOff x="3062010" y="986290"/>
              <a:chExt cx="5426668" cy="928499"/>
            </a:xfrm>
          </p:grpSpPr>
          <p:sp>
            <p:nvSpPr>
              <p:cNvPr id="222" name="Google Shape;222;gd409340aa3_0_176"/>
              <p:cNvSpPr/>
              <p:nvPr/>
            </p:nvSpPr>
            <p:spPr>
              <a:xfrm>
                <a:off x="3778762" y="986291"/>
                <a:ext cx="4709916" cy="917824"/>
              </a:xfrm>
              <a:prstGeom prst="rect">
                <a:avLst/>
              </a:prstGeom>
              <a:solidFill>
                <a:srgbClr val="FDCADF"/>
              </a:solidFill>
              <a:ln cap="flat" cmpd="sng" w="25400">
                <a:solidFill>
                  <a:srgbClr val="FDCAD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gd409340aa3_0_176"/>
              <p:cNvSpPr/>
              <p:nvPr/>
            </p:nvSpPr>
            <p:spPr>
              <a:xfrm>
                <a:off x="3062010" y="986290"/>
                <a:ext cx="940904" cy="928499"/>
              </a:xfrm>
              <a:prstGeom prst="roundRect">
                <a:avLst>
                  <a:gd fmla="val 16667" name="adj"/>
                </a:avLst>
              </a:prstGeom>
              <a:solidFill>
                <a:schemeClr val="accent5"/>
              </a:solidFill>
              <a:ln cap="flat" cmpd="sng" w="2540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4" name="Google Shape;224;gd409340aa3_0_176"/>
            <p:cNvSpPr txBox="1"/>
            <p:nvPr/>
          </p:nvSpPr>
          <p:spPr>
            <a:xfrm>
              <a:off x="4079196" y="1137441"/>
              <a:ext cx="4333200" cy="615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Results reproducibility: </a:t>
              </a: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An independent study 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obtains the same results using the original methods</a:t>
              </a:r>
              <a:endParaRPr/>
            </a:p>
          </p:txBody>
        </p:sp>
        <p:sp>
          <p:nvSpPr>
            <p:cNvPr id="225" name="Google Shape;225;gd409340aa3_0_176"/>
            <p:cNvSpPr txBox="1"/>
            <p:nvPr/>
          </p:nvSpPr>
          <p:spPr>
            <a:xfrm>
              <a:off x="3299791" y="1219707"/>
              <a:ext cx="47897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/>
            </a:p>
          </p:txBody>
        </p:sp>
      </p:grpSp>
      <p:grpSp>
        <p:nvGrpSpPr>
          <p:cNvPr id="226" name="Google Shape;226;gd409340aa3_0_176"/>
          <p:cNvGrpSpPr/>
          <p:nvPr/>
        </p:nvGrpSpPr>
        <p:grpSpPr>
          <a:xfrm>
            <a:off x="1877423" y="4826833"/>
            <a:ext cx="5426668" cy="928499"/>
            <a:chOff x="3062010" y="986290"/>
            <a:chExt cx="5426668" cy="928499"/>
          </a:xfrm>
        </p:grpSpPr>
        <p:grpSp>
          <p:nvGrpSpPr>
            <p:cNvPr id="227" name="Google Shape;227;gd409340aa3_0_176"/>
            <p:cNvGrpSpPr/>
            <p:nvPr/>
          </p:nvGrpSpPr>
          <p:grpSpPr>
            <a:xfrm>
              <a:off x="3062010" y="986290"/>
              <a:ext cx="5426668" cy="928499"/>
              <a:chOff x="3062010" y="986290"/>
              <a:chExt cx="5426668" cy="928499"/>
            </a:xfrm>
          </p:grpSpPr>
          <p:sp>
            <p:nvSpPr>
              <p:cNvPr id="228" name="Google Shape;228;gd409340aa3_0_176"/>
              <p:cNvSpPr/>
              <p:nvPr/>
            </p:nvSpPr>
            <p:spPr>
              <a:xfrm>
                <a:off x="3778762" y="986291"/>
                <a:ext cx="4709916" cy="917824"/>
              </a:xfrm>
              <a:prstGeom prst="rect">
                <a:avLst/>
              </a:prstGeom>
              <a:solidFill>
                <a:srgbClr val="FDCADF"/>
              </a:solidFill>
              <a:ln cap="flat" cmpd="sng" w="25400">
                <a:solidFill>
                  <a:srgbClr val="FDCAD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gd409340aa3_0_176"/>
              <p:cNvSpPr/>
              <p:nvPr/>
            </p:nvSpPr>
            <p:spPr>
              <a:xfrm>
                <a:off x="3062010" y="986290"/>
                <a:ext cx="940904" cy="928499"/>
              </a:xfrm>
              <a:prstGeom prst="roundRect">
                <a:avLst>
                  <a:gd fmla="val 16667" name="adj"/>
                </a:avLst>
              </a:prstGeom>
              <a:solidFill>
                <a:schemeClr val="accent5"/>
              </a:solidFill>
              <a:ln cap="flat" cmpd="sng" w="2540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0" name="Google Shape;230;gd409340aa3_0_176"/>
            <p:cNvSpPr txBox="1"/>
            <p:nvPr/>
          </p:nvSpPr>
          <p:spPr>
            <a:xfrm>
              <a:off x="4079196" y="1130897"/>
              <a:ext cx="4333200" cy="615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Inferential reproducibility: </a:t>
              </a: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Similar conclusions are reached from replicated findings</a:t>
              </a:r>
              <a:endParaRPr/>
            </a:p>
          </p:txBody>
        </p:sp>
        <p:sp>
          <p:nvSpPr>
            <p:cNvPr id="231" name="Google Shape;231;gd409340aa3_0_176"/>
            <p:cNvSpPr txBox="1"/>
            <p:nvPr/>
          </p:nvSpPr>
          <p:spPr>
            <a:xfrm>
              <a:off x="3299791" y="1219707"/>
              <a:ext cx="47897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d409340aa3_0_187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Reproducible Research Practices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t/>
            </a:r>
            <a:endParaRPr/>
          </a:p>
        </p:txBody>
      </p:sp>
      <p:sp>
        <p:nvSpPr>
          <p:cNvPr id="237" name="Google Shape;237;gd409340aa3_0_187"/>
          <p:cNvSpPr txBox="1"/>
          <p:nvPr>
            <p:ph idx="4294967295" type="body"/>
          </p:nvPr>
        </p:nvSpPr>
        <p:spPr>
          <a:xfrm>
            <a:off x="254000" y="1056500"/>
            <a:ext cx="8379600" cy="4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2000">
                <a:solidFill>
                  <a:srgbClr val="000000"/>
                </a:solidFill>
              </a:rPr>
              <a:t>Reproducible research involves:</a:t>
            </a:r>
            <a:endParaRPr sz="2000">
              <a:solidFill>
                <a:srgbClr val="000000"/>
              </a:solidFill>
            </a:endParaRPr>
          </a:p>
        </p:txBody>
      </p:sp>
      <p:grpSp>
        <p:nvGrpSpPr>
          <p:cNvPr id="238" name="Google Shape;238;gd409340aa3_0_187"/>
          <p:cNvGrpSpPr/>
          <p:nvPr/>
        </p:nvGrpSpPr>
        <p:grpSpPr>
          <a:xfrm>
            <a:off x="1903151" y="3337400"/>
            <a:ext cx="5942654" cy="876600"/>
            <a:chOff x="1916403" y="3167314"/>
            <a:chExt cx="5942654" cy="876600"/>
          </a:xfrm>
        </p:grpSpPr>
        <p:grpSp>
          <p:nvGrpSpPr>
            <p:cNvPr id="239" name="Google Shape;239;gd409340aa3_0_187"/>
            <p:cNvGrpSpPr/>
            <p:nvPr/>
          </p:nvGrpSpPr>
          <p:grpSpPr>
            <a:xfrm>
              <a:off x="1916403" y="3167314"/>
              <a:ext cx="5942654" cy="876600"/>
              <a:chOff x="1916403" y="3004431"/>
              <a:chExt cx="5942654" cy="876600"/>
            </a:xfrm>
          </p:grpSpPr>
          <p:sp>
            <p:nvSpPr>
              <p:cNvPr id="240" name="Google Shape;240;gd409340aa3_0_187"/>
              <p:cNvSpPr/>
              <p:nvPr/>
            </p:nvSpPr>
            <p:spPr>
              <a:xfrm>
                <a:off x="1916403" y="3004431"/>
                <a:ext cx="5942654" cy="876600"/>
              </a:xfrm>
              <a:prstGeom prst="roundRect">
                <a:avLst>
                  <a:gd fmla="val 10000" name="adj"/>
                </a:avLst>
              </a:prstGeom>
              <a:solidFill>
                <a:srgbClr val="FEE3EE"/>
              </a:solidFill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gd409340aa3_0_187"/>
              <p:cNvSpPr txBox="1"/>
              <p:nvPr/>
            </p:nvSpPr>
            <p:spPr>
              <a:xfrm>
                <a:off x="3101772" y="3228243"/>
                <a:ext cx="4333200" cy="4000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Making these available for public/peer evaluation</a:t>
                </a:r>
                <a:endParaRPr/>
              </a:p>
            </p:txBody>
          </p:sp>
        </p:grpSp>
        <p:pic>
          <p:nvPicPr>
            <p:cNvPr descr="Icon&#10;&#10;Description automatically generated" id="242" name="Google Shape;242;gd409340aa3_0_18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49707" y="3219556"/>
              <a:ext cx="670166" cy="74321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3" name="Google Shape;243;gd409340aa3_0_187"/>
          <p:cNvGrpSpPr/>
          <p:nvPr/>
        </p:nvGrpSpPr>
        <p:grpSpPr>
          <a:xfrm>
            <a:off x="1903151" y="1972088"/>
            <a:ext cx="5942654" cy="876600"/>
            <a:chOff x="1916403" y="1802002"/>
            <a:chExt cx="5942654" cy="876600"/>
          </a:xfrm>
        </p:grpSpPr>
        <p:grpSp>
          <p:nvGrpSpPr>
            <p:cNvPr id="244" name="Google Shape;244;gd409340aa3_0_187"/>
            <p:cNvGrpSpPr/>
            <p:nvPr/>
          </p:nvGrpSpPr>
          <p:grpSpPr>
            <a:xfrm>
              <a:off x="1916403" y="1802002"/>
              <a:ext cx="5942654" cy="876600"/>
              <a:chOff x="1916403" y="1802002"/>
              <a:chExt cx="5942654" cy="876600"/>
            </a:xfrm>
          </p:grpSpPr>
          <p:sp>
            <p:nvSpPr>
              <p:cNvPr id="245" name="Google Shape;245;gd409340aa3_0_187"/>
              <p:cNvSpPr/>
              <p:nvPr/>
            </p:nvSpPr>
            <p:spPr>
              <a:xfrm>
                <a:off x="1916403" y="1802002"/>
                <a:ext cx="5942654" cy="876600"/>
              </a:xfrm>
              <a:prstGeom prst="roundRect">
                <a:avLst>
                  <a:gd fmla="val 10000" name="adj"/>
                </a:avLst>
              </a:prstGeom>
              <a:solidFill>
                <a:srgbClr val="FEE3EE"/>
              </a:solidFill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gd409340aa3_0_187"/>
              <p:cNvSpPr txBox="1"/>
              <p:nvPr/>
            </p:nvSpPr>
            <p:spPr>
              <a:xfrm>
                <a:off x="3101772" y="2025814"/>
                <a:ext cx="4333200" cy="4000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Sharing data and research procedures</a:t>
                </a:r>
                <a:endParaRPr/>
              </a:p>
            </p:txBody>
          </p:sp>
        </p:grpSp>
        <p:pic>
          <p:nvPicPr>
            <p:cNvPr descr="A picture containing text, vector graphics, silhouette&#10;&#10;Description automatically generated" id="247" name="Google Shape;247;gd409340aa3_0_187"/>
            <p:cNvPicPr preferRelativeResize="0"/>
            <p:nvPr/>
          </p:nvPicPr>
          <p:blipFill rotWithShape="1">
            <a:blip r:embed="rId4">
              <a:alphaModFix/>
            </a:blip>
            <a:srcRect b="56865" l="55869" r="4026" t="25120"/>
            <a:stretch/>
          </p:blipFill>
          <p:spPr>
            <a:xfrm>
              <a:off x="2054087" y="2083324"/>
              <a:ext cx="861407" cy="40007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8" name="Google Shape;248;gd409340aa3_0_187"/>
          <p:cNvGrpSpPr/>
          <p:nvPr/>
        </p:nvGrpSpPr>
        <p:grpSpPr>
          <a:xfrm>
            <a:off x="1903151" y="4702711"/>
            <a:ext cx="5942654" cy="876600"/>
            <a:chOff x="1916403" y="4532625"/>
            <a:chExt cx="5942654" cy="876600"/>
          </a:xfrm>
        </p:grpSpPr>
        <p:grpSp>
          <p:nvGrpSpPr>
            <p:cNvPr id="249" name="Google Shape;249;gd409340aa3_0_187"/>
            <p:cNvGrpSpPr/>
            <p:nvPr/>
          </p:nvGrpSpPr>
          <p:grpSpPr>
            <a:xfrm>
              <a:off x="1916403" y="4532625"/>
              <a:ext cx="5942654" cy="876600"/>
              <a:chOff x="3500038" y="618199"/>
              <a:chExt cx="5942654" cy="876600"/>
            </a:xfrm>
          </p:grpSpPr>
          <p:sp>
            <p:nvSpPr>
              <p:cNvPr id="250" name="Google Shape;250;gd409340aa3_0_187"/>
              <p:cNvSpPr/>
              <p:nvPr/>
            </p:nvSpPr>
            <p:spPr>
              <a:xfrm>
                <a:off x="3500038" y="618199"/>
                <a:ext cx="5942654" cy="876600"/>
              </a:xfrm>
              <a:prstGeom prst="roundRect">
                <a:avLst>
                  <a:gd fmla="val 10000" name="adj"/>
                </a:avLst>
              </a:prstGeom>
              <a:solidFill>
                <a:srgbClr val="FEE3EE"/>
              </a:solidFill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gd409340aa3_0_187"/>
              <p:cNvSpPr txBox="1"/>
              <p:nvPr/>
            </p:nvSpPr>
            <p:spPr>
              <a:xfrm>
                <a:off x="4669850" y="748740"/>
                <a:ext cx="4333200" cy="6155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Taking  steps in the study design process to minimize bias</a:t>
                </a:r>
                <a:endParaRPr/>
              </a:p>
            </p:txBody>
          </p:sp>
        </p:grpSp>
        <p:pic>
          <p:nvPicPr>
            <p:cNvPr descr="A picture containing text&#10;&#10;Description automatically generated" id="252" name="Google Shape;252;gd409340aa3_0_18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174748" y="4608575"/>
              <a:ext cx="645125" cy="724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gd409340aa3_0_226"/>
          <p:cNvGrpSpPr/>
          <p:nvPr/>
        </p:nvGrpSpPr>
        <p:grpSpPr>
          <a:xfrm>
            <a:off x="204635" y="3386924"/>
            <a:ext cx="8645965" cy="2535065"/>
            <a:chOff x="204635" y="3386924"/>
            <a:chExt cx="8645965" cy="2535065"/>
          </a:xfrm>
        </p:grpSpPr>
        <p:sp>
          <p:nvSpPr>
            <p:cNvPr id="258" name="Google Shape;258;gd409340aa3_0_226"/>
            <p:cNvSpPr/>
            <p:nvPr/>
          </p:nvSpPr>
          <p:spPr>
            <a:xfrm>
              <a:off x="293400" y="3470389"/>
              <a:ext cx="8557200" cy="2451600"/>
            </a:xfrm>
            <a:prstGeom prst="rect">
              <a:avLst/>
            </a:prstGeom>
            <a:solidFill>
              <a:srgbClr val="FEC6DB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59" name="Google Shape;259;gd409340aa3_0_226"/>
            <p:cNvPicPr preferRelativeResize="0"/>
            <p:nvPr/>
          </p:nvPicPr>
          <p:blipFill rotWithShape="1">
            <a:blip r:embed="rId3">
              <a:alphaModFix/>
            </a:blip>
            <a:srcRect b="47578" l="0" r="0" t="0"/>
            <a:stretch/>
          </p:blipFill>
          <p:spPr>
            <a:xfrm>
              <a:off x="204635" y="3899961"/>
              <a:ext cx="1811783" cy="201019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60" name="Google Shape;260;gd409340aa3_0_226"/>
            <p:cNvGrpSpPr/>
            <p:nvPr/>
          </p:nvGrpSpPr>
          <p:grpSpPr>
            <a:xfrm>
              <a:off x="1541025" y="3386924"/>
              <a:ext cx="2360424" cy="2113500"/>
              <a:chOff x="2557670" y="3558431"/>
              <a:chExt cx="2360424" cy="2113500"/>
            </a:xfrm>
          </p:grpSpPr>
          <p:pic>
            <p:nvPicPr>
              <p:cNvPr id="261" name="Google Shape;261;gd409340aa3_0_226"/>
              <p:cNvPicPr preferRelativeResize="0"/>
              <p:nvPr/>
            </p:nvPicPr>
            <p:blipFill rotWithShape="1">
              <a:blip r:embed="rId4">
                <a:alphaModFix/>
              </a:blip>
              <a:srcRect b="20171" l="6031" r="55154" t="23745"/>
              <a:stretch/>
            </p:blipFill>
            <p:spPr>
              <a:xfrm flipH="1">
                <a:off x="2557670" y="3558431"/>
                <a:ext cx="2360424" cy="2113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2" name="Google Shape;262;gd409340aa3_0_226"/>
              <p:cNvSpPr txBox="1"/>
              <p:nvPr/>
            </p:nvSpPr>
            <p:spPr>
              <a:xfrm>
                <a:off x="2774831" y="4100093"/>
                <a:ext cx="1887915" cy="11695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All of which can be achieved using reproducible, scripted workflows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3" name="Google Shape;263;gd409340aa3_0_226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Reproducibility Across Disciplines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t/>
            </a:r>
            <a:endParaRPr/>
          </a:p>
        </p:txBody>
      </p:sp>
      <p:sp>
        <p:nvSpPr>
          <p:cNvPr id="264" name="Google Shape;264;gd409340aa3_0_226"/>
          <p:cNvSpPr txBox="1"/>
          <p:nvPr>
            <p:ph idx="4294967295" type="body"/>
          </p:nvPr>
        </p:nvSpPr>
        <p:spPr>
          <a:xfrm>
            <a:off x="311224" y="999865"/>
            <a:ext cx="74106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b="1" lang="en-US" sz="2800">
                <a:solidFill>
                  <a:srgbClr val="000000"/>
                </a:solidFill>
              </a:rPr>
            </a:br>
            <a:br>
              <a:rPr b="1" lang="en-US" sz="2800">
                <a:solidFill>
                  <a:srgbClr val="000000"/>
                </a:solidFill>
              </a:rPr>
            </a:br>
            <a:br>
              <a:rPr b="1" lang="en-US" sz="2800">
                <a:solidFill>
                  <a:srgbClr val="000000"/>
                </a:solidFill>
              </a:rPr>
            </a:br>
            <a:br>
              <a:rPr b="1" lang="en-US" sz="2800">
                <a:solidFill>
                  <a:srgbClr val="000000"/>
                </a:solidFill>
              </a:rPr>
            </a:br>
            <a:br>
              <a:rPr b="1" lang="en-US" sz="2800">
                <a:solidFill>
                  <a:srgbClr val="000000"/>
                </a:solidFill>
              </a:rPr>
            </a:br>
            <a:endParaRPr b="1">
              <a:solidFill>
                <a:srgbClr val="000000"/>
              </a:solidFill>
            </a:endParaRPr>
          </a:p>
        </p:txBody>
      </p:sp>
      <p:grpSp>
        <p:nvGrpSpPr>
          <p:cNvPr id="265" name="Google Shape;265;gd409340aa3_0_226"/>
          <p:cNvGrpSpPr/>
          <p:nvPr/>
        </p:nvGrpSpPr>
        <p:grpSpPr>
          <a:xfrm>
            <a:off x="-36325" y="406570"/>
            <a:ext cx="4828955" cy="3245804"/>
            <a:chOff x="69416" y="423854"/>
            <a:chExt cx="4828955" cy="3245804"/>
          </a:xfrm>
        </p:grpSpPr>
        <p:sp>
          <p:nvSpPr>
            <p:cNvPr id="266" name="Google Shape;266;gd409340aa3_0_226"/>
            <p:cNvSpPr/>
            <p:nvPr/>
          </p:nvSpPr>
          <p:spPr>
            <a:xfrm>
              <a:off x="394094" y="892850"/>
              <a:ext cx="4179600" cy="2451600"/>
            </a:xfrm>
            <a:prstGeom prst="rect">
              <a:avLst/>
            </a:prstGeom>
            <a:solidFill>
              <a:srgbClr val="FEC6DB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7" name="Google Shape;267;gd409340aa3_0_226"/>
            <p:cNvPicPr preferRelativeResize="0"/>
            <p:nvPr/>
          </p:nvPicPr>
          <p:blipFill rotWithShape="1">
            <a:blip r:embed="rId5">
              <a:alphaModFix/>
            </a:blip>
            <a:srcRect b="42719" l="0" r="0" t="0"/>
            <a:stretch/>
          </p:blipFill>
          <p:spPr>
            <a:xfrm>
              <a:off x="69416" y="1010350"/>
              <a:ext cx="2314684" cy="2313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8" name="Google Shape;268;gd409340aa3_0_226"/>
            <p:cNvPicPr preferRelativeResize="0"/>
            <p:nvPr/>
          </p:nvPicPr>
          <p:blipFill rotWithShape="1">
            <a:blip r:embed="rId4">
              <a:alphaModFix/>
            </a:blip>
            <a:srcRect b="20171" l="6031" r="55154" t="23745"/>
            <a:stretch/>
          </p:blipFill>
          <p:spPr>
            <a:xfrm flipH="1" rot="1089472">
              <a:off x="1738285" y="805168"/>
              <a:ext cx="2843975" cy="24831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9" name="Google Shape;269;gd409340aa3_0_226"/>
            <p:cNvSpPr txBox="1"/>
            <p:nvPr/>
          </p:nvSpPr>
          <p:spPr>
            <a:xfrm>
              <a:off x="2122159" y="983936"/>
              <a:ext cx="2115156" cy="17994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The concept of reproducibility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was developed in science and is primarily orientated around quantitative data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0" name="Google Shape;270;gd409340aa3_0_226"/>
          <p:cNvGrpSpPr/>
          <p:nvPr/>
        </p:nvGrpSpPr>
        <p:grpSpPr>
          <a:xfrm>
            <a:off x="4633331" y="258078"/>
            <a:ext cx="4609711" cy="3710798"/>
            <a:chOff x="4633331" y="258078"/>
            <a:chExt cx="4609711" cy="3710798"/>
          </a:xfrm>
        </p:grpSpPr>
        <p:sp>
          <p:nvSpPr>
            <p:cNvPr id="271" name="Google Shape;271;gd409340aa3_0_226"/>
            <p:cNvSpPr/>
            <p:nvPr/>
          </p:nvSpPr>
          <p:spPr>
            <a:xfrm>
              <a:off x="4633331" y="875566"/>
              <a:ext cx="4179600" cy="2451600"/>
            </a:xfrm>
            <a:prstGeom prst="rect">
              <a:avLst/>
            </a:prstGeom>
            <a:solidFill>
              <a:srgbClr val="FEC6DB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2" name="Google Shape;272;gd409340aa3_0_226"/>
            <p:cNvPicPr preferRelativeResize="0"/>
            <p:nvPr/>
          </p:nvPicPr>
          <p:blipFill rotWithShape="1">
            <a:blip r:embed="rId6">
              <a:alphaModFix/>
            </a:blip>
            <a:srcRect b="47137" l="23018" r="0" t="0"/>
            <a:stretch/>
          </p:blipFill>
          <p:spPr>
            <a:xfrm>
              <a:off x="4667305" y="1309140"/>
              <a:ext cx="1715167" cy="19966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" name="Google Shape;273;gd409340aa3_0_226"/>
            <p:cNvPicPr preferRelativeResize="0"/>
            <p:nvPr/>
          </p:nvPicPr>
          <p:blipFill rotWithShape="1">
            <a:blip r:embed="rId4">
              <a:alphaModFix/>
            </a:blip>
            <a:srcRect b="20171" l="6031" r="55154" t="23745"/>
            <a:stretch/>
          </p:blipFill>
          <p:spPr>
            <a:xfrm flipH="1" rot="1111155">
              <a:off x="5574110" y="710984"/>
              <a:ext cx="3309146" cy="28049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gd409340aa3_0_226"/>
            <p:cNvSpPr txBox="1"/>
            <p:nvPr/>
          </p:nvSpPr>
          <p:spPr>
            <a:xfrm>
              <a:off x="6082670" y="1169351"/>
              <a:ext cx="2339140" cy="17994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 has traditionally focused on how we can go from a data set, visualise the information, and demonstrate the analyses that are applied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5" name="Google Shape;275;gd409340aa3_0_226"/>
          <p:cNvGrpSpPr/>
          <p:nvPr/>
        </p:nvGrpSpPr>
        <p:grpSpPr>
          <a:xfrm>
            <a:off x="3902677" y="3179273"/>
            <a:ext cx="4910254" cy="3250832"/>
            <a:chOff x="3902677" y="3179273"/>
            <a:chExt cx="4910254" cy="3250832"/>
          </a:xfrm>
        </p:grpSpPr>
        <p:pic>
          <p:nvPicPr>
            <p:cNvPr id="276" name="Google Shape;276;gd409340aa3_0_226"/>
            <p:cNvPicPr preferRelativeResize="0"/>
            <p:nvPr/>
          </p:nvPicPr>
          <p:blipFill rotWithShape="1">
            <a:blip r:embed="rId7">
              <a:alphaModFix/>
            </a:blip>
            <a:srcRect b="42289" l="21943" r="0" t="0"/>
            <a:stretch/>
          </p:blipFill>
          <p:spPr>
            <a:xfrm flipH="1">
              <a:off x="6587692" y="3616494"/>
              <a:ext cx="2225239" cy="22737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7" name="Google Shape;277;gd409340aa3_0_226"/>
            <p:cNvPicPr preferRelativeResize="0"/>
            <p:nvPr/>
          </p:nvPicPr>
          <p:blipFill rotWithShape="1">
            <a:blip r:embed="rId4">
              <a:alphaModFix/>
            </a:blip>
            <a:srcRect b="20171" l="6031" r="55154" t="23745"/>
            <a:stretch/>
          </p:blipFill>
          <p:spPr>
            <a:xfrm flipH="1" rot="-9717707">
              <a:off x="4218710" y="3558361"/>
              <a:ext cx="2844134" cy="24926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8" name="Google Shape;278;gd409340aa3_0_226"/>
            <p:cNvSpPr txBox="1"/>
            <p:nvPr/>
          </p:nvSpPr>
          <p:spPr>
            <a:xfrm>
              <a:off x="4517568" y="4269863"/>
              <a:ext cx="2082070" cy="13100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 reproducibility may reflect scientific assumptions that do not translate easily to other disciplines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d3e4c91a71_1_83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Reproducibility Across Disciplines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t/>
            </a:r>
            <a:endParaRPr/>
          </a:p>
        </p:txBody>
      </p:sp>
      <p:sp>
        <p:nvSpPr>
          <p:cNvPr id="284" name="Google Shape;284;gd3e4c91a71_1_83"/>
          <p:cNvSpPr txBox="1"/>
          <p:nvPr>
            <p:ph idx="4294967295" type="body"/>
          </p:nvPr>
        </p:nvSpPr>
        <p:spPr>
          <a:xfrm>
            <a:off x="254000" y="1842001"/>
            <a:ext cx="8396700" cy="49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285" name="Google Shape;285;gd3e4c91a71_1_83"/>
          <p:cNvSpPr txBox="1"/>
          <p:nvPr/>
        </p:nvSpPr>
        <p:spPr>
          <a:xfrm>
            <a:off x="4679675" y="4436303"/>
            <a:ext cx="408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6" name="Google Shape;286;gd3e4c91a71_1_83"/>
          <p:cNvGrpSpPr/>
          <p:nvPr/>
        </p:nvGrpSpPr>
        <p:grpSpPr>
          <a:xfrm>
            <a:off x="552600" y="1394129"/>
            <a:ext cx="8038800" cy="3991471"/>
            <a:chOff x="552600" y="1394129"/>
            <a:chExt cx="8038800" cy="3991471"/>
          </a:xfrm>
        </p:grpSpPr>
        <p:sp>
          <p:nvSpPr>
            <p:cNvPr id="287" name="Google Shape;287;gd3e4c91a71_1_83"/>
            <p:cNvSpPr/>
            <p:nvPr/>
          </p:nvSpPr>
          <p:spPr>
            <a:xfrm>
              <a:off x="552600" y="1472400"/>
              <a:ext cx="8038800" cy="3913200"/>
            </a:xfrm>
            <a:prstGeom prst="rect">
              <a:avLst/>
            </a:prstGeom>
            <a:solidFill>
              <a:srgbClr val="FEC6DB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8" name="Google Shape;288;gd3e4c91a71_1_83"/>
            <p:cNvPicPr preferRelativeResize="0"/>
            <p:nvPr/>
          </p:nvPicPr>
          <p:blipFill rotWithShape="1">
            <a:blip r:embed="rId3">
              <a:alphaModFix/>
            </a:blip>
            <a:srcRect b="52203" l="17714" r="0" t="0"/>
            <a:stretch/>
          </p:blipFill>
          <p:spPr>
            <a:xfrm>
              <a:off x="573834" y="2975425"/>
              <a:ext cx="1964879" cy="2380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9" name="Google Shape;289;gd3e4c91a71_1_8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62657" y="4067488"/>
              <a:ext cx="1352778" cy="12957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90" name="Google Shape;290;gd3e4c91a71_1_83"/>
            <p:cNvGrpSpPr/>
            <p:nvPr/>
          </p:nvGrpSpPr>
          <p:grpSpPr>
            <a:xfrm>
              <a:off x="1421234" y="1394129"/>
              <a:ext cx="2819178" cy="2380125"/>
              <a:chOff x="1556273" y="717625"/>
              <a:chExt cx="2819178" cy="2380125"/>
            </a:xfrm>
          </p:grpSpPr>
          <p:pic>
            <p:nvPicPr>
              <p:cNvPr id="291" name="Google Shape;291;gd3e4c91a71_1_83"/>
              <p:cNvPicPr preferRelativeResize="0"/>
              <p:nvPr/>
            </p:nvPicPr>
            <p:blipFill rotWithShape="1">
              <a:blip r:embed="rId5">
                <a:alphaModFix/>
              </a:blip>
              <a:srcRect b="20171" l="6031" r="55154" t="23745"/>
              <a:stretch/>
            </p:blipFill>
            <p:spPr>
              <a:xfrm flipH="1">
                <a:off x="1556273" y="717625"/>
                <a:ext cx="2819178" cy="23801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2" name="Google Shape;292;gd3e4c91a71_1_83"/>
              <p:cNvSpPr txBox="1"/>
              <p:nvPr/>
            </p:nvSpPr>
            <p:spPr>
              <a:xfrm>
                <a:off x="1634600" y="1192375"/>
                <a:ext cx="2707574" cy="130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So what about qualitative</a:t>
                </a:r>
                <a:b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 research, and/or research conducted in social sciences,</a:t>
                </a:r>
                <a:b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 arts and the humanities?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293" name="Google Shape;293;gd3e4c91a71_1_83"/>
          <p:cNvGrpSpPr/>
          <p:nvPr/>
        </p:nvGrpSpPr>
        <p:grpSpPr>
          <a:xfrm>
            <a:off x="4143381" y="1359294"/>
            <a:ext cx="4434824" cy="3996255"/>
            <a:chOff x="4143381" y="1359294"/>
            <a:chExt cx="4434824" cy="3996255"/>
          </a:xfrm>
        </p:grpSpPr>
        <p:pic>
          <p:nvPicPr>
            <p:cNvPr id="294" name="Google Shape;294;gd3e4c91a71_1_83"/>
            <p:cNvPicPr preferRelativeResize="0"/>
            <p:nvPr/>
          </p:nvPicPr>
          <p:blipFill rotWithShape="1">
            <a:blip r:embed="rId6">
              <a:alphaModFix/>
            </a:blip>
            <a:srcRect b="49557" l="18140" r="0" t="0"/>
            <a:stretch/>
          </p:blipFill>
          <p:spPr>
            <a:xfrm flipH="1">
              <a:off x="6122404" y="2750598"/>
              <a:ext cx="2455801" cy="26049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5" name="Google Shape;295;gd3e4c91a71_1_83"/>
            <p:cNvPicPr preferRelativeResize="0"/>
            <p:nvPr/>
          </p:nvPicPr>
          <p:blipFill rotWithShape="1">
            <a:blip r:embed="rId5">
              <a:alphaModFix/>
            </a:blip>
            <a:srcRect b="20171" l="6031" r="55154" t="23745"/>
            <a:stretch/>
          </p:blipFill>
          <p:spPr>
            <a:xfrm>
              <a:off x="4143381" y="1359294"/>
              <a:ext cx="3357349" cy="30469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6" name="Google Shape;296;gd3e4c91a71_1_83"/>
            <p:cNvSpPr txBox="1"/>
            <p:nvPr/>
          </p:nvSpPr>
          <p:spPr>
            <a:xfrm>
              <a:off x="4505735" y="1868879"/>
              <a:ext cx="2690572" cy="18087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Exact data replication may not be possible or even advantageous in some cases.</a:t>
              </a:r>
              <a:endParaRPr/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Ethical commitments may prevent the sharing of complete datasets.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d3e4c91a71_1_88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Reproducibility Across Disciplines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t/>
            </a:r>
            <a:endParaRPr/>
          </a:p>
        </p:txBody>
      </p:sp>
      <p:sp>
        <p:nvSpPr>
          <p:cNvPr id="302" name="Google Shape;302;gd3e4c91a71_1_88"/>
          <p:cNvSpPr txBox="1"/>
          <p:nvPr>
            <p:ph idx="4294967295" type="body"/>
          </p:nvPr>
        </p:nvSpPr>
        <p:spPr>
          <a:xfrm>
            <a:off x="254000" y="1842001"/>
            <a:ext cx="8396700" cy="49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303" name="Google Shape;303;gd3e4c91a71_1_88"/>
          <p:cNvSpPr txBox="1"/>
          <p:nvPr/>
        </p:nvSpPr>
        <p:spPr>
          <a:xfrm>
            <a:off x="4679675" y="4436303"/>
            <a:ext cx="408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4" name="Google Shape;304;gd3e4c91a71_1_88"/>
          <p:cNvGrpSpPr/>
          <p:nvPr/>
        </p:nvGrpSpPr>
        <p:grpSpPr>
          <a:xfrm>
            <a:off x="552600" y="1358652"/>
            <a:ext cx="8038800" cy="4026948"/>
            <a:chOff x="552600" y="1358652"/>
            <a:chExt cx="8038800" cy="4026948"/>
          </a:xfrm>
        </p:grpSpPr>
        <p:sp>
          <p:nvSpPr>
            <p:cNvPr id="305" name="Google Shape;305;gd3e4c91a71_1_88"/>
            <p:cNvSpPr/>
            <p:nvPr/>
          </p:nvSpPr>
          <p:spPr>
            <a:xfrm>
              <a:off x="552600" y="1472400"/>
              <a:ext cx="8038800" cy="3913200"/>
            </a:xfrm>
            <a:prstGeom prst="rect">
              <a:avLst/>
            </a:prstGeom>
            <a:solidFill>
              <a:srgbClr val="FEC6DB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6" name="Google Shape;306;gd3e4c91a71_1_88"/>
            <p:cNvPicPr preferRelativeResize="0"/>
            <p:nvPr/>
          </p:nvPicPr>
          <p:blipFill rotWithShape="1">
            <a:blip r:embed="rId3">
              <a:alphaModFix/>
            </a:blip>
            <a:srcRect b="5796" l="13279" r="0" t="0"/>
            <a:stretch/>
          </p:blipFill>
          <p:spPr>
            <a:xfrm>
              <a:off x="552600" y="2935051"/>
              <a:ext cx="1950071" cy="24505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7" name="Google Shape;307;gd3e4c91a71_1_88"/>
            <p:cNvGrpSpPr/>
            <p:nvPr/>
          </p:nvGrpSpPr>
          <p:grpSpPr>
            <a:xfrm>
              <a:off x="1298895" y="1358652"/>
              <a:ext cx="3090125" cy="2511500"/>
              <a:chOff x="1589551" y="508425"/>
              <a:chExt cx="3090125" cy="2511500"/>
            </a:xfrm>
          </p:grpSpPr>
          <p:pic>
            <p:nvPicPr>
              <p:cNvPr id="308" name="Google Shape;308;gd3e4c91a71_1_88"/>
              <p:cNvPicPr preferRelativeResize="0"/>
              <p:nvPr/>
            </p:nvPicPr>
            <p:blipFill rotWithShape="1">
              <a:blip r:embed="rId4">
                <a:alphaModFix/>
              </a:blip>
              <a:srcRect b="20171" l="6031" r="55154" t="23745"/>
              <a:stretch/>
            </p:blipFill>
            <p:spPr>
              <a:xfrm flipH="1">
                <a:off x="1589551" y="508425"/>
                <a:ext cx="3090125" cy="2511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9" name="Google Shape;309;gd3e4c91a71_1_88"/>
              <p:cNvSpPr txBox="1"/>
              <p:nvPr/>
            </p:nvSpPr>
            <p:spPr>
              <a:xfrm>
                <a:off x="1772450" y="919324"/>
                <a:ext cx="2794500" cy="139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The amount and kinds </a:t>
                </a:r>
                <a:b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of data that can be disclosed in qualitative and social research may depend on a variety of factors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10" name="Google Shape;310;gd3e4c91a71_1_88"/>
          <p:cNvSpPr/>
          <p:nvPr/>
        </p:nvSpPr>
        <p:spPr>
          <a:xfrm>
            <a:off x="3625396" y="3378451"/>
            <a:ext cx="1883108" cy="1875600"/>
          </a:xfrm>
          <a:prstGeom prst="ellipse">
            <a:avLst/>
          </a:prstGeom>
          <a:solidFill>
            <a:schemeClr val="accent5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research setting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gd3e4c91a71_1_88"/>
          <p:cNvSpPr/>
          <p:nvPr/>
        </p:nvSpPr>
        <p:spPr>
          <a:xfrm>
            <a:off x="4716250" y="1569407"/>
            <a:ext cx="1879377" cy="1875600"/>
          </a:xfrm>
          <a:prstGeom prst="ellipse">
            <a:avLst/>
          </a:prstGeom>
          <a:solidFill>
            <a:schemeClr val="accent5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relationship between researcher and participant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d3e4c91a71_1_88"/>
          <p:cNvSpPr/>
          <p:nvPr/>
        </p:nvSpPr>
        <p:spPr>
          <a:xfrm>
            <a:off x="6655636" y="1527234"/>
            <a:ext cx="1872419" cy="1875600"/>
          </a:xfrm>
          <a:prstGeom prst="ellipse">
            <a:avLst/>
          </a:prstGeom>
          <a:solidFill>
            <a:schemeClr val="accent5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Sample characteristics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gd3e4c91a71_1_88"/>
          <p:cNvSpPr/>
          <p:nvPr/>
        </p:nvSpPr>
        <p:spPr>
          <a:xfrm>
            <a:off x="5819795" y="3420625"/>
            <a:ext cx="1875600" cy="1876391"/>
          </a:xfrm>
          <a:prstGeom prst="ellipse">
            <a:avLst/>
          </a:prstGeom>
          <a:solidFill>
            <a:schemeClr val="accent5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information being documented (e.g., interview data)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oogle Shape;318;gd3e4c91a71_1_93"/>
          <p:cNvGrpSpPr/>
          <p:nvPr/>
        </p:nvGrpSpPr>
        <p:grpSpPr>
          <a:xfrm>
            <a:off x="552600" y="1472400"/>
            <a:ext cx="8038800" cy="3913200"/>
            <a:chOff x="552600" y="1472400"/>
            <a:chExt cx="8038800" cy="3913200"/>
          </a:xfrm>
        </p:grpSpPr>
        <p:sp>
          <p:nvSpPr>
            <p:cNvPr id="319" name="Google Shape;319;gd3e4c91a71_1_93"/>
            <p:cNvSpPr/>
            <p:nvPr/>
          </p:nvSpPr>
          <p:spPr>
            <a:xfrm>
              <a:off x="552600" y="1472400"/>
              <a:ext cx="8038800" cy="3913200"/>
            </a:xfrm>
            <a:prstGeom prst="rect">
              <a:avLst/>
            </a:prstGeom>
            <a:solidFill>
              <a:srgbClr val="FEC6DB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20" name="Google Shape;320;gd3e4c91a71_1_93"/>
            <p:cNvPicPr preferRelativeResize="0"/>
            <p:nvPr/>
          </p:nvPicPr>
          <p:blipFill rotWithShape="1">
            <a:blip r:embed="rId3">
              <a:alphaModFix/>
            </a:blip>
            <a:srcRect b="52642" l="15190" r="22132" t="0"/>
            <a:stretch/>
          </p:blipFill>
          <p:spPr>
            <a:xfrm>
              <a:off x="552600" y="3239275"/>
              <a:ext cx="1687017" cy="21463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21" name="Google Shape;321;gd3e4c91a71_1_93"/>
            <p:cNvGrpSpPr/>
            <p:nvPr/>
          </p:nvGrpSpPr>
          <p:grpSpPr>
            <a:xfrm>
              <a:off x="1571004" y="1807415"/>
              <a:ext cx="2705621" cy="2198999"/>
              <a:chOff x="1776673" y="705075"/>
              <a:chExt cx="2705621" cy="2198999"/>
            </a:xfrm>
          </p:grpSpPr>
          <p:pic>
            <p:nvPicPr>
              <p:cNvPr id="322" name="Google Shape;322;gd3e4c91a71_1_93"/>
              <p:cNvPicPr preferRelativeResize="0"/>
              <p:nvPr/>
            </p:nvPicPr>
            <p:blipFill rotWithShape="1">
              <a:blip r:embed="rId4">
                <a:alphaModFix/>
              </a:blip>
              <a:srcRect b="20171" l="6031" r="55154" t="23745"/>
              <a:stretch/>
            </p:blipFill>
            <p:spPr>
              <a:xfrm flipH="1">
                <a:off x="1776673" y="705075"/>
                <a:ext cx="2705621" cy="21989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3" name="Google Shape;323;gd3e4c91a71_1_93"/>
              <p:cNvSpPr txBox="1"/>
              <p:nvPr/>
            </p:nvSpPr>
            <p:spPr>
              <a:xfrm>
                <a:off x="2038233" y="1075337"/>
                <a:ext cx="2182500" cy="11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There are</a:t>
                </a:r>
                <a:b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 still approaches that can be taken in non-science disciplines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sp>
        <p:nvSpPr>
          <p:cNvPr id="324" name="Google Shape;324;gd3e4c91a71_1_93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Reproducibility Across Disciplines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t/>
            </a:r>
            <a:endParaRPr/>
          </a:p>
        </p:txBody>
      </p:sp>
      <p:grpSp>
        <p:nvGrpSpPr>
          <p:cNvPr id="325" name="Google Shape;325;gd3e4c91a71_1_93"/>
          <p:cNvGrpSpPr/>
          <p:nvPr/>
        </p:nvGrpSpPr>
        <p:grpSpPr>
          <a:xfrm>
            <a:off x="4538185" y="1807414"/>
            <a:ext cx="4053215" cy="3558011"/>
            <a:chOff x="4538185" y="1807414"/>
            <a:chExt cx="4053215" cy="3558011"/>
          </a:xfrm>
        </p:grpSpPr>
        <p:grpSp>
          <p:nvGrpSpPr>
            <p:cNvPr id="326" name="Google Shape;326;gd3e4c91a71_1_93"/>
            <p:cNvGrpSpPr/>
            <p:nvPr/>
          </p:nvGrpSpPr>
          <p:grpSpPr>
            <a:xfrm>
              <a:off x="4538185" y="1807414"/>
              <a:ext cx="3108675" cy="2198999"/>
              <a:chOff x="4276624" y="667274"/>
              <a:chExt cx="3108675" cy="2198999"/>
            </a:xfrm>
          </p:grpSpPr>
          <p:pic>
            <p:nvPicPr>
              <p:cNvPr id="327" name="Google Shape;327;gd3e4c91a71_1_93"/>
              <p:cNvPicPr preferRelativeResize="0"/>
              <p:nvPr/>
            </p:nvPicPr>
            <p:blipFill rotWithShape="1">
              <a:blip r:embed="rId4">
                <a:alphaModFix/>
              </a:blip>
              <a:srcRect b="20171" l="6031" r="55154" t="23745"/>
              <a:stretch/>
            </p:blipFill>
            <p:spPr>
              <a:xfrm>
                <a:off x="4276624" y="667274"/>
                <a:ext cx="3108675" cy="21989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8" name="Google Shape;328;gd3e4c91a71_1_93"/>
              <p:cNvSpPr txBox="1"/>
              <p:nvPr/>
            </p:nvSpPr>
            <p:spPr>
              <a:xfrm>
                <a:off x="4478151" y="911731"/>
                <a:ext cx="2649746" cy="14875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This type of </a:t>
                </a:r>
                <a:b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research should prioritise transparency by providing details about how the research was conducted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29" name="Google Shape;329;gd3e4c91a71_1_93"/>
            <p:cNvPicPr preferRelativeResize="0"/>
            <p:nvPr/>
          </p:nvPicPr>
          <p:blipFill rotWithShape="1">
            <a:blip r:embed="rId5">
              <a:alphaModFix/>
            </a:blip>
            <a:srcRect b="46489" l="16676" r="0" t="0"/>
            <a:stretch/>
          </p:blipFill>
          <p:spPr>
            <a:xfrm flipH="1">
              <a:off x="5279919" y="3166426"/>
              <a:ext cx="3311481" cy="21989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d4e44be53a_0_25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“Crisis” vs. “Renaissance”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t/>
            </a:r>
            <a:endParaRPr/>
          </a:p>
        </p:txBody>
      </p:sp>
      <p:grpSp>
        <p:nvGrpSpPr>
          <p:cNvPr id="335" name="Google Shape;335;gd4e44be53a_0_25"/>
          <p:cNvGrpSpPr/>
          <p:nvPr/>
        </p:nvGrpSpPr>
        <p:grpSpPr>
          <a:xfrm>
            <a:off x="552600" y="1371949"/>
            <a:ext cx="8038800" cy="4013651"/>
            <a:chOff x="552600" y="1371949"/>
            <a:chExt cx="8038800" cy="4013651"/>
          </a:xfrm>
        </p:grpSpPr>
        <p:sp>
          <p:nvSpPr>
            <p:cNvPr id="336" name="Google Shape;336;gd4e44be53a_0_25"/>
            <p:cNvSpPr/>
            <p:nvPr/>
          </p:nvSpPr>
          <p:spPr>
            <a:xfrm>
              <a:off x="552600" y="1472400"/>
              <a:ext cx="8038800" cy="3913200"/>
            </a:xfrm>
            <a:prstGeom prst="rect">
              <a:avLst/>
            </a:prstGeom>
            <a:solidFill>
              <a:srgbClr val="FEC6DB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7" name="Google Shape;337;gd4e44be53a_0_25"/>
            <p:cNvGrpSpPr/>
            <p:nvPr/>
          </p:nvGrpSpPr>
          <p:grpSpPr>
            <a:xfrm>
              <a:off x="1254384" y="1371949"/>
              <a:ext cx="3052799" cy="2570658"/>
              <a:chOff x="1776673" y="705075"/>
              <a:chExt cx="2705621" cy="2198999"/>
            </a:xfrm>
          </p:grpSpPr>
          <p:pic>
            <p:nvPicPr>
              <p:cNvPr id="338" name="Google Shape;338;gd4e44be53a_0_25"/>
              <p:cNvPicPr preferRelativeResize="0"/>
              <p:nvPr/>
            </p:nvPicPr>
            <p:blipFill rotWithShape="1">
              <a:blip r:embed="rId3">
                <a:alphaModFix/>
              </a:blip>
              <a:srcRect b="20171" l="6031" r="55154" t="23745"/>
              <a:stretch/>
            </p:blipFill>
            <p:spPr>
              <a:xfrm flipH="1">
                <a:off x="1776673" y="705075"/>
                <a:ext cx="2705621" cy="21989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9" name="Google Shape;339;gd4e44be53a_0_25"/>
              <p:cNvSpPr txBox="1"/>
              <p:nvPr/>
            </p:nvSpPr>
            <p:spPr>
              <a:xfrm>
                <a:off x="2038232" y="1181558"/>
                <a:ext cx="2182500" cy="13273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There is an argument that what is currently being described as a reproducibility  ‘crisis’ is actually a ‘renaissance’  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pic>
          <p:nvPicPr>
            <p:cNvPr id="340" name="Google Shape;340;gd4e44be53a_0_25"/>
            <p:cNvPicPr preferRelativeResize="0"/>
            <p:nvPr/>
          </p:nvPicPr>
          <p:blipFill rotWithShape="1">
            <a:blip r:embed="rId4">
              <a:alphaModFix/>
            </a:blip>
            <a:srcRect b="46915" l="22208" r="0" t="0"/>
            <a:stretch/>
          </p:blipFill>
          <p:spPr>
            <a:xfrm>
              <a:off x="559339" y="2785874"/>
              <a:ext cx="1945551" cy="2572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1" name="Google Shape;341;gd4e44be53a_0_25"/>
          <p:cNvGrpSpPr/>
          <p:nvPr/>
        </p:nvGrpSpPr>
        <p:grpSpPr>
          <a:xfrm>
            <a:off x="1889189" y="2668401"/>
            <a:ext cx="4328173" cy="2851646"/>
            <a:chOff x="1889189" y="2668401"/>
            <a:chExt cx="4328173" cy="2851646"/>
          </a:xfrm>
        </p:grpSpPr>
        <p:pic>
          <p:nvPicPr>
            <p:cNvPr descr="A picture containing text&#10;&#10;Description automatically generated" id="342" name="Google Shape;342;gd4e44be53a_0_25"/>
            <p:cNvPicPr preferRelativeResize="0"/>
            <p:nvPr/>
          </p:nvPicPr>
          <p:blipFill rotWithShape="1">
            <a:blip r:embed="rId5">
              <a:alphaModFix/>
            </a:blip>
            <a:srcRect b="52649" l="0" r="0" t="0"/>
            <a:stretch/>
          </p:blipFill>
          <p:spPr>
            <a:xfrm flipH="1">
              <a:off x="3852704" y="2668401"/>
              <a:ext cx="2364658" cy="271719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43" name="Google Shape;343;gd4e44be53a_0_25"/>
            <p:cNvGrpSpPr/>
            <p:nvPr/>
          </p:nvGrpSpPr>
          <p:grpSpPr>
            <a:xfrm>
              <a:off x="1889189" y="3321048"/>
              <a:ext cx="3052799" cy="2198999"/>
              <a:chOff x="1889189" y="3321048"/>
              <a:chExt cx="3052799" cy="2198999"/>
            </a:xfrm>
          </p:grpSpPr>
          <p:pic>
            <p:nvPicPr>
              <p:cNvPr id="344" name="Google Shape;344;gd4e44be53a_0_25"/>
              <p:cNvPicPr preferRelativeResize="0"/>
              <p:nvPr/>
            </p:nvPicPr>
            <p:blipFill rotWithShape="1">
              <a:blip r:embed="rId3">
                <a:alphaModFix/>
              </a:blip>
              <a:srcRect b="20171" l="6031" r="55154" t="23745"/>
              <a:stretch/>
            </p:blipFill>
            <p:spPr>
              <a:xfrm flipH="1" rot="10800000">
                <a:off x="1889189" y="3321048"/>
                <a:ext cx="3052799" cy="21989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5" name="Google Shape;345;gd4e44be53a_0_25"/>
              <p:cNvSpPr txBox="1"/>
              <p:nvPr/>
            </p:nvSpPr>
            <p:spPr>
              <a:xfrm>
                <a:off x="2147480" y="3644710"/>
                <a:ext cx="2560735" cy="15516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and that the focus on reproducibility has highlighted existing problems, and proposes ways to </a:t>
                </a:r>
                <a:b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address them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46" name="Google Shape;346;gd4e44be53a_0_25"/>
          <p:cNvGrpSpPr/>
          <p:nvPr/>
        </p:nvGrpSpPr>
        <p:grpSpPr>
          <a:xfrm>
            <a:off x="5062853" y="1417634"/>
            <a:ext cx="3759322" cy="3954820"/>
            <a:chOff x="5062853" y="1417634"/>
            <a:chExt cx="3759322" cy="3954820"/>
          </a:xfrm>
        </p:grpSpPr>
        <p:grpSp>
          <p:nvGrpSpPr>
            <p:cNvPr id="347" name="Google Shape;347;gd4e44be53a_0_25"/>
            <p:cNvGrpSpPr/>
            <p:nvPr/>
          </p:nvGrpSpPr>
          <p:grpSpPr>
            <a:xfrm>
              <a:off x="5062853" y="1417634"/>
              <a:ext cx="3759322" cy="2524973"/>
              <a:chOff x="5062853" y="1417634"/>
              <a:chExt cx="3759322" cy="2524973"/>
            </a:xfrm>
          </p:grpSpPr>
          <p:grpSp>
            <p:nvGrpSpPr>
              <p:cNvPr id="348" name="Google Shape;348;gd4e44be53a_0_25"/>
              <p:cNvGrpSpPr/>
              <p:nvPr/>
            </p:nvGrpSpPr>
            <p:grpSpPr>
              <a:xfrm>
                <a:off x="5062853" y="1499531"/>
                <a:ext cx="3052800" cy="2443076"/>
                <a:chOff x="4358725" y="796198"/>
                <a:chExt cx="3052800" cy="2443076"/>
              </a:xfrm>
            </p:grpSpPr>
            <p:pic>
              <p:nvPicPr>
                <p:cNvPr id="349" name="Google Shape;349;gd4e44be53a_0_25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20171" l="6031" r="55154" t="23745"/>
                <a:stretch/>
              </p:blipFill>
              <p:spPr>
                <a:xfrm>
                  <a:off x="4379375" y="796198"/>
                  <a:ext cx="3005923" cy="244307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50" name="Google Shape;350;gd4e44be53a_0_25"/>
                <p:cNvSpPr txBox="1"/>
                <p:nvPr/>
              </p:nvSpPr>
              <p:spPr>
                <a:xfrm>
                  <a:off x="4358725" y="952863"/>
                  <a:ext cx="3052800" cy="170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marR="0" rtl="0" algn="ctr">
                    <a:lnSpc>
                      <a:spcPct val="115000"/>
                    </a:lnSpc>
                    <a:spcBef>
                      <a:spcPts val="50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  <a:p>
                  <a:pPr indent="0" lvl="0" marL="0" marR="0" rtl="0" algn="ctr">
                    <a:lnSpc>
                      <a:spcPct val="115000"/>
                    </a:lnSpc>
                    <a:spcBef>
                      <a:spcPts val="50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This is resulting in new</a:t>
                  </a:r>
                  <a:br>
                    <a:rPr b="0" i="0" lang="en-US" sz="1400" u="none" cap="none" strike="noStrike">
                      <a:solidFill>
                        <a:srgbClr val="000000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</a:b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 ways of thinking about and conducting research, and is </a:t>
                  </a:r>
                  <a:br>
                    <a:rPr b="0" i="0" lang="en-US" sz="1400" u="none" cap="none" strike="noStrike">
                      <a:solidFill>
                        <a:srgbClr val="000000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</a:b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leading to improvements</a:t>
                  </a:r>
                  <a:br>
                    <a:rPr b="0" i="0" lang="en-US" sz="1400" u="none" cap="none" strike="noStrike">
                      <a:solidFill>
                        <a:srgbClr val="000000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</a:b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 in research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pic>
            <p:nvPicPr>
              <p:cNvPr id="351" name="Google Shape;351;gd4e44be53a_0_2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 flipH="1">
                <a:off x="7435359" y="1417634"/>
                <a:ext cx="1386816" cy="156332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52" name="Google Shape;352;gd4e44be53a_0_25"/>
            <p:cNvPicPr preferRelativeResize="0"/>
            <p:nvPr/>
          </p:nvPicPr>
          <p:blipFill rotWithShape="1">
            <a:blip r:embed="rId7">
              <a:alphaModFix/>
            </a:blip>
            <a:srcRect b="47357" l="0" r="22687" t="0"/>
            <a:stretch/>
          </p:blipFill>
          <p:spPr>
            <a:xfrm>
              <a:off x="6634948" y="2771294"/>
              <a:ext cx="1963192" cy="260116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on a stage&#10;&#10;Description automatically generated with low confidence" id="357" name="Google Shape;35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9036"/>
            <a:ext cx="9144000" cy="5144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358" name="Google Shape;35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363" name="Google Shape;363;g3a2a2411fe0_0_0"/>
          <p:cNvPicPr preferRelativeResize="0"/>
          <p:nvPr/>
        </p:nvPicPr>
        <p:blipFill rotWithShape="1">
          <a:blip r:embed="rId3">
            <a:alphaModFix/>
          </a:blip>
          <a:srcRect b="11535" l="33074" r="0" t="0"/>
          <a:stretch/>
        </p:blipFill>
        <p:spPr>
          <a:xfrm>
            <a:off x="2150534" y="0"/>
            <a:ext cx="6993469" cy="6933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364" name="Google Shape;364;g3a2a2411fe0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g3a2a2411fe0_0_0"/>
          <p:cNvSpPr txBox="1"/>
          <p:nvPr/>
        </p:nvSpPr>
        <p:spPr>
          <a:xfrm>
            <a:off x="364243" y="1660140"/>
            <a:ext cx="36972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Principles &amp; Practices </a:t>
            </a:r>
            <a:b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of Open Research</a:t>
            </a:r>
            <a:endParaRPr b="1" i="0" sz="21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6" name="Google Shape;366;g3a2a2411fe0_0_0"/>
          <p:cNvSpPr txBox="1"/>
          <p:nvPr/>
        </p:nvSpPr>
        <p:spPr>
          <a:xfrm>
            <a:off x="364243" y="2239799"/>
            <a:ext cx="36141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 online module for undergraduate and </a:t>
            </a:r>
            <a:b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Masters students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gram, venn diagram&#10;&#10;Description automatically generated" id="371" name="Google Shape;371;g3a2a2411fe0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8200" y="1555200"/>
            <a:ext cx="3747600" cy="374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g3a2a2411fe0_0_7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lang="en-US" sz="2000"/>
              <a:t>Module 4 – </a:t>
            </a:r>
            <a:r>
              <a:rPr b="1" lang="en-US" sz="2000"/>
              <a:t>Reproducible Practices</a:t>
            </a:r>
            <a:endParaRPr sz="2000"/>
          </a:p>
        </p:txBody>
      </p:sp>
      <p:sp>
        <p:nvSpPr>
          <p:cNvPr id="373" name="Google Shape;373;g3a2a2411fe0_0_7"/>
          <p:cNvSpPr txBox="1"/>
          <p:nvPr/>
        </p:nvSpPr>
        <p:spPr>
          <a:xfrm>
            <a:off x="2743224" y="1565991"/>
            <a:ext cx="3702600" cy="1273200"/>
          </a:xfrm>
          <a:prstGeom prst="rect">
            <a:avLst/>
          </a:prstGeom>
          <a:noFill/>
          <a:ln>
            <a:noFill/>
          </a:ln>
          <a:effectLst>
            <a:outerShdw blurRad="165100" sx="103000" rotWithShape="0" algn="tl" dir="2700000" dist="38100" sy="103000">
              <a:srgbClr val="000000">
                <a:alpha val="24310"/>
              </a:srgbClr>
            </a:outerShdw>
          </a:effectLst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Reproducibility examples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a2a2411fe0_0_13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Reproducibility Examples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t/>
            </a:r>
            <a:endParaRPr/>
          </a:p>
        </p:txBody>
      </p:sp>
      <p:sp>
        <p:nvSpPr>
          <p:cNvPr id="379" name="Google Shape;379;g3a2a2411fe0_0_13"/>
          <p:cNvSpPr txBox="1"/>
          <p:nvPr>
            <p:ph idx="4294967295" type="body"/>
          </p:nvPr>
        </p:nvSpPr>
        <p:spPr>
          <a:xfrm>
            <a:off x="311224" y="999865"/>
            <a:ext cx="74106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b="1" lang="en-US" sz="2800">
                <a:solidFill>
                  <a:srgbClr val="000000"/>
                </a:solidFill>
              </a:rPr>
            </a:br>
            <a:br>
              <a:rPr b="1" lang="en-US" sz="2800">
                <a:solidFill>
                  <a:srgbClr val="000000"/>
                </a:solidFill>
              </a:rPr>
            </a:br>
            <a:br>
              <a:rPr b="1" lang="en-US" sz="2800">
                <a:solidFill>
                  <a:srgbClr val="000000"/>
                </a:solidFill>
              </a:rPr>
            </a:br>
            <a:br>
              <a:rPr b="1" lang="en-US" sz="2800">
                <a:solidFill>
                  <a:srgbClr val="000000"/>
                </a:solidFill>
              </a:rPr>
            </a:br>
            <a:br>
              <a:rPr b="1" lang="en-US" sz="2800">
                <a:solidFill>
                  <a:srgbClr val="000000"/>
                </a:solidFill>
              </a:rPr>
            </a:br>
            <a:endParaRPr b="1">
              <a:solidFill>
                <a:srgbClr val="000000"/>
              </a:solidFill>
            </a:endParaRPr>
          </a:p>
        </p:txBody>
      </p:sp>
      <p:grpSp>
        <p:nvGrpSpPr>
          <p:cNvPr id="380" name="Google Shape;380;g3a2a2411fe0_0_13"/>
          <p:cNvGrpSpPr/>
          <p:nvPr/>
        </p:nvGrpSpPr>
        <p:grpSpPr>
          <a:xfrm>
            <a:off x="4633331" y="793966"/>
            <a:ext cx="4378468" cy="2533200"/>
            <a:chOff x="4633331" y="793966"/>
            <a:chExt cx="4378468" cy="2533200"/>
          </a:xfrm>
        </p:grpSpPr>
        <p:sp>
          <p:nvSpPr>
            <p:cNvPr id="381" name="Google Shape;381;g3a2a2411fe0_0_13"/>
            <p:cNvSpPr/>
            <p:nvPr/>
          </p:nvSpPr>
          <p:spPr>
            <a:xfrm>
              <a:off x="4633331" y="875566"/>
              <a:ext cx="4179600" cy="2451600"/>
            </a:xfrm>
            <a:prstGeom prst="rect">
              <a:avLst/>
            </a:prstGeom>
            <a:solidFill>
              <a:srgbClr val="FEC6DB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82" name="Google Shape;382;g3a2a2411fe0_0_13"/>
            <p:cNvPicPr preferRelativeResize="0"/>
            <p:nvPr/>
          </p:nvPicPr>
          <p:blipFill rotWithShape="1">
            <a:blip r:embed="rId3">
              <a:alphaModFix/>
            </a:blip>
            <a:srcRect b="45954" l="0" r="0" t="0"/>
            <a:stretch/>
          </p:blipFill>
          <p:spPr>
            <a:xfrm>
              <a:off x="6382300" y="1203144"/>
              <a:ext cx="2629499" cy="2107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3" name="Google Shape;383;g3a2a2411fe0_0_13"/>
            <p:cNvGrpSpPr/>
            <p:nvPr/>
          </p:nvGrpSpPr>
          <p:grpSpPr>
            <a:xfrm>
              <a:off x="5004050" y="793966"/>
              <a:ext cx="2175552" cy="1768200"/>
              <a:chOff x="5030200" y="69949"/>
              <a:chExt cx="2175552" cy="1768200"/>
            </a:xfrm>
          </p:grpSpPr>
          <p:pic>
            <p:nvPicPr>
              <p:cNvPr id="384" name="Google Shape;384;g3a2a2411fe0_0_13"/>
              <p:cNvPicPr preferRelativeResize="0"/>
              <p:nvPr/>
            </p:nvPicPr>
            <p:blipFill rotWithShape="1">
              <a:blip r:embed="rId4">
                <a:alphaModFix/>
              </a:blip>
              <a:srcRect b="20172" l="6031" r="55152" t="23745"/>
              <a:stretch/>
            </p:blipFill>
            <p:spPr>
              <a:xfrm>
                <a:off x="5030200" y="69949"/>
                <a:ext cx="2175552" cy="1768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5" name="Google Shape;385;g3a2a2411fe0_0_13"/>
              <p:cNvSpPr txBox="1"/>
              <p:nvPr/>
            </p:nvSpPr>
            <p:spPr>
              <a:xfrm>
                <a:off x="5219176" y="262852"/>
                <a:ext cx="1797600" cy="11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Often the mistakes made inadvertently lie hidden -- never to be found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386" name="Google Shape;386;g3a2a2411fe0_0_13"/>
          <p:cNvGrpSpPr/>
          <p:nvPr/>
        </p:nvGrpSpPr>
        <p:grpSpPr>
          <a:xfrm>
            <a:off x="97852" y="3220357"/>
            <a:ext cx="8752748" cy="2828799"/>
            <a:chOff x="97852" y="3220357"/>
            <a:chExt cx="8752748" cy="2828799"/>
          </a:xfrm>
        </p:grpSpPr>
        <p:sp>
          <p:nvSpPr>
            <p:cNvPr id="387" name="Google Shape;387;g3a2a2411fe0_0_13"/>
            <p:cNvSpPr/>
            <p:nvPr/>
          </p:nvSpPr>
          <p:spPr>
            <a:xfrm>
              <a:off x="293400" y="3470389"/>
              <a:ext cx="8557200" cy="2451600"/>
            </a:xfrm>
            <a:prstGeom prst="rect">
              <a:avLst/>
            </a:prstGeom>
            <a:solidFill>
              <a:srgbClr val="FEC6DB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88" name="Google Shape;388;g3a2a2411fe0_0_13"/>
            <p:cNvPicPr preferRelativeResize="0"/>
            <p:nvPr/>
          </p:nvPicPr>
          <p:blipFill rotWithShape="1">
            <a:blip r:embed="rId5">
              <a:alphaModFix/>
            </a:blip>
            <a:srcRect b="50908" l="0" r="0" t="0"/>
            <a:stretch/>
          </p:blipFill>
          <p:spPr>
            <a:xfrm>
              <a:off x="97852" y="3775555"/>
              <a:ext cx="1964825" cy="21464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9" name="Google Shape;389;g3a2a2411fe0_0_13"/>
            <p:cNvPicPr preferRelativeResize="0"/>
            <p:nvPr/>
          </p:nvPicPr>
          <p:blipFill rotWithShape="1">
            <a:blip r:embed="rId4">
              <a:alphaModFix/>
            </a:blip>
            <a:srcRect b="20172" l="6031" r="55152" t="23745"/>
            <a:stretch/>
          </p:blipFill>
          <p:spPr>
            <a:xfrm flipH="1" rot="240400">
              <a:off x="1502159" y="3346176"/>
              <a:ext cx="3691544" cy="25771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0" name="Google Shape;390;g3a2a2411fe0_0_13"/>
            <p:cNvSpPr txBox="1"/>
            <p:nvPr/>
          </p:nvSpPr>
          <p:spPr>
            <a:xfrm>
              <a:off x="1881459" y="3648387"/>
              <a:ext cx="3000000" cy="163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Through the incorporation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of reproducible practices within our work we can identify and correct these mistakes after the event, improving the quality of our reporting 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91" name="Google Shape;391;g3a2a2411fe0_0_13"/>
          <p:cNvGrpSpPr/>
          <p:nvPr/>
        </p:nvGrpSpPr>
        <p:grpSpPr>
          <a:xfrm>
            <a:off x="288353" y="875566"/>
            <a:ext cx="4179600" cy="2451600"/>
            <a:chOff x="288353" y="875566"/>
            <a:chExt cx="4179600" cy="2451600"/>
          </a:xfrm>
        </p:grpSpPr>
        <p:sp>
          <p:nvSpPr>
            <p:cNvPr id="392" name="Google Shape;392;g3a2a2411fe0_0_13"/>
            <p:cNvSpPr/>
            <p:nvPr/>
          </p:nvSpPr>
          <p:spPr>
            <a:xfrm>
              <a:off x="288353" y="875566"/>
              <a:ext cx="4179600" cy="2451600"/>
            </a:xfrm>
            <a:prstGeom prst="rect">
              <a:avLst/>
            </a:prstGeom>
            <a:solidFill>
              <a:srgbClr val="FEC6DB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text, vector graphics&#10;&#10;Description automatically generated" id="393" name="Google Shape;393;g3a2a2411fe0_0_13"/>
            <p:cNvPicPr preferRelativeResize="0"/>
            <p:nvPr/>
          </p:nvPicPr>
          <p:blipFill rotWithShape="1">
            <a:blip r:embed="rId6">
              <a:alphaModFix/>
            </a:blip>
            <a:srcRect b="44936" l="4294" r="24128" t="0"/>
            <a:stretch/>
          </p:blipFill>
          <p:spPr>
            <a:xfrm flipH="1">
              <a:off x="406005" y="1127693"/>
              <a:ext cx="2032610" cy="21833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94" name="Google Shape;394;g3a2a2411fe0_0_13"/>
            <p:cNvGrpSpPr/>
            <p:nvPr/>
          </p:nvGrpSpPr>
          <p:grpSpPr>
            <a:xfrm>
              <a:off x="1619420" y="1670122"/>
              <a:ext cx="1635859" cy="1514638"/>
              <a:chOff x="2023083" y="1733902"/>
              <a:chExt cx="1635859" cy="1514638"/>
            </a:xfrm>
          </p:grpSpPr>
          <p:pic>
            <p:nvPicPr>
              <p:cNvPr id="395" name="Google Shape;395;g3a2a2411fe0_0_13"/>
              <p:cNvPicPr preferRelativeResize="0"/>
              <p:nvPr/>
            </p:nvPicPr>
            <p:blipFill rotWithShape="1">
              <a:blip r:embed="rId4">
                <a:alphaModFix/>
              </a:blip>
              <a:srcRect b="20172" l="6031" r="55152" t="23745"/>
              <a:stretch/>
            </p:blipFill>
            <p:spPr>
              <a:xfrm rot="10800000">
                <a:off x="2023083" y="1733902"/>
                <a:ext cx="1635859" cy="15146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6" name="Google Shape;396;g3a2a2411fe0_0_13"/>
              <p:cNvSpPr txBox="1"/>
              <p:nvPr/>
            </p:nvSpPr>
            <p:spPr>
              <a:xfrm>
                <a:off x="2215138" y="2260875"/>
                <a:ext cx="1251900" cy="52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To err is to be human 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397" name="Google Shape;397;g3a2a2411fe0_0_13"/>
          <p:cNvGrpSpPr/>
          <p:nvPr/>
        </p:nvGrpSpPr>
        <p:grpSpPr>
          <a:xfrm>
            <a:off x="5474777" y="3455933"/>
            <a:ext cx="3537023" cy="2532206"/>
            <a:chOff x="5474777" y="3455933"/>
            <a:chExt cx="3537023" cy="2532206"/>
          </a:xfrm>
        </p:grpSpPr>
        <p:pic>
          <p:nvPicPr>
            <p:cNvPr descr="A picture containing text, vector graphics&#10;&#10;Description automatically generated" id="398" name="Google Shape;398;g3a2a2411fe0_0_13"/>
            <p:cNvPicPr preferRelativeResize="0"/>
            <p:nvPr/>
          </p:nvPicPr>
          <p:blipFill rotWithShape="1">
            <a:blip r:embed="rId7">
              <a:alphaModFix/>
            </a:blip>
            <a:srcRect b="51749" l="0" r="9222" t="0"/>
            <a:stretch/>
          </p:blipFill>
          <p:spPr>
            <a:xfrm flipH="1">
              <a:off x="6353950" y="3455933"/>
              <a:ext cx="2657850" cy="245159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99" name="Google Shape;399;g3a2a2411fe0_0_13"/>
            <p:cNvGrpSpPr/>
            <p:nvPr/>
          </p:nvGrpSpPr>
          <p:grpSpPr>
            <a:xfrm>
              <a:off x="5474777" y="4124753"/>
              <a:ext cx="1931702" cy="1863386"/>
              <a:chOff x="3987926" y="4280450"/>
              <a:chExt cx="1931702" cy="1863386"/>
            </a:xfrm>
          </p:grpSpPr>
          <p:pic>
            <p:nvPicPr>
              <p:cNvPr id="400" name="Google Shape;400;g3a2a2411fe0_0_13"/>
              <p:cNvPicPr preferRelativeResize="0"/>
              <p:nvPr/>
            </p:nvPicPr>
            <p:blipFill rotWithShape="1">
              <a:blip r:embed="rId4">
                <a:alphaModFix/>
              </a:blip>
              <a:srcRect b="20172" l="6031" r="55152" t="23745"/>
              <a:stretch/>
            </p:blipFill>
            <p:spPr>
              <a:xfrm flipH="1" rot="10800000">
                <a:off x="3987926" y="4280450"/>
                <a:ext cx="1931702" cy="186338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1" name="Google Shape;401;g3a2a2411fe0_0_13"/>
              <p:cNvSpPr txBox="1"/>
              <p:nvPr/>
            </p:nvSpPr>
            <p:spPr>
              <a:xfrm>
                <a:off x="4309150" y="4812883"/>
                <a:ext cx="1289100" cy="116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Check out </a:t>
                </a:r>
                <a:b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the next four slides for examples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a2a2411fe0_0_40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75000"/>
              <a:buNone/>
            </a:pPr>
            <a:r>
              <a:rPr b="1" lang="en-US" sz="2400"/>
              <a:t>Example 1: Identifying Reproducibility Issues in a Clinical Trial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None/>
            </a:pPr>
            <a:r>
              <a:t/>
            </a:r>
            <a:endParaRPr/>
          </a:p>
        </p:txBody>
      </p:sp>
      <p:sp>
        <p:nvSpPr>
          <p:cNvPr id="407" name="Google Shape;407;g3a2a2411fe0_0_40"/>
          <p:cNvSpPr txBox="1"/>
          <p:nvPr>
            <p:ph idx="4294967295" type="body"/>
          </p:nvPr>
        </p:nvSpPr>
        <p:spPr>
          <a:xfrm>
            <a:off x="254000" y="1630018"/>
            <a:ext cx="8452800" cy="44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r>
              <a:rPr lang="en-US" sz="2000">
                <a:solidFill>
                  <a:srgbClr val="000000"/>
                </a:solidFill>
              </a:rPr>
              <a:t>Clinical trials are studies that examine (typically) treatments on human health outcomes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r>
              <a:rPr lang="en-US" sz="2000">
                <a:solidFill>
                  <a:srgbClr val="000000"/>
                </a:solidFill>
              </a:rPr>
              <a:t> In 2018 a major medical journal retracted an important clinical trial after a serious error was detected in how the trial data was processed 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  <p:pic>
        <p:nvPicPr>
          <p:cNvPr descr="A picture containing text&#10;&#10;Description automatically generated" id="408" name="Google Shape;408;g3a2a2411fe0_0_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7401099" y="3193772"/>
            <a:ext cx="1742901" cy="2961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a2a2411fe0_0_46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75000"/>
              <a:buNone/>
            </a:pPr>
            <a:r>
              <a:rPr b="1" lang="en-US" sz="2400"/>
              <a:t>Example 1: Identifying Reproducibility Issues in a Clinical Trial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None/>
            </a:pPr>
            <a:r>
              <a:t/>
            </a:r>
            <a:endParaRPr/>
          </a:p>
        </p:txBody>
      </p:sp>
      <p:sp>
        <p:nvSpPr>
          <p:cNvPr id="414" name="Google Shape;414;g3a2a2411fe0_0_46"/>
          <p:cNvSpPr txBox="1"/>
          <p:nvPr>
            <p:ph idx="4294967295" type="body"/>
          </p:nvPr>
        </p:nvSpPr>
        <p:spPr>
          <a:xfrm>
            <a:off x="254000" y="1056501"/>
            <a:ext cx="8452800" cy="44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76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r>
              <a:rPr lang="en-US" sz="2000">
                <a:solidFill>
                  <a:srgbClr val="000000"/>
                </a:solidFill>
              </a:rPr>
              <a:t>In this trial, the treatment and controls groups had their coding reversed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</a:pPr>
            <a:r>
              <a:t/>
            </a:r>
            <a:endParaRPr sz="10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r>
              <a:rPr lang="en-US" sz="2000">
                <a:solidFill>
                  <a:srgbClr val="000000"/>
                </a:solidFill>
              </a:rPr>
              <a:t>This means that what researchers thought was data from the treatment group was actually data from the control group, and vice versa! </a:t>
            </a:r>
            <a:endParaRPr sz="2000">
              <a:solidFill>
                <a:srgbClr val="000000"/>
              </a:solidFill>
            </a:endParaRPr>
          </a:p>
        </p:txBody>
      </p:sp>
      <p:grpSp>
        <p:nvGrpSpPr>
          <p:cNvPr id="415" name="Google Shape;415;g3a2a2411fe0_0_46"/>
          <p:cNvGrpSpPr/>
          <p:nvPr/>
        </p:nvGrpSpPr>
        <p:grpSpPr>
          <a:xfrm>
            <a:off x="2301096" y="3710609"/>
            <a:ext cx="4541807" cy="2372141"/>
            <a:chOff x="2172528" y="3710609"/>
            <a:chExt cx="4541807" cy="2372141"/>
          </a:xfrm>
        </p:grpSpPr>
        <p:pic>
          <p:nvPicPr>
            <p:cNvPr descr="A picture containing shape&#10;&#10;Description automatically generated" id="416" name="Google Shape;416;g3a2a2411fe0_0_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72528" y="4143321"/>
              <a:ext cx="1110665" cy="16581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shape&#10;&#10;Description automatically generated" id="417" name="Google Shape;417;g3a2a2411fe0_0_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3670" y="4143321"/>
              <a:ext cx="1110665" cy="16581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text&#10;&#10;Description automatically generated" id="418" name="Google Shape;418;g3a2a2411fe0_0_46"/>
            <p:cNvPicPr preferRelativeResize="0"/>
            <p:nvPr/>
          </p:nvPicPr>
          <p:blipFill rotWithShape="1">
            <a:blip r:embed="rId4">
              <a:alphaModFix/>
            </a:blip>
            <a:srcRect b="34063" l="0" r="0" t="0"/>
            <a:stretch/>
          </p:blipFill>
          <p:spPr>
            <a:xfrm>
              <a:off x="3177720" y="3710609"/>
              <a:ext cx="2531422" cy="237214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a2a2411fe0_0_55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75000"/>
              <a:buNone/>
            </a:pPr>
            <a:r>
              <a:rPr b="1" lang="en-US" sz="2400"/>
              <a:t>Example 1: Identifying Reproducibility Issues in a Clinical Trial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None/>
            </a:pPr>
            <a:r>
              <a:t/>
            </a:r>
            <a:endParaRPr/>
          </a:p>
        </p:txBody>
      </p:sp>
      <p:sp>
        <p:nvSpPr>
          <p:cNvPr id="424" name="Google Shape;424;g3a2a2411fe0_0_55"/>
          <p:cNvSpPr txBox="1"/>
          <p:nvPr/>
        </p:nvSpPr>
        <p:spPr>
          <a:xfrm>
            <a:off x="254000" y="1630018"/>
            <a:ext cx="8452800" cy="44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This was an inadvertent mistake that invalidated the trial results </a:t>
            </a:r>
            <a:endParaRPr/>
          </a:p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mistake was only found because the code underlying the results was published and so could be examined</a:t>
            </a:r>
            <a:endParaRPr/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Someone who examined the code spotted the mistake</a:t>
            </a:r>
            <a:endParaRPr/>
          </a:p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 this way, reproducible research practices saved the day!</a:t>
            </a:r>
            <a:endParaRPr/>
          </a:p>
        </p:txBody>
      </p:sp>
      <p:pic>
        <p:nvPicPr>
          <p:cNvPr descr="A picture containing text&#10;&#10;Description automatically generated" id="425" name="Google Shape;425;g3a2a2411fe0_0_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2993" y="2991101"/>
            <a:ext cx="1691007" cy="3250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a2a2411fe0_0_61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Example 2: Power Posing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t/>
            </a:r>
            <a:endParaRPr/>
          </a:p>
        </p:txBody>
      </p:sp>
      <p:sp>
        <p:nvSpPr>
          <p:cNvPr id="431" name="Google Shape;431;g3a2a2411fe0_0_61"/>
          <p:cNvSpPr txBox="1"/>
          <p:nvPr>
            <p:ph idx="4294967295" type="body"/>
          </p:nvPr>
        </p:nvSpPr>
        <p:spPr>
          <a:xfrm>
            <a:off x="254000" y="1056500"/>
            <a:ext cx="8625900" cy="51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r>
              <a:rPr lang="en-US" sz="2000">
                <a:solidFill>
                  <a:srgbClr val="000000"/>
                </a:solidFill>
              </a:rPr>
              <a:t>In 2010, researchers published results from a psychological study suggesting that </a:t>
            </a:r>
            <a:r>
              <a:rPr b="1" lang="en-US" sz="2000">
                <a:solidFill>
                  <a:srgbClr val="000000"/>
                </a:solidFill>
              </a:rPr>
              <a:t>power posing (</a:t>
            </a:r>
            <a:r>
              <a:rPr lang="en-US" sz="2000">
                <a:solidFill>
                  <a:srgbClr val="000000"/>
                </a:solidFill>
              </a:rPr>
              <a:t>standing or adopting an assertive posture) can improve confidence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r>
              <a:rPr lang="en-US" sz="2000">
                <a:solidFill>
                  <a:srgbClr val="000000"/>
                </a:solidFill>
              </a:rPr>
              <a:t>These findings were disseminated widely, and the </a:t>
            </a:r>
            <a:endParaRPr/>
          </a:p>
          <a:p>
            <a:pPr indent="0" lvl="0" marL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000">
                <a:solidFill>
                  <a:srgbClr val="000000"/>
                </a:solidFill>
              </a:rPr>
              <a:t>      concept of power posing quickly found its way into                                  </a:t>
            </a:r>
            <a:endParaRPr/>
          </a:p>
          <a:p>
            <a:pPr indent="0" lvl="0" marL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000">
                <a:solidFill>
                  <a:srgbClr val="000000"/>
                </a:solidFill>
              </a:rPr>
              <a:t>      popular culture </a:t>
            </a:r>
            <a:endParaRPr sz="2000">
              <a:solidFill>
                <a:srgbClr val="000000"/>
              </a:solidFill>
            </a:endParaRPr>
          </a:p>
        </p:txBody>
      </p:sp>
      <p:pic>
        <p:nvPicPr>
          <p:cNvPr descr="A picture containing text, vector graphics&#10;&#10;Description automatically generated" id="432" name="Google Shape;432;g3a2a2411fe0_0_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6651811" y="1959675"/>
            <a:ext cx="2492189" cy="42892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a2a2411fe0_0_67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Example 2: Power Posing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t/>
            </a:r>
            <a:endParaRPr/>
          </a:p>
        </p:txBody>
      </p:sp>
      <p:sp>
        <p:nvSpPr>
          <p:cNvPr id="438" name="Google Shape;438;g3a2a2411fe0_0_67"/>
          <p:cNvSpPr txBox="1"/>
          <p:nvPr>
            <p:ph idx="4294967295" type="body"/>
          </p:nvPr>
        </p:nvSpPr>
        <p:spPr>
          <a:xfrm>
            <a:off x="254000" y="1056500"/>
            <a:ext cx="7606500" cy="45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000">
                <a:solidFill>
                  <a:srgbClr val="000000"/>
                </a:solidFill>
              </a:rPr>
              <a:t>Two years later however, the results of the study were called into question when a replication study failed to find the same results 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000">
                <a:solidFill>
                  <a:srgbClr val="000000"/>
                </a:solidFill>
              </a:rPr>
              <a:t>This was particularly the case for changes that the original researchers had reported for certain hormones as a result of power posing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r>
              <a:rPr lang="en-US" sz="2000">
                <a:solidFill>
                  <a:srgbClr val="000000"/>
                </a:solidFill>
              </a:rPr>
              <a:t>In addition, increased scrutiny of the original </a:t>
            </a:r>
            <a:endParaRPr/>
          </a:p>
          <a:p>
            <a:pPr indent="0" lvl="0" marL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000">
                <a:solidFill>
                  <a:srgbClr val="000000"/>
                </a:solidFill>
              </a:rPr>
              <a:t>      research revealed that the statistical significance                </a:t>
            </a:r>
            <a:endParaRPr/>
          </a:p>
          <a:p>
            <a:pPr indent="0" lvl="0" marL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000">
                <a:solidFill>
                  <a:srgbClr val="000000"/>
                </a:solidFill>
              </a:rPr>
              <a:t>      values associated with the work were barely                   </a:t>
            </a:r>
            <a:endParaRPr/>
          </a:p>
          <a:p>
            <a:pPr indent="0" lvl="0" marL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000">
                <a:solidFill>
                  <a:srgbClr val="000000"/>
                </a:solidFill>
              </a:rPr>
              <a:t>      significant 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  <p:pic>
        <p:nvPicPr>
          <p:cNvPr descr="A picture containing text, vector graphics, silhouette&#10;&#10;Description automatically generated" id="439" name="Google Shape;439;g3a2a2411fe0_0_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7766611" y="3235135"/>
            <a:ext cx="1377389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text&#10;&#10;Description automatically generated" id="440" name="Google Shape;440;g3a2a2411fe0_0_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4804" y="3083146"/>
            <a:ext cx="1765826" cy="300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a2a2411fe0_0_74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Example 2: Power Posing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t/>
            </a:r>
            <a:endParaRPr/>
          </a:p>
        </p:txBody>
      </p:sp>
      <p:sp>
        <p:nvSpPr>
          <p:cNvPr id="446" name="Google Shape;446;g3a2a2411fe0_0_74"/>
          <p:cNvSpPr txBox="1"/>
          <p:nvPr>
            <p:ph idx="4294967295" type="body"/>
          </p:nvPr>
        </p:nvSpPr>
        <p:spPr>
          <a:xfrm>
            <a:off x="254000" y="1056500"/>
            <a:ext cx="8625900" cy="45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r>
              <a:rPr lang="en-US" sz="2000">
                <a:solidFill>
                  <a:srgbClr val="000000"/>
                </a:solidFill>
              </a:rPr>
              <a:t>The research was, for a time, dismissed as pseudoscience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000">
                <a:solidFill>
                  <a:srgbClr val="000000"/>
                </a:solidFill>
              </a:rPr>
              <a:t>However preregistered and robust replication studies have supported that power posing is linked to people’s feeling of confidence now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000">
                <a:solidFill>
                  <a:srgbClr val="000000"/>
                </a:solidFill>
              </a:rPr>
              <a:t>This reaffirms a link between posture and confidence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-342900" lvl="0" marL="3587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000">
                <a:solidFill>
                  <a:srgbClr val="000000"/>
                </a:solidFill>
              </a:rPr>
              <a:t>It also demonstrates the importance of being able to </a:t>
            </a:r>
            <a:endParaRPr/>
          </a:p>
          <a:p>
            <a:pPr indent="0" lvl="0" marL="158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000">
                <a:solidFill>
                  <a:srgbClr val="000000"/>
                </a:solidFill>
              </a:rPr>
              <a:t>     reproduce studies to determine potentially erroneous </a:t>
            </a:r>
            <a:endParaRPr/>
          </a:p>
          <a:p>
            <a:pPr indent="0" lvl="0" marL="158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000">
                <a:solidFill>
                  <a:srgbClr val="000000"/>
                </a:solidFill>
              </a:rPr>
              <a:t>     and/or valid findings</a:t>
            </a:r>
            <a:endParaRPr/>
          </a:p>
          <a:p>
            <a:pPr indent="-165100" lvl="0" marL="3587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  <p:pic>
        <p:nvPicPr>
          <p:cNvPr descr="A picture containing text&#10;&#10;Description automatically generated" id="447" name="Google Shape;447;g3a2a2411fe0_0_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2993" y="2991101"/>
            <a:ext cx="1691007" cy="3250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on a stage&#10;&#10;Description automatically generated with low confidence" id="452" name="Google Shape;452;g3a2a2411fe0_0_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9036"/>
            <a:ext cx="9144000" cy="5144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453" name="Google Shape;453;g3a2a2411fe0_0_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458" name="Google Shape;458;g3a2a2411fe0_0_232"/>
          <p:cNvPicPr preferRelativeResize="0"/>
          <p:nvPr/>
        </p:nvPicPr>
        <p:blipFill rotWithShape="1">
          <a:blip r:embed="rId3">
            <a:alphaModFix/>
          </a:blip>
          <a:srcRect b="11535" l="33074" r="0" t="0"/>
          <a:stretch/>
        </p:blipFill>
        <p:spPr>
          <a:xfrm>
            <a:off x="2150534" y="0"/>
            <a:ext cx="6993469" cy="6933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459" name="Google Shape;459;g3a2a2411fe0_0_2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g3a2a2411fe0_0_232"/>
          <p:cNvSpPr txBox="1"/>
          <p:nvPr/>
        </p:nvSpPr>
        <p:spPr>
          <a:xfrm>
            <a:off x="364243" y="1660140"/>
            <a:ext cx="36972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Principles &amp; Practices </a:t>
            </a:r>
            <a:b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of Open Research</a:t>
            </a:r>
            <a:endParaRPr b="1" i="0" sz="21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1" name="Google Shape;461;g3a2a2411fe0_0_232"/>
          <p:cNvSpPr txBox="1"/>
          <p:nvPr/>
        </p:nvSpPr>
        <p:spPr>
          <a:xfrm>
            <a:off x="364243" y="2239799"/>
            <a:ext cx="36141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 online module for undergraduate and </a:t>
            </a:r>
            <a:b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Masters students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ape, circle&#10;&#10;Description automatically generated" id="466" name="Google Shape;466;g3a2a2411fe0_0_2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8200" y="1555200"/>
            <a:ext cx="3747600" cy="374760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g3a2a2411fe0_0_239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lang="en-US" sz="2000"/>
              <a:t>Module 4 – </a:t>
            </a:r>
            <a:r>
              <a:rPr b="1" lang="en-US" sz="2000"/>
              <a:t>Reproducible Practices</a:t>
            </a:r>
            <a:endParaRPr sz="2000"/>
          </a:p>
        </p:txBody>
      </p:sp>
      <p:sp>
        <p:nvSpPr>
          <p:cNvPr id="468" name="Google Shape;468;g3a2a2411fe0_0_239"/>
          <p:cNvSpPr txBox="1"/>
          <p:nvPr/>
        </p:nvSpPr>
        <p:spPr>
          <a:xfrm>
            <a:off x="2743224" y="1565991"/>
            <a:ext cx="3702600" cy="1820100"/>
          </a:xfrm>
          <a:prstGeom prst="rect">
            <a:avLst/>
          </a:prstGeom>
          <a:noFill/>
          <a:ln>
            <a:noFill/>
          </a:ln>
          <a:effectLst>
            <a:outerShdw blurRad="165100" sx="103000" rotWithShape="0" algn="tl" dir="2700000" dist="38100" sy="103000">
              <a:srgbClr val="000000">
                <a:alpha val="24310"/>
              </a:srgbClr>
            </a:outerShdw>
          </a:effectLst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Why is reproducibility important?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a2a2411fe0_0_245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Why is reproducibility important?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t/>
            </a:r>
            <a:endParaRPr/>
          </a:p>
        </p:txBody>
      </p:sp>
      <p:grpSp>
        <p:nvGrpSpPr>
          <p:cNvPr id="474" name="Google Shape;474;g3a2a2411fe0_0_245"/>
          <p:cNvGrpSpPr/>
          <p:nvPr/>
        </p:nvGrpSpPr>
        <p:grpSpPr>
          <a:xfrm>
            <a:off x="54571" y="1334542"/>
            <a:ext cx="3798254" cy="3979624"/>
            <a:chOff x="35623" y="941188"/>
            <a:chExt cx="3798254" cy="3979624"/>
          </a:xfrm>
        </p:grpSpPr>
        <p:pic>
          <p:nvPicPr>
            <p:cNvPr id="475" name="Google Shape;475;g3a2a2411fe0_0_245"/>
            <p:cNvPicPr preferRelativeResize="0"/>
            <p:nvPr/>
          </p:nvPicPr>
          <p:blipFill rotWithShape="1">
            <a:blip r:embed="rId3">
              <a:alphaModFix/>
            </a:blip>
            <a:srcRect b="22630" l="0" r="58461" t="0"/>
            <a:stretch/>
          </p:blipFill>
          <p:spPr>
            <a:xfrm>
              <a:off x="35623" y="941188"/>
              <a:ext cx="3798254" cy="39796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6" name="Google Shape;476;g3a2a2411fe0_0_245"/>
            <p:cNvSpPr txBox="1"/>
            <p:nvPr/>
          </p:nvSpPr>
          <p:spPr>
            <a:xfrm>
              <a:off x="673699" y="2312173"/>
              <a:ext cx="2522100" cy="129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Why is reproducibility important?</a:t>
              </a:r>
              <a:endParaRPr b="0" i="0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77" name="Google Shape;477;g3a2a2411fe0_0_245"/>
          <p:cNvGrpSpPr/>
          <p:nvPr/>
        </p:nvGrpSpPr>
        <p:grpSpPr>
          <a:xfrm>
            <a:off x="3937563" y="1543834"/>
            <a:ext cx="4838766" cy="3770333"/>
            <a:chOff x="482466" y="1471301"/>
            <a:chExt cx="4838766" cy="3770333"/>
          </a:xfrm>
        </p:grpSpPr>
        <p:grpSp>
          <p:nvGrpSpPr>
            <p:cNvPr id="478" name="Google Shape;478;g3a2a2411fe0_0_245"/>
            <p:cNvGrpSpPr/>
            <p:nvPr/>
          </p:nvGrpSpPr>
          <p:grpSpPr>
            <a:xfrm>
              <a:off x="482466" y="1471301"/>
              <a:ext cx="4838752" cy="928500"/>
              <a:chOff x="3062010" y="986290"/>
              <a:chExt cx="4838752" cy="928500"/>
            </a:xfrm>
          </p:grpSpPr>
          <p:grpSp>
            <p:nvGrpSpPr>
              <p:cNvPr id="479" name="Google Shape;479;g3a2a2411fe0_0_245"/>
              <p:cNvGrpSpPr/>
              <p:nvPr/>
            </p:nvGrpSpPr>
            <p:grpSpPr>
              <a:xfrm>
                <a:off x="3062010" y="986290"/>
                <a:ext cx="4838752" cy="928500"/>
                <a:chOff x="3062010" y="986290"/>
                <a:chExt cx="4838752" cy="928500"/>
              </a:xfrm>
            </p:grpSpPr>
            <p:sp>
              <p:nvSpPr>
                <p:cNvPr id="480" name="Google Shape;480;g3a2a2411fe0_0_245"/>
                <p:cNvSpPr/>
                <p:nvPr/>
              </p:nvSpPr>
              <p:spPr>
                <a:xfrm>
                  <a:off x="3778762" y="986291"/>
                  <a:ext cx="4122000" cy="917700"/>
                </a:xfrm>
                <a:prstGeom prst="rect">
                  <a:avLst/>
                </a:prstGeom>
                <a:solidFill>
                  <a:srgbClr val="FDCADF"/>
                </a:solidFill>
                <a:ln cap="flat" cmpd="sng" w="25400">
                  <a:solidFill>
                    <a:srgbClr val="FDCAD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1" name="Google Shape;481;g3a2a2411fe0_0_245"/>
                <p:cNvSpPr/>
                <p:nvPr/>
              </p:nvSpPr>
              <p:spPr>
                <a:xfrm>
                  <a:off x="3062010" y="986290"/>
                  <a:ext cx="940800" cy="928500"/>
                </a:xfrm>
                <a:prstGeom prst="roundRect">
                  <a:avLst>
                    <a:gd fmla="val 16667" name="adj"/>
                  </a:avLst>
                </a:prstGeom>
                <a:solidFill>
                  <a:schemeClr val="accent5"/>
                </a:solidFill>
                <a:ln cap="flat" cmpd="sng" w="25400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82" name="Google Shape;482;g3a2a2411fe0_0_245"/>
              <p:cNvSpPr txBox="1"/>
              <p:nvPr/>
            </p:nvSpPr>
            <p:spPr>
              <a:xfrm>
                <a:off x="4073000" y="1140329"/>
                <a:ext cx="3706200" cy="61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It ensures research can be assessed, verified, and confirmed by other researchers</a:t>
                </a:r>
                <a:endParaRPr/>
              </a:p>
            </p:txBody>
          </p:sp>
          <p:sp>
            <p:nvSpPr>
              <p:cNvPr id="483" name="Google Shape;483;g3a2a2411fe0_0_245"/>
              <p:cNvSpPr txBox="1"/>
              <p:nvPr/>
            </p:nvSpPr>
            <p:spPr>
              <a:xfrm>
                <a:off x="3299791" y="1219707"/>
                <a:ext cx="4791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400" u="none" cap="none" strike="noStrik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1</a:t>
                </a:r>
                <a:endParaRPr/>
              </a:p>
            </p:txBody>
          </p:sp>
        </p:grpSp>
        <p:grpSp>
          <p:nvGrpSpPr>
            <p:cNvPr id="484" name="Google Shape;484;g3a2a2411fe0_0_245"/>
            <p:cNvGrpSpPr/>
            <p:nvPr/>
          </p:nvGrpSpPr>
          <p:grpSpPr>
            <a:xfrm>
              <a:off x="506273" y="2892217"/>
              <a:ext cx="4814959" cy="928500"/>
              <a:chOff x="3062010" y="986290"/>
              <a:chExt cx="4814959" cy="928500"/>
            </a:xfrm>
          </p:grpSpPr>
          <p:grpSp>
            <p:nvGrpSpPr>
              <p:cNvPr id="485" name="Google Shape;485;g3a2a2411fe0_0_245"/>
              <p:cNvGrpSpPr/>
              <p:nvPr/>
            </p:nvGrpSpPr>
            <p:grpSpPr>
              <a:xfrm>
                <a:off x="3062010" y="986290"/>
                <a:ext cx="4814752" cy="928500"/>
                <a:chOff x="3062010" y="986290"/>
                <a:chExt cx="4814752" cy="928500"/>
              </a:xfrm>
            </p:grpSpPr>
            <p:sp>
              <p:nvSpPr>
                <p:cNvPr id="486" name="Google Shape;486;g3a2a2411fe0_0_245"/>
                <p:cNvSpPr/>
                <p:nvPr/>
              </p:nvSpPr>
              <p:spPr>
                <a:xfrm>
                  <a:off x="3778762" y="986291"/>
                  <a:ext cx="4098000" cy="917700"/>
                </a:xfrm>
                <a:prstGeom prst="rect">
                  <a:avLst/>
                </a:prstGeom>
                <a:solidFill>
                  <a:srgbClr val="FDCADF"/>
                </a:solidFill>
                <a:ln cap="flat" cmpd="sng" w="25400">
                  <a:solidFill>
                    <a:srgbClr val="FDCAD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7" name="Google Shape;487;g3a2a2411fe0_0_245"/>
                <p:cNvSpPr/>
                <p:nvPr/>
              </p:nvSpPr>
              <p:spPr>
                <a:xfrm>
                  <a:off x="3062010" y="986290"/>
                  <a:ext cx="940800" cy="928500"/>
                </a:xfrm>
                <a:prstGeom prst="roundRect">
                  <a:avLst>
                    <a:gd fmla="val 16667" name="adj"/>
                  </a:avLst>
                </a:prstGeom>
                <a:solidFill>
                  <a:schemeClr val="accent5"/>
                </a:solidFill>
                <a:ln cap="flat" cmpd="sng" w="25400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88" name="Google Shape;488;g3a2a2411fe0_0_245"/>
              <p:cNvSpPr txBox="1"/>
              <p:nvPr/>
            </p:nvSpPr>
            <p:spPr>
              <a:xfrm>
                <a:off x="4065469" y="1031413"/>
                <a:ext cx="3811500" cy="83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It helps identify and correct situations where researchers have engaged in questionable research practices</a:t>
                </a:r>
                <a:endParaRPr/>
              </a:p>
            </p:txBody>
          </p:sp>
          <p:sp>
            <p:nvSpPr>
              <p:cNvPr id="489" name="Google Shape;489;g3a2a2411fe0_0_245"/>
              <p:cNvSpPr txBox="1"/>
              <p:nvPr/>
            </p:nvSpPr>
            <p:spPr>
              <a:xfrm>
                <a:off x="3299791" y="1219707"/>
                <a:ext cx="4791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400" u="none" cap="none" strike="noStrik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2</a:t>
                </a:r>
                <a:endParaRPr/>
              </a:p>
            </p:txBody>
          </p:sp>
        </p:grpSp>
        <p:grpSp>
          <p:nvGrpSpPr>
            <p:cNvPr id="490" name="Google Shape;490;g3a2a2411fe0_0_245"/>
            <p:cNvGrpSpPr/>
            <p:nvPr/>
          </p:nvGrpSpPr>
          <p:grpSpPr>
            <a:xfrm>
              <a:off x="506273" y="4313134"/>
              <a:ext cx="4814886" cy="928500"/>
              <a:chOff x="3062010" y="986290"/>
              <a:chExt cx="4814886" cy="928500"/>
            </a:xfrm>
          </p:grpSpPr>
          <p:grpSp>
            <p:nvGrpSpPr>
              <p:cNvPr id="491" name="Google Shape;491;g3a2a2411fe0_0_245"/>
              <p:cNvGrpSpPr/>
              <p:nvPr/>
            </p:nvGrpSpPr>
            <p:grpSpPr>
              <a:xfrm>
                <a:off x="3062010" y="986290"/>
                <a:ext cx="4814752" cy="928500"/>
                <a:chOff x="3062010" y="986290"/>
                <a:chExt cx="4814752" cy="928500"/>
              </a:xfrm>
            </p:grpSpPr>
            <p:sp>
              <p:nvSpPr>
                <p:cNvPr id="492" name="Google Shape;492;g3a2a2411fe0_0_245"/>
                <p:cNvSpPr/>
                <p:nvPr/>
              </p:nvSpPr>
              <p:spPr>
                <a:xfrm>
                  <a:off x="3778762" y="986291"/>
                  <a:ext cx="4098000" cy="917700"/>
                </a:xfrm>
                <a:prstGeom prst="rect">
                  <a:avLst/>
                </a:prstGeom>
                <a:solidFill>
                  <a:srgbClr val="FDCADF"/>
                </a:solidFill>
                <a:ln cap="flat" cmpd="sng" w="25400">
                  <a:solidFill>
                    <a:srgbClr val="FDCAD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3" name="Google Shape;493;g3a2a2411fe0_0_245"/>
                <p:cNvSpPr/>
                <p:nvPr/>
              </p:nvSpPr>
              <p:spPr>
                <a:xfrm>
                  <a:off x="3062010" y="986290"/>
                  <a:ext cx="940800" cy="928500"/>
                </a:xfrm>
                <a:prstGeom prst="roundRect">
                  <a:avLst>
                    <a:gd fmla="val 16667" name="adj"/>
                  </a:avLst>
                </a:prstGeom>
                <a:solidFill>
                  <a:schemeClr val="accent5"/>
                </a:solidFill>
                <a:ln cap="flat" cmpd="sng" w="25400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94" name="Google Shape;494;g3a2a2411fe0_0_245"/>
              <p:cNvSpPr txBox="1"/>
              <p:nvPr/>
            </p:nvSpPr>
            <p:spPr>
              <a:xfrm>
                <a:off x="4079196" y="1029720"/>
                <a:ext cx="3797700" cy="83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Creating a culture of reproducibility can ​</a:t>
                </a:r>
                <a:b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discourage researchers from reporting only ​</a:t>
                </a:r>
                <a:b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those findings that are significant/exciting ​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95" name="Google Shape;495;g3a2a2411fe0_0_245"/>
              <p:cNvSpPr txBox="1"/>
              <p:nvPr/>
            </p:nvSpPr>
            <p:spPr>
              <a:xfrm>
                <a:off x="3299791" y="1219707"/>
                <a:ext cx="4791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400" u="none" cap="none" strike="noStrik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3</a:t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0" name="Google Shape;500;g3a2a2411fe0_0_271"/>
          <p:cNvGrpSpPr/>
          <p:nvPr/>
        </p:nvGrpSpPr>
        <p:grpSpPr>
          <a:xfrm>
            <a:off x="293400" y="2938032"/>
            <a:ext cx="8557200" cy="3546952"/>
            <a:chOff x="293400" y="2938032"/>
            <a:chExt cx="8557200" cy="3546952"/>
          </a:xfrm>
        </p:grpSpPr>
        <p:sp>
          <p:nvSpPr>
            <p:cNvPr id="501" name="Google Shape;501;g3a2a2411fe0_0_271"/>
            <p:cNvSpPr/>
            <p:nvPr/>
          </p:nvSpPr>
          <p:spPr>
            <a:xfrm>
              <a:off x="293400" y="3470389"/>
              <a:ext cx="8557200" cy="2451600"/>
            </a:xfrm>
            <a:prstGeom prst="rect">
              <a:avLst/>
            </a:prstGeom>
            <a:solidFill>
              <a:srgbClr val="FEC6DB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02" name="Google Shape;502;g3a2a2411fe0_0_271"/>
            <p:cNvPicPr preferRelativeResize="0"/>
            <p:nvPr/>
          </p:nvPicPr>
          <p:blipFill rotWithShape="1">
            <a:blip r:embed="rId3">
              <a:alphaModFix/>
            </a:blip>
            <a:srcRect b="43829" l="21923" r="0" t="0"/>
            <a:stretch/>
          </p:blipFill>
          <p:spPr>
            <a:xfrm>
              <a:off x="311224" y="3556113"/>
              <a:ext cx="2141769" cy="23464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03" name="Google Shape;503;g3a2a2411fe0_0_271"/>
            <p:cNvGrpSpPr/>
            <p:nvPr/>
          </p:nvGrpSpPr>
          <p:grpSpPr>
            <a:xfrm>
              <a:off x="1058800" y="2938032"/>
              <a:ext cx="3722238" cy="3546952"/>
              <a:chOff x="1058800" y="2938032"/>
              <a:chExt cx="3722238" cy="3546952"/>
            </a:xfrm>
          </p:grpSpPr>
          <p:pic>
            <p:nvPicPr>
              <p:cNvPr id="504" name="Google Shape;504;g3a2a2411fe0_0_271"/>
              <p:cNvPicPr preferRelativeResize="0"/>
              <p:nvPr/>
            </p:nvPicPr>
            <p:blipFill rotWithShape="1">
              <a:blip r:embed="rId4">
                <a:alphaModFix/>
              </a:blip>
              <a:srcRect b="20172" l="6031" r="55152" t="23745"/>
              <a:stretch/>
            </p:blipFill>
            <p:spPr>
              <a:xfrm rot="9388692">
                <a:off x="1454372" y="3415218"/>
                <a:ext cx="2931094" cy="259258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05" name="Google Shape;505;g3a2a2411fe0_0_271"/>
              <p:cNvSpPr txBox="1"/>
              <p:nvPr/>
            </p:nvSpPr>
            <p:spPr>
              <a:xfrm>
                <a:off x="1945821" y="3815605"/>
                <a:ext cx="2008500" cy="188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The assessors/markers </a:t>
                </a:r>
                <a:b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of your final research project can see how thorough and transparent you have been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06" name="Google Shape;506;g3a2a2411fe0_0_271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How does this impact you?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t/>
            </a:r>
            <a:endParaRPr/>
          </a:p>
        </p:txBody>
      </p:sp>
      <p:sp>
        <p:nvSpPr>
          <p:cNvPr id="507" name="Google Shape;507;g3a2a2411fe0_0_271"/>
          <p:cNvSpPr txBox="1"/>
          <p:nvPr>
            <p:ph idx="4294967295" type="body"/>
          </p:nvPr>
        </p:nvSpPr>
        <p:spPr>
          <a:xfrm>
            <a:off x="311224" y="999865"/>
            <a:ext cx="74106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b="1" lang="en-US" sz="2800">
                <a:solidFill>
                  <a:srgbClr val="000000"/>
                </a:solidFill>
              </a:rPr>
            </a:br>
            <a:br>
              <a:rPr b="1" lang="en-US" sz="2800">
                <a:solidFill>
                  <a:srgbClr val="000000"/>
                </a:solidFill>
              </a:rPr>
            </a:br>
            <a:br>
              <a:rPr b="1" lang="en-US" sz="2800">
                <a:solidFill>
                  <a:srgbClr val="000000"/>
                </a:solidFill>
              </a:rPr>
            </a:br>
            <a:br>
              <a:rPr b="1" lang="en-US" sz="2800">
                <a:solidFill>
                  <a:srgbClr val="000000"/>
                </a:solidFill>
              </a:rPr>
            </a:br>
            <a:br>
              <a:rPr b="1" lang="en-US" sz="2800">
                <a:solidFill>
                  <a:srgbClr val="000000"/>
                </a:solidFill>
              </a:rPr>
            </a:br>
            <a:endParaRPr b="1">
              <a:solidFill>
                <a:srgbClr val="000000"/>
              </a:solidFill>
            </a:endParaRPr>
          </a:p>
        </p:txBody>
      </p:sp>
      <p:grpSp>
        <p:nvGrpSpPr>
          <p:cNvPr id="508" name="Google Shape;508;g3a2a2411fe0_0_271"/>
          <p:cNvGrpSpPr/>
          <p:nvPr/>
        </p:nvGrpSpPr>
        <p:grpSpPr>
          <a:xfrm>
            <a:off x="273127" y="765975"/>
            <a:ext cx="8568676" cy="3036598"/>
            <a:chOff x="273127" y="765975"/>
            <a:chExt cx="8568676" cy="3036598"/>
          </a:xfrm>
        </p:grpSpPr>
        <p:sp>
          <p:nvSpPr>
            <p:cNvPr id="509" name="Google Shape;509;g3a2a2411fe0_0_271"/>
            <p:cNvSpPr/>
            <p:nvPr/>
          </p:nvSpPr>
          <p:spPr>
            <a:xfrm>
              <a:off x="284603" y="960188"/>
              <a:ext cx="8557200" cy="2451600"/>
            </a:xfrm>
            <a:prstGeom prst="rect">
              <a:avLst/>
            </a:prstGeom>
            <a:solidFill>
              <a:srgbClr val="FEC6DB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10" name="Google Shape;510;g3a2a2411fe0_0_271"/>
            <p:cNvPicPr preferRelativeResize="0"/>
            <p:nvPr/>
          </p:nvPicPr>
          <p:blipFill rotWithShape="1">
            <a:blip r:embed="rId5">
              <a:alphaModFix/>
            </a:blip>
            <a:srcRect b="49119" l="0" r="22815" t="0"/>
            <a:stretch/>
          </p:blipFill>
          <p:spPr>
            <a:xfrm flipH="1">
              <a:off x="273127" y="1142225"/>
              <a:ext cx="2183510" cy="223589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11" name="Google Shape;511;g3a2a2411fe0_0_271"/>
            <p:cNvGrpSpPr/>
            <p:nvPr/>
          </p:nvGrpSpPr>
          <p:grpSpPr>
            <a:xfrm>
              <a:off x="1035857" y="765975"/>
              <a:ext cx="3874534" cy="3036598"/>
              <a:chOff x="1035857" y="765975"/>
              <a:chExt cx="3874534" cy="3036598"/>
            </a:xfrm>
          </p:grpSpPr>
          <p:pic>
            <p:nvPicPr>
              <p:cNvPr id="512" name="Google Shape;512;g3a2a2411fe0_0_271"/>
              <p:cNvPicPr preferRelativeResize="0"/>
              <p:nvPr/>
            </p:nvPicPr>
            <p:blipFill rotWithShape="1">
              <a:blip r:embed="rId4">
                <a:alphaModFix/>
              </a:blip>
              <a:srcRect b="20172" l="6031" r="55152" t="23745"/>
              <a:stretch/>
            </p:blipFill>
            <p:spPr>
              <a:xfrm rot="10195894">
                <a:off x="1224221" y="1052760"/>
                <a:ext cx="3497805" cy="24630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3" name="Google Shape;513;g3a2a2411fe0_0_271"/>
              <p:cNvSpPr txBox="1"/>
              <p:nvPr/>
            </p:nvSpPr>
            <p:spPr>
              <a:xfrm>
                <a:off x="1586637" y="1667604"/>
                <a:ext cx="2726700" cy="139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Engaging in reproducible practices minimises the likelihood of questionable research practices, no matter what discipline you are in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514" name="Google Shape;514;g3a2a2411fe0_0_271"/>
          <p:cNvGrpSpPr/>
          <p:nvPr/>
        </p:nvGrpSpPr>
        <p:grpSpPr>
          <a:xfrm>
            <a:off x="4354792" y="798116"/>
            <a:ext cx="4504605" cy="3018519"/>
            <a:chOff x="4354792" y="798116"/>
            <a:chExt cx="4504605" cy="3018519"/>
          </a:xfrm>
        </p:grpSpPr>
        <p:pic>
          <p:nvPicPr>
            <p:cNvPr id="515" name="Google Shape;515;g3a2a2411fe0_0_271"/>
            <p:cNvPicPr preferRelativeResize="0"/>
            <p:nvPr/>
          </p:nvPicPr>
          <p:blipFill rotWithShape="1">
            <a:blip r:embed="rId6">
              <a:alphaModFix/>
            </a:blip>
            <a:srcRect b="46386" l="0" r="4452" t="0"/>
            <a:stretch/>
          </p:blipFill>
          <p:spPr>
            <a:xfrm>
              <a:off x="6525630" y="1314016"/>
              <a:ext cx="2333767" cy="207572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16" name="Google Shape;516;g3a2a2411fe0_0_271"/>
            <p:cNvGrpSpPr/>
            <p:nvPr/>
          </p:nvGrpSpPr>
          <p:grpSpPr>
            <a:xfrm>
              <a:off x="4354792" y="798116"/>
              <a:ext cx="3367031" cy="3018519"/>
              <a:chOff x="4354792" y="798116"/>
              <a:chExt cx="3367031" cy="3018519"/>
            </a:xfrm>
          </p:grpSpPr>
          <p:pic>
            <p:nvPicPr>
              <p:cNvPr id="517" name="Google Shape;517;g3a2a2411fe0_0_271"/>
              <p:cNvPicPr preferRelativeResize="0"/>
              <p:nvPr/>
            </p:nvPicPr>
            <p:blipFill rotWithShape="1">
              <a:blip r:embed="rId4">
                <a:alphaModFix/>
              </a:blip>
              <a:srcRect b="20172" l="6031" r="55152" t="23745"/>
              <a:stretch/>
            </p:blipFill>
            <p:spPr>
              <a:xfrm flipH="1" rot="-9785605">
                <a:off x="4627904" y="1158629"/>
                <a:ext cx="2820806" cy="229749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8" name="Google Shape;518;g3a2a2411fe0_0_271"/>
              <p:cNvSpPr txBox="1"/>
              <p:nvPr/>
            </p:nvSpPr>
            <p:spPr>
              <a:xfrm>
                <a:off x="4841240" y="1622951"/>
                <a:ext cx="2333400" cy="139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It can make</a:t>
                </a:r>
                <a:b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 research better by reducing bias and/or teasing out other flaws in research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19" name="Google Shape;519;g3a2a2411fe0_0_271"/>
          <p:cNvGrpSpPr/>
          <p:nvPr/>
        </p:nvGrpSpPr>
        <p:grpSpPr>
          <a:xfrm>
            <a:off x="4601094" y="3346288"/>
            <a:ext cx="4231682" cy="2576076"/>
            <a:chOff x="4601094" y="3346288"/>
            <a:chExt cx="4231682" cy="2576076"/>
          </a:xfrm>
        </p:grpSpPr>
        <p:pic>
          <p:nvPicPr>
            <p:cNvPr id="520" name="Google Shape;520;g3a2a2411fe0_0_271"/>
            <p:cNvPicPr preferRelativeResize="0"/>
            <p:nvPr/>
          </p:nvPicPr>
          <p:blipFill rotWithShape="1">
            <a:blip r:embed="rId7">
              <a:alphaModFix/>
            </a:blip>
            <a:srcRect b="38034" l="0" r="9272" t="0"/>
            <a:stretch/>
          </p:blipFill>
          <p:spPr>
            <a:xfrm>
              <a:off x="6810233" y="3761036"/>
              <a:ext cx="2022543" cy="216132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21" name="Google Shape;521;g3a2a2411fe0_0_271"/>
            <p:cNvGrpSpPr/>
            <p:nvPr/>
          </p:nvGrpSpPr>
          <p:grpSpPr>
            <a:xfrm>
              <a:off x="4601094" y="3346288"/>
              <a:ext cx="2550576" cy="2072949"/>
              <a:chOff x="4601094" y="3346288"/>
              <a:chExt cx="2550576" cy="2072949"/>
            </a:xfrm>
          </p:grpSpPr>
          <p:pic>
            <p:nvPicPr>
              <p:cNvPr id="522" name="Google Shape;522;g3a2a2411fe0_0_271"/>
              <p:cNvPicPr preferRelativeResize="0"/>
              <p:nvPr/>
            </p:nvPicPr>
            <p:blipFill rotWithShape="1">
              <a:blip r:embed="rId4">
                <a:alphaModFix/>
              </a:blip>
              <a:srcRect b="20172" l="6031" r="55152" t="23745"/>
              <a:stretch/>
            </p:blipFill>
            <p:spPr>
              <a:xfrm>
                <a:off x="4601094" y="3346288"/>
                <a:ext cx="2550576" cy="207294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23" name="Google Shape;523;g3a2a2411fe0_0_271"/>
              <p:cNvSpPr txBox="1"/>
              <p:nvPr/>
            </p:nvSpPr>
            <p:spPr>
              <a:xfrm>
                <a:off x="4888893" y="3775381"/>
                <a:ext cx="2006400" cy="10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While reproducibility practices may take a bit more of your time, they pay off in the end!</a:t>
                </a:r>
                <a:endParaRPr/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8" name="Google Shape;528;g3a2a2411fe0_0_298"/>
          <p:cNvGrpSpPr/>
          <p:nvPr/>
        </p:nvGrpSpPr>
        <p:grpSpPr>
          <a:xfrm>
            <a:off x="336642" y="1396440"/>
            <a:ext cx="8254758" cy="3989160"/>
            <a:chOff x="336642" y="1396440"/>
            <a:chExt cx="8254758" cy="3989160"/>
          </a:xfrm>
        </p:grpSpPr>
        <p:sp>
          <p:nvSpPr>
            <p:cNvPr id="529" name="Google Shape;529;g3a2a2411fe0_0_298"/>
            <p:cNvSpPr/>
            <p:nvPr/>
          </p:nvSpPr>
          <p:spPr>
            <a:xfrm>
              <a:off x="552600" y="1472400"/>
              <a:ext cx="8038800" cy="3913200"/>
            </a:xfrm>
            <a:prstGeom prst="rect">
              <a:avLst/>
            </a:prstGeom>
            <a:solidFill>
              <a:srgbClr val="FEC6DB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30" name="Google Shape;530;g3a2a2411fe0_0_298"/>
            <p:cNvGrpSpPr/>
            <p:nvPr/>
          </p:nvGrpSpPr>
          <p:grpSpPr>
            <a:xfrm>
              <a:off x="1694126" y="1396440"/>
              <a:ext cx="3000000" cy="2604174"/>
              <a:chOff x="1660488" y="399849"/>
              <a:chExt cx="3000000" cy="2604174"/>
            </a:xfrm>
          </p:grpSpPr>
          <p:pic>
            <p:nvPicPr>
              <p:cNvPr id="531" name="Google Shape;531;g3a2a2411fe0_0_298"/>
              <p:cNvPicPr preferRelativeResize="0"/>
              <p:nvPr/>
            </p:nvPicPr>
            <p:blipFill rotWithShape="1">
              <a:blip r:embed="rId3">
                <a:alphaModFix/>
              </a:blip>
              <a:srcRect b="20172" l="6031" r="55152" t="23745"/>
              <a:stretch/>
            </p:blipFill>
            <p:spPr>
              <a:xfrm flipH="1">
                <a:off x="1660489" y="399849"/>
                <a:ext cx="2926411" cy="260417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32" name="Google Shape;532;g3a2a2411fe0_0_298"/>
              <p:cNvSpPr txBox="1"/>
              <p:nvPr/>
            </p:nvSpPr>
            <p:spPr>
              <a:xfrm>
                <a:off x="1660488" y="863475"/>
                <a:ext cx="3000000" cy="139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If you want to publish</a:t>
                </a:r>
                <a:b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 your research, journals are </a:t>
                </a:r>
                <a:b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now publishing more</a:t>
                </a:r>
                <a:b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 reproduction studies </a:t>
                </a:r>
                <a:b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and negative results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533" name="Google Shape;533;g3a2a2411fe0_0_298"/>
            <p:cNvPicPr preferRelativeResize="0"/>
            <p:nvPr/>
          </p:nvPicPr>
          <p:blipFill rotWithShape="1">
            <a:blip r:embed="rId4">
              <a:alphaModFix/>
            </a:blip>
            <a:srcRect b="45802" l="0" r="0" t="0"/>
            <a:stretch/>
          </p:blipFill>
          <p:spPr>
            <a:xfrm flipH="1">
              <a:off x="336642" y="2781426"/>
              <a:ext cx="3000001" cy="260417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4" name="Google Shape;534;g3a2a2411fe0_0_298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How does this impact you?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t/>
            </a:r>
            <a:endParaRPr/>
          </a:p>
        </p:txBody>
      </p:sp>
      <p:sp>
        <p:nvSpPr>
          <p:cNvPr id="535" name="Google Shape;535;g3a2a2411fe0_0_298"/>
          <p:cNvSpPr txBox="1"/>
          <p:nvPr>
            <p:ph idx="4294967295" type="body"/>
          </p:nvPr>
        </p:nvSpPr>
        <p:spPr>
          <a:xfrm>
            <a:off x="9482275" y="571088"/>
            <a:ext cx="1993800" cy="59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br>
              <a:rPr b="1" lang="en-US">
                <a:solidFill>
                  <a:srgbClr val="000000"/>
                </a:solidFill>
              </a:rPr>
            </a:br>
            <a:br>
              <a:rPr lang="en-US">
                <a:solidFill>
                  <a:srgbClr val="000000"/>
                </a:solidFill>
              </a:rPr>
            </a:br>
            <a:br>
              <a:rPr lang="en-US">
                <a:solidFill>
                  <a:srgbClr val="000000"/>
                </a:solidFill>
              </a:rPr>
            </a:br>
            <a:br>
              <a:rPr lang="en-US">
                <a:solidFill>
                  <a:srgbClr val="000000"/>
                </a:solidFill>
              </a:rPr>
            </a:br>
            <a:br>
              <a:rPr lang="en-US">
                <a:solidFill>
                  <a:srgbClr val="000000"/>
                </a:solidFill>
              </a:rPr>
            </a:br>
            <a:br>
              <a:rPr lang="en-US">
                <a:solidFill>
                  <a:srgbClr val="000000"/>
                </a:solidFill>
              </a:rPr>
            </a:br>
            <a:br>
              <a:rPr lang="en-US">
                <a:solidFill>
                  <a:srgbClr val="000000"/>
                </a:solidFill>
              </a:rPr>
            </a:br>
            <a:endParaRPr b="1">
              <a:solidFill>
                <a:srgbClr val="000000"/>
              </a:solidFill>
            </a:endParaRPr>
          </a:p>
        </p:txBody>
      </p:sp>
      <p:grpSp>
        <p:nvGrpSpPr>
          <p:cNvPr id="536" name="Google Shape;536;g3a2a2411fe0_0_298"/>
          <p:cNvGrpSpPr/>
          <p:nvPr/>
        </p:nvGrpSpPr>
        <p:grpSpPr>
          <a:xfrm>
            <a:off x="4367331" y="1420264"/>
            <a:ext cx="4241779" cy="3965336"/>
            <a:chOff x="4367331" y="1420264"/>
            <a:chExt cx="4241779" cy="3965336"/>
          </a:xfrm>
        </p:grpSpPr>
        <p:pic>
          <p:nvPicPr>
            <p:cNvPr id="537" name="Google Shape;537;g3a2a2411fe0_0_298"/>
            <p:cNvPicPr preferRelativeResize="0"/>
            <p:nvPr/>
          </p:nvPicPr>
          <p:blipFill rotWithShape="1">
            <a:blip r:embed="rId5">
              <a:alphaModFix/>
            </a:blip>
            <a:srcRect b="45340" l="0" r="24879" t="0"/>
            <a:stretch/>
          </p:blipFill>
          <p:spPr>
            <a:xfrm>
              <a:off x="6337874" y="2393513"/>
              <a:ext cx="2253527" cy="299208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38" name="Google Shape;538;g3a2a2411fe0_0_298"/>
            <p:cNvGrpSpPr/>
            <p:nvPr/>
          </p:nvGrpSpPr>
          <p:grpSpPr>
            <a:xfrm>
              <a:off x="4367331" y="1420264"/>
              <a:ext cx="3305944" cy="2604174"/>
              <a:chOff x="4308580" y="197999"/>
              <a:chExt cx="3305944" cy="2604174"/>
            </a:xfrm>
          </p:grpSpPr>
          <p:pic>
            <p:nvPicPr>
              <p:cNvPr id="539" name="Google Shape;539;g3a2a2411fe0_0_298"/>
              <p:cNvPicPr preferRelativeResize="0"/>
              <p:nvPr/>
            </p:nvPicPr>
            <p:blipFill rotWithShape="1">
              <a:blip r:embed="rId3">
                <a:alphaModFix/>
              </a:blip>
              <a:srcRect b="20172" l="6031" r="55152" t="23745"/>
              <a:stretch/>
            </p:blipFill>
            <p:spPr>
              <a:xfrm>
                <a:off x="4410375" y="197999"/>
                <a:ext cx="3204149" cy="260417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40" name="Google Shape;540;g3a2a2411fe0_0_298"/>
              <p:cNvSpPr txBox="1"/>
              <p:nvPr/>
            </p:nvSpPr>
            <p:spPr>
              <a:xfrm>
                <a:off x="4308580" y="532490"/>
                <a:ext cx="3302400" cy="163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Being able to assess </a:t>
                </a:r>
                <a:b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published research for </a:t>
                </a:r>
                <a:b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reproducibility gives you a </a:t>
                </a:r>
                <a:b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better understanding of </a:t>
                </a:r>
                <a:b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what research is reliable</a:t>
                </a:r>
                <a:b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 (or not)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541" name="Google Shape;541;g3a2a2411fe0_0_29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594261" y="1524077"/>
              <a:ext cx="1014849" cy="119827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a2a2411fe0_0_315"/>
          <p:cNvSpPr/>
          <p:nvPr/>
        </p:nvSpPr>
        <p:spPr>
          <a:xfrm>
            <a:off x="552600" y="1472400"/>
            <a:ext cx="8038800" cy="3913200"/>
          </a:xfrm>
          <a:prstGeom prst="rect">
            <a:avLst/>
          </a:prstGeom>
          <a:solidFill>
            <a:srgbClr val="FEC6DB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g3a2a2411fe0_0_315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How does this impact you?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t/>
            </a:r>
            <a:endParaRPr/>
          </a:p>
        </p:txBody>
      </p:sp>
      <p:sp>
        <p:nvSpPr>
          <p:cNvPr id="548" name="Google Shape;548;g3a2a2411fe0_0_315"/>
          <p:cNvSpPr txBox="1"/>
          <p:nvPr>
            <p:ph idx="4294967295" type="body"/>
          </p:nvPr>
        </p:nvSpPr>
        <p:spPr>
          <a:xfrm>
            <a:off x="9482275" y="571088"/>
            <a:ext cx="1993800" cy="59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br>
              <a:rPr b="1" lang="en-US">
                <a:solidFill>
                  <a:srgbClr val="000000"/>
                </a:solidFill>
              </a:rPr>
            </a:br>
            <a:br>
              <a:rPr lang="en-US">
                <a:solidFill>
                  <a:srgbClr val="000000"/>
                </a:solidFill>
              </a:rPr>
            </a:br>
            <a:br>
              <a:rPr lang="en-US">
                <a:solidFill>
                  <a:srgbClr val="000000"/>
                </a:solidFill>
              </a:rPr>
            </a:br>
            <a:br>
              <a:rPr lang="en-US">
                <a:solidFill>
                  <a:srgbClr val="000000"/>
                </a:solidFill>
              </a:rPr>
            </a:br>
            <a:br>
              <a:rPr lang="en-US">
                <a:solidFill>
                  <a:srgbClr val="000000"/>
                </a:solidFill>
              </a:rPr>
            </a:br>
            <a:br>
              <a:rPr lang="en-US">
                <a:solidFill>
                  <a:srgbClr val="000000"/>
                </a:solidFill>
              </a:rPr>
            </a:br>
            <a:br>
              <a:rPr lang="en-US">
                <a:solidFill>
                  <a:srgbClr val="000000"/>
                </a:solidFill>
              </a:rPr>
            </a:br>
            <a:endParaRPr b="1">
              <a:solidFill>
                <a:srgbClr val="000000"/>
              </a:solidFill>
            </a:endParaRPr>
          </a:p>
        </p:txBody>
      </p:sp>
      <p:pic>
        <p:nvPicPr>
          <p:cNvPr id="549" name="Google Shape;549;g3a2a2411fe0_0_3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4861" y="2519390"/>
            <a:ext cx="5631501" cy="1426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g3a2a2411fe0_0_315"/>
          <p:cNvPicPr preferRelativeResize="0"/>
          <p:nvPr/>
        </p:nvPicPr>
        <p:blipFill rotWithShape="1">
          <a:blip r:embed="rId4">
            <a:alphaModFix/>
          </a:blip>
          <a:srcRect b="39294" l="0" r="0" t="0"/>
          <a:stretch/>
        </p:blipFill>
        <p:spPr>
          <a:xfrm flipH="1">
            <a:off x="5896848" y="2867150"/>
            <a:ext cx="2921126" cy="251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g3a2a2411fe0_0_315"/>
          <p:cNvPicPr preferRelativeResize="0"/>
          <p:nvPr/>
        </p:nvPicPr>
        <p:blipFill rotWithShape="1">
          <a:blip r:embed="rId5">
            <a:alphaModFix/>
          </a:blip>
          <a:srcRect b="53148" l="0" r="0" t="0"/>
          <a:stretch/>
        </p:blipFill>
        <p:spPr>
          <a:xfrm>
            <a:off x="254000" y="2550500"/>
            <a:ext cx="3494599" cy="2835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2" name="Google Shape;552;g3a2a2411fe0_0_315"/>
          <p:cNvGrpSpPr/>
          <p:nvPr/>
        </p:nvGrpSpPr>
        <p:grpSpPr>
          <a:xfrm>
            <a:off x="4752133" y="1404261"/>
            <a:ext cx="2926402" cy="2378443"/>
            <a:chOff x="1612223" y="510700"/>
            <a:chExt cx="2926402" cy="2378444"/>
          </a:xfrm>
        </p:grpSpPr>
        <p:pic>
          <p:nvPicPr>
            <p:cNvPr id="553" name="Google Shape;553;g3a2a2411fe0_0_315"/>
            <p:cNvPicPr preferRelativeResize="0"/>
            <p:nvPr/>
          </p:nvPicPr>
          <p:blipFill rotWithShape="1">
            <a:blip r:embed="rId6">
              <a:alphaModFix/>
            </a:blip>
            <a:srcRect b="20172" l="6031" r="55152" t="23745"/>
            <a:stretch/>
          </p:blipFill>
          <p:spPr>
            <a:xfrm>
              <a:off x="1612223" y="510700"/>
              <a:ext cx="2926402" cy="23784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4" name="Google Shape;554;g3a2a2411fe0_0_315"/>
            <p:cNvSpPr txBox="1"/>
            <p:nvPr/>
          </p:nvSpPr>
          <p:spPr>
            <a:xfrm>
              <a:off x="1797485" y="1107871"/>
              <a:ext cx="2556000" cy="95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 also helps develop a 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more reliable evidence base 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for policy or practice decisions that impact society</a:t>
              </a:r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on a stage&#10;&#10;Description automatically generated with low confidence" id="559" name="Google Shape;559;g3a2a2411fe0_0_3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9036"/>
            <a:ext cx="9144000" cy="5144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560" name="Google Shape;560;g3a2a2411fe0_0_3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565" name="Google Shape;565;g3a2a2411fe0_0_474"/>
          <p:cNvPicPr preferRelativeResize="0"/>
          <p:nvPr/>
        </p:nvPicPr>
        <p:blipFill rotWithShape="1">
          <a:blip r:embed="rId3">
            <a:alphaModFix/>
          </a:blip>
          <a:srcRect b="11535" l="33074" r="0" t="0"/>
          <a:stretch/>
        </p:blipFill>
        <p:spPr>
          <a:xfrm>
            <a:off x="2150534" y="0"/>
            <a:ext cx="6993469" cy="6933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566" name="Google Shape;566;g3a2a2411fe0_0_4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g3a2a2411fe0_0_474"/>
          <p:cNvSpPr txBox="1"/>
          <p:nvPr/>
        </p:nvSpPr>
        <p:spPr>
          <a:xfrm>
            <a:off x="364243" y="1660140"/>
            <a:ext cx="36972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Principles &amp; Practices </a:t>
            </a:r>
            <a:b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of Open Research</a:t>
            </a:r>
            <a:endParaRPr b="1" i="0" sz="21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8" name="Google Shape;568;g3a2a2411fe0_0_474"/>
          <p:cNvSpPr txBox="1"/>
          <p:nvPr/>
        </p:nvSpPr>
        <p:spPr>
          <a:xfrm>
            <a:off x="364243" y="2239799"/>
            <a:ext cx="36141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 online module for undergraduate and </a:t>
            </a:r>
            <a:b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Masters students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gram, venn diagram&#10;&#10;Description automatically generated" id="573" name="Google Shape;573;g3a2a2411fe0_0_4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8200" y="1555200"/>
            <a:ext cx="3747600" cy="3747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g3a2a2411fe0_0_481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lang="en-US" sz="2000"/>
              <a:t>Module 4 – </a:t>
            </a:r>
            <a:r>
              <a:rPr b="1" lang="en-US" sz="2000"/>
              <a:t>Reproducible Practices</a:t>
            </a:r>
            <a:endParaRPr sz="2000"/>
          </a:p>
        </p:txBody>
      </p:sp>
      <p:sp>
        <p:nvSpPr>
          <p:cNvPr id="575" name="Google Shape;575;g3a2a2411fe0_0_481"/>
          <p:cNvSpPr txBox="1"/>
          <p:nvPr/>
        </p:nvSpPr>
        <p:spPr>
          <a:xfrm>
            <a:off x="2743224" y="1565991"/>
            <a:ext cx="3702600" cy="1820100"/>
          </a:xfrm>
          <a:prstGeom prst="rect">
            <a:avLst/>
          </a:prstGeom>
          <a:noFill/>
          <a:ln>
            <a:noFill/>
          </a:ln>
          <a:effectLst>
            <a:outerShdw blurRad="165100" sx="103000" rotWithShape="0" algn="tl" dir="2700000" dist="38100" sy="103000">
              <a:srgbClr val="000000">
                <a:alpha val="24310"/>
              </a:srgbClr>
            </a:outerShdw>
          </a:effectLst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How do we make research more reproducible?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0" name="Google Shape;580;g3a2a2411fe0_0_487"/>
          <p:cNvGrpSpPr/>
          <p:nvPr/>
        </p:nvGrpSpPr>
        <p:grpSpPr>
          <a:xfrm>
            <a:off x="346986" y="1472400"/>
            <a:ext cx="8244414" cy="3913200"/>
            <a:chOff x="346986" y="1472400"/>
            <a:chExt cx="8244414" cy="3913200"/>
          </a:xfrm>
        </p:grpSpPr>
        <p:sp>
          <p:nvSpPr>
            <p:cNvPr id="581" name="Google Shape;581;g3a2a2411fe0_0_487"/>
            <p:cNvSpPr/>
            <p:nvPr/>
          </p:nvSpPr>
          <p:spPr>
            <a:xfrm>
              <a:off x="552600" y="1472400"/>
              <a:ext cx="8038800" cy="3913200"/>
            </a:xfrm>
            <a:prstGeom prst="rect">
              <a:avLst/>
            </a:prstGeom>
            <a:solidFill>
              <a:srgbClr val="FEC6DB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2" name="Google Shape;582;g3a2a2411fe0_0_487"/>
            <p:cNvGrpSpPr/>
            <p:nvPr/>
          </p:nvGrpSpPr>
          <p:grpSpPr>
            <a:xfrm>
              <a:off x="2263866" y="1521828"/>
              <a:ext cx="2618325" cy="2204204"/>
              <a:chOff x="1477808" y="1592137"/>
              <a:chExt cx="2618325" cy="2204204"/>
            </a:xfrm>
          </p:grpSpPr>
          <p:pic>
            <p:nvPicPr>
              <p:cNvPr id="583" name="Google Shape;583;g3a2a2411fe0_0_487"/>
              <p:cNvPicPr preferRelativeResize="0"/>
              <p:nvPr/>
            </p:nvPicPr>
            <p:blipFill rotWithShape="1">
              <a:blip r:embed="rId3">
                <a:alphaModFix/>
              </a:blip>
              <a:srcRect b="20172" l="6031" r="55152" t="23745"/>
              <a:stretch/>
            </p:blipFill>
            <p:spPr>
              <a:xfrm flipH="1" rot="-154420">
                <a:off x="1523522" y="1647815"/>
                <a:ext cx="2526898" cy="20928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84" name="Google Shape;584;g3a2a2411fe0_0_487"/>
              <p:cNvSpPr txBox="1"/>
              <p:nvPr/>
            </p:nvSpPr>
            <p:spPr>
              <a:xfrm>
                <a:off x="1767013" y="2107966"/>
                <a:ext cx="2074800" cy="89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There are lots of things that can impact on reproducibility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pic>
          <p:nvPicPr>
            <p:cNvPr id="585" name="Google Shape;585;g3a2a2411fe0_0_487"/>
            <p:cNvPicPr preferRelativeResize="0"/>
            <p:nvPr/>
          </p:nvPicPr>
          <p:blipFill rotWithShape="1">
            <a:blip r:embed="rId4">
              <a:alphaModFix/>
            </a:blip>
            <a:srcRect b="49874" l="0" r="0" t="0"/>
            <a:stretch/>
          </p:blipFill>
          <p:spPr>
            <a:xfrm>
              <a:off x="346986" y="2504661"/>
              <a:ext cx="2716119" cy="288093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86" name="Google Shape;586;g3a2a2411fe0_0_487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What kinds of things decrease reproducibility?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t/>
            </a:r>
            <a:endParaRPr/>
          </a:p>
        </p:txBody>
      </p:sp>
      <p:grpSp>
        <p:nvGrpSpPr>
          <p:cNvPr id="587" name="Google Shape;587;g3a2a2411fe0_0_487"/>
          <p:cNvGrpSpPr/>
          <p:nvPr/>
        </p:nvGrpSpPr>
        <p:grpSpPr>
          <a:xfrm>
            <a:off x="4250307" y="2199861"/>
            <a:ext cx="4341090" cy="3357409"/>
            <a:chOff x="4250307" y="2199861"/>
            <a:chExt cx="4341090" cy="3357409"/>
          </a:xfrm>
        </p:grpSpPr>
        <p:grpSp>
          <p:nvGrpSpPr>
            <p:cNvPr id="588" name="Google Shape;588;g3a2a2411fe0_0_487"/>
            <p:cNvGrpSpPr/>
            <p:nvPr/>
          </p:nvGrpSpPr>
          <p:grpSpPr>
            <a:xfrm>
              <a:off x="4250307" y="3349720"/>
              <a:ext cx="2716118" cy="2207550"/>
              <a:chOff x="4582548" y="2437023"/>
              <a:chExt cx="2716118" cy="2207550"/>
            </a:xfrm>
          </p:grpSpPr>
          <p:pic>
            <p:nvPicPr>
              <p:cNvPr id="589" name="Google Shape;589;g3a2a2411fe0_0_487"/>
              <p:cNvPicPr preferRelativeResize="0"/>
              <p:nvPr/>
            </p:nvPicPr>
            <p:blipFill rotWithShape="1">
              <a:blip r:embed="rId3">
                <a:alphaModFix/>
              </a:blip>
              <a:srcRect b="20172" l="6031" r="55152" t="23745"/>
              <a:stretch/>
            </p:blipFill>
            <p:spPr>
              <a:xfrm flipH="1" rot="10800000">
                <a:off x="4582548" y="2437023"/>
                <a:ext cx="2716118" cy="22075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90" name="Google Shape;590;g3a2a2411fe0_0_487"/>
              <p:cNvSpPr txBox="1"/>
              <p:nvPr/>
            </p:nvSpPr>
            <p:spPr>
              <a:xfrm>
                <a:off x="4711356" y="2680860"/>
                <a:ext cx="2458500" cy="139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b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Things like flaws in study design, researcher biases, and misunderstanding analytical approaches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591" name="Google Shape;591;g3a2a2411fe0_0_487"/>
            <p:cNvPicPr preferRelativeResize="0"/>
            <p:nvPr/>
          </p:nvPicPr>
          <p:blipFill rotWithShape="1">
            <a:blip r:embed="rId5">
              <a:alphaModFix/>
            </a:blip>
            <a:srcRect b="52896" l="8883" r="0" t="0"/>
            <a:stretch/>
          </p:blipFill>
          <p:spPr>
            <a:xfrm flipH="1">
              <a:off x="6334538" y="2199861"/>
              <a:ext cx="2256859" cy="317231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6" name="Google Shape;596;g3a2a2411fe0_0_502"/>
          <p:cNvGrpSpPr/>
          <p:nvPr/>
        </p:nvGrpSpPr>
        <p:grpSpPr>
          <a:xfrm>
            <a:off x="552600" y="1367108"/>
            <a:ext cx="8038800" cy="4145388"/>
            <a:chOff x="552600" y="1367108"/>
            <a:chExt cx="8038800" cy="4145388"/>
          </a:xfrm>
        </p:grpSpPr>
        <p:sp>
          <p:nvSpPr>
            <p:cNvPr id="597" name="Google Shape;597;g3a2a2411fe0_0_502"/>
            <p:cNvSpPr/>
            <p:nvPr/>
          </p:nvSpPr>
          <p:spPr>
            <a:xfrm>
              <a:off x="552600" y="1472400"/>
              <a:ext cx="8038800" cy="3913200"/>
            </a:xfrm>
            <a:prstGeom prst="rect">
              <a:avLst/>
            </a:prstGeom>
            <a:solidFill>
              <a:srgbClr val="FEC6DB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98" name="Google Shape;598;g3a2a2411fe0_0_502"/>
            <p:cNvGrpSpPr/>
            <p:nvPr/>
          </p:nvGrpSpPr>
          <p:grpSpPr>
            <a:xfrm>
              <a:off x="1451018" y="1367108"/>
              <a:ext cx="2716118" cy="2207550"/>
              <a:chOff x="1930723" y="1050823"/>
              <a:chExt cx="2716118" cy="2207550"/>
            </a:xfrm>
          </p:grpSpPr>
          <p:pic>
            <p:nvPicPr>
              <p:cNvPr id="599" name="Google Shape;599;g3a2a2411fe0_0_502"/>
              <p:cNvPicPr preferRelativeResize="0"/>
              <p:nvPr/>
            </p:nvPicPr>
            <p:blipFill rotWithShape="1">
              <a:blip r:embed="rId3">
                <a:alphaModFix/>
              </a:blip>
              <a:srcRect b="20172" l="6031" r="55152" t="23745"/>
              <a:stretch/>
            </p:blipFill>
            <p:spPr>
              <a:xfrm flipH="1">
                <a:off x="1930723" y="1050823"/>
                <a:ext cx="2716118" cy="22075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0" name="Google Shape;600;g3a2a2411fe0_0_502"/>
              <p:cNvSpPr txBox="1"/>
              <p:nvPr/>
            </p:nvSpPr>
            <p:spPr>
              <a:xfrm>
                <a:off x="2170062" y="1407548"/>
                <a:ext cx="2291400" cy="11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Reproducibility may also be decreased by poor record-keeping, mistakes, and lack of training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pic>
          <p:nvPicPr>
            <p:cNvPr descr="A picture containing text, vector graphics&#10;&#10;Description automatically generated" id="601" name="Google Shape;601;g3a2a2411fe0_0_50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552859" y="2604765"/>
              <a:ext cx="1981275" cy="290773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2" name="Google Shape;602;g3a2a2411fe0_0_502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What kinds of things decrease reproducibility?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t/>
            </a:r>
            <a:endParaRPr/>
          </a:p>
        </p:txBody>
      </p:sp>
      <p:grpSp>
        <p:nvGrpSpPr>
          <p:cNvPr id="603" name="Google Shape;603;g3a2a2411fe0_0_502"/>
          <p:cNvGrpSpPr/>
          <p:nvPr/>
        </p:nvGrpSpPr>
        <p:grpSpPr>
          <a:xfrm>
            <a:off x="3875860" y="1474672"/>
            <a:ext cx="4715540" cy="3929011"/>
            <a:chOff x="3875860" y="1474672"/>
            <a:chExt cx="4715540" cy="3929011"/>
          </a:xfrm>
        </p:grpSpPr>
        <p:pic>
          <p:nvPicPr>
            <p:cNvPr id="604" name="Google Shape;604;g3a2a2411fe0_0_50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7787461" y="1474672"/>
              <a:ext cx="803939" cy="802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5" name="Google Shape;605;g3a2a2411fe0_0_50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>
              <a:off x="6212985" y="1577463"/>
              <a:ext cx="2204817" cy="242761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06" name="Google Shape;606;g3a2a2411fe0_0_502"/>
            <p:cNvGrpSpPr/>
            <p:nvPr/>
          </p:nvGrpSpPr>
          <p:grpSpPr>
            <a:xfrm>
              <a:off x="3875860" y="2812058"/>
              <a:ext cx="3188698" cy="2591625"/>
              <a:chOff x="3315763" y="2308150"/>
              <a:chExt cx="3188698" cy="2591625"/>
            </a:xfrm>
          </p:grpSpPr>
          <p:pic>
            <p:nvPicPr>
              <p:cNvPr id="607" name="Google Shape;607;g3a2a2411fe0_0_502"/>
              <p:cNvPicPr preferRelativeResize="0"/>
              <p:nvPr/>
            </p:nvPicPr>
            <p:blipFill rotWithShape="1">
              <a:blip r:embed="rId3">
                <a:alphaModFix/>
              </a:blip>
              <a:srcRect b="20172" l="6031" r="55152" t="23745"/>
              <a:stretch/>
            </p:blipFill>
            <p:spPr>
              <a:xfrm flipH="1" rot="10800000">
                <a:off x="3315763" y="2308150"/>
                <a:ext cx="3188698" cy="25916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8" name="Google Shape;608;g3a2a2411fe0_0_502"/>
              <p:cNvSpPr txBox="1"/>
              <p:nvPr/>
            </p:nvSpPr>
            <p:spPr>
              <a:xfrm>
                <a:off x="3410111" y="2814255"/>
                <a:ext cx="3000000" cy="163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As well as poor sharing </a:t>
                </a:r>
                <a:b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of research approaches, selective reporting of findings and methods, and incentives to publish more</a:t>
                </a:r>
                <a:b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 and faster, at the cost </a:t>
                </a:r>
                <a:b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of rigour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a2a2411fe0_0_518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How can we make research more reliable and reproducible?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t/>
            </a:r>
            <a:endParaRPr/>
          </a:p>
        </p:txBody>
      </p:sp>
      <p:grpSp>
        <p:nvGrpSpPr>
          <p:cNvPr id="614" name="Google Shape;614;g3a2a2411fe0_0_518"/>
          <p:cNvGrpSpPr/>
          <p:nvPr/>
        </p:nvGrpSpPr>
        <p:grpSpPr>
          <a:xfrm>
            <a:off x="389344" y="896839"/>
            <a:ext cx="8355212" cy="5064322"/>
            <a:chOff x="435941" y="898435"/>
            <a:chExt cx="8355212" cy="5064322"/>
          </a:xfrm>
        </p:grpSpPr>
        <p:sp>
          <p:nvSpPr>
            <p:cNvPr id="615" name="Google Shape;615;g3a2a2411fe0_0_518"/>
            <p:cNvSpPr txBox="1"/>
            <p:nvPr/>
          </p:nvSpPr>
          <p:spPr>
            <a:xfrm>
              <a:off x="435941" y="2398837"/>
              <a:ext cx="21876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Carefully document your methods using a data management plan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16" name="Google Shape;616;g3a2a2411fe0_0_518"/>
            <p:cNvSpPr txBox="1"/>
            <p:nvPr/>
          </p:nvSpPr>
          <p:spPr>
            <a:xfrm>
              <a:off x="3523348" y="2398837"/>
              <a:ext cx="20214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Use a uniform filing system with clear folder and filing names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17" name="Google Shape;617;g3a2a2411fe0_0_518"/>
            <p:cNvSpPr txBox="1"/>
            <p:nvPr/>
          </p:nvSpPr>
          <p:spPr>
            <a:xfrm>
              <a:off x="6434653" y="2398837"/>
              <a:ext cx="23565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Store metadata alongside primary data (metadata is data about data)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18" name="Google Shape;618;g3a2a2411fe0_0_518"/>
            <p:cNvSpPr txBox="1"/>
            <p:nvPr/>
          </p:nvSpPr>
          <p:spPr>
            <a:xfrm>
              <a:off x="1600220" y="4916057"/>
              <a:ext cx="24975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Store all research materials in accordance with institutional guidelines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19" name="Google Shape;619;g3a2a2411fe0_0_518"/>
            <p:cNvSpPr txBox="1"/>
            <p:nvPr/>
          </p:nvSpPr>
          <p:spPr>
            <a:xfrm>
              <a:off x="4897147" y="4916057"/>
              <a:ext cx="23088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Consider keeping a digital notebook to share processes and steps used to generate the findings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620" name="Google Shape;620;g3a2a2411fe0_0_518"/>
            <p:cNvGrpSpPr/>
            <p:nvPr/>
          </p:nvGrpSpPr>
          <p:grpSpPr>
            <a:xfrm>
              <a:off x="768039" y="898435"/>
              <a:ext cx="7607907" cy="1537675"/>
              <a:chOff x="876531" y="898435"/>
              <a:chExt cx="7607907" cy="1537675"/>
            </a:xfrm>
          </p:grpSpPr>
          <p:grpSp>
            <p:nvGrpSpPr>
              <p:cNvPr id="621" name="Google Shape;621;g3a2a2411fe0_0_518"/>
              <p:cNvGrpSpPr/>
              <p:nvPr/>
            </p:nvGrpSpPr>
            <p:grpSpPr>
              <a:xfrm>
                <a:off x="876531" y="910010"/>
                <a:ext cx="1526100" cy="1526100"/>
                <a:chOff x="1345882" y="898435"/>
                <a:chExt cx="1526100" cy="1526100"/>
              </a:xfrm>
            </p:grpSpPr>
            <p:sp>
              <p:nvSpPr>
                <p:cNvPr id="622" name="Google Shape;622;g3a2a2411fe0_0_518"/>
                <p:cNvSpPr/>
                <p:nvPr/>
              </p:nvSpPr>
              <p:spPr>
                <a:xfrm>
                  <a:off x="1345882" y="898435"/>
                  <a:ext cx="1526100" cy="15261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id="623" name="Google Shape;623;g3a2a2411fe0_0_51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1392351" y="1060293"/>
                  <a:ext cx="1433176" cy="120240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624" name="Google Shape;624;g3a2a2411fe0_0_518"/>
              <p:cNvGrpSpPr/>
              <p:nvPr/>
            </p:nvGrpSpPr>
            <p:grpSpPr>
              <a:xfrm>
                <a:off x="3917435" y="898435"/>
                <a:ext cx="1526100" cy="1526100"/>
                <a:chOff x="3756534" y="898435"/>
                <a:chExt cx="1526100" cy="1526100"/>
              </a:xfrm>
            </p:grpSpPr>
            <p:sp>
              <p:nvSpPr>
                <p:cNvPr id="625" name="Google Shape;625;g3a2a2411fe0_0_518"/>
                <p:cNvSpPr/>
                <p:nvPr/>
              </p:nvSpPr>
              <p:spPr>
                <a:xfrm>
                  <a:off x="3756534" y="898435"/>
                  <a:ext cx="1526100" cy="15261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id="626" name="Google Shape;626;g3a2a2411fe0_0_51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4045311" y="1049219"/>
                  <a:ext cx="872656" cy="122454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627" name="Google Shape;627;g3a2a2411fe0_0_518"/>
              <p:cNvGrpSpPr/>
              <p:nvPr/>
            </p:nvGrpSpPr>
            <p:grpSpPr>
              <a:xfrm>
                <a:off x="6958338" y="902076"/>
                <a:ext cx="1526100" cy="1526100"/>
                <a:chOff x="6272002" y="900871"/>
                <a:chExt cx="1526100" cy="1526100"/>
              </a:xfrm>
            </p:grpSpPr>
            <p:sp>
              <p:nvSpPr>
                <p:cNvPr id="628" name="Google Shape;628;g3a2a2411fe0_0_518"/>
                <p:cNvSpPr/>
                <p:nvPr/>
              </p:nvSpPr>
              <p:spPr>
                <a:xfrm>
                  <a:off x="6272002" y="900871"/>
                  <a:ext cx="1526100" cy="15261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id="629" name="Google Shape;629;g3a2a2411fe0_0_518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6374111" y="1032989"/>
                  <a:ext cx="1321898" cy="116149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630" name="Google Shape;630;g3a2a2411fe0_0_518"/>
            <p:cNvGrpSpPr/>
            <p:nvPr/>
          </p:nvGrpSpPr>
          <p:grpSpPr>
            <a:xfrm>
              <a:off x="2194606" y="3339401"/>
              <a:ext cx="1526100" cy="1526100"/>
              <a:chOff x="1430254" y="3232983"/>
              <a:chExt cx="1526100" cy="1526100"/>
            </a:xfrm>
          </p:grpSpPr>
          <p:sp>
            <p:nvSpPr>
              <p:cNvPr id="631" name="Google Shape;631;g3a2a2411fe0_0_518"/>
              <p:cNvSpPr/>
              <p:nvPr/>
            </p:nvSpPr>
            <p:spPr>
              <a:xfrm>
                <a:off x="1430254" y="3232983"/>
                <a:ext cx="1526100" cy="1526100"/>
              </a:xfrm>
              <a:prstGeom prst="ellipse">
                <a:avLst/>
              </a:prstGeom>
              <a:solidFill>
                <a:schemeClr val="accent5"/>
              </a:solidFill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632" name="Google Shape;632;g3a2a2411fe0_0_518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1639589" y="3391049"/>
                <a:ext cx="1050604" cy="11665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33" name="Google Shape;633;g3a2a2411fe0_0_518"/>
            <p:cNvGrpSpPr/>
            <p:nvPr/>
          </p:nvGrpSpPr>
          <p:grpSpPr>
            <a:xfrm>
              <a:off x="5308950" y="3339401"/>
              <a:ext cx="1526100" cy="1526100"/>
              <a:chOff x="5696442" y="3323450"/>
              <a:chExt cx="1526100" cy="1526100"/>
            </a:xfrm>
          </p:grpSpPr>
          <p:sp>
            <p:nvSpPr>
              <p:cNvPr id="634" name="Google Shape;634;g3a2a2411fe0_0_518"/>
              <p:cNvSpPr/>
              <p:nvPr/>
            </p:nvSpPr>
            <p:spPr>
              <a:xfrm>
                <a:off x="5696442" y="3323450"/>
                <a:ext cx="1526100" cy="1526100"/>
              </a:xfrm>
              <a:prstGeom prst="ellipse">
                <a:avLst/>
              </a:prstGeom>
              <a:solidFill>
                <a:schemeClr val="accent5"/>
              </a:solidFill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635" name="Google Shape;635;g3a2a2411fe0_0_518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5945862" y="3450336"/>
                <a:ext cx="1027276" cy="138979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a2a2411fe0_0_544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How can we make research more reliable and reproducible?</a:t>
            </a:r>
            <a:endParaRPr/>
          </a:p>
        </p:txBody>
      </p:sp>
      <p:sp>
        <p:nvSpPr>
          <p:cNvPr id="641" name="Google Shape;641;g3a2a2411fe0_0_544"/>
          <p:cNvSpPr txBox="1"/>
          <p:nvPr>
            <p:ph idx="4294967295" type="body"/>
          </p:nvPr>
        </p:nvSpPr>
        <p:spPr>
          <a:xfrm>
            <a:off x="254000" y="1219517"/>
            <a:ext cx="8779800" cy="17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000">
                <a:solidFill>
                  <a:srgbClr val="000000"/>
                </a:solidFill>
              </a:rPr>
              <a:t>If you are working with data that can be more readily made available, make your data and details of methods freely available to other researchers by</a:t>
            </a:r>
            <a:endParaRPr sz="2000">
              <a:solidFill>
                <a:srgbClr val="000000"/>
              </a:solidFill>
            </a:endParaRPr>
          </a:p>
        </p:txBody>
      </p:sp>
      <p:grpSp>
        <p:nvGrpSpPr>
          <p:cNvPr id="642" name="Google Shape;642;g3a2a2411fe0_0_544"/>
          <p:cNvGrpSpPr/>
          <p:nvPr/>
        </p:nvGrpSpPr>
        <p:grpSpPr>
          <a:xfrm>
            <a:off x="143262" y="2781189"/>
            <a:ext cx="8857479" cy="2840369"/>
            <a:chOff x="932105" y="3269300"/>
            <a:chExt cx="10480983" cy="3371758"/>
          </a:xfrm>
        </p:grpSpPr>
        <p:sp>
          <p:nvSpPr>
            <p:cNvPr id="643" name="Google Shape;643;g3a2a2411fe0_0_544"/>
            <p:cNvSpPr/>
            <p:nvPr/>
          </p:nvSpPr>
          <p:spPr>
            <a:xfrm>
              <a:off x="8601574" y="3269300"/>
              <a:ext cx="2652000" cy="1435200"/>
            </a:xfrm>
            <a:prstGeom prst="rect">
              <a:avLst/>
            </a:prstGeom>
            <a:solidFill>
              <a:schemeClr val="accent5"/>
            </a:solidFill>
            <a:ln cap="flat" cmpd="sng" w="25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Using open-source software and providing information about...  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44" name="Google Shape;644;g3a2a2411fe0_0_544"/>
            <p:cNvSpPr/>
            <p:nvPr/>
          </p:nvSpPr>
          <p:spPr>
            <a:xfrm>
              <a:off x="932105" y="5193787"/>
              <a:ext cx="2934000" cy="1428900"/>
            </a:xfrm>
            <a:prstGeom prst="rect">
              <a:avLst/>
            </a:prstGeom>
            <a:noFill/>
            <a:ln cap="flat" cmpd="sng" w="25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Such as OSF, which you were introduced to in Module 2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645" name="Google Shape;645;g3a2a2411fe0_0_544"/>
            <p:cNvCxnSpPr>
              <a:stCxn id="646" idx="2"/>
              <a:endCxn id="644" idx="0"/>
            </p:cNvCxnSpPr>
            <p:nvPr/>
          </p:nvCxnSpPr>
          <p:spPr>
            <a:xfrm>
              <a:off x="2399077" y="4698200"/>
              <a:ext cx="0" cy="495600"/>
            </a:xfrm>
            <a:prstGeom prst="straightConnector1">
              <a:avLst/>
            </a:prstGeom>
            <a:noFill/>
            <a:ln cap="flat" cmpd="sng" w="25400">
              <a:solidFill>
                <a:schemeClr val="accent5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647" name="Google Shape;647;g3a2a2411fe0_0_544"/>
            <p:cNvSpPr/>
            <p:nvPr/>
          </p:nvSpPr>
          <p:spPr>
            <a:xfrm>
              <a:off x="8475788" y="5212158"/>
              <a:ext cx="2937300" cy="1428900"/>
            </a:xfrm>
            <a:prstGeom prst="rect">
              <a:avLst/>
            </a:prstGeom>
            <a:noFill/>
            <a:ln cap="flat" cmpd="sng" w="25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Statistical tests, or other analytical approaches employed, and the arguments used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648" name="Google Shape;648;g3a2a2411fe0_0_544"/>
            <p:cNvCxnSpPr>
              <a:stCxn id="643" idx="2"/>
              <a:endCxn id="647" idx="0"/>
            </p:cNvCxnSpPr>
            <p:nvPr/>
          </p:nvCxnSpPr>
          <p:spPr>
            <a:xfrm>
              <a:off x="9927574" y="4704500"/>
              <a:ext cx="16800" cy="507600"/>
            </a:xfrm>
            <a:prstGeom prst="straightConnector1">
              <a:avLst/>
            </a:prstGeom>
            <a:noFill/>
            <a:ln cap="flat" cmpd="sng" w="25400">
              <a:solidFill>
                <a:schemeClr val="accent5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649" name="Google Shape;649;g3a2a2411fe0_0_544"/>
            <p:cNvSpPr/>
            <p:nvPr/>
          </p:nvSpPr>
          <p:spPr>
            <a:xfrm>
              <a:off x="4884561" y="3269300"/>
              <a:ext cx="2698500" cy="1428900"/>
            </a:xfrm>
            <a:prstGeom prst="rect">
              <a:avLst/>
            </a:prstGeom>
            <a:solidFill>
              <a:schemeClr val="accent5"/>
            </a:solidFill>
            <a:ln cap="flat" cmpd="sng" w="25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Always including a data dictionary to accompany your data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50" name="Google Shape;650;g3a2a2411fe0_0_544"/>
            <p:cNvSpPr/>
            <p:nvPr/>
          </p:nvSpPr>
          <p:spPr>
            <a:xfrm>
              <a:off x="4766839" y="5192187"/>
              <a:ext cx="2934000" cy="1428900"/>
            </a:xfrm>
            <a:prstGeom prst="rect">
              <a:avLst/>
            </a:prstGeom>
            <a:noFill/>
            <a:ln cap="flat" cmpd="sng" w="25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 data dictionary gives clear information about your data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651" name="Google Shape;651;g3a2a2411fe0_0_544"/>
            <p:cNvCxnSpPr>
              <a:stCxn id="649" idx="2"/>
              <a:endCxn id="650" idx="0"/>
            </p:cNvCxnSpPr>
            <p:nvPr/>
          </p:nvCxnSpPr>
          <p:spPr>
            <a:xfrm>
              <a:off x="6233811" y="4698200"/>
              <a:ext cx="0" cy="494100"/>
            </a:xfrm>
            <a:prstGeom prst="straightConnector1">
              <a:avLst/>
            </a:prstGeom>
            <a:noFill/>
            <a:ln cap="flat" cmpd="sng" w="25400">
              <a:solidFill>
                <a:schemeClr val="accent5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646" name="Google Shape;646;g3a2a2411fe0_0_544"/>
            <p:cNvSpPr/>
            <p:nvPr/>
          </p:nvSpPr>
          <p:spPr>
            <a:xfrm>
              <a:off x="1049827" y="3269300"/>
              <a:ext cx="2698500" cy="1428900"/>
            </a:xfrm>
            <a:prstGeom prst="rect">
              <a:avLst/>
            </a:prstGeom>
            <a:solidFill>
              <a:schemeClr val="accent5"/>
            </a:solidFill>
            <a:ln cap="flat" cmpd="sng" w="25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Publishing the data in a repository </a:t>
              </a:r>
              <a:endParaRPr b="0" i="0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a2a2411fe0_0_559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How can we make research more reliable and reproducible?</a:t>
            </a:r>
            <a:endParaRPr/>
          </a:p>
        </p:txBody>
      </p:sp>
      <p:sp>
        <p:nvSpPr>
          <p:cNvPr id="657" name="Google Shape;657;g3a2a2411fe0_0_559"/>
          <p:cNvSpPr txBox="1"/>
          <p:nvPr>
            <p:ph idx="4294967295" type="body"/>
          </p:nvPr>
        </p:nvSpPr>
        <p:spPr>
          <a:xfrm>
            <a:off x="254000" y="1295039"/>
            <a:ext cx="8779800" cy="31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000">
                <a:solidFill>
                  <a:srgbClr val="000000"/>
                </a:solidFill>
              </a:rPr>
              <a:t>In some disciplines it is not as easy/possible to make data available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r>
              <a:rPr lang="en-US" sz="2000">
                <a:solidFill>
                  <a:srgbClr val="000000"/>
                </a:solidFill>
              </a:rPr>
              <a:t>If it is not possible, remember the importance of enhancing transparency by providing details about how the research was conducted 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r>
              <a:rPr lang="en-US" sz="2000">
                <a:solidFill>
                  <a:srgbClr val="000000"/>
                </a:solidFill>
              </a:rPr>
              <a:t>These details can include:</a:t>
            </a:r>
            <a:endParaRPr sz="2000">
              <a:solidFill>
                <a:srgbClr val="000000"/>
              </a:solidFill>
            </a:endParaRPr>
          </a:p>
        </p:txBody>
      </p:sp>
      <p:grpSp>
        <p:nvGrpSpPr>
          <p:cNvPr id="658" name="Google Shape;658;g3a2a2411fe0_0_559"/>
          <p:cNvGrpSpPr/>
          <p:nvPr/>
        </p:nvGrpSpPr>
        <p:grpSpPr>
          <a:xfrm>
            <a:off x="339813" y="4249644"/>
            <a:ext cx="8464435" cy="1313213"/>
            <a:chOff x="339813" y="4136008"/>
            <a:chExt cx="8464435" cy="802501"/>
          </a:xfrm>
        </p:grpSpPr>
        <p:sp>
          <p:nvSpPr>
            <p:cNvPr id="659" name="Google Shape;659;g3a2a2411fe0_0_559"/>
            <p:cNvSpPr txBox="1"/>
            <p:nvPr/>
          </p:nvSpPr>
          <p:spPr>
            <a:xfrm>
              <a:off x="339813" y="4136008"/>
              <a:ext cx="1875300" cy="802500"/>
            </a:xfrm>
            <a:prstGeom prst="rect">
              <a:avLst/>
            </a:prstGeom>
            <a:solidFill>
              <a:schemeClr val="accent5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The theoretical method adopted</a:t>
              </a:r>
              <a:endPara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60" name="Google Shape;660;g3a2a2411fe0_0_559"/>
            <p:cNvSpPr txBox="1"/>
            <p:nvPr/>
          </p:nvSpPr>
          <p:spPr>
            <a:xfrm>
              <a:off x="2536191" y="4136009"/>
              <a:ext cx="1875300" cy="802500"/>
            </a:xfrm>
            <a:prstGeom prst="rect">
              <a:avLst/>
            </a:prstGeom>
            <a:solidFill>
              <a:schemeClr val="accent5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The research setting</a:t>
              </a:r>
              <a:endParaRPr b="0" i="0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61" name="Google Shape;661;g3a2a2411fe0_0_559"/>
            <p:cNvSpPr txBox="1"/>
            <p:nvPr/>
          </p:nvSpPr>
          <p:spPr>
            <a:xfrm>
              <a:off x="4732569" y="4136009"/>
              <a:ext cx="1875300" cy="802500"/>
            </a:xfrm>
            <a:prstGeom prst="rect">
              <a:avLst/>
            </a:prstGeom>
            <a:solidFill>
              <a:schemeClr val="accent5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The relationship between researcher and participants </a:t>
              </a:r>
              <a:endParaRPr b="0" i="0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62" name="Google Shape;662;g3a2a2411fe0_0_559"/>
            <p:cNvSpPr txBox="1"/>
            <p:nvPr/>
          </p:nvSpPr>
          <p:spPr>
            <a:xfrm>
              <a:off x="6928948" y="4136009"/>
              <a:ext cx="1875300" cy="802500"/>
            </a:xfrm>
            <a:prstGeom prst="rect">
              <a:avLst/>
            </a:prstGeom>
            <a:solidFill>
              <a:schemeClr val="accent5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Anonymised participant characteristics</a:t>
              </a:r>
              <a:endParaRPr b="0" i="0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a2a2411fe0_0_569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How can we make research more reliable and reproducible?</a:t>
            </a:r>
            <a:endParaRPr/>
          </a:p>
        </p:txBody>
      </p:sp>
      <p:pic>
        <p:nvPicPr>
          <p:cNvPr id="668" name="Google Shape;668;g3a2a2411fe0_0_5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7680" y="2209451"/>
            <a:ext cx="2079776" cy="39171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9" name="Google Shape;669;g3a2a2411fe0_0_569"/>
          <p:cNvGrpSpPr/>
          <p:nvPr/>
        </p:nvGrpSpPr>
        <p:grpSpPr>
          <a:xfrm>
            <a:off x="2207570" y="577041"/>
            <a:ext cx="3051298" cy="2480139"/>
            <a:chOff x="2713397" y="530088"/>
            <a:chExt cx="3051298" cy="2480139"/>
          </a:xfrm>
        </p:grpSpPr>
        <p:pic>
          <p:nvPicPr>
            <p:cNvPr id="670" name="Google Shape;670;g3a2a2411fe0_0_569"/>
            <p:cNvPicPr preferRelativeResize="0"/>
            <p:nvPr/>
          </p:nvPicPr>
          <p:blipFill rotWithShape="1">
            <a:blip r:embed="rId4">
              <a:alphaModFix/>
            </a:blip>
            <a:srcRect b="20172" l="6031" r="55152" t="23745"/>
            <a:stretch/>
          </p:blipFill>
          <p:spPr>
            <a:xfrm flipH="1">
              <a:off x="2713397" y="530088"/>
              <a:ext cx="3051298" cy="24801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1" name="Google Shape;671;g3a2a2411fe0_0_569"/>
            <p:cNvSpPr txBox="1"/>
            <p:nvPr/>
          </p:nvSpPr>
          <p:spPr>
            <a:xfrm>
              <a:off x="3033086" y="1056501"/>
              <a:ext cx="2401800" cy="114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Strategies to make your research more reproducible are presented throughout the PaPOR TRaIL course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72" name="Google Shape;672;g3a2a2411fe0_0_569"/>
          <p:cNvSpPr txBox="1"/>
          <p:nvPr/>
        </p:nvSpPr>
        <p:spPr>
          <a:xfrm>
            <a:off x="6278565" y="1056501"/>
            <a:ext cx="1828500" cy="1024800"/>
          </a:xfrm>
          <a:prstGeom prst="rect">
            <a:avLst/>
          </a:prstGeom>
          <a:solidFill>
            <a:schemeClr val="accent5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Research Integrity (Module 1)</a:t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3" name="Google Shape;673;g3a2a2411fe0_0_569"/>
          <p:cNvSpPr txBox="1"/>
          <p:nvPr/>
        </p:nvSpPr>
        <p:spPr>
          <a:xfrm>
            <a:off x="6278565" y="2278403"/>
            <a:ext cx="1875300" cy="1026000"/>
          </a:xfrm>
          <a:prstGeom prst="rect">
            <a:avLst/>
          </a:prstGeom>
          <a:solidFill>
            <a:schemeClr val="accent5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Research Data Management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(Module 4)</a:t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4" name="Google Shape;674;g3a2a2411fe0_0_569"/>
          <p:cNvSpPr txBox="1"/>
          <p:nvPr/>
        </p:nvSpPr>
        <p:spPr>
          <a:xfrm>
            <a:off x="6278565" y="3501573"/>
            <a:ext cx="1875300" cy="1026000"/>
          </a:xfrm>
          <a:prstGeom prst="rect">
            <a:avLst/>
          </a:prstGeom>
          <a:solidFill>
            <a:schemeClr val="accent5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Open Reporting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(Module 5)</a:t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5" name="Google Shape;675;g3a2a2411fe0_0_569"/>
          <p:cNvSpPr txBox="1"/>
          <p:nvPr/>
        </p:nvSpPr>
        <p:spPr>
          <a:xfrm>
            <a:off x="6278565" y="4724743"/>
            <a:ext cx="1875300" cy="1026000"/>
          </a:xfrm>
          <a:prstGeom prst="rect">
            <a:avLst/>
          </a:prstGeom>
          <a:solidFill>
            <a:schemeClr val="accent5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Knowledge Dissemination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(Module 6)</a:t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a2a2411fe0_0_581"/>
          <p:cNvSpPr/>
          <p:nvPr/>
        </p:nvSpPr>
        <p:spPr>
          <a:xfrm>
            <a:off x="324223" y="1653231"/>
            <a:ext cx="8485500" cy="3245100"/>
          </a:xfrm>
          <a:prstGeom prst="rect">
            <a:avLst/>
          </a:prstGeom>
          <a:solidFill>
            <a:srgbClr val="FEE3EE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g3a2a2411fe0_0_581"/>
          <p:cNvSpPr txBox="1"/>
          <p:nvPr>
            <p:ph idx="4294967295" type="body"/>
          </p:nvPr>
        </p:nvSpPr>
        <p:spPr>
          <a:xfrm>
            <a:off x="183776" y="832800"/>
            <a:ext cx="8625900" cy="51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29729"/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-36864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29729"/>
              <a:buChar char="•"/>
            </a:pPr>
            <a:r>
              <a:rPr lang="en-US" sz="2000">
                <a:solidFill>
                  <a:srgbClr val="000000"/>
                </a:solidFill>
              </a:rPr>
              <a:t>Examples of resources in University College Cork include: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29729"/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9459"/>
              <a:buNone/>
            </a:pPr>
            <a:r>
              <a:t/>
            </a:r>
            <a:endParaRPr sz="1000">
              <a:solidFill>
                <a:srgbClr val="000000"/>
              </a:solidFill>
            </a:endParaRPr>
          </a:p>
          <a:p>
            <a:pPr indent="-368643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29729"/>
              <a:buFont typeface="Roboto"/>
              <a:buChar char="•"/>
            </a:pPr>
            <a:r>
              <a:rPr lang="en-US" sz="2000">
                <a:solidFill>
                  <a:srgbClr val="000000"/>
                </a:solidFill>
              </a:rPr>
              <a:t>A </a:t>
            </a:r>
            <a:r>
              <a:rPr lang="en-US" sz="20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digital badge in the Responsible Conduct of Research </a:t>
            </a:r>
            <a:r>
              <a:rPr lang="en-US" sz="2000">
                <a:solidFill>
                  <a:srgbClr val="000000"/>
                </a:solidFill>
              </a:rPr>
              <a:t>that includes training on research reproducibility</a:t>
            </a:r>
            <a:endParaRPr/>
          </a:p>
          <a:p>
            <a: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9459"/>
              <a:buFont typeface="Roboto"/>
              <a:buNone/>
            </a:pPr>
            <a:r>
              <a:t/>
            </a:r>
            <a:endParaRPr sz="1000">
              <a:solidFill>
                <a:srgbClr val="000000"/>
              </a:solidFill>
            </a:endParaRPr>
          </a:p>
          <a:p>
            <a:pPr indent="-368643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29729"/>
              <a:buFont typeface="Roboto"/>
              <a:buChar char="•"/>
            </a:pPr>
            <a:r>
              <a:rPr lang="en-US" sz="2000">
                <a:solidFill>
                  <a:srgbClr val="000000"/>
                </a:solidFill>
              </a:rPr>
              <a:t>There are postgraduate modules on  </a:t>
            </a:r>
            <a:endParaRPr sz="2000">
              <a:solidFill>
                <a:srgbClr val="000000"/>
              </a:solidFill>
            </a:endParaRPr>
          </a:p>
          <a:p>
            <a:pPr indent="-368643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29729"/>
              <a:buFont typeface="Roboto"/>
              <a:buChar char="•"/>
            </a:pPr>
            <a:r>
              <a:rPr lang="en-US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Reproducible Research Practices (PG6030) </a:t>
            </a:r>
            <a:endParaRPr>
              <a:solidFill>
                <a:schemeClr val="accent5"/>
              </a:solidFill>
            </a:endParaRPr>
          </a:p>
          <a:p>
            <a:pPr indent="-368643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29729"/>
              <a:buFont typeface="Roboto"/>
              <a:buChar char="•"/>
            </a:pPr>
            <a:r>
              <a:rPr lang="en-US">
                <a:solidFill>
                  <a:srgbClr val="000000"/>
                </a:solidFill>
              </a:rPr>
              <a:t>and an </a:t>
            </a:r>
            <a:r>
              <a:rPr lang="en-US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Introduction to Research Integrity, Ethics and Open Science (PG6015)</a:t>
            </a:r>
            <a:endParaRPr u="sng">
              <a:solidFill>
                <a:schemeClr val="accent5"/>
              </a:solidFill>
            </a:endParaRPr>
          </a:p>
          <a:p>
            <a:pPr indent="-228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29729"/>
              <a:buFont typeface="Roboto"/>
              <a:buNone/>
            </a:pPr>
            <a:r>
              <a:t/>
            </a:r>
            <a:endParaRPr>
              <a:solidFill>
                <a:schemeClr val="accent5"/>
              </a:solidFill>
            </a:endParaRPr>
          </a:p>
          <a:p>
            <a:pPr indent="-368643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29729"/>
              <a:buFont typeface="Roboto"/>
              <a:buChar char="•"/>
            </a:pPr>
            <a:r>
              <a:rPr lang="en-US" sz="2000">
                <a:solidFill>
                  <a:srgbClr val="000000"/>
                </a:solidFill>
              </a:rPr>
              <a:t>The </a:t>
            </a:r>
            <a:r>
              <a:rPr lang="en-US" sz="2000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UCC Boole Library</a:t>
            </a:r>
            <a:r>
              <a:rPr lang="en-US" sz="2000">
                <a:solidFill>
                  <a:srgbClr val="000000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2000">
                <a:solidFill>
                  <a:srgbClr val="000000"/>
                </a:solidFill>
              </a:rPr>
              <a:t>also run a variety of </a:t>
            </a:r>
            <a:r>
              <a:rPr lang="en-US" sz="2000" u="sng">
                <a:solidFill>
                  <a:schemeClr val="accent5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training sessions</a:t>
            </a:r>
            <a:endParaRPr sz="2000" u="sng">
              <a:solidFill>
                <a:schemeClr val="accent5"/>
              </a:solidFill>
            </a:endParaRPr>
          </a:p>
          <a:p>
            <a: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29729"/>
              <a:buFont typeface="Roboto"/>
              <a:buNone/>
            </a:pPr>
            <a:r>
              <a:t/>
            </a:r>
            <a:endParaRPr sz="2000" u="sng">
              <a:solidFill>
                <a:schemeClr val="accent5"/>
              </a:solidFill>
            </a:endParaRPr>
          </a:p>
          <a:p>
            <a:pPr indent="-2286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29729"/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-368643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29729"/>
              <a:buChar char="•"/>
            </a:pPr>
            <a:r>
              <a:rPr lang="en-US" sz="2000">
                <a:solidFill>
                  <a:srgbClr val="000000"/>
                </a:solidFill>
              </a:rPr>
              <a:t>Other universities may have supports, including training and workshops, to support you to develop reproducible research methods </a:t>
            </a:r>
            <a:endParaRPr/>
          </a:p>
          <a:p>
            <a: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29729"/>
              <a:buFont typeface="Roboto"/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682" name="Google Shape;682;g3a2a2411fe0_0_581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There are resources available to help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a2a2411fe0_0_587"/>
          <p:cNvSpPr/>
          <p:nvPr/>
        </p:nvSpPr>
        <p:spPr>
          <a:xfrm>
            <a:off x="324223" y="1954306"/>
            <a:ext cx="8485500" cy="3847200"/>
          </a:xfrm>
          <a:prstGeom prst="rect">
            <a:avLst/>
          </a:prstGeom>
          <a:solidFill>
            <a:srgbClr val="FEE3EE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g3a2a2411fe0_0_587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There are resources available to help</a:t>
            </a:r>
            <a:endParaRPr/>
          </a:p>
        </p:txBody>
      </p:sp>
      <p:sp>
        <p:nvSpPr>
          <p:cNvPr id="689" name="Google Shape;689;g3a2a2411fe0_0_587"/>
          <p:cNvSpPr txBox="1"/>
          <p:nvPr>
            <p:ph idx="4294967295" type="body"/>
          </p:nvPr>
        </p:nvSpPr>
        <p:spPr>
          <a:xfrm>
            <a:off x="254000" y="1056500"/>
            <a:ext cx="8779800" cy="55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r>
              <a:rPr lang="en-US" sz="2000">
                <a:solidFill>
                  <a:srgbClr val="000000"/>
                </a:solidFill>
              </a:rPr>
              <a:t>There are also online networks and communities you can follow and join. E.g.,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r>
              <a:rPr lang="en-US" sz="2000">
                <a:solidFill>
                  <a:srgbClr val="000000"/>
                </a:solidFill>
              </a:rPr>
              <a:t>The </a:t>
            </a:r>
            <a:r>
              <a:rPr lang="en-US" sz="20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UK Reproducibility Network</a:t>
            </a:r>
            <a:r>
              <a:rPr lang="en-US" sz="2000" u="sng">
                <a:solidFill>
                  <a:schemeClr val="accent5"/>
                </a:solidFill>
              </a:rPr>
              <a:t> (UKRN)</a:t>
            </a:r>
            <a:endParaRPr sz="2000">
              <a:solidFill>
                <a:schemeClr val="accent5"/>
              </a:solidFill>
            </a:endParaRPr>
          </a:p>
          <a:p>
            <a:pPr indent="0" lvl="2" marL="990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>
                <a:solidFill>
                  <a:srgbClr val="000000"/>
                </a:solidFill>
              </a:rPr>
              <a:t>The UKRN provides guidance and resources for methods and strategies for improving research reproducibility</a:t>
            </a:r>
            <a:endParaRPr/>
          </a:p>
          <a:p>
            <a:pPr indent="0" lvl="2" marL="990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t/>
            </a:r>
            <a:endParaRPr sz="1000">
              <a:solidFill>
                <a:srgbClr val="000000"/>
              </a:solidFill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r>
              <a:rPr lang="en-US" sz="20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Reproducibility for Everyone</a:t>
            </a:r>
            <a:r>
              <a:rPr lang="en-US" sz="2000">
                <a:solidFill>
                  <a:schemeClr val="accent5"/>
                </a:solidFill>
              </a:rPr>
              <a:t> </a:t>
            </a:r>
            <a:endParaRPr sz="2000">
              <a:solidFill>
                <a:schemeClr val="accent5"/>
              </a:solidFill>
            </a:endParaRPr>
          </a:p>
          <a:p>
            <a:pPr indent="0" lvl="2" marL="990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>
                <a:solidFill>
                  <a:srgbClr val="000000"/>
                </a:solidFill>
              </a:rPr>
              <a:t>This provides resources and webinars on strategies for reproducible research</a:t>
            </a:r>
            <a:endParaRPr/>
          </a:p>
          <a:p>
            <a:pPr indent="0" lvl="2" marL="990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t/>
            </a:r>
            <a:endParaRPr sz="1000">
              <a:solidFill>
                <a:srgbClr val="000000"/>
              </a:solidFill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r>
              <a:rPr lang="en-US" sz="2000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Reproducibilitea </a:t>
            </a:r>
            <a:endParaRPr sz="2000" u="sng">
              <a:solidFill>
                <a:schemeClr val="accent5"/>
              </a:solidFill>
            </a:endParaRPr>
          </a:p>
          <a:p>
            <a:pPr indent="0" lvl="2" marL="990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>
                <a:solidFill>
                  <a:srgbClr val="000000"/>
                </a:solidFill>
              </a:rPr>
              <a:t>A community for early-stage researchers interested in open</a:t>
            </a:r>
            <a:endParaRPr/>
          </a:p>
          <a:p>
            <a:pPr indent="0" lvl="2" marL="990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>
                <a:solidFill>
                  <a:srgbClr val="000000"/>
                </a:solidFill>
              </a:rPr>
              <a:t>science and reproducibility</a:t>
            </a:r>
            <a:endParaRPr/>
          </a:p>
          <a:p>
            <a:pPr indent="0" lvl="2" marL="990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t/>
            </a:r>
            <a:endParaRPr>
              <a:solidFill>
                <a:srgbClr val="E582A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a2a2411fe0_0_593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US" sz="2400"/>
              <a:t>What efforts are universities and supervisors making to help us to make research more reproducible?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Roboto"/>
              <a:buNone/>
            </a:pPr>
            <a:r>
              <a:t/>
            </a:r>
            <a:endParaRPr sz="1620"/>
          </a:p>
        </p:txBody>
      </p:sp>
      <p:sp>
        <p:nvSpPr>
          <p:cNvPr id="695" name="Google Shape;695;g3a2a2411fe0_0_593"/>
          <p:cNvSpPr txBox="1"/>
          <p:nvPr>
            <p:ph idx="4294967295" type="body"/>
          </p:nvPr>
        </p:nvSpPr>
        <p:spPr>
          <a:xfrm>
            <a:off x="254000" y="1056500"/>
            <a:ext cx="8779800" cy="51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r>
              <a:rPr lang="en-US" sz="2000">
                <a:solidFill>
                  <a:srgbClr val="000000"/>
                </a:solidFill>
              </a:rPr>
              <a:t>Efforts are increasing by supervisors and universities to support students</a:t>
            </a:r>
            <a:endParaRPr sz="2000">
              <a:solidFill>
                <a:srgbClr val="000000"/>
              </a:solidFill>
            </a:endParaRPr>
          </a:p>
        </p:txBody>
      </p:sp>
      <p:pic>
        <p:nvPicPr>
          <p:cNvPr descr="A picture containing text, vector graphics&#10;&#10;Description automatically generated" id="696" name="Google Shape;696;g3a2a2411fe0_0_5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544" y="2955234"/>
            <a:ext cx="2244246" cy="32936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text&#10;&#10;Description automatically generated" id="697" name="Google Shape;697;g3a2a2411fe0_0_5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2622118" y="2903028"/>
            <a:ext cx="2212860" cy="33980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text&#10;&#10;Description automatically generated" id="698" name="Google Shape;698;g3a2a2411fe0_0_59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6899" y="2586900"/>
            <a:ext cx="2431107" cy="1684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a2a2411fe0_0_601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75000"/>
              <a:buNone/>
            </a:pPr>
            <a:r>
              <a:rPr b="1" lang="en-US" sz="2400"/>
              <a:t>What efforts are universities and supervisors making to help us to make research more reproducible?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90000"/>
              <a:buNone/>
            </a:pPr>
            <a:r>
              <a:t/>
            </a:r>
            <a:endParaRPr b="1"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None/>
            </a:pPr>
            <a:r>
              <a:t/>
            </a:r>
            <a:endParaRPr/>
          </a:p>
        </p:txBody>
      </p:sp>
      <p:grpSp>
        <p:nvGrpSpPr>
          <p:cNvPr id="704" name="Google Shape;704;g3a2a2411fe0_0_601"/>
          <p:cNvGrpSpPr/>
          <p:nvPr/>
        </p:nvGrpSpPr>
        <p:grpSpPr>
          <a:xfrm>
            <a:off x="5684952" y="3578172"/>
            <a:ext cx="3034586" cy="2426388"/>
            <a:chOff x="5116600" y="3209725"/>
            <a:chExt cx="3600600" cy="2595900"/>
          </a:xfrm>
        </p:grpSpPr>
        <p:sp>
          <p:nvSpPr>
            <p:cNvPr id="705" name="Google Shape;705;g3a2a2411fe0_0_601"/>
            <p:cNvSpPr/>
            <p:nvPr/>
          </p:nvSpPr>
          <p:spPr>
            <a:xfrm>
              <a:off x="5116600" y="3209725"/>
              <a:ext cx="3600600" cy="2595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Diagram&#10;&#10;Description automatically generated" id="706" name="Google Shape;706;g3a2a2411fe0_0_60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18569" y="3312865"/>
              <a:ext cx="3396663" cy="238959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7" name="Google Shape;707;g3a2a2411fe0_0_601"/>
          <p:cNvSpPr txBox="1"/>
          <p:nvPr>
            <p:ph idx="4294967295" type="body"/>
          </p:nvPr>
        </p:nvSpPr>
        <p:spPr>
          <a:xfrm>
            <a:off x="254000" y="1430631"/>
            <a:ext cx="8625900" cy="39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r>
              <a:rPr lang="en-US" sz="2000">
                <a:solidFill>
                  <a:srgbClr val="000000"/>
                </a:solidFill>
              </a:rPr>
              <a:t>One example of this, being led by Dr Katherine Button (University of Bath) is a collaborative approach to open research projects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</a:pPr>
            <a:r>
              <a:t/>
            </a:r>
            <a:endParaRPr b="1" sz="10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r>
              <a:rPr lang="en-US" sz="2000">
                <a:solidFill>
                  <a:srgbClr val="000000"/>
                </a:solidFill>
              </a:rPr>
              <a:t>In this model, students at a number of UK universities participate in a “consortium” to complete their final year theses</a:t>
            </a:r>
            <a:endParaRPr/>
          </a:p>
          <a:p>
            <a:pPr indent="0" lvl="0" marL="76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t/>
            </a:r>
            <a:endParaRPr sz="10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r>
              <a:rPr lang="en-US" sz="2000">
                <a:solidFill>
                  <a:srgbClr val="000000"/>
                </a:solidFill>
              </a:rPr>
              <a:t>The students receive extra support                                                 throughout the project to make their                                                   research reproducible</a:t>
            </a:r>
            <a:endParaRPr sz="2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on a stage&#10;&#10;Description automatically generated with low confidence" id="712" name="Google Shape;712;g3a2a2411fe0_0_6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9036"/>
            <a:ext cx="9144000" cy="5144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713" name="Google Shape;713;g3a2a2411fe0_0_6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718" name="Google Shape;718;g3a2a2411fe0_0_756"/>
          <p:cNvPicPr preferRelativeResize="0"/>
          <p:nvPr/>
        </p:nvPicPr>
        <p:blipFill rotWithShape="1">
          <a:blip r:embed="rId3">
            <a:alphaModFix/>
          </a:blip>
          <a:srcRect b="11535" l="33074" r="0" t="0"/>
          <a:stretch/>
        </p:blipFill>
        <p:spPr>
          <a:xfrm>
            <a:off x="2150534" y="0"/>
            <a:ext cx="6993469" cy="6933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719" name="Google Shape;719;g3a2a2411fe0_0_7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g3a2a2411fe0_0_756"/>
          <p:cNvSpPr txBox="1"/>
          <p:nvPr/>
        </p:nvSpPr>
        <p:spPr>
          <a:xfrm>
            <a:off x="364243" y="1660140"/>
            <a:ext cx="36972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Principles &amp; Practices </a:t>
            </a:r>
            <a:b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of Open Research</a:t>
            </a:r>
            <a:endParaRPr b="1" i="0" sz="21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1" name="Google Shape;721;g3a2a2411fe0_0_756"/>
          <p:cNvSpPr txBox="1"/>
          <p:nvPr/>
        </p:nvSpPr>
        <p:spPr>
          <a:xfrm>
            <a:off x="364243" y="2239799"/>
            <a:ext cx="36141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 online module for undergraduate and </a:t>
            </a:r>
            <a:b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Masters students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a2a2411fe0_0_763"/>
          <p:cNvSpPr txBox="1"/>
          <p:nvPr>
            <p:ph idx="1" type="body"/>
          </p:nvPr>
        </p:nvSpPr>
        <p:spPr>
          <a:xfrm>
            <a:off x="254000" y="1209050"/>
            <a:ext cx="8489700" cy="56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9525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800"/>
              <a:buNone/>
            </a:pPr>
            <a:br>
              <a:rPr b="1" lang="en-US"/>
            </a:b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 b="1" sz="1800"/>
          </a:p>
        </p:txBody>
      </p:sp>
      <p:sp>
        <p:nvSpPr>
          <p:cNvPr id="727" name="Google Shape;727;g3a2a2411fe0_0_763"/>
          <p:cNvSpPr txBox="1"/>
          <p:nvPr/>
        </p:nvSpPr>
        <p:spPr>
          <a:xfrm>
            <a:off x="322100" y="2379465"/>
            <a:ext cx="8489700" cy="14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52244"/>
              </a:buClr>
              <a:buSzPct val="5625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Additional Resources</a:t>
            </a:r>
            <a:endParaRPr b="0" i="0" sz="2800" u="none" cap="none" strike="noStrike">
              <a:solidFill>
                <a:srgbClr val="2522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ct val="64285"/>
              <a:buFont typeface="Arial"/>
              <a:buNone/>
            </a:pPr>
            <a:r>
              <a:t/>
            </a:r>
            <a:endParaRPr b="0" i="0" sz="2800" u="sng" cap="none" strike="noStrike">
              <a:solidFill>
                <a:srgbClr val="FFC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52244"/>
              </a:buClr>
              <a:buSzPct val="45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2522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52244"/>
              </a:buClr>
              <a:buSzPct val="64285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25224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a2a2411fe0_0_768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252244"/>
                </a:solidFill>
              </a:rPr>
              <a:t>Want to know more about . . . </a:t>
            </a:r>
            <a:endParaRPr b="1" sz="2000">
              <a:highlight>
                <a:srgbClr val="FFFF00"/>
              </a:highlight>
            </a:endParaRPr>
          </a:p>
        </p:txBody>
      </p:sp>
      <p:sp>
        <p:nvSpPr>
          <p:cNvPr id="733" name="Google Shape;733;g3a2a2411fe0_0_768"/>
          <p:cNvSpPr txBox="1"/>
          <p:nvPr>
            <p:ph idx="1" type="body"/>
          </p:nvPr>
        </p:nvSpPr>
        <p:spPr>
          <a:xfrm>
            <a:off x="254000" y="1209000"/>
            <a:ext cx="8489700" cy="56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2800"/>
              <a:buNone/>
            </a:pPr>
            <a:r>
              <a:rPr b="1" lang="en-US" sz="2400">
                <a:solidFill>
                  <a:srgbClr val="000000"/>
                </a:solidFill>
              </a:rPr>
              <a:t>The reproducibility crisis?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r>
              <a:rPr lang="en-US" sz="2000">
                <a:solidFill>
                  <a:srgbClr val="222222"/>
                </a:solidFill>
              </a:rPr>
              <a:t>Check out this comic strip about the reproducibility crisis; it focuses on psychology but is relevant across disciplines:</a:t>
            </a:r>
            <a:endParaRPr sz="1600"/>
          </a:p>
          <a:p>
            <a:pPr indent="0" lvl="0" marL="4603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000" u="sng">
                <a:solidFill>
                  <a:srgbClr val="FA7FB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Repeat After Me: A Cartoon about Reproducibility in Psychology</a:t>
            </a:r>
            <a:endParaRPr sz="2000" u="sng">
              <a:solidFill>
                <a:srgbClr val="FA7FB1"/>
              </a:solidFill>
            </a:endParaRPr>
          </a:p>
          <a:p>
            <a:pPr indent="0" lvl="0" marL="4603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t/>
            </a:r>
            <a:endParaRPr sz="2000" u="sng">
              <a:solidFill>
                <a:srgbClr val="FA7FB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r>
              <a:rPr lang="en-US" sz="2000">
                <a:solidFill>
                  <a:srgbClr val="222222"/>
                </a:solidFill>
              </a:rPr>
              <a:t>This blog gives a nice overview, and includes reference to the power posing study we mentioned earlier:</a:t>
            </a:r>
            <a:endParaRPr/>
          </a:p>
          <a:p>
            <a:pPr indent="15875" lvl="0" marL="49212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000" u="sng">
                <a:solidFill>
                  <a:srgbClr val="FA7FB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Failure is Moving Science Forward: The replication crisis is a sign that science is working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800"/>
              <a:buNone/>
            </a:pPr>
            <a:r>
              <a:t/>
            </a:r>
            <a:endParaRPr b="1" sz="18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a2a2411fe0_0_773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252244"/>
                </a:solidFill>
              </a:rPr>
              <a:t>Want to know more about . . . </a:t>
            </a:r>
            <a:endParaRPr b="1" sz="2000">
              <a:highlight>
                <a:srgbClr val="FFFF00"/>
              </a:highlight>
            </a:endParaRPr>
          </a:p>
        </p:txBody>
      </p:sp>
      <p:sp>
        <p:nvSpPr>
          <p:cNvPr id="739" name="Google Shape;739;g3a2a2411fe0_0_773"/>
          <p:cNvSpPr txBox="1"/>
          <p:nvPr>
            <p:ph idx="1" type="body"/>
          </p:nvPr>
        </p:nvSpPr>
        <p:spPr>
          <a:xfrm>
            <a:off x="254000" y="1078749"/>
            <a:ext cx="8489700" cy="56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200">
                <a:solidFill>
                  <a:srgbClr val="222222"/>
                </a:solidFill>
              </a:rPr>
              <a:t>Take a look at this short video about the ‘reproducibility crisis’. 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200">
                <a:solidFill>
                  <a:srgbClr val="222222"/>
                </a:solidFill>
              </a:rPr>
              <a:t>The focus in the video is on science but even if you are not studying science, it presents a useful overview and interesting examples of existing reproducibility issues that are relevant across research disciplines.</a:t>
            </a:r>
            <a:endParaRPr/>
          </a:p>
        </p:txBody>
      </p:sp>
      <p:grpSp>
        <p:nvGrpSpPr>
          <p:cNvPr id="740" name="Google Shape;740;g3a2a2411fe0_0_773"/>
          <p:cNvGrpSpPr/>
          <p:nvPr/>
        </p:nvGrpSpPr>
        <p:grpSpPr>
          <a:xfrm>
            <a:off x="2331650" y="3211701"/>
            <a:ext cx="4470600" cy="2691300"/>
            <a:chOff x="4409300" y="3164850"/>
            <a:chExt cx="4470600" cy="2691300"/>
          </a:xfrm>
        </p:grpSpPr>
        <p:sp>
          <p:nvSpPr>
            <p:cNvPr id="741" name="Google Shape;741;g3a2a2411fe0_0_773"/>
            <p:cNvSpPr/>
            <p:nvPr/>
          </p:nvSpPr>
          <p:spPr>
            <a:xfrm>
              <a:off x="4409300" y="3164850"/>
              <a:ext cx="4470600" cy="2691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42" name="Google Shape;742;g3a2a2411fe0_0_773">
              <a:hlinkClick r:id="rId3"/>
            </p:cNvPr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42500" y="3288600"/>
              <a:ext cx="4204200" cy="2443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a2a2411fe0_0_781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252244"/>
                </a:solidFill>
              </a:rPr>
              <a:t>Want to know more about . . . </a:t>
            </a:r>
            <a:endParaRPr b="1" sz="2000">
              <a:highlight>
                <a:srgbClr val="FFFF00"/>
              </a:highlight>
            </a:endParaRPr>
          </a:p>
        </p:txBody>
      </p:sp>
      <p:sp>
        <p:nvSpPr>
          <p:cNvPr id="748" name="Google Shape;748;g3a2a2411fe0_0_781"/>
          <p:cNvSpPr txBox="1"/>
          <p:nvPr>
            <p:ph idx="1" type="body"/>
          </p:nvPr>
        </p:nvSpPr>
        <p:spPr>
          <a:xfrm>
            <a:off x="254000" y="1056501"/>
            <a:ext cx="8489700" cy="56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000000"/>
                </a:solidFill>
              </a:rPr>
              <a:t>Reproducibility in qualitative research and the humanities?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r>
              <a:rPr lang="en-US" sz="2000">
                <a:solidFill>
                  <a:srgbClr val="222222"/>
                </a:solidFill>
              </a:rPr>
              <a:t>This paper gives an overview and practical guidelines for reproducibility in the humanities:</a:t>
            </a:r>
            <a:endParaRPr/>
          </a:p>
          <a:p>
            <a:pPr indent="0" lvl="0" marL="4603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1800"/>
              <a:buNone/>
            </a:pPr>
            <a:r>
              <a:rPr lang="en-US" sz="2000">
                <a:solidFill>
                  <a:srgbClr val="222222"/>
                </a:solidFill>
              </a:rPr>
              <a:t>Peels, R., Bouter, L. (2018). The possibility and desirability of replication in the humanities. </a:t>
            </a:r>
            <a:r>
              <a:rPr i="1" lang="en-US" sz="2000">
                <a:solidFill>
                  <a:srgbClr val="222222"/>
                </a:solidFill>
              </a:rPr>
              <a:t>Palgrave Commun</a:t>
            </a:r>
            <a:r>
              <a:rPr lang="en-US" sz="2000">
                <a:solidFill>
                  <a:srgbClr val="222222"/>
                </a:solidFill>
              </a:rPr>
              <a:t> 4, 95. </a:t>
            </a:r>
            <a:r>
              <a:rPr lang="en-US" sz="2000" u="sng">
                <a:solidFill>
                  <a:srgbClr val="FA7FB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https://doi.org/10.1057/s41599-018-0149-x</a:t>
            </a:r>
            <a:endParaRPr b="1" sz="2000">
              <a:solidFill>
                <a:srgbClr val="FA7FB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</a:pPr>
            <a:r>
              <a:t/>
            </a:r>
            <a:endParaRPr b="1" sz="24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r>
              <a:rPr lang="en-US" sz="2000">
                <a:solidFill>
                  <a:srgbClr val="222222"/>
                </a:solidFill>
              </a:rPr>
              <a:t>The paper outlines 12 transparency criteria for qualitative work that can help boost transparency and reproducibility:</a:t>
            </a:r>
            <a:endParaRPr b="1" sz="2400">
              <a:solidFill>
                <a:srgbClr val="000000"/>
              </a:solidFill>
            </a:endParaRPr>
          </a:p>
          <a:p>
            <a:pPr indent="0" lvl="0" marL="4603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solidFill>
                  <a:srgbClr val="000000"/>
                </a:solidFill>
              </a:rPr>
              <a:t>Aguinis, H. &amp; Solarino, A.M. (2019). Transparency and replicability in qualitative research: The case of interviews with elite informants. Strategic Management Journal, 40(8), 1291-1315</a:t>
            </a:r>
            <a:r>
              <a:rPr lang="en-US" sz="2000">
                <a:solidFill>
                  <a:srgbClr val="222222"/>
                </a:solidFill>
              </a:rPr>
              <a:t>. </a:t>
            </a:r>
            <a:r>
              <a:rPr lang="en-US" sz="20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https://doi.org/10.1002/smj.3015</a:t>
            </a:r>
            <a:endParaRPr sz="2000" u="sng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000" u="sng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3a2a2411fe0_0_786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252244"/>
                </a:solidFill>
              </a:rPr>
              <a:t>Want to know more about . . . </a:t>
            </a:r>
            <a:endParaRPr b="1" sz="2000">
              <a:highlight>
                <a:srgbClr val="FFFF00"/>
              </a:highlight>
            </a:endParaRPr>
          </a:p>
        </p:txBody>
      </p:sp>
      <p:sp>
        <p:nvSpPr>
          <p:cNvPr id="754" name="Google Shape;754;g3a2a2411fe0_0_786"/>
          <p:cNvSpPr txBox="1"/>
          <p:nvPr>
            <p:ph idx="1" type="body"/>
          </p:nvPr>
        </p:nvSpPr>
        <p:spPr>
          <a:xfrm>
            <a:off x="254000" y="1209050"/>
            <a:ext cx="8489700" cy="56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52244"/>
              </a:buClr>
              <a:buSzPts val="2800"/>
              <a:buNone/>
            </a:pPr>
            <a:r>
              <a:rPr b="1" lang="en-US" sz="2400">
                <a:solidFill>
                  <a:srgbClr val="000000"/>
                </a:solidFill>
              </a:rPr>
              <a:t>How to make your research more transparent and/or reproducible?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52244"/>
              </a:buClr>
              <a:buSzPts val="2400"/>
              <a:buFont typeface="Roboto"/>
              <a:buChar char="•"/>
            </a:pPr>
            <a:r>
              <a:rPr lang="en-US" sz="2000">
                <a:solidFill>
                  <a:srgbClr val="000000"/>
                </a:solidFill>
              </a:rPr>
              <a:t>Robert Peng’s 3-part Video Checklist for Reproducible Research can help. There are three parts, about 10 minutes each: </a:t>
            </a:r>
            <a:r>
              <a:rPr lang="en-US" sz="2000" u="sng">
                <a:solidFill>
                  <a:srgbClr val="FA7FB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</a:t>
            </a:r>
            <a:r>
              <a:rPr lang="en-US" sz="2000">
                <a:solidFill>
                  <a:srgbClr val="000000"/>
                </a:solidFill>
              </a:rPr>
              <a:t>, </a:t>
            </a:r>
            <a:r>
              <a:rPr lang="en-US" sz="2000" u="sng">
                <a:solidFill>
                  <a:srgbClr val="FA7FB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</a:t>
            </a:r>
            <a:r>
              <a:rPr lang="en-US" sz="2000">
                <a:solidFill>
                  <a:srgbClr val="000000"/>
                </a:solidFill>
              </a:rPr>
              <a:t>, and </a:t>
            </a:r>
            <a:r>
              <a:rPr lang="en-US" sz="2000" u="sng">
                <a:solidFill>
                  <a:srgbClr val="FA7FB1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3 </a:t>
            </a:r>
            <a:endParaRPr sz="2000" u="sng">
              <a:solidFill>
                <a:srgbClr val="FA7FB1"/>
              </a:solidFill>
            </a:endParaRPr>
          </a:p>
          <a:p>
            <a:pPr indent="0" lvl="0" marL="76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52244"/>
              </a:buClr>
              <a:buSzPts val="2400"/>
              <a:buNone/>
            </a:pPr>
            <a:r>
              <a:t/>
            </a:r>
            <a:endParaRPr b="1" sz="2400">
              <a:solidFill>
                <a:srgbClr val="000000"/>
              </a:solidFill>
            </a:endParaRPr>
          </a:p>
          <a:p>
            <a:pPr indent="0" lvl="0" marL="76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52244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</a:rPr>
              <a:t>The relationship between registered reports and reproducibility?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r>
              <a:rPr lang="en-US" sz="2000">
                <a:solidFill>
                  <a:srgbClr val="222222"/>
                </a:solidFill>
              </a:rPr>
              <a:t>We introduced registered reports in Module 2 and this video draws a link between registered reports and reproducibility</a:t>
            </a:r>
            <a:endParaRPr b="1" sz="2000">
              <a:solidFill>
                <a:srgbClr val="000000"/>
              </a:solidFill>
            </a:endParaRPr>
          </a:p>
          <a:p>
            <a:pPr indent="0" lvl="0" marL="4603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None/>
            </a:pPr>
            <a:r>
              <a:rPr lang="en-US" sz="2000" u="sng">
                <a:solidFill>
                  <a:srgbClr val="FA7FB1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Registered Reports as a tool for improving research transparency and reproducibility</a:t>
            </a:r>
            <a:endParaRPr sz="2000" u="sng">
              <a:solidFill>
                <a:srgbClr val="FA7FB1"/>
              </a:solidFill>
            </a:endParaRPr>
          </a:p>
          <a:p>
            <a:pPr indent="0" lvl="0" marL="4603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None/>
            </a:pPr>
            <a:br>
              <a:rPr b="1" lang="en-US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a2a2411fe0_0_791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252244"/>
                </a:solidFill>
              </a:rPr>
              <a:t>Want to know more about . . . </a:t>
            </a:r>
            <a:endParaRPr b="1" sz="2000">
              <a:highlight>
                <a:srgbClr val="FFFF00"/>
              </a:highlight>
            </a:endParaRPr>
          </a:p>
        </p:txBody>
      </p:sp>
      <p:sp>
        <p:nvSpPr>
          <p:cNvPr id="760" name="Google Shape;760;g3a2a2411fe0_0_791"/>
          <p:cNvSpPr txBox="1"/>
          <p:nvPr>
            <p:ph idx="1" type="body"/>
          </p:nvPr>
        </p:nvSpPr>
        <p:spPr>
          <a:xfrm>
            <a:off x="254000" y="1209050"/>
            <a:ext cx="8489700" cy="56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222222"/>
                </a:solidFill>
              </a:rPr>
              <a:t>Strategies for minimising normal human biases in research:</a:t>
            </a:r>
            <a:endParaRPr/>
          </a:p>
          <a:p>
            <a:pPr indent="-342900" lvl="0" marL="419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000">
                <a:solidFill>
                  <a:srgbClr val="222222"/>
                </a:solidFill>
              </a:rPr>
              <a:t>This paper details one researchers experiences and gives tips on how we can ‘fight our own worst instincts’ in research:</a:t>
            </a:r>
            <a:endParaRPr/>
          </a:p>
          <a:p>
            <a:pPr indent="0" lvl="0" marL="406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solidFill>
                  <a:srgbClr val="222222"/>
                </a:solidFill>
              </a:rPr>
              <a:t>Nuzzo, R. (2015). Fooling ourselves. </a:t>
            </a:r>
            <a:r>
              <a:rPr i="1" lang="en-US" sz="2000">
                <a:solidFill>
                  <a:srgbClr val="222222"/>
                </a:solidFill>
              </a:rPr>
              <a:t>Nature, 526</a:t>
            </a:r>
            <a:r>
              <a:rPr lang="en-US" sz="2000">
                <a:solidFill>
                  <a:srgbClr val="222222"/>
                </a:solidFill>
              </a:rPr>
              <a:t>(7572), 182-185.</a:t>
            </a:r>
            <a:r>
              <a:rPr lang="en-US" sz="20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https://www.nature.com/news/how-scientists-fool-themselves-and-how-they-can-stop-1.18517</a:t>
            </a:r>
            <a:r>
              <a:rPr lang="en-US" sz="2000">
                <a:solidFill>
                  <a:srgbClr val="222222"/>
                </a:solidFill>
              </a:rPr>
              <a:t> </a:t>
            </a:r>
            <a:endParaRPr sz="20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000">
                <a:solidFill>
                  <a:srgbClr val="222222"/>
                </a:solidFill>
              </a:rPr>
              <a:t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2400">
                <a:solidFill>
                  <a:srgbClr val="222222"/>
                </a:solidFill>
              </a:rPr>
              <a:t>Software for reproducibility</a:t>
            </a:r>
            <a:endParaRPr sz="2400">
              <a:solidFill>
                <a:srgbClr val="000000"/>
              </a:solidFill>
            </a:endParaRPr>
          </a:p>
          <a:p>
            <a:pPr indent="-342900" lvl="0" marL="419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000">
                <a:solidFill>
                  <a:srgbClr val="222222"/>
                </a:solidFill>
              </a:rPr>
              <a:t>Take a look at this ‘toolkit’, which focuses mainly on computational reproducibility:</a:t>
            </a:r>
            <a:endParaRPr/>
          </a:p>
          <a:p>
            <a:pPr indent="-49212" lvl="0" marL="406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solidFill>
                  <a:srgbClr val="222222"/>
                </a:solidFill>
              </a:rPr>
              <a:t>Perkel, J.M. (2018). A toolkit for data transparency takes shape. Nature, 560(7719), 513-515. </a:t>
            </a:r>
            <a:r>
              <a:rPr lang="en-US" sz="20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https://doi.org/10.1038/d41586-018-05990-5</a:t>
            </a:r>
            <a:endParaRPr b="1" sz="20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a2a2411fe0_0_796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252244"/>
                </a:solidFill>
              </a:rPr>
              <a:t>Want to know more about . . . </a:t>
            </a:r>
            <a:endParaRPr b="1" sz="2000">
              <a:highlight>
                <a:srgbClr val="FFFF00"/>
              </a:highlight>
            </a:endParaRPr>
          </a:p>
        </p:txBody>
      </p:sp>
      <p:sp>
        <p:nvSpPr>
          <p:cNvPr id="766" name="Google Shape;766;g3a2a2411fe0_0_796"/>
          <p:cNvSpPr txBox="1"/>
          <p:nvPr>
            <p:ph idx="1" type="body"/>
          </p:nvPr>
        </p:nvSpPr>
        <p:spPr>
          <a:xfrm>
            <a:off x="254000" y="1209050"/>
            <a:ext cx="8489700" cy="56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000000"/>
                </a:solidFill>
              </a:rPr>
              <a:t>Large-scale reproducibility evaluations?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r>
              <a:rPr lang="en-US" sz="2000">
                <a:solidFill>
                  <a:srgbClr val="222222"/>
                </a:solidFill>
              </a:rPr>
              <a:t>The links below give an overview of some large-scale projects and let you take a look at some of the reproducibility studies that have been conducted</a:t>
            </a:r>
            <a:endParaRPr b="1" sz="2400">
              <a:solidFill>
                <a:srgbClr val="000000"/>
              </a:solidFill>
            </a:endParaRPr>
          </a:p>
          <a:p>
            <a:pPr indent="0" lvl="1" marL="38862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0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Reproducibility Project: Psychology</a:t>
            </a:r>
            <a:endParaRPr sz="2000">
              <a:solidFill>
                <a:schemeClr val="accent5"/>
              </a:solidFill>
            </a:endParaRPr>
          </a:p>
          <a:p>
            <a:pPr indent="0" lvl="1" marL="38862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0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Many Labs Replication Project</a:t>
            </a:r>
            <a:endParaRPr sz="2000">
              <a:solidFill>
                <a:schemeClr val="accent5"/>
              </a:solidFill>
            </a:endParaRPr>
          </a:p>
          <a:p>
            <a:pPr indent="0" lvl="1" marL="38862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000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Replicability Index</a:t>
            </a:r>
            <a:endParaRPr sz="2000" u="sng">
              <a:solidFill>
                <a:schemeClr val="accent5"/>
              </a:solidFill>
            </a:endParaRPr>
          </a:p>
          <a:p>
            <a:pPr indent="0" lvl="1" marL="38862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t/>
            </a:r>
            <a:endParaRPr b="1" sz="2000" u="sng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2800"/>
              <a:buNone/>
            </a:pPr>
            <a:r>
              <a:rPr b="1" lang="en-US" sz="2400">
                <a:solidFill>
                  <a:srgbClr val="000000"/>
                </a:solidFill>
              </a:rPr>
              <a:t>The Power Posing example we introduced earlier?</a:t>
            </a:r>
            <a:endParaRPr b="1" sz="2400">
              <a:solidFill>
                <a:srgbClr val="000000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2400"/>
              <a:buFont typeface="Roboto"/>
              <a:buChar char="•"/>
            </a:pPr>
            <a:r>
              <a:rPr lang="en-US" sz="2000">
                <a:solidFill>
                  <a:srgbClr val="222222"/>
                </a:solidFill>
              </a:rPr>
              <a:t>This article gives an overview of the power posing research, including criticisms and support of the findings</a:t>
            </a:r>
            <a:endParaRPr/>
          </a:p>
          <a:p>
            <a:pPr indent="0" lvl="0" marL="4603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2400"/>
              <a:buNone/>
            </a:pPr>
            <a:r>
              <a:rPr lang="en-US" sz="2000" u="sng">
                <a:solidFill>
                  <a:srgbClr val="FA7FB1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Power Posing is Back: Amy Cuddy Successfully Refutes Criticism</a:t>
            </a:r>
            <a:endParaRPr sz="2000" u="sng">
              <a:solidFill>
                <a:srgbClr val="FA7FB1"/>
              </a:solidFill>
            </a:endParaRPr>
          </a:p>
          <a:p>
            <a:pPr indent="0" lvl="1" marL="38862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br>
              <a:rPr b="1" lang="en-US">
                <a:solidFill>
                  <a:srgbClr val="000000"/>
                </a:solidFill>
              </a:rPr>
            </a:br>
            <a:endParaRPr b="1">
              <a:solidFill>
                <a:srgbClr val="000000"/>
              </a:solidFill>
            </a:endParaRPr>
          </a:p>
          <a:p>
            <a:pPr indent="-144780" lvl="1" marL="685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on a stage&#10;&#10;Description automatically generated with low confidence" id="771" name="Google Shape;771;g3a2a2411fe0_0_8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9036"/>
            <a:ext cx="9144000" cy="5144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772" name="Google Shape;772;g3a2a2411fe0_0_8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PAPOR TRAIL">
      <a:dk1>
        <a:srgbClr val="252244"/>
      </a:dk1>
      <a:lt1>
        <a:srgbClr val="FFFFFF"/>
      </a:lt1>
      <a:dk2>
        <a:srgbClr val="44546A"/>
      </a:dk2>
      <a:lt2>
        <a:srgbClr val="E7E6E6"/>
      </a:lt2>
      <a:accent1>
        <a:srgbClr val="17B1E7"/>
      </a:accent1>
      <a:accent2>
        <a:srgbClr val="47B27C"/>
      </a:accent2>
      <a:accent3>
        <a:srgbClr val="F6663F"/>
      </a:accent3>
      <a:accent4>
        <a:srgbClr val="FFC000"/>
      </a:accent4>
      <a:accent5>
        <a:srgbClr val="FA7FB1"/>
      </a:accent5>
      <a:accent6>
        <a:srgbClr val="91278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4_Office Theme">
  <a:themeElements>
    <a:clrScheme name="PAPOR TRAIL">
      <a:dk1>
        <a:srgbClr val="252244"/>
      </a:dk1>
      <a:lt1>
        <a:srgbClr val="FFFFFF"/>
      </a:lt1>
      <a:dk2>
        <a:srgbClr val="44546A"/>
      </a:dk2>
      <a:lt2>
        <a:srgbClr val="E7E6E6"/>
      </a:lt2>
      <a:accent1>
        <a:srgbClr val="17B1E7"/>
      </a:accent1>
      <a:accent2>
        <a:srgbClr val="47B27C"/>
      </a:accent2>
      <a:accent3>
        <a:srgbClr val="F6663F"/>
      </a:accent3>
      <a:accent4>
        <a:srgbClr val="FFC000"/>
      </a:accent4>
      <a:accent5>
        <a:srgbClr val="FA7FB1"/>
      </a:accent5>
      <a:accent6>
        <a:srgbClr val="91278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2021-03-16T17:05:21Z</dcterms:created>
  <dc:creator>Orlagh O'Brien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0x010100AA7A9ED9D3E8CD4BAE96912ACCE469BD</vt:lpwstr>
  </property>
</Properties>
</file>