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378" r:id="rId4"/>
    <p:sldId id="261" r:id="rId5"/>
    <p:sldId id="262" r:id="rId6"/>
    <p:sldId id="263" r:id="rId7"/>
    <p:sldId id="264" r:id="rId8"/>
    <p:sldId id="265" r:id="rId9"/>
    <p:sldId id="266" r:id="rId10"/>
    <p:sldId id="376" r:id="rId1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Medium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6" roundtripDataSignature="AMtx7mgbNaFXSBkrRu53Qq399pOKaLnS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FEFFA"/>
    <a:srgbClr val="F4BA37"/>
    <a:srgbClr val="FFE9B3"/>
    <a:srgbClr val="EDF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/>
    <p:restoredTop sz="87618"/>
  </p:normalViewPr>
  <p:slideViewPr>
    <p:cSldViewPr snapToGrid="0" snapToObjects="1">
      <p:cViewPr varScale="1">
        <p:scale>
          <a:sx n="90" d="100"/>
          <a:sy n="90" d="100"/>
        </p:scale>
        <p:origin x="19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150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146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5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149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52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148" Type="http://schemas.openxmlformats.org/officeDocument/2006/relationships/viewProps" Target="viewProps.xml"/><Relationship Id="rId151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147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9" name="Google Shape;4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6" name="Google Shape;5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3121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9" name="Google Shape;5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d356505b6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gd356505b6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d356505b6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d356505b6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f5372d38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gdf5372d38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0" name="Google Shape;6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</p:txBody>
      </p:sp>
      <p:sp>
        <p:nvSpPr>
          <p:cNvPr id="666" name="Google Shape;6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5" name="Google Shape;19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3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body" idx="1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body" idx="2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5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5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5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7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7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5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8"/>
          <p:cNvSpPr txBox="1">
            <a:spLocks noGrp="1"/>
          </p:cNvSpPr>
          <p:nvPr>
            <p:ph type="body" idx="1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9"/>
          <p:cNvSpPr txBox="1">
            <a:spLocks noGrp="1"/>
          </p:cNvSpPr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9"/>
          <p:cNvSpPr txBox="1">
            <a:spLocks noGrp="1"/>
          </p:cNvSpPr>
          <p:nvPr>
            <p:ph type="body" idx="1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2"/>
          <p:cNvSpPr txBox="1">
            <a:spLocks noGrp="1"/>
          </p:cNvSpPr>
          <p:nvPr>
            <p:ph type="body" idx="1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3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756920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body" idx="1"/>
          </p:nvPr>
        </p:nvSpPr>
        <p:spPr>
          <a:xfrm>
            <a:off x="254000" y="1209040"/>
            <a:ext cx="7569200" cy="4561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4" name="Google Shape;114;p6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6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61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6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2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2"/>
          <p:cNvSpPr txBox="1">
            <a:spLocks noGrp="1"/>
          </p:cNvSpPr>
          <p:nvPr>
            <p:ph type="body" idx="1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62"/>
          <p:cNvSpPr txBox="1">
            <a:spLocks noGrp="1"/>
          </p:cNvSpPr>
          <p:nvPr>
            <p:ph type="body" idx="2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6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3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6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3" name="Google Shape;133;p6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6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5" name="Google Shape;135;p6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6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6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6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p6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p6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6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6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3" name="Google Shape;153;p6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6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6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6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7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67"/>
          <p:cNvSpPr txBox="1">
            <a:spLocks noGrp="1"/>
          </p:cNvSpPr>
          <p:nvPr>
            <p:ph type="body" idx="1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6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6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6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8"/>
          <p:cNvSpPr txBox="1">
            <a:spLocks noGrp="1"/>
          </p:cNvSpPr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68"/>
          <p:cNvSpPr txBox="1">
            <a:spLocks noGrp="1"/>
          </p:cNvSpPr>
          <p:nvPr>
            <p:ph type="body" idx="1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6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6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30"/>
          <p:cNvSpPr txBox="1">
            <a:spLocks noGrp="1"/>
          </p:cNvSpPr>
          <p:nvPr>
            <p:ph type="body" idx="1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30"/>
          <p:cNvSpPr txBox="1"/>
          <p:nvPr/>
        </p:nvSpPr>
        <p:spPr>
          <a:xfrm>
            <a:off x="5779958" y="6344082"/>
            <a:ext cx="3220344" cy="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400" b="0" i="0" u="none" strike="noStrike" cap="none">
                <a:solidFill>
                  <a:srgbClr val="F66640"/>
                </a:solidFill>
                <a:latin typeface="Roboto"/>
                <a:ea typeface="Roboto"/>
                <a:cs typeface="Roboto"/>
                <a:sym typeface="Roboto"/>
              </a:rPr>
              <a:t>A – What is open research?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3076" b="11539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sz="24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1"/>
          <p:cNvSpPr txBox="1"/>
          <p:nvPr/>
        </p:nvSpPr>
        <p:spPr>
          <a:xfrm>
            <a:off x="364243" y="2450863"/>
            <a:ext cx="4465334" cy="126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 Masters students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4"/>
          <p:cNvGrpSpPr>
            <a:grpSpLocks/>
          </p:cNvGrpSpPr>
          <p:nvPr/>
        </p:nvGrpSpPr>
        <p:grpSpPr>
          <a:xfrm>
            <a:off x="2733718" y="1556385"/>
            <a:ext cx="3676565" cy="3745231"/>
            <a:chOff x="3498271" y="1204187"/>
            <a:chExt cx="2130632" cy="2118757"/>
          </a:xfrm>
        </p:grpSpPr>
        <p:pic>
          <p:nvPicPr>
            <p:cNvPr id="559" name="Google Shape;559;p4" descr="A picture containing 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10146" y="1204187"/>
              <a:ext cx="2118757" cy="2118757"/>
            </a:xfrm>
            <a:prstGeom prst="rect">
              <a:avLst/>
            </a:prstGeom>
            <a:noFill/>
            <a:ln>
              <a:noFill/>
            </a:ln>
            <a:effectLst>
              <a:outerShdw blurRad="254000" dist="127000" dir="2700000" sx="101000" sy="101000" algn="tl" rotWithShape="0">
                <a:srgbClr val="000000">
                  <a:alpha val="16078"/>
                </a:srgbClr>
              </a:outerShdw>
            </a:effectLst>
          </p:spPr>
        </p:pic>
        <p:sp>
          <p:nvSpPr>
            <p:cNvPr id="560" name="Google Shape;560;p4"/>
            <p:cNvSpPr txBox="1"/>
            <p:nvPr/>
          </p:nvSpPr>
          <p:spPr>
            <a:xfrm>
              <a:off x="3498271" y="1204187"/>
              <a:ext cx="2118900" cy="613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108000" rIns="108000" bIns="108000" anchor="t" anchorCtr="0">
              <a:spAutoFit/>
            </a:bodyPr>
            <a:lstStyle/>
            <a:p>
              <a:pPr marL="0" marR="0" lvl="0" indent="0" algn="l" rtl="0">
                <a:lnSpc>
                  <a:spcPct val="1076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24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What is Open Research?</a:t>
              </a:r>
              <a:endParaRPr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60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What is open research?</a:t>
            </a:r>
            <a:endParaRPr sz="24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B00871-9874-B54A-B9F7-5A21F879F145}"/>
              </a:ext>
            </a:extLst>
          </p:cNvPr>
          <p:cNvGrpSpPr/>
          <p:nvPr/>
        </p:nvGrpSpPr>
        <p:grpSpPr>
          <a:xfrm>
            <a:off x="3431678" y="1015800"/>
            <a:ext cx="5517030" cy="1274007"/>
            <a:chOff x="3431678" y="1015800"/>
            <a:chExt cx="5517030" cy="1274007"/>
          </a:xfrm>
        </p:grpSpPr>
        <p:sp>
          <p:nvSpPr>
            <p:cNvPr id="572" name="Google Shape;572;p5"/>
            <p:cNvSpPr/>
            <p:nvPr/>
          </p:nvSpPr>
          <p:spPr>
            <a:xfrm>
              <a:off x="3431679" y="1015800"/>
              <a:ext cx="5517000" cy="1274007"/>
            </a:xfrm>
            <a:prstGeom prst="roundRect">
              <a:avLst>
                <a:gd name="adj" fmla="val 16667"/>
              </a:avLst>
            </a:prstGeom>
            <a:solidFill>
              <a:srgbClr val="F6663F">
                <a:alpha val="58099"/>
              </a:srgbClr>
            </a:solidFill>
            <a:ln w="9525" cap="flat" cmpd="sng">
              <a:solidFill>
                <a:srgbClr val="D9EFE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87325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3431678" y="1015813"/>
              <a:ext cx="1061528" cy="1270800"/>
            </a:xfrm>
            <a:prstGeom prst="roundRect">
              <a:avLst>
                <a:gd name="adj" fmla="val 16667"/>
              </a:avLst>
            </a:prstGeom>
            <a:solidFill>
              <a:srgbClr val="F6663F"/>
            </a:solidFill>
            <a:ln w="9525" cap="flat" cmpd="sng">
              <a:solidFill>
                <a:srgbClr val="F666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5"/>
            <p:cNvSpPr txBox="1"/>
            <p:nvPr/>
          </p:nvSpPr>
          <p:spPr>
            <a:xfrm>
              <a:off x="4571999" y="1068043"/>
              <a:ext cx="4376709" cy="1169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latin typeface="Roboto"/>
                  <a:ea typeface="Roboto"/>
                  <a:cs typeface="Roboto"/>
                  <a:sym typeface="Roboto"/>
                </a:rPr>
                <a:t>Open research involves approaches to conducting and disseminating research in a way that makes it open, transparent, and accessible to everyone in society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61F579A-2910-184F-B119-7E2FBA44583C}"/>
              </a:ext>
            </a:extLst>
          </p:cNvPr>
          <p:cNvGrpSpPr/>
          <p:nvPr/>
        </p:nvGrpSpPr>
        <p:grpSpPr>
          <a:xfrm>
            <a:off x="3431708" y="2797289"/>
            <a:ext cx="5517030" cy="1270812"/>
            <a:chOff x="3431708" y="2797289"/>
            <a:chExt cx="5517030" cy="1270812"/>
          </a:xfrm>
        </p:grpSpPr>
        <p:sp>
          <p:nvSpPr>
            <p:cNvPr id="575" name="Google Shape;575;p5"/>
            <p:cNvSpPr/>
            <p:nvPr/>
          </p:nvSpPr>
          <p:spPr>
            <a:xfrm>
              <a:off x="3431709" y="2797301"/>
              <a:ext cx="5517000" cy="1270800"/>
            </a:xfrm>
            <a:prstGeom prst="roundRect">
              <a:avLst>
                <a:gd name="adj" fmla="val 16667"/>
              </a:avLst>
            </a:prstGeom>
            <a:solidFill>
              <a:srgbClr val="F6663F">
                <a:alpha val="58099"/>
              </a:srgbClr>
            </a:solidFill>
            <a:ln w="9525" cap="flat" cmpd="sng">
              <a:solidFill>
                <a:srgbClr val="D9EFE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87325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3431708" y="2797289"/>
              <a:ext cx="1061498" cy="1270800"/>
            </a:xfrm>
            <a:prstGeom prst="roundRect">
              <a:avLst>
                <a:gd name="adj" fmla="val 16667"/>
              </a:avLst>
            </a:prstGeom>
            <a:solidFill>
              <a:srgbClr val="F6663F"/>
            </a:solidFill>
            <a:ln w="9525" cap="flat" cmpd="sng">
              <a:solidFill>
                <a:srgbClr val="F666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20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5"/>
            <p:cNvSpPr txBox="1"/>
            <p:nvPr/>
          </p:nvSpPr>
          <p:spPr>
            <a:xfrm>
              <a:off x="4650795" y="2971052"/>
              <a:ext cx="4297943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latin typeface="Roboto"/>
                  <a:ea typeface="Roboto"/>
                  <a:cs typeface="Roboto"/>
                  <a:sym typeface="Roboto"/>
                </a:rPr>
                <a:t>Open research incorporates a range of actions taken at all stages of the research cycle 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8B64DF9-FDAA-554C-B284-FCD42013D743}"/>
              </a:ext>
            </a:extLst>
          </p:cNvPr>
          <p:cNvGrpSpPr/>
          <p:nvPr/>
        </p:nvGrpSpPr>
        <p:grpSpPr>
          <a:xfrm>
            <a:off x="3431677" y="4525389"/>
            <a:ext cx="5517050" cy="1272395"/>
            <a:chOff x="3431677" y="4525389"/>
            <a:chExt cx="5517050" cy="1272395"/>
          </a:xfrm>
        </p:grpSpPr>
        <p:sp>
          <p:nvSpPr>
            <p:cNvPr id="578" name="Google Shape;578;p5"/>
            <p:cNvSpPr/>
            <p:nvPr/>
          </p:nvSpPr>
          <p:spPr>
            <a:xfrm>
              <a:off x="3431679" y="4526984"/>
              <a:ext cx="5517000" cy="1270800"/>
            </a:xfrm>
            <a:prstGeom prst="roundRect">
              <a:avLst>
                <a:gd name="adj" fmla="val 16667"/>
              </a:avLst>
            </a:prstGeom>
            <a:solidFill>
              <a:srgbClr val="F6663F">
                <a:alpha val="58099"/>
              </a:srgbClr>
            </a:solidFill>
            <a:ln w="9525" cap="flat" cmpd="sng">
              <a:solidFill>
                <a:srgbClr val="D9EFE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87325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3431677" y="4525389"/>
              <a:ext cx="1061497" cy="1270800"/>
            </a:xfrm>
            <a:prstGeom prst="roundRect">
              <a:avLst>
                <a:gd name="adj" fmla="val 16667"/>
              </a:avLst>
            </a:prstGeom>
            <a:solidFill>
              <a:srgbClr val="F6663F"/>
            </a:solidFill>
            <a:ln w="9525" cap="flat" cmpd="sng">
              <a:solidFill>
                <a:srgbClr val="F666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0" name="Google Shape;580;p5"/>
            <p:cNvSpPr txBox="1"/>
            <p:nvPr/>
          </p:nvSpPr>
          <p:spPr>
            <a:xfrm>
              <a:off x="4650783" y="4577624"/>
              <a:ext cx="4297944" cy="1169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latin typeface="Roboto"/>
                  <a:ea typeface="Roboto"/>
                  <a:cs typeface="Roboto"/>
                  <a:sym typeface="Roboto"/>
                </a:rPr>
                <a:t>Open research helps to make all aspects of the research process more transparent, and helps make knowledge generated by research publicly available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A54D077-AE05-9F40-A40D-688FF24C37A0}"/>
              </a:ext>
            </a:extLst>
          </p:cNvPr>
          <p:cNvGrpSpPr/>
          <p:nvPr/>
        </p:nvGrpSpPr>
        <p:grpSpPr>
          <a:xfrm>
            <a:off x="0" y="1999839"/>
            <a:ext cx="3352886" cy="2858323"/>
            <a:chOff x="0" y="1667079"/>
            <a:chExt cx="3352886" cy="2858323"/>
          </a:xfrm>
        </p:grpSpPr>
        <p:pic>
          <p:nvPicPr>
            <p:cNvPr id="581" name="Google Shape;581;p5"/>
            <p:cNvPicPr preferRelativeResize="0"/>
            <p:nvPr/>
          </p:nvPicPr>
          <p:blipFill rotWithShape="1">
            <a:blip r:embed="rId3">
              <a:alphaModFix/>
            </a:blip>
            <a:srcRect t="14004" r="59155" b="29505"/>
            <a:stretch/>
          </p:blipFill>
          <p:spPr>
            <a:xfrm>
              <a:off x="0" y="1667079"/>
              <a:ext cx="3352886" cy="2858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5"/>
            <p:cNvSpPr txBox="1"/>
            <p:nvPr/>
          </p:nvSpPr>
          <p:spPr>
            <a:xfrm>
              <a:off x="699251" y="2634540"/>
              <a:ext cx="2080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latin typeface="Roboto"/>
                  <a:ea typeface="Roboto"/>
                  <a:cs typeface="Roboto"/>
                  <a:sym typeface="Roboto"/>
                </a:rPr>
                <a:t>What is open research?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d356505b6f_0_5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/>
              <a:t>What is open research?</a:t>
            </a:r>
            <a:endParaRPr sz="2400" b="1"/>
          </a:p>
        </p:txBody>
      </p:sp>
      <p:sp>
        <p:nvSpPr>
          <p:cNvPr id="590" name="Google Shape;590;gd356505b6f_0_5"/>
          <p:cNvSpPr/>
          <p:nvPr/>
        </p:nvSpPr>
        <p:spPr>
          <a:xfrm>
            <a:off x="353930" y="1158613"/>
            <a:ext cx="5464800" cy="1195200"/>
          </a:xfrm>
          <a:prstGeom prst="roundRect">
            <a:avLst>
              <a:gd name="adj" fmla="val 16667"/>
            </a:avLst>
          </a:prstGeom>
          <a:solidFill>
            <a:srgbClr val="F6663F">
              <a:alpha val="58099"/>
            </a:srgbClr>
          </a:solidFill>
          <a:ln w="9525" cap="flat" cmpd="sng">
            <a:solidFill>
              <a:srgbClr val="D9EFE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73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gd356505b6f_0_5"/>
          <p:cNvSpPr txBox="1"/>
          <p:nvPr/>
        </p:nvSpPr>
        <p:spPr>
          <a:xfrm>
            <a:off x="1286828" y="1540785"/>
            <a:ext cx="453171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Roboto"/>
                <a:ea typeface="Roboto"/>
                <a:cs typeface="Roboto"/>
                <a:sym typeface="Roboto"/>
              </a:rPr>
              <a:t>Many people have heard the term ‘open science’ 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F990F2-97E1-DC43-BD16-53DCEE8FDF8C}"/>
              </a:ext>
            </a:extLst>
          </p:cNvPr>
          <p:cNvGrpSpPr/>
          <p:nvPr/>
        </p:nvGrpSpPr>
        <p:grpSpPr>
          <a:xfrm>
            <a:off x="353930" y="2802605"/>
            <a:ext cx="5464614" cy="1196691"/>
            <a:chOff x="353934" y="2707127"/>
            <a:chExt cx="5464614" cy="1196691"/>
          </a:xfrm>
        </p:grpSpPr>
        <p:sp>
          <p:nvSpPr>
            <p:cNvPr id="589" name="Google Shape;589;gd356505b6f_0_5"/>
            <p:cNvSpPr/>
            <p:nvPr/>
          </p:nvSpPr>
          <p:spPr>
            <a:xfrm>
              <a:off x="353934" y="2707127"/>
              <a:ext cx="5464614" cy="1196691"/>
            </a:xfrm>
            <a:prstGeom prst="roundRect">
              <a:avLst>
                <a:gd name="adj" fmla="val 16667"/>
              </a:avLst>
            </a:prstGeom>
            <a:solidFill>
              <a:srgbClr val="F6663F">
                <a:alpha val="58099"/>
              </a:srgbClr>
            </a:solidFill>
            <a:ln w="9525" cap="flat" cmpd="sng">
              <a:solidFill>
                <a:srgbClr val="D9EFE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87325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3" name="Google Shape;593;gd356505b6f_0_5"/>
            <p:cNvSpPr txBox="1"/>
            <p:nvPr/>
          </p:nvSpPr>
          <p:spPr>
            <a:xfrm>
              <a:off x="1300428" y="2720712"/>
              <a:ext cx="4438908" cy="1169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latin typeface="Roboto"/>
                  <a:ea typeface="Roboto"/>
                  <a:cs typeface="Roboto"/>
                  <a:sym typeface="Roboto"/>
                </a:rPr>
                <a:t>Open science can be defined as “the movement to make scientific research, data and dissemination accessible to all levels of an inquiring society” </a:t>
              </a: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(Foster Open Science)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011EB01-A2AA-A247-9FD8-9E9F7C52EF58}"/>
                </a:ext>
              </a:extLst>
            </p:cNvPr>
            <p:cNvGrpSpPr/>
            <p:nvPr/>
          </p:nvGrpSpPr>
          <p:grpSpPr>
            <a:xfrm>
              <a:off x="470797" y="2876322"/>
              <a:ext cx="777600" cy="781200"/>
              <a:chOff x="470797" y="2863834"/>
              <a:chExt cx="777600" cy="781200"/>
            </a:xfrm>
          </p:grpSpPr>
          <p:sp>
            <p:nvSpPr>
              <p:cNvPr id="597" name="Google Shape;597;gd356505b6f_0_5"/>
              <p:cNvSpPr/>
              <p:nvPr/>
            </p:nvSpPr>
            <p:spPr>
              <a:xfrm>
                <a:off x="470797" y="2863834"/>
                <a:ext cx="777600" cy="781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98" name="Google Shape;598;gd356505b6f_0_5"/>
              <p:cNvPicPr preferRelativeResize="0"/>
              <p:nvPr/>
            </p:nvPicPr>
            <p:blipFill rotWithShape="1">
              <a:blip r:embed="rId3">
                <a:alphaModFix/>
              </a:blip>
              <a:srcRect l="42517" t="47134" r="51056" b="38933"/>
              <a:stretch/>
            </p:blipFill>
            <p:spPr>
              <a:xfrm>
                <a:off x="617540" y="2956297"/>
                <a:ext cx="484113" cy="5518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88" name="Google Shape;588;gd356505b6f_0_5"/>
          <p:cNvSpPr/>
          <p:nvPr/>
        </p:nvSpPr>
        <p:spPr>
          <a:xfrm>
            <a:off x="353930" y="4448087"/>
            <a:ext cx="5464800" cy="1195200"/>
          </a:xfrm>
          <a:prstGeom prst="roundRect">
            <a:avLst>
              <a:gd name="adj" fmla="val 16667"/>
            </a:avLst>
          </a:prstGeom>
          <a:solidFill>
            <a:srgbClr val="F6663F">
              <a:alpha val="58099"/>
            </a:srgbClr>
          </a:solidFill>
          <a:ln w="9525" cap="flat" cmpd="sng">
            <a:solidFill>
              <a:srgbClr val="D9EFE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73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gd356505b6f_0_5"/>
          <p:cNvSpPr txBox="1"/>
          <p:nvPr/>
        </p:nvSpPr>
        <p:spPr>
          <a:xfrm>
            <a:off x="1300424" y="4707148"/>
            <a:ext cx="451847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Roboto"/>
                <a:ea typeface="Roboto"/>
                <a:cs typeface="Roboto"/>
                <a:sym typeface="Roboto"/>
              </a:rPr>
              <a:t>It can also be viewed as research simply done properly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(Open Science MOOC)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E9190C-11D1-DD44-ACDD-74D03E27660A}"/>
              </a:ext>
            </a:extLst>
          </p:cNvPr>
          <p:cNvGrpSpPr/>
          <p:nvPr/>
        </p:nvGrpSpPr>
        <p:grpSpPr>
          <a:xfrm>
            <a:off x="5870925" y="1999839"/>
            <a:ext cx="3352886" cy="2858323"/>
            <a:chOff x="5870925" y="1828479"/>
            <a:chExt cx="3352886" cy="2858323"/>
          </a:xfrm>
        </p:grpSpPr>
        <p:pic>
          <p:nvPicPr>
            <p:cNvPr id="600" name="Google Shape;600;gd356505b6f_0_5"/>
            <p:cNvPicPr preferRelativeResize="0"/>
            <p:nvPr/>
          </p:nvPicPr>
          <p:blipFill rotWithShape="1">
            <a:blip r:embed="rId4">
              <a:alphaModFix/>
            </a:blip>
            <a:srcRect t="14004" r="59155" b="29505"/>
            <a:stretch/>
          </p:blipFill>
          <p:spPr>
            <a:xfrm flipH="1">
              <a:off x="5870925" y="1828479"/>
              <a:ext cx="3352886" cy="2858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gd356505b6f_0_5"/>
            <p:cNvSpPr txBox="1"/>
            <p:nvPr/>
          </p:nvSpPr>
          <p:spPr>
            <a:xfrm>
              <a:off x="6507101" y="2707113"/>
              <a:ext cx="2080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latin typeface="Roboto"/>
                  <a:ea typeface="Roboto"/>
                  <a:cs typeface="Roboto"/>
                  <a:sym typeface="Roboto"/>
                </a:rPr>
                <a:t>What is open research?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F283AA-0758-B44C-A0A5-62E8FFE5C884}"/>
              </a:ext>
            </a:extLst>
          </p:cNvPr>
          <p:cNvGrpSpPr/>
          <p:nvPr/>
        </p:nvGrpSpPr>
        <p:grpSpPr>
          <a:xfrm>
            <a:off x="452640" y="1368330"/>
            <a:ext cx="795753" cy="820545"/>
            <a:chOff x="-1018233" y="1540785"/>
            <a:chExt cx="795753" cy="820545"/>
          </a:xfrm>
        </p:grpSpPr>
        <p:sp>
          <p:nvSpPr>
            <p:cNvPr id="25" name="Google Shape;597;gd356505b6f_0_5">
              <a:extLst>
                <a:ext uri="{FF2B5EF4-FFF2-40B4-BE49-F238E27FC236}">
                  <a16:creationId xmlns:a16="http://schemas.microsoft.com/office/drawing/2014/main" id="{7125BC90-1ECD-BA47-BADA-774D80CCEB67}"/>
                </a:ext>
              </a:extLst>
            </p:cNvPr>
            <p:cNvSpPr/>
            <p:nvPr/>
          </p:nvSpPr>
          <p:spPr>
            <a:xfrm>
              <a:off x="-1000080" y="1540785"/>
              <a:ext cx="777600" cy="7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Picture 1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85BE9A6-A54F-4B46-A380-7F34C8BED8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biLevel thresh="50000"/>
            </a:blip>
            <a:srcRect t="25272"/>
            <a:stretch/>
          </p:blipFill>
          <p:spPr>
            <a:xfrm>
              <a:off x="-1018233" y="1540785"/>
              <a:ext cx="735478" cy="82054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31E1E1-410D-8740-A3E0-7F35C0D9C35E}"/>
              </a:ext>
            </a:extLst>
          </p:cNvPr>
          <p:cNvGrpSpPr/>
          <p:nvPr/>
        </p:nvGrpSpPr>
        <p:grpSpPr>
          <a:xfrm>
            <a:off x="410518" y="4655087"/>
            <a:ext cx="777600" cy="781200"/>
            <a:chOff x="-1031156" y="4811927"/>
            <a:chExt cx="777600" cy="781200"/>
          </a:xfrm>
        </p:grpSpPr>
        <p:sp>
          <p:nvSpPr>
            <p:cNvPr id="29" name="Google Shape;597;gd356505b6f_0_5">
              <a:extLst>
                <a:ext uri="{FF2B5EF4-FFF2-40B4-BE49-F238E27FC236}">
                  <a16:creationId xmlns:a16="http://schemas.microsoft.com/office/drawing/2014/main" id="{2168DBE3-097C-874F-A3D0-A83EC78CA78E}"/>
                </a:ext>
              </a:extLst>
            </p:cNvPr>
            <p:cNvSpPr/>
            <p:nvPr/>
          </p:nvSpPr>
          <p:spPr>
            <a:xfrm>
              <a:off x="-1031156" y="4811927"/>
              <a:ext cx="777600" cy="781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9" name="Google Shape;599;gd356505b6f_0_5"/>
            <p:cNvPicPr preferRelativeResize="0"/>
            <p:nvPr/>
          </p:nvPicPr>
          <p:blipFill rotWithShape="1">
            <a:blip r:embed="rId3">
              <a:alphaModFix/>
            </a:blip>
            <a:srcRect l="42517" t="65952" r="50809" b="22929"/>
            <a:stretch/>
          </p:blipFill>
          <p:spPr>
            <a:xfrm>
              <a:off x="-861875" y="4912375"/>
              <a:ext cx="476111" cy="4853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d356505b6f_0_10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What is open research?</a:t>
            </a:r>
            <a:endParaRPr sz="24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5DBD9C-5338-DA4B-8A53-9B3773EB9FFA}"/>
              </a:ext>
            </a:extLst>
          </p:cNvPr>
          <p:cNvGrpSpPr/>
          <p:nvPr/>
        </p:nvGrpSpPr>
        <p:grpSpPr>
          <a:xfrm>
            <a:off x="399325" y="1474062"/>
            <a:ext cx="8744675" cy="3909875"/>
            <a:chOff x="511775" y="655251"/>
            <a:chExt cx="8744675" cy="3909875"/>
          </a:xfrm>
        </p:grpSpPr>
        <p:sp>
          <p:nvSpPr>
            <p:cNvPr id="606" name="Google Shape;606;gd356505b6f_0_10"/>
            <p:cNvSpPr/>
            <p:nvPr/>
          </p:nvSpPr>
          <p:spPr>
            <a:xfrm>
              <a:off x="615099" y="655252"/>
              <a:ext cx="8039504" cy="3909874"/>
            </a:xfrm>
            <a:prstGeom prst="rect">
              <a:avLst/>
            </a:prstGeom>
            <a:solidFill>
              <a:srgbClr val="FDDFD7"/>
            </a:solidFill>
            <a:ln w="38100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0" name="Google Shape;610;gd356505b6f_0_10"/>
            <p:cNvPicPr preferRelativeResize="0"/>
            <p:nvPr/>
          </p:nvPicPr>
          <p:blipFill rotWithShape="1">
            <a:blip r:embed="rId3">
              <a:alphaModFix/>
            </a:blip>
            <a:srcRect b="51040"/>
            <a:stretch/>
          </p:blipFill>
          <p:spPr>
            <a:xfrm>
              <a:off x="6119175" y="2421125"/>
              <a:ext cx="3137275" cy="2144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F01A1D-2759-5A49-838F-6CBAC9D4A0F3}"/>
                </a:ext>
              </a:extLst>
            </p:cNvPr>
            <p:cNvGrpSpPr/>
            <p:nvPr/>
          </p:nvGrpSpPr>
          <p:grpSpPr>
            <a:xfrm>
              <a:off x="4901988" y="1056501"/>
              <a:ext cx="2785824" cy="2374917"/>
              <a:chOff x="4559901" y="1056509"/>
              <a:chExt cx="2785824" cy="2374917"/>
            </a:xfrm>
          </p:grpSpPr>
          <p:pic>
            <p:nvPicPr>
              <p:cNvPr id="609" name="Google Shape;609;gd356505b6f_0_10"/>
              <p:cNvPicPr preferRelativeResize="0"/>
              <p:nvPr/>
            </p:nvPicPr>
            <p:blipFill rotWithShape="1">
              <a:blip r:embed="rId4">
                <a:alphaModFix/>
              </a:blip>
              <a:srcRect t="14004" r="59155" b="29505"/>
              <a:stretch/>
            </p:blipFill>
            <p:spPr>
              <a:xfrm>
                <a:off x="4559901" y="1056509"/>
                <a:ext cx="2785824" cy="23749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2" name="Google Shape;612;gd356505b6f_0_10"/>
              <p:cNvSpPr txBox="1"/>
              <p:nvPr/>
            </p:nvSpPr>
            <p:spPr>
              <a:xfrm>
                <a:off x="4747713" y="1672167"/>
                <a:ext cx="2410200" cy="114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This is to reflect the inclusion of all disciplines</a:t>
                </a:r>
                <a:b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 in which research is conducted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FD39DA5-9403-4748-BEA5-E3DEACFAF0ED}"/>
                </a:ext>
              </a:extLst>
            </p:cNvPr>
            <p:cNvGrpSpPr/>
            <p:nvPr/>
          </p:nvGrpSpPr>
          <p:grpSpPr>
            <a:xfrm>
              <a:off x="1522813" y="655251"/>
              <a:ext cx="2785824" cy="2374917"/>
              <a:chOff x="1522813" y="655251"/>
              <a:chExt cx="2785824" cy="2374917"/>
            </a:xfrm>
          </p:grpSpPr>
          <p:pic>
            <p:nvPicPr>
              <p:cNvPr id="11" name="Google Shape;609;gd356505b6f_0_10">
                <a:extLst>
                  <a:ext uri="{FF2B5EF4-FFF2-40B4-BE49-F238E27FC236}">
                    <a16:creationId xmlns:a16="http://schemas.microsoft.com/office/drawing/2014/main" id="{F00A87DA-B95E-374A-A123-D50BF5E4B5F7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t="14004" r="59155" b="29505"/>
              <a:stretch/>
            </p:blipFill>
            <p:spPr>
              <a:xfrm flipH="1">
                <a:off x="1522813" y="655251"/>
                <a:ext cx="2785824" cy="23749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4" name="Google Shape;614;gd356505b6f_0_10"/>
              <p:cNvSpPr txBox="1"/>
              <p:nvPr/>
            </p:nvSpPr>
            <p:spPr>
              <a:xfrm>
                <a:off x="1776194" y="1274855"/>
                <a:ext cx="2181860" cy="927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rgbClr val="222222"/>
                    </a:solidFill>
                    <a:latin typeface="Roboto"/>
                    <a:ea typeface="Roboto"/>
                    <a:cs typeface="Roboto"/>
                    <a:sym typeface="Roboto"/>
                  </a:rPr>
                  <a:t>In this course we use </a:t>
                </a:r>
                <a:br>
                  <a:rPr lang="en-US" dirty="0">
                    <a:solidFill>
                      <a:srgbClr val="222222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lang="en-US" dirty="0">
                    <a:solidFill>
                      <a:srgbClr val="222222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term ‘open research’ instead of ‘open science’</a:t>
                </a:r>
                <a:endParaRPr dirty="0">
                  <a:solidFill>
                    <a:srgbClr val="222222"/>
                  </a:solidFill>
                </a:endParaRPr>
              </a:p>
            </p:txBody>
          </p:sp>
        </p:grpSp>
        <p:pic>
          <p:nvPicPr>
            <p:cNvPr id="7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BBB70D5-8CA0-A647-9D3A-114E37E9D5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54178"/>
            <a:stretch/>
          </p:blipFill>
          <p:spPr>
            <a:xfrm>
              <a:off x="511775" y="2190208"/>
              <a:ext cx="2986638" cy="23749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df5372d389_0_16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DDFD7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951250-037D-2D43-AA13-CC8110D4E520}"/>
              </a:ext>
            </a:extLst>
          </p:cNvPr>
          <p:cNvGrpSpPr/>
          <p:nvPr/>
        </p:nvGrpSpPr>
        <p:grpSpPr>
          <a:xfrm>
            <a:off x="1527646" y="1472400"/>
            <a:ext cx="2930054" cy="2374917"/>
            <a:chOff x="1595376" y="917534"/>
            <a:chExt cx="2930054" cy="2374917"/>
          </a:xfrm>
        </p:grpSpPr>
        <p:pic>
          <p:nvPicPr>
            <p:cNvPr id="620" name="Google Shape;620;gdf5372d389_0_16"/>
            <p:cNvPicPr preferRelativeResize="0"/>
            <p:nvPr/>
          </p:nvPicPr>
          <p:blipFill rotWithShape="1">
            <a:blip r:embed="rId3">
              <a:alphaModFix/>
            </a:blip>
            <a:srcRect t="14004" r="59155" b="29505"/>
            <a:stretch/>
          </p:blipFill>
          <p:spPr>
            <a:xfrm flipH="1">
              <a:off x="1595376" y="917534"/>
              <a:ext cx="2930054" cy="23749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gdf5372d389_0_16"/>
            <p:cNvSpPr txBox="1"/>
            <p:nvPr/>
          </p:nvSpPr>
          <p:spPr>
            <a:xfrm>
              <a:off x="1863865" y="1356646"/>
              <a:ext cx="2341068" cy="167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Some aspects and practices of open research can differ depending on</a:t>
              </a:r>
              <a:br>
                <a:rPr lang="en-US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 the area you are </a:t>
              </a:r>
              <a:br>
                <a:rPr lang="en-US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studying</a:t>
              </a:r>
              <a:endParaRPr dirty="0">
                <a:solidFill>
                  <a:srgbClr val="222222"/>
                </a:solidFill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2" name="Google Shape;622;gdf5372d389_0_1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What is open research?</a:t>
            </a:r>
            <a:endParaRPr sz="24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740966-9B87-E74E-A06F-257D03E61333}"/>
              </a:ext>
            </a:extLst>
          </p:cNvPr>
          <p:cNvGrpSpPr/>
          <p:nvPr/>
        </p:nvGrpSpPr>
        <p:grpSpPr>
          <a:xfrm>
            <a:off x="4830530" y="1444785"/>
            <a:ext cx="2785824" cy="2374917"/>
            <a:chOff x="4329664" y="1190633"/>
            <a:chExt cx="2785824" cy="2374917"/>
          </a:xfrm>
        </p:grpSpPr>
        <p:pic>
          <p:nvPicPr>
            <p:cNvPr id="11" name="Google Shape;620;gdf5372d389_0_16">
              <a:extLst>
                <a:ext uri="{FF2B5EF4-FFF2-40B4-BE49-F238E27FC236}">
                  <a16:creationId xmlns:a16="http://schemas.microsoft.com/office/drawing/2014/main" id="{36103286-53CA-F241-9F6D-C2DC07F6747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4004" r="59155" b="29505"/>
            <a:stretch/>
          </p:blipFill>
          <p:spPr>
            <a:xfrm>
              <a:off x="4329664" y="1190633"/>
              <a:ext cx="2785824" cy="23749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gdf5372d389_0_16"/>
            <p:cNvSpPr txBox="1"/>
            <p:nvPr/>
          </p:nvSpPr>
          <p:spPr>
            <a:xfrm>
              <a:off x="4628581" y="1530279"/>
              <a:ext cx="2285700" cy="1423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rPr>
                <a:t>This introductory </a:t>
              </a:r>
              <a:endParaRPr dirty="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rgbClr val="222222"/>
                  </a:solidFill>
                  <a:latin typeface="Roboto"/>
                  <a:ea typeface="Roboto"/>
                  <a:cs typeface="Roboto"/>
                  <a:sym typeface="Roboto"/>
                </a:rPr>
                <a:t>course will help you  identify what aspects are useful overall and for your specific context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5BA950C-B81B-0249-8A04-BC48FF7044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8117"/>
          <a:stretch/>
        </p:blipFill>
        <p:spPr>
          <a:xfrm>
            <a:off x="594291" y="3009600"/>
            <a:ext cx="2326267" cy="2376000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D8F05F56-9683-324E-868A-33050DFEEB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2065"/>
          <a:stretch/>
        </p:blipFill>
        <p:spPr>
          <a:xfrm>
            <a:off x="5976698" y="2727603"/>
            <a:ext cx="2547896" cy="2657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There are 5 schools of thought about open research</a:t>
            </a:r>
            <a:endParaRPr sz="24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8D92F3-3FD5-2940-9851-AC0BB15B50E5}"/>
              </a:ext>
            </a:extLst>
          </p:cNvPr>
          <p:cNvGrpSpPr/>
          <p:nvPr/>
        </p:nvGrpSpPr>
        <p:grpSpPr>
          <a:xfrm>
            <a:off x="1244292" y="966188"/>
            <a:ext cx="4886688" cy="921237"/>
            <a:chOff x="1025351" y="863157"/>
            <a:chExt cx="4886688" cy="921237"/>
          </a:xfrm>
        </p:grpSpPr>
        <p:sp>
          <p:nvSpPr>
            <p:cNvPr id="635" name="Google Shape;635;p6"/>
            <p:cNvSpPr/>
            <p:nvPr/>
          </p:nvSpPr>
          <p:spPr>
            <a:xfrm>
              <a:off x="1025351" y="863157"/>
              <a:ext cx="4886688" cy="921237"/>
            </a:xfrm>
            <a:prstGeom prst="rect">
              <a:avLst/>
            </a:prstGeom>
            <a:solidFill>
              <a:srgbClr val="FDDFD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2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1278054" y="1027875"/>
              <a:ext cx="614164" cy="59179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6"/>
            <p:cNvSpPr txBox="1"/>
            <p:nvPr/>
          </p:nvSpPr>
          <p:spPr>
            <a:xfrm>
              <a:off x="1996033" y="943884"/>
              <a:ext cx="2425862" cy="30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The Infrastructure School</a:t>
              </a:r>
              <a:endParaRPr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8" name="Google Shape;638;p6"/>
            <p:cNvSpPr txBox="1"/>
            <p:nvPr/>
          </p:nvSpPr>
          <p:spPr>
            <a:xfrm>
              <a:off x="1996033" y="1184059"/>
              <a:ext cx="3505059" cy="52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3A3838"/>
                  </a:solidFill>
                  <a:latin typeface="Roboto"/>
                  <a:ea typeface="Roboto"/>
                  <a:cs typeface="Roboto"/>
                  <a:sym typeface="Roboto"/>
                </a:rPr>
                <a:t>Relates to making research platforms, tools and services openly available</a:t>
              </a: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59" name="Google Shape;659;p6"/>
            <p:cNvPicPr preferRelativeResize="0"/>
            <p:nvPr/>
          </p:nvPicPr>
          <p:blipFill rotWithShape="1">
            <a:blip r:embed="rId3">
              <a:alphaModFix/>
            </a:blip>
            <a:srcRect l="10188" t="16420" r="73934" b="58749"/>
            <a:stretch/>
          </p:blipFill>
          <p:spPr>
            <a:xfrm>
              <a:off x="1368901" y="1056641"/>
              <a:ext cx="409250" cy="482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E0A28C-0CBA-9142-8955-D486B36335CD}"/>
              </a:ext>
            </a:extLst>
          </p:cNvPr>
          <p:cNvGrpSpPr/>
          <p:nvPr/>
        </p:nvGrpSpPr>
        <p:grpSpPr>
          <a:xfrm>
            <a:off x="3482163" y="1968152"/>
            <a:ext cx="4886688" cy="921237"/>
            <a:chOff x="3082127" y="1848930"/>
            <a:chExt cx="4886688" cy="921237"/>
          </a:xfrm>
        </p:grpSpPr>
        <p:sp>
          <p:nvSpPr>
            <p:cNvPr id="640" name="Google Shape;640;p6"/>
            <p:cNvSpPr/>
            <p:nvPr/>
          </p:nvSpPr>
          <p:spPr>
            <a:xfrm>
              <a:off x="3082127" y="1848930"/>
              <a:ext cx="4886688" cy="9212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2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1A0780-3F34-6649-8D6F-DA209F54002F}"/>
                </a:ext>
              </a:extLst>
            </p:cNvPr>
            <p:cNvGrpSpPr/>
            <p:nvPr/>
          </p:nvGrpSpPr>
          <p:grpSpPr>
            <a:xfrm>
              <a:off x="3334781" y="1902014"/>
              <a:ext cx="4223088" cy="763402"/>
              <a:chOff x="3914330" y="1940651"/>
              <a:chExt cx="4223088" cy="763402"/>
            </a:xfrm>
          </p:grpSpPr>
          <p:sp>
            <p:nvSpPr>
              <p:cNvPr id="642" name="Google Shape;642;p6"/>
              <p:cNvSpPr txBox="1"/>
              <p:nvPr/>
            </p:nvSpPr>
            <p:spPr>
              <a:xfrm>
                <a:off x="4632359" y="1940651"/>
                <a:ext cx="2425862" cy="307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Pragmatic School</a:t>
                </a:r>
                <a:endParaRPr sz="14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3" name="Google Shape;643;p6"/>
              <p:cNvSpPr txBox="1"/>
              <p:nvPr/>
            </p:nvSpPr>
            <p:spPr>
              <a:xfrm>
                <a:off x="4632359" y="2180825"/>
                <a:ext cx="3505059" cy="5232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rgbClr val="3A383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Relates to enhancing efficiency of knowledge creation in research</a:t>
                </a:r>
                <a:endParaRPr sz="14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D96D910-507F-5348-AC39-037AD2C0D965}"/>
                  </a:ext>
                </a:extLst>
              </p:cNvPr>
              <p:cNvGrpSpPr/>
              <p:nvPr/>
            </p:nvGrpSpPr>
            <p:grpSpPr>
              <a:xfrm>
                <a:off x="3914330" y="2024568"/>
                <a:ext cx="614164" cy="591799"/>
                <a:chOff x="3906336" y="1974917"/>
                <a:chExt cx="614164" cy="591799"/>
              </a:xfrm>
            </p:grpSpPr>
            <p:sp>
              <p:nvSpPr>
                <p:cNvPr id="641" name="Google Shape;641;p6"/>
                <p:cNvSpPr/>
                <p:nvPr/>
              </p:nvSpPr>
              <p:spPr>
                <a:xfrm>
                  <a:off x="3906336" y="1974917"/>
                  <a:ext cx="614164" cy="591799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660" name="Google Shape;660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1630" t="28513" r="85325" b="48529"/>
                <a:stretch/>
              </p:blipFill>
              <p:spPr>
                <a:xfrm>
                  <a:off x="3964692" y="2029076"/>
                  <a:ext cx="497452" cy="48348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DC9F66-74DF-3249-8B45-12034E82FA96}"/>
              </a:ext>
            </a:extLst>
          </p:cNvPr>
          <p:cNvGrpSpPr/>
          <p:nvPr/>
        </p:nvGrpSpPr>
        <p:grpSpPr>
          <a:xfrm>
            <a:off x="1244292" y="4928861"/>
            <a:ext cx="4886688" cy="921237"/>
            <a:chOff x="1218401" y="4825830"/>
            <a:chExt cx="4886688" cy="921237"/>
          </a:xfrm>
        </p:grpSpPr>
        <p:grpSp>
          <p:nvGrpSpPr>
            <p:cNvPr id="649" name="Google Shape;649;p6"/>
            <p:cNvGrpSpPr/>
            <p:nvPr/>
          </p:nvGrpSpPr>
          <p:grpSpPr>
            <a:xfrm>
              <a:off x="1218401" y="4825830"/>
              <a:ext cx="4886688" cy="921237"/>
              <a:chOff x="2720938" y="5810276"/>
              <a:chExt cx="5815409" cy="1137751"/>
            </a:xfrm>
          </p:grpSpPr>
          <p:sp>
            <p:nvSpPr>
              <p:cNvPr id="650" name="Google Shape;650;p6"/>
              <p:cNvSpPr/>
              <p:nvPr/>
            </p:nvSpPr>
            <p:spPr>
              <a:xfrm>
                <a:off x="2720938" y="5810276"/>
                <a:ext cx="5815409" cy="1137751"/>
              </a:xfrm>
              <a:prstGeom prst="rect">
                <a:avLst/>
              </a:prstGeom>
              <a:solidFill>
                <a:srgbClr val="FDDFD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FFF2F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6"/>
              <p:cNvSpPr/>
              <p:nvPr/>
            </p:nvSpPr>
            <p:spPr>
              <a:xfrm>
                <a:off x="3021668" y="6013707"/>
                <a:ext cx="730887" cy="73088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6"/>
              <p:cNvSpPr txBox="1"/>
              <p:nvPr/>
            </p:nvSpPr>
            <p:spPr>
              <a:xfrm>
                <a:off x="3876099" y="5909976"/>
                <a:ext cx="2886900" cy="38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Measurement School</a:t>
                </a:r>
                <a:endParaRPr sz="14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53" name="Google Shape;653;p6"/>
              <p:cNvSpPr txBox="1"/>
              <p:nvPr/>
            </p:nvSpPr>
            <p:spPr>
              <a:xfrm>
                <a:off x="3876099" y="6206598"/>
                <a:ext cx="4660200" cy="6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rgbClr val="3A383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Relates to developing and using alternative approaches to measuring impact</a:t>
                </a:r>
                <a:endParaRPr sz="14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661" name="Google Shape;661;p6"/>
            <p:cNvPicPr preferRelativeResize="0"/>
            <p:nvPr/>
          </p:nvPicPr>
          <p:blipFill rotWithShape="1">
            <a:blip r:embed="rId5">
              <a:alphaModFix/>
            </a:blip>
            <a:srcRect l="25637" t="58824" r="63071" b="18538"/>
            <a:stretch/>
          </p:blipFill>
          <p:spPr>
            <a:xfrm>
              <a:off x="1567551" y="5013139"/>
              <a:ext cx="412005" cy="5466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7C7C74C-3E17-6D4B-86B6-78FE72C7F325}"/>
              </a:ext>
            </a:extLst>
          </p:cNvPr>
          <p:cNvGrpSpPr/>
          <p:nvPr/>
        </p:nvGrpSpPr>
        <p:grpSpPr>
          <a:xfrm>
            <a:off x="3482163" y="3949488"/>
            <a:ext cx="4886688" cy="921237"/>
            <a:chOff x="3661676" y="3837499"/>
            <a:chExt cx="4886688" cy="921237"/>
          </a:xfrm>
        </p:grpSpPr>
        <p:sp>
          <p:nvSpPr>
            <p:cNvPr id="655" name="Google Shape;655;p6"/>
            <p:cNvSpPr/>
            <p:nvPr/>
          </p:nvSpPr>
          <p:spPr>
            <a:xfrm>
              <a:off x="3661676" y="3837499"/>
              <a:ext cx="4886688" cy="9212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2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"/>
            <p:cNvSpPr txBox="1"/>
            <p:nvPr/>
          </p:nvSpPr>
          <p:spPr>
            <a:xfrm>
              <a:off x="4632357" y="3918226"/>
              <a:ext cx="3513630" cy="30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The Democratic School</a:t>
              </a: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8" name="Google Shape;658;p6"/>
            <p:cNvSpPr txBox="1"/>
            <p:nvPr/>
          </p:nvSpPr>
          <p:spPr>
            <a:xfrm>
              <a:off x="4632358" y="4158400"/>
              <a:ext cx="3505059" cy="52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3A3838"/>
                  </a:solidFill>
                  <a:latin typeface="Roboto"/>
                  <a:ea typeface="Roboto"/>
                  <a:cs typeface="Roboto"/>
                  <a:sym typeface="Roboto"/>
                </a:rPr>
                <a:t>Relates to making knowledge available to everyone</a:t>
              </a: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FC5D93B-ED2E-9942-80A2-17408CC45095}"/>
                </a:ext>
              </a:extLst>
            </p:cNvPr>
            <p:cNvGrpSpPr/>
            <p:nvPr/>
          </p:nvGrpSpPr>
          <p:grpSpPr>
            <a:xfrm>
              <a:off x="3914379" y="4002218"/>
              <a:ext cx="614164" cy="591799"/>
              <a:chOff x="3914379" y="4002217"/>
              <a:chExt cx="614164" cy="591799"/>
            </a:xfrm>
          </p:grpSpPr>
          <p:sp>
            <p:nvSpPr>
              <p:cNvPr id="656" name="Google Shape;656;p6"/>
              <p:cNvSpPr/>
              <p:nvPr/>
            </p:nvSpPr>
            <p:spPr>
              <a:xfrm>
                <a:off x="3914379" y="4002217"/>
                <a:ext cx="614164" cy="59179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62" name="Google Shape;662;p6"/>
              <p:cNvPicPr preferRelativeResize="0"/>
              <p:nvPr/>
            </p:nvPicPr>
            <p:blipFill rotWithShape="1">
              <a:blip r:embed="rId6">
                <a:alphaModFix/>
              </a:blip>
              <a:srcRect l="64763" t="11124" r="21706" b="72890"/>
              <a:stretch/>
            </p:blipFill>
            <p:spPr>
              <a:xfrm>
                <a:off x="3967769" y="4067282"/>
                <a:ext cx="507384" cy="4616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BFB4B7-408A-4E44-A02F-29F0AE9BD369}"/>
              </a:ext>
            </a:extLst>
          </p:cNvPr>
          <p:cNvGrpSpPr/>
          <p:nvPr/>
        </p:nvGrpSpPr>
        <p:grpSpPr>
          <a:xfrm>
            <a:off x="1244292" y="2947524"/>
            <a:ext cx="4886688" cy="921237"/>
            <a:chOff x="1218366" y="2849168"/>
            <a:chExt cx="4886688" cy="921237"/>
          </a:xfrm>
        </p:grpSpPr>
        <p:sp>
          <p:nvSpPr>
            <p:cNvPr id="645" name="Google Shape;645;p6"/>
            <p:cNvSpPr/>
            <p:nvPr/>
          </p:nvSpPr>
          <p:spPr>
            <a:xfrm>
              <a:off x="1218366" y="2849168"/>
              <a:ext cx="4886688" cy="921237"/>
            </a:xfrm>
            <a:prstGeom prst="rect">
              <a:avLst/>
            </a:prstGeom>
            <a:solidFill>
              <a:srgbClr val="FDDFD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2F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1471069" y="3013886"/>
              <a:ext cx="614164" cy="59179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6"/>
            <p:cNvSpPr txBox="1"/>
            <p:nvPr/>
          </p:nvSpPr>
          <p:spPr>
            <a:xfrm>
              <a:off x="2189048" y="2929895"/>
              <a:ext cx="2425862" cy="30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The Public School</a:t>
              </a:r>
              <a:endPara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8" name="Google Shape;648;p6"/>
            <p:cNvSpPr txBox="1"/>
            <p:nvPr/>
          </p:nvSpPr>
          <p:spPr>
            <a:xfrm>
              <a:off x="2189048" y="3170069"/>
              <a:ext cx="3505059" cy="523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3A3838"/>
                  </a:solidFill>
                  <a:latin typeface="Roboto"/>
                  <a:ea typeface="Roboto"/>
                  <a:cs typeface="Roboto"/>
                  <a:sym typeface="Roboto"/>
                </a:rPr>
                <a:t>Relates to making research accessible to the public</a:t>
              </a:r>
              <a:endParaRPr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63" name="Google Shape;663;p6"/>
            <p:cNvPicPr preferRelativeResize="0"/>
            <p:nvPr/>
          </p:nvPicPr>
          <p:blipFill rotWithShape="1">
            <a:blip r:embed="rId7">
              <a:alphaModFix/>
            </a:blip>
            <a:srcRect l="45048" t="14368" r="35133" b="59440"/>
            <a:stretch/>
          </p:blipFill>
          <p:spPr>
            <a:xfrm>
              <a:off x="1528048" y="3054361"/>
              <a:ext cx="500105" cy="4858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"/>
          <p:cNvSpPr txBox="1">
            <a:spLocks noGrp="1"/>
          </p:cNvSpPr>
          <p:nvPr>
            <p:ph type="title"/>
          </p:nvPr>
        </p:nvSpPr>
        <p:spPr>
          <a:xfrm>
            <a:off x="254000" y="254001"/>
            <a:ext cx="7569200" cy="80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en-US" sz="2400" b="1" dirty="0"/>
              <a:t>Activity</a:t>
            </a:r>
            <a:endParaRPr sz="2400" b="1" dirty="0"/>
          </a:p>
        </p:txBody>
      </p:sp>
      <p:sp>
        <p:nvSpPr>
          <p:cNvPr id="669" name="Google Shape;669;p7"/>
          <p:cNvSpPr txBox="1">
            <a:spLocks noGrp="1"/>
          </p:cNvSpPr>
          <p:nvPr>
            <p:ph type="body" idx="1"/>
          </p:nvPr>
        </p:nvSpPr>
        <p:spPr>
          <a:xfrm>
            <a:off x="254000" y="2215166"/>
            <a:ext cx="6198315" cy="35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E" sz="2400" dirty="0"/>
              <a:t>Complete the </a:t>
            </a:r>
            <a:r>
              <a:rPr lang="en-IE" sz="2400"/>
              <a:t>four questions on </a:t>
            </a:r>
            <a:r>
              <a:rPr lang="en-IE" sz="2400" dirty="0"/>
              <a:t>Canvas to reflect on your own experiences with research</a:t>
            </a:r>
            <a:endParaRPr sz="2400" dirty="0"/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2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7" name="Google Shape;1977;p24" descr="A group of people on a stag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89036"/>
            <a:ext cx="9144000" cy="514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8" name="Google Shape;1978;p24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A9ED9D3E8CD4BAE96912ACCE469BD" ma:contentTypeVersion="12" ma:contentTypeDescription="Create a new document." ma:contentTypeScope="" ma:versionID="f80677010a23df52cfc01438366570a0">
  <xsd:schema xmlns:xsd="http://www.w3.org/2001/XMLSchema" xmlns:xs="http://www.w3.org/2001/XMLSchema" xmlns:p="http://schemas.microsoft.com/office/2006/metadata/properties" xmlns:ns2="5130abf7-c696-4dd2-a42d-69c57dedb035" xmlns:ns3="b21566d2-9dd3-4288-924a-6d6f3bdc8cfa" targetNamespace="http://schemas.microsoft.com/office/2006/metadata/properties" ma:root="true" ma:fieldsID="7aa00c592e629ad83ccbe048dee05738" ns2:_="" ns3:_="">
    <xsd:import namespace="5130abf7-c696-4dd2-a42d-69c57dedb035"/>
    <xsd:import namespace="b21566d2-9dd3-4288-924a-6d6f3bdc8c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30abf7-c696-4dd2-a42d-69c57dedb0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1566d2-9dd3-4288-924a-6d6f3bdc8cf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4DA509-129B-40D2-AF24-C4999DC3DDE6}"/>
</file>

<file path=customXml/itemProps2.xml><?xml version="1.0" encoding="utf-8"?>
<ds:datastoreItem xmlns:ds="http://schemas.openxmlformats.org/officeDocument/2006/customXml" ds:itemID="{3CB64A75-35C7-4D7A-BE9B-E4FF14B6C6C4}"/>
</file>

<file path=customXml/itemProps3.xml><?xml version="1.0" encoding="utf-8"?>
<ds:datastoreItem xmlns:ds="http://schemas.openxmlformats.org/officeDocument/2006/customXml" ds:itemID="{16F5C60D-79BF-4F1C-AD4C-FA97A564FEF1}"/>
</file>

<file path=docProps/app.xml><?xml version="1.0" encoding="utf-8"?>
<Properties xmlns="http://schemas.openxmlformats.org/officeDocument/2006/extended-properties" xmlns:vt="http://schemas.openxmlformats.org/officeDocument/2006/docPropsVTypes">
  <TotalTime>2152</TotalTime>
  <Words>326</Words>
  <Application>Microsoft Macintosh PowerPoint</Application>
  <PresentationFormat>On-screen Show (4:3)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Roboto</vt:lpstr>
      <vt:lpstr>Calibri</vt:lpstr>
      <vt:lpstr>Roboto Medium</vt:lpstr>
      <vt:lpstr>Office Theme</vt:lpstr>
      <vt:lpstr>1_Office Theme</vt:lpstr>
      <vt:lpstr>PowerPoint Presentation</vt:lpstr>
      <vt:lpstr>PowerPoint Presentation</vt:lpstr>
      <vt:lpstr>What is open research?</vt:lpstr>
      <vt:lpstr>What is open research?</vt:lpstr>
      <vt:lpstr>What is open research?</vt:lpstr>
      <vt:lpstr>What is open research?</vt:lpstr>
      <vt:lpstr>There are 5 schools of thought about open research</vt:lpstr>
      <vt:lpstr>Activity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Orlagh O'Brien</dc:creator>
  <cp:lastModifiedBy>Matvienko-Sikar, Karen</cp:lastModifiedBy>
  <cp:revision>250</cp:revision>
  <dcterms:created xsi:type="dcterms:W3CDTF">2021-03-16T17:05:21Z</dcterms:created>
  <dcterms:modified xsi:type="dcterms:W3CDTF">2021-06-16T12:56:55Z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