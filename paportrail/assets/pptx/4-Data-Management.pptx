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  <p:sldMasterId id="2147483671" r:id="rId6"/>
    <p:sldMasterId id="214748368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</p:sldIdLst>
  <p:sldSz cy="6858000" cx="9144000"/>
  <p:notesSz cx="6858000" cy="9144000"/>
  <p:embeddedFontLst>
    <p:embeddedFont>
      <p:font typeface="Roboto"/>
      <p:regular r:id="rId58"/>
      <p:bold r:id="rId59"/>
      <p:italic r:id="rId60"/>
      <p:boldItalic r:id="rId61"/>
    </p:embeddedFont>
    <p:embeddedFont>
      <p:font typeface="Roboto Medium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84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6" roundtripDataSignature="AMtx7mjNVUfjoncDOY+MK4xp0LDLStxY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84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62" Type="http://schemas.openxmlformats.org/officeDocument/2006/relationships/font" Target="fonts/RobotoMedium-regular.fntdata"/><Relationship Id="rId61" Type="http://schemas.openxmlformats.org/officeDocument/2006/relationships/font" Target="fonts/Roboto-boldItalic.fntdata"/><Relationship Id="rId20" Type="http://schemas.openxmlformats.org/officeDocument/2006/relationships/slide" Target="slides/slide12.xml"/><Relationship Id="rId64" Type="http://schemas.openxmlformats.org/officeDocument/2006/relationships/font" Target="fonts/RobotoMedium-italic.fntdata"/><Relationship Id="rId63" Type="http://schemas.openxmlformats.org/officeDocument/2006/relationships/font" Target="fonts/RobotoMedium-bold.fntdata"/><Relationship Id="rId22" Type="http://schemas.openxmlformats.org/officeDocument/2006/relationships/slide" Target="slides/slide14.xml"/><Relationship Id="rId66" Type="http://customschemas.google.com/relationships/presentationmetadata" Target="metadata"/><Relationship Id="rId21" Type="http://schemas.openxmlformats.org/officeDocument/2006/relationships/slide" Target="slides/slide13.xml"/><Relationship Id="rId65" Type="http://schemas.openxmlformats.org/officeDocument/2006/relationships/font" Target="fonts/RobotoMedium-boldItalic.fntdata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60" Type="http://schemas.openxmlformats.org/officeDocument/2006/relationships/font" Target="fonts/Roboto-italic.fntdata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11" Type="http://schemas.openxmlformats.org/officeDocument/2006/relationships/slide" Target="slides/slide3.xml"/><Relationship Id="rId55" Type="http://schemas.openxmlformats.org/officeDocument/2006/relationships/slide" Target="slides/slide47.xml"/><Relationship Id="rId10" Type="http://schemas.openxmlformats.org/officeDocument/2006/relationships/slide" Target="slides/slide2.xml"/><Relationship Id="rId54" Type="http://schemas.openxmlformats.org/officeDocument/2006/relationships/slide" Target="slides/slide46.xml"/><Relationship Id="rId13" Type="http://schemas.openxmlformats.org/officeDocument/2006/relationships/slide" Target="slides/slide5.xml"/><Relationship Id="rId57" Type="http://schemas.openxmlformats.org/officeDocument/2006/relationships/slide" Target="slides/slide49.xml"/><Relationship Id="rId12" Type="http://schemas.openxmlformats.org/officeDocument/2006/relationships/slide" Target="slides/slide4.xml"/><Relationship Id="rId56" Type="http://schemas.openxmlformats.org/officeDocument/2006/relationships/slide" Target="slides/slide48.xml"/><Relationship Id="rId15" Type="http://schemas.openxmlformats.org/officeDocument/2006/relationships/slide" Target="slides/slide7.xml"/><Relationship Id="rId59" Type="http://schemas.openxmlformats.org/officeDocument/2006/relationships/font" Target="fonts/Roboto-bold.fntdata"/><Relationship Id="rId14" Type="http://schemas.openxmlformats.org/officeDocument/2006/relationships/slide" Target="slides/slide6.xml"/><Relationship Id="rId58" Type="http://schemas.openxmlformats.org/officeDocument/2006/relationships/font" Target="fonts/Roboto-regular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d7c5b07514_1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gd7c5b07514_1_6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d7c5b07514_1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gd7c5b07514_1_6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a2a2538a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g3a2a2538afe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a2a2538af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4" name="Google Shape;354;g3a2a2538afe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2a2538af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1" name="Google Shape;361;g3a2a2538afe_0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2a2538af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2" name="Google Shape;392;g3a2a2538afe_0_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2a2538af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6" name="Google Shape;416;g3a2a2538afe_0_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a2a2538afe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2" name="Google Shape;422;g3a2a2538afe_0_2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a2a2538afe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0" name="Google Shape;430;g3a2a2538afe_0_2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a2a2538afe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highlight>
                <a:srgbClr val="FFFF00"/>
              </a:highlight>
            </a:endParaRPr>
          </a:p>
        </p:txBody>
      </p:sp>
      <p:sp>
        <p:nvSpPr>
          <p:cNvPr id="437" name="Google Shape;437;g3a2a2538afe_0_3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a2a2538afe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465" name="Google Shape;465;g3a2a2538afe_0_3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a2a2538afe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494" name="Google Shape;494;g3a2a2538afe_0_3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a2a2538afe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515" name="Google Shape;515;g3a2a2538afe_0_3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a2a2538afe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4" name="Google Shape;534;g3a2a2538afe_0_3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a2a2538afe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1" name="Google Shape;551;g3a2a2538afe_0_4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a2a2538afe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567" name="Google Shape;567;g3a2a2538afe_0_4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a2a2538afe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0" name="Google Shape;590;g3a2a2538afe_0_4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a2a2538afe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6" name="Google Shape;606;g3a2a2538afe_0_4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a2a2538afe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2" name="Google Shape;612;g3a2a2538afe_0_6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a2a2538afe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0" name="Google Shape;620;g3a2a2538afe_0_6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a2a2538afe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g3a2a2538afe_0_6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a2a2538afe_0_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g3a2a2538afe_0_7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a2a2538afe_0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9" name="Google Shape;689;g3a2a2538afe_0_7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a2a2538afe_0_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g3a2a2538afe_0_7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a2a2538afe_0_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2" name="Google Shape;742;g3a2a2538afe_0_8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a2a2538afe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765" name="Google Shape;765;g3a2a2538afe_0_8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a2a2538afe_0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0" name="Google Shape;780;g3a2a2538afe_0_8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a2a2538afe_0_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805" name="Google Shape;805;g3a2a2538afe_0_8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a2a2538afe_0_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highlight>
                <a:srgbClr val="FFFF00"/>
              </a:highlight>
            </a:endParaRPr>
          </a:p>
        </p:txBody>
      </p:sp>
      <p:sp>
        <p:nvSpPr>
          <p:cNvPr id="836" name="Google Shape;836;g3a2a2538afe_0_8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a2a2538afe_0_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842" name="Google Shape;842;g3a2a2538afe_0_8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a2a2538afe_0_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49" name="Google Shape;849;g3a2a2538afe_0_9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a2a2538afe_0_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56" name="Google Shape;856;g3a2a2538afe_0_9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a2a2538afe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73" name="Google Shape;873;g3a2a2538afe_0_9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a2a2538afe_0_9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9" name="Google Shape;889;g3a2a2538afe_0_9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a2a2538afe_0_1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5" name="Google Shape;895;g3a2a2538afe_0_13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a2a2538afe_0_1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3" name="Google Shape;903;g3a2a2538afe_0_13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a2a2538afe_0_1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g3a2a2538afe_0_13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a2a2538afe_0_1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g3a2a2538afe_0_13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a2a2538afe_0_1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g3a2a2538afe_0_13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a2a2538afe_0_1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g3a2a2538afe_0_13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a2a2538afe_0_1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g3a2a2538afe_0_14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a2a2538afe_0_1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g3a2a2538afe_0_14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a2a2538afe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g3a2a2538afe_0_14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a2a2538afe_0_1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g3a2a2538afe_0_14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a2a2538afe_0_1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g3a2a2538afe_0_14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a2a2538afe_0_1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3" name="Google Shape;963;g3a2a2538afe_0_14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body"/>
          </p:nvPr>
        </p:nvSpPr>
        <p:spPr>
          <a:xfrm>
            <a:off x="254000" y="1209040"/>
            <a:ext cx="8625840" cy="4561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9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9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5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0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0"/>
          <p:cNvSpPr txBox="1"/>
          <p:nvPr>
            <p:ph idx="1" type="body"/>
          </p:nvPr>
        </p:nvSpPr>
        <p:spPr>
          <a:xfrm>
            <a:off x="623888" y="4589465"/>
            <a:ext cx="7886700" cy="1181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/>
        </p:txBody>
      </p:sp>
      <p:sp>
        <p:nvSpPr>
          <p:cNvPr id="30" name="Google Shape;30;p6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1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1"/>
          <p:cNvSpPr txBox="1"/>
          <p:nvPr>
            <p:ph idx="1" type="body"/>
          </p:nvPr>
        </p:nvSpPr>
        <p:spPr>
          <a:xfrm>
            <a:off x="254000" y="1239521"/>
            <a:ext cx="407416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1"/>
          <p:cNvSpPr txBox="1"/>
          <p:nvPr>
            <p:ph idx="2" type="body"/>
          </p:nvPr>
        </p:nvSpPr>
        <p:spPr>
          <a:xfrm>
            <a:off x="4572000" y="1239521"/>
            <a:ext cx="43180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2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2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2"/>
          <p:cNvSpPr txBox="1"/>
          <p:nvPr>
            <p:ph idx="2" type="body"/>
          </p:nvPr>
        </p:nvSpPr>
        <p:spPr>
          <a:xfrm>
            <a:off x="629842" y="2505075"/>
            <a:ext cx="3868340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2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2"/>
          <p:cNvSpPr txBox="1"/>
          <p:nvPr>
            <p:ph idx="4" type="body"/>
          </p:nvPr>
        </p:nvSpPr>
        <p:spPr>
          <a:xfrm>
            <a:off x="4629150" y="2505075"/>
            <a:ext cx="3887391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3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2" name="Google Shape;52;p63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3" name="Google Shape;53;p6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4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64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6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5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5"/>
          <p:cNvSpPr txBox="1"/>
          <p:nvPr>
            <p:ph idx="1" type="body"/>
          </p:nvPr>
        </p:nvSpPr>
        <p:spPr>
          <a:xfrm rot="5400000">
            <a:off x="2634932" y="-180658"/>
            <a:ext cx="3874135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6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6"/>
          <p:cNvSpPr txBox="1"/>
          <p:nvPr>
            <p:ph type="title"/>
          </p:nvPr>
        </p:nvSpPr>
        <p:spPr>
          <a:xfrm rot="5400000">
            <a:off x="4867275" y="2041525"/>
            <a:ext cx="5324475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6"/>
          <p:cNvSpPr txBox="1"/>
          <p:nvPr>
            <p:ph idx="1" type="body"/>
          </p:nvPr>
        </p:nvSpPr>
        <p:spPr>
          <a:xfrm rot="5400000">
            <a:off x="866775" y="127000"/>
            <a:ext cx="5324475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6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2a2538afe_0_282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a2a2538afe_0_282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a2a2538afe_0_282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g3a2a2538afe_0_282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3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4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4"/>
          <p:cNvSpPr txBox="1"/>
          <p:nvPr>
            <p:ph idx="1" type="body"/>
          </p:nvPr>
        </p:nvSpPr>
        <p:spPr>
          <a:xfrm>
            <a:off x="254000" y="1239521"/>
            <a:ext cx="407416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44"/>
          <p:cNvSpPr txBox="1"/>
          <p:nvPr>
            <p:ph idx="2" type="body"/>
          </p:nvPr>
        </p:nvSpPr>
        <p:spPr>
          <a:xfrm>
            <a:off x="4572000" y="1239521"/>
            <a:ext cx="43180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4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2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0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2" name="Google Shape;102;p10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0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3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3"/>
          <p:cNvSpPr txBox="1"/>
          <p:nvPr>
            <p:ph idx="1" type="body"/>
          </p:nvPr>
        </p:nvSpPr>
        <p:spPr>
          <a:xfrm>
            <a:off x="254000" y="1209040"/>
            <a:ext cx="8625840" cy="4561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0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0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0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4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04"/>
          <p:cNvSpPr txBox="1"/>
          <p:nvPr>
            <p:ph idx="1" type="body"/>
          </p:nvPr>
        </p:nvSpPr>
        <p:spPr>
          <a:xfrm>
            <a:off x="623888" y="4589465"/>
            <a:ext cx="7886700" cy="1181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/>
        </p:txBody>
      </p:sp>
      <p:sp>
        <p:nvSpPr>
          <p:cNvPr id="114" name="Google Shape;114;p10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0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0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5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05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105"/>
          <p:cNvSpPr txBox="1"/>
          <p:nvPr>
            <p:ph idx="2" type="body"/>
          </p:nvPr>
        </p:nvSpPr>
        <p:spPr>
          <a:xfrm>
            <a:off x="629842" y="2505075"/>
            <a:ext cx="3868340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105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105"/>
          <p:cNvSpPr txBox="1"/>
          <p:nvPr>
            <p:ph idx="4" type="body"/>
          </p:nvPr>
        </p:nvSpPr>
        <p:spPr>
          <a:xfrm>
            <a:off x="4629150" y="2505075"/>
            <a:ext cx="3887391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0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0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0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7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07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9" name="Google Shape;129;p107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0" name="Google Shape;130;p10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0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0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8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08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08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p10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0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0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9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09"/>
          <p:cNvSpPr txBox="1"/>
          <p:nvPr>
            <p:ph idx="1" type="body"/>
          </p:nvPr>
        </p:nvSpPr>
        <p:spPr>
          <a:xfrm rot="5400000">
            <a:off x="2634932" y="-180658"/>
            <a:ext cx="3874135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10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0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0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0"/>
          <p:cNvSpPr txBox="1"/>
          <p:nvPr>
            <p:ph type="title"/>
          </p:nvPr>
        </p:nvSpPr>
        <p:spPr>
          <a:xfrm rot="5400000">
            <a:off x="4867275" y="2041525"/>
            <a:ext cx="5324475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10"/>
          <p:cNvSpPr txBox="1"/>
          <p:nvPr>
            <p:ph idx="1" type="body"/>
          </p:nvPr>
        </p:nvSpPr>
        <p:spPr>
          <a:xfrm rot="5400000">
            <a:off x="866775" y="127000"/>
            <a:ext cx="5324475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1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2a2538afe_0_1438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g3a2a2538afe_0_1438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g3a2a2538afe_0_1438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2a2538afe_0_1442"/>
          <p:cNvSpPr txBox="1"/>
          <p:nvPr>
            <p:ph type="ctrTitle"/>
          </p:nvPr>
        </p:nvSpPr>
        <p:spPr>
          <a:xfrm>
            <a:off x="685800" y="1122363"/>
            <a:ext cx="77724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g3a2a2538afe_0_1442"/>
          <p:cNvSpPr txBox="1"/>
          <p:nvPr>
            <p:ph idx="1" type="subTitle"/>
          </p:nvPr>
        </p:nvSpPr>
        <p:spPr>
          <a:xfrm>
            <a:off x="1143000" y="3602038"/>
            <a:ext cx="685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5" name="Google Shape;165;g3a2a2538afe_0_1442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g3a2a2538afe_0_1442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g3a2a2538afe_0_1442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2a2538afe_0_1448"/>
          <p:cNvSpPr txBox="1"/>
          <p:nvPr>
            <p:ph type="title"/>
          </p:nvPr>
        </p:nvSpPr>
        <p:spPr>
          <a:xfrm>
            <a:off x="623888" y="1709739"/>
            <a:ext cx="78867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g3a2a2538afe_0_1448"/>
          <p:cNvSpPr txBox="1"/>
          <p:nvPr>
            <p:ph idx="1" type="body"/>
          </p:nvPr>
        </p:nvSpPr>
        <p:spPr>
          <a:xfrm>
            <a:off x="623888" y="4589465"/>
            <a:ext cx="78867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/>
        </p:txBody>
      </p:sp>
      <p:sp>
        <p:nvSpPr>
          <p:cNvPr id="171" name="Google Shape;171;g3a2a2538afe_0_1448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g3a2a2538afe_0_1448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g3a2a2538afe_0_1448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2a2538afe_0_1454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g3a2a2538afe_0_1454"/>
          <p:cNvSpPr txBox="1"/>
          <p:nvPr>
            <p:ph idx="1" type="body"/>
          </p:nvPr>
        </p:nvSpPr>
        <p:spPr>
          <a:xfrm>
            <a:off x="254000" y="1239521"/>
            <a:ext cx="40743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g3a2a2538afe_0_1454"/>
          <p:cNvSpPr txBox="1"/>
          <p:nvPr>
            <p:ph idx="2" type="body"/>
          </p:nvPr>
        </p:nvSpPr>
        <p:spPr>
          <a:xfrm>
            <a:off x="4572000" y="1239521"/>
            <a:ext cx="43179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g3a2a2538afe_0_1454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g3a2a2538afe_0_1454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g3a2a2538afe_0_1454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2a2538afe_0_1461"/>
          <p:cNvSpPr txBox="1"/>
          <p:nvPr>
            <p:ph type="title"/>
          </p:nvPr>
        </p:nvSpPr>
        <p:spPr>
          <a:xfrm>
            <a:off x="629841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g3a2a2538afe_0_1461"/>
          <p:cNvSpPr txBox="1"/>
          <p:nvPr>
            <p:ph idx="1" type="body"/>
          </p:nvPr>
        </p:nvSpPr>
        <p:spPr>
          <a:xfrm>
            <a:off x="629842" y="1681163"/>
            <a:ext cx="38682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4" name="Google Shape;184;g3a2a2538afe_0_1461"/>
          <p:cNvSpPr txBox="1"/>
          <p:nvPr>
            <p:ph idx="2" type="body"/>
          </p:nvPr>
        </p:nvSpPr>
        <p:spPr>
          <a:xfrm>
            <a:off x="629842" y="2505075"/>
            <a:ext cx="3868200" cy="3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g3a2a2538afe_0_1461"/>
          <p:cNvSpPr txBox="1"/>
          <p:nvPr>
            <p:ph idx="3" type="body"/>
          </p:nvPr>
        </p:nvSpPr>
        <p:spPr>
          <a:xfrm>
            <a:off x="4629150" y="1681163"/>
            <a:ext cx="38874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6" name="Google Shape;186;g3a2a2538afe_0_1461"/>
          <p:cNvSpPr txBox="1"/>
          <p:nvPr>
            <p:ph idx="4" type="body"/>
          </p:nvPr>
        </p:nvSpPr>
        <p:spPr>
          <a:xfrm>
            <a:off x="4629150" y="2505075"/>
            <a:ext cx="3887400" cy="3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g3a2a2538afe_0_1461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g3a2a2538afe_0_1461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g3a2a2538afe_0_1461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2a2538afe_0_1470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g3a2a2538afe_0_1470"/>
          <p:cNvSpPr txBox="1"/>
          <p:nvPr>
            <p:ph idx="1" type="body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93" name="Google Shape;193;g3a2a2538afe_0_1470"/>
          <p:cNvSpPr txBox="1"/>
          <p:nvPr>
            <p:ph idx="2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94" name="Google Shape;194;g3a2a2538afe_0_1470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g3a2a2538afe_0_1470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g3a2a2538afe_0_1470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2a2538afe_0_1477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g3a2a2538afe_0_1477"/>
          <p:cNvSpPr/>
          <p:nvPr>
            <p:ph idx="2" type="pic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g3a2a2538afe_0_1477"/>
          <p:cNvSpPr txBox="1"/>
          <p:nvPr>
            <p:ph idx="1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1" name="Google Shape;201;g3a2a2538afe_0_1477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g3a2a2538afe_0_1477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g3a2a2538afe_0_1477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2a2538afe_0_1484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g3a2a2538afe_0_1484"/>
          <p:cNvSpPr txBox="1"/>
          <p:nvPr>
            <p:ph idx="1" type="body"/>
          </p:nvPr>
        </p:nvSpPr>
        <p:spPr>
          <a:xfrm rot="5400000">
            <a:off x="2634899" y="-180626"/>
            <a:ext cx="38742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g3a2a2538afe_0_1484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g3a2a2538afe_0_1484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g3a2a2538afe_0_1484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2a2538afe_0_1490"/>
          <p:cNvSpPr txBox="1"/>
          <p:nvPr>
            <p:ph type="title"/>
          </p:nvPr>
        </p:nvSpPr>
        <p:spPr>
          <a:xfrm rot="5400000">
            <a:off x="4867350" y="2041525"/>
            <a:ext cx="53244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g3a2a2538afe_0_1490"/>
          <p:cNvSpPr txBox="1"/>
          <p:nvPr>
            <p:ph idx="1" type="body"/>
          </p:nvPr>
        </p:nvSpPr>
        <p:spPr>
          <a:xfrm rot="5400000">
            <a:off x="866775" y="126925"/>
            <a:ext cx="53244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3" name="Google Shape;213;g3a2a2538afe_0_1490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g3a2a2538afe_0_1490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g3a2a2538afe_0_1490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2a2538afe_0_149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g3a2a2538afe_0_1496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g3a2a2538afe_0_1496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g3a2a2538afe_0_1496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2a2538afe_0_150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g3a2a2538afe_0_1507"/>
          <p:cNvSpPr txBox="1"/>
          <p:nvPr>
            <p:ph idx="1" type="body"/>
          </p:nvPr>
        </p:nvSpPr>
        <p:spPr>
          <a:xfrm>
            <a:off x="254000" y="1209040"/>
            <a:ext cx="86259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g3a2a2538afe_0_1507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g3a2a2538afe_0_1507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g3a2a2538afe_0_1507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" name="Google Shape;233;g3a2a2538afe_0_1507"/>
          <p:cNvSpPr txBox="1"/>
          <p:nvPr/>
        </p:nvSpPr>
        <p:spPr>
          <a:xfrm>
            <a:off x="5779958" y="6344082"/>
            <a:ext cx="32202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1400" u="none" cap="none" strike="noStrike">
                <a:solidFill>
                  <a:srgbClr val="757070"/>
                </a:solidFill>
                <a:latin typeface="Roboto"/>
                <a:ea typeface="Roboto"/>
                <a:cs typeface="Roboto"/>
                <a:sym typeface="Roboto"/>
              </a:rPr>
              <a:t>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2a2538afe_0_1514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g3a2a2538afe_0_1514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g3a2a2538afe_0_1514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2a2538afe_0_151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g3a2a2538afe_0_1518"/>
          <p:cNvSpPr txBox="1"/>
          <p:nvPr>
            <p:ph idx="1" type="body"/>
          </p:nvPr>
        </p:nvSpPr>
        <p:spPr>
          <a:xfrm>
            <a:off x="254000" y="1209040"/>
            <a:ext cx="86259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1" name="Google Shape;241;g3a2a2538afe_0_1518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g3a2a2538afe_0_1518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g3a2a2538afe_0_1518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2a2538afe_0_1524"/>
          <p:cNvSpPr txBox="1"/>
          <p:nvPr>
            <p:ph type="ctrTitle"/>
          </p:nvPr>
        </p:nvSpPr>
        <p:spPr>
          <a:xfrm>
            <a:off x="685800" y="1122363"/>
            <a:ext cx="77724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g3a2a2538afe_0_1524"/>
          <p:cNvSpPr txBox="1"/>
          <p:nvPr>
            <p:ph idx="1" type="subTitle"/>
          </p:nvPr>
        </p:nvSpPr>
        <p:spPr>
          <a:xfrm>
            <a:off x="1143000" y="3602038"/>
            <a:ext cx="685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7" name="Google Shape;247;g3a2a2538afe_0_1524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g3a2a2538afe_0_1524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g3a2a2538afe_0_1524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2a2538afe_0_1530"/>
          <p:cNvSpPr txBox="1"/>
          <p:nvPr>
            <p:ph type="title"/>
          </p:nvPr>
        </p:nvSpPr>
        <p:spPr>
          <a:xfrm>
            <a:off x="623888" y="1709739"/>
            <a:ext cx="78867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g3a2a2538afe_0_1530"/>
          <p:cNvSpPr txBox="1"/>
          <p:nvPr>
            <p:ph idx="1" type="body"/>
          </p:nvPr>
        </p:nvSpPr>
        <p:spPr>
          <a:xfrm>
            <a:off x="623888" y="4589465"/>
            <a:ext cx="78867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/>
        </p:txBody>
      </p:sp>
      <p:sp>
        <p:nvSpPr>
          <p:cNvPr id="253" name="Google Shape;253;g3a2a2538afe_0_1530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g3a2a2538afe_0_1530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g3a2a2538afe_0_1530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2a2538afe_0_153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g3a2a2538afe_0_1536"/>
          <p:cNvSpPr txBox="1"/>
          <p:nvPr>
            <p:ph idx="1" type="body"/>
          </p:nvPr>
        </p:nvSpPr>
        <p:spPr>
          <a:xfrm>
            <a:off x="254000" y="1239521"/>
            <a:ext cx="40743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9" name="Google Shape;259;g3a2a2538afe_0_1536"/>
          <p:cNvSpPr txBox="1"/>
          <p:nvPr>
            <p:ph idx="2" type="body"/>
          </p:nvPr>
        </p:nvSpPr>
        <p:spPr>
          <a:xfrm>
            <a:off x="4572000" y="1239521"/>
            <a:ext cx="43179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0" name="Google Shape;260;g3a2a2538afe_0_1536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g3a2a2538afe_0_1536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g3a2a2538afe_0_1536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2a2538afe_0_1543"/>
          <p:cNvSpPr txBox="1"/>
          <p:nvPr>
            <p:ph type="title"/>
          </p:nvPr>
        </p:nvSpPr>
        <p:spPr>
          <a:xfrm>
            <a:off x="629841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g3a2a2538afe_0_1543"/>
          <p:cNvSpPr txBox="1"/>
          <p:nvPr>
            <p:ph idx="1" type="body"/>
          </p:nvPr>
        </p:nvSpPr>
        <p:spPr>
          <a:xfrm>
            <a:off x="629842" y="1681163"/>
            <a:ext cx="38682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6" name="Google Shape;266;g3a2a2538afe_0_1543"/>
          <p:cNvSpPr txBox="1"/>
          <p:nvPr>
            <p:ph idx="2" type="body"/>
          </p:nvPr>
        </p:nvSpPr>
        <p:spPr>
          <a:xfrm>
            <a:off x="629842" y="2505075"/>
            <a:ext cx="3868200" cy="3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7" name="Google Shape;267;g3a2a2538afe_0_1543"/>
          <p:cNvSpPr txBox="1"/>
          <p:nvPr>
            <p:ph idx="3" type="body"/>
          </p:nvPr>
        </p:nvSpPr>
        <p:spPr>
          <a:xfrm>
            <a:off x="4629150" y="1681163"/>
            <a:ext cx="38874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8" name="Google Shape;268;g3a2a2538afe_0_1543"/>
          <p:cNvSpPr txBox="1"/>
          <p:nvPr>
            <p:ph idx="4" type="body"/>
          </p:nvPr>
        </p:nvSpPr>
        <p:spPr>
          <a:xfrm>
            <a:off x="4629150" y="2505075"/>
            <a:ext cx="3887400" cy="3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9" name="Google Shape;269;g3a2a2538afe_0_1543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g3a2a2538afe_0_1543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g3a2a2538afe_0_154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2a2538afe_0_1552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g3a2a2538afe_0_1552"/>
          <p:cNvSpPr txBox="1"/>
          <p:nvPr>
            <p:ph idx="1" type="body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75" name="Google Shape;275;g3a2a2538afe_0_1552"/>
          <p:cNvSpPr txBox="1"/>
          <p:nvPr>
            <p:ph idx="2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76" name="Google Shape;276;g3a2a2538afe_0_1552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g3a2a2538afe_0_1552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g3a2a2538afe_0_1552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2a2538afe_0_1559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g3a2a2538afe_0_1559"/>
          <p:cNvSpPr/>
          <p:nvPr>
            <p:ph idx="2" type="pic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g3a2a2538afe_0_1559"/>
          <p:cNvSpPr txBox="1"/>
          <p:nvPr>
            <p:ph idx="1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83" name="Google Shape;283;g3a2a2538afe_0_1559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g3a2a2538afe_0_1559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g3a2a2538afe_0_1559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2a2538afe_0_156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g3a2a2538afe_0_1566"/>
          <p:cNvSpPr txBox="1"/>
          <p:nvPr>
            <p:ph idx="1" type="body"/>
          </p:nvPr>
        </p:nvSpPr>
        <p:spPr>
          <a:xfrm rot="5400000">
            <a:off x="2634899" y="-180626"/>
            <a:ext cx="38742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9" name="Google Shape;289;g3a2a2538afe_0_1566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g3a2a2538afe_0_1566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g3a2a2538afe_0_1566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2a2538afe_0_1572"/>
          <p:cNvSpPr txBox="1"/>
          <p:nvPr>
            <p:ph type="title"/>
          </p:nvPr>
        </p:nvSpPr>
        <p:spPr>
          <a:xfrm rot="5400000">
            <a:off x="4867350" y="2041525"/>
            <a:ext cx="53244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g3a2a2538afe_0_1572"/>
          <p:cNvSpPr txBox="1"/>
          <p:nvPr>
            <p:ph idx="1" type="body"/>
          </p:nvPr>
        </p:nvSpPr>
        <p:spPr>
          <a:xfrm rot="5400000">
            <a:off x="866775" y="126925"/>
            <a:ext cx="53244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5" name="Google Shape;295;g3a2a2538afe_0_1572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g3a2a2538afe_0_1572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g3a2a2538afe_0_1572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2" Type="http://schemas.openxmlformats.org/officeDocument/2006/relationships/theme" Target="../theme/theme5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2" Type="http://schemas.openxmlformats.org/officeDocument/2006/relationships/theme" Target="../theme/theme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4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9"/>
          <p:cNvSpPr txBox="1"/>
          <p:nvPr>
            <p:ph idx="1" type="body"/>
          </p:nvPr>
        </p:nvSpPr>
        <p:spPr>
          <a:xfrm>
            <a:off x="254000" y="1219201"/>
            <a:ext cx="8625840" cy="4582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2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42"/>
          <p:cNvSpPr txBox="1"/>
          <p:nvPr>
            <p:ph idx="1" type="body"/>
          </p:nvPr>
        </p:nvSpPr>
        <p:spPr>
          <a:xfrm>
            <a:off x="254000" y="1219201"/>
            <a:ext cx="8625840" cy="4582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4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4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4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42"/>
          <p:cNvSpPr txBox="1"/>
          <p:nvPr/>
        </p:nvSpPr>
        <p:spPr>
          <a:xfrm>
            <a:off x="4572000" y="6344082"/>
            <a:ext cx="4428302" cy="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3 – Research and Data Management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2a2538afe_0_1432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g3a2a2538afe_0_1432"/>
          <p:cNvSpPr txBox="1"/>
          <p:nvPr>
            <p:ph idx="1" type="body"/>
          </p:nvPr>
        </p:nvSpPr>
        <p:spPr>
          <a:xfrm>
            <a:off x="254000" y="1219201"/>
            <a:ext cx="8625900" cy="45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5" name="Google Shape;155;g3a2a2538afe_0_1432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6" name="Google Shape;156;g3a2a2538afe_0_1432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7" name="Google Shape;157;g3a2a2538afe_0_1432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2a2538afe_0_1501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3" name="Google Shape;223;g3a2a2538afe_0_1501"/>
          <p:cNvSpPr txBox="1"/>
          <p:nvPr>
            <p:ph idx="1" type="body"/>
          </p:nvPr>
        </p:nvSpPr>
        <p:spPr>
          <a:xfrm>
            <a:off x="254000" y="1219201"/>
            <a:ext cx="8625900" cy="45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4" name="Google Shape;224;g3a2a2538afe_0_1501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5" name="Google Shape;225;g3a2a2538afe_0_1501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6" name="Google Shape;226;g3a2a2538afe_0_1501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3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35.png"/><Relationship Id="rId8" Type="http://schemas.openxmlformats.org/officeDocument/2006/relationships/image" Target="../media/image4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jp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36.png"/><Relationship Id="rId5" Type="http://schemas.openxmlformats.org/officeDocument/2006/relationships/image" Target="../media/image33.png"/><Relationship Id="rId6" Type="http://schemas.openxmlformats.org/officeDocument/2006/relationships/image" Target="../media/image19.png"/><Relationship Id="rId7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jp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Relationship Id="rId4" Type="http://schemas.openxmlformats.org/officeDocument/2006/relationships/image" Target="../media/image13.png"/><Relationship Id="rId5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91.png"/><Relationship Id="rId5" Type="http://schemas.openxmlformats.org/officeDocument/2006/relationships/image" Target="../media/image28.png"/><Relationship Id="rId6" Type="http://schemas.openxmlformats.org/officeDocument/2006/relationships/image" Target="../media/image62.png"/><Relationship Id="rId7" Type="http://schemas.openxmlformats.org/officeDocument/2006/relationships/image" Target="../media/image4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32.png"/><Relationship Id="rId5" Type="http://schemas.openxmlformats.org/officeDocument/2006/relationships/image" Target="../media/image49.png"/><Relationship Id="rId6" Type="http://schemas.openxmlformats.org/officeDocument/2006/relationships/image" Target="../media/image5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Relationship Id="rId4" Type="http://schemas.openxmlformats.org/officeDocument/2006/relationships/image" Target="../media/image3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png"/><Relationship Id="rId4" Type="http://schemas.openxmlformats.org/officeDocument/2006/relationships/image" Target="../media/image55.png"/><Relationship Id="rId5" Type="http://schemas.openxmlformats.org/officeDocument/2006/relationships/image" Target="../media/image8.png"/><Relationship Id="rId6" Type="http://schemas.openxmlformats.org/officeDocument/2006/relationships/image" Target="../media/image5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64.png"/><Relationship Id="rId5" Type="http://schemas.openxmlformats.org/officeDocument/2006/relationships/image" Target="../media/image6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5.png"/><Relationship Id="rId4" Type="http://schemas.openxmlformats.org/officeDocument/2006/relationships/image" Target="../media/image8.png"/><Relationship Id="rId5" Type="http://schemas.openxmlformats.org/officeDocument/2006/relationships/image" Target="../media/image74.png"/><Relationship Id="rId6" Type="http://schemas.openxmlformats.org/officeDocument/2006/relationships/image" Target="../media/image52.png"/><Relationship Id="rId7" Type="http://schemas.openxmlformats.org/officeDocument/2006/relationships/image" Target="../media/image5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78.png"/><Relationship Id="rId5" Type="http://schemas.openxmlformats.org/officeDocument/2006/relationships/image" Target="../media/image6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jpg"/><Relationship Id="rId4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0.png"/><Relationship Id="rId4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6.png"/><Relationship Id="rId4" Type="http://schemas.openxmlformats.org/officeDocument/2006/relationships/image" Target="../media/image81.png"/><Relationship Id="rId5" Type="http://schemas.openxmlformats.org/officeDocument/2006/relationships/image" Target="../media/image29.png"/><Relationship Id="rId6" Type="http://schemas.openxmlformats.org/officeDocument/2006/relationships/image" Target="../media/image8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0.png"/><Relationship Id="rId4" Type="http://schemas.openxmlformats.org/officeDocument/2006/relationships/image" Target="../media/image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3.png"/><Relationship Id="rId4" Type="http://schemas.openxmlformats.org/officeDocument/2006/relationships/image" Target="../media/image8.png"/><Relationship Id="rId5" Type="http://schemas.openxmlformats.org/officeDocument/2006/relationships/image" Target="../media/image6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Relationship Id="rId4" Type="http://schemas.openxmlformats.org/officeDocument/2006/relationships/image" Target="../media/image86.png"/><Relationship Id="rId5" Type="http://schemas.openxmlformats.org/officeDocument/2006/relationships/image" Target="../media/image85.png"/><Relationship Id="rId6" Type="http://schemas.openxmlformats.org/officeDocument/2006/relationships/image" Target="../media/image4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zenodo.org/" TargetMode="External"/><Relationship Id="rId4" Type="http://schemas.openxmlformats.org/officeDocument/2006/relationships/hyperlink" Target="https://figshare.com/" TargetMode="External"/><Relationship Id="rId5" Type="http://schemas.openxmlformats.org/officeDocument/2006/relationships/hyperlink" Target="https://www.softwareheritage.org/" TargetMode="External"/><Relationship Id="rId6" Type="http://schemas.openxmlformats.org/officeDocument/2006/relationships/image" Target="../media/image7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://fairsharing.org" TargetMode="External"/><Relationship Id="rId4" Type="http://schemas.openxmlformats.org/officeDocument/2006/relationships/image" Target="../media/image7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5.png"/><Relationship Id="rId4" Type="http://schemas.openxmlformats.org/officeDocument/2006/relationships/image" Target="../media/image55.png"/><Relationship Id="rId5" Type="http://schemas.openxmlformats.org/officeDocument/2006/relationships/image" Target="../media/image8.png"/><Relationship Id="rId6" Type="http://schemas.openxmlformats.org/officeDocument/2006/relationships/image" Target="../media/image7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Relationship Id="rId4" Type="http://schemas.openxmlformats.org/officeDocument/2006/relationships/image" Target="../media/image88.png"/><Relationship Id="rId5" Type="http://schemas.openxmlformats.org/officeDocument/2006/relationships/image" Target="../media/image4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jpg"/><Relationship Id="rId4" Type="http://schemas.openxmlformats.org/officeDocument/2006/relationships/image" Target="../media/image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openaire.eu/opendatapilot-repository-guide" TargetMode="External"/><Relationship Id="rId4" Type="http://schemas.openxmlformats.org/officeDocument/2006/relationships/hyperlink" Target="https://crln.acrl.org/index.php/crlnews/article/view/24273/32092" TargetMode="External"/><Relationship Id="rId5" Type="http://schemas.openxmlformats.org/officeDocument/2006/relationships/hyperlink" Target="https://statsepi.substack.com/p/open-science-is-really-scary-yall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doi.org/10.1177/2515245917751886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onlinelibrary.wiley.com/doi/full/10.1111/jocn.13443" TargetMode="External"/><Relationship Id="rId4" Type="http://schemas.openxmlformats.org/officeDocument/2006/relationships/hyperlink" Target="https://onlinelibrary.wiley.com/doi/full/10.1111/jocn.13443" TargetMode="External"/><Relationship Id="rId5" Type="http://schemas.openxmlformats.org/officeDocument/2006/relationships/hyperlink" Target="https://www.maynoothuniversity.ie/iqda/data-resources/resources-researchers" TargetMode="External"/><Relationship Id="rId6" Type="http://schemas.openxmlformats.org/officeDocument/2006/relationships/hyperlink" Target="https://qdr.syr.edu/guidance/human-participants/access-controls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doi.org/10.1177/1609406918823863" TargetMode="External"/><Relationship Id="rId4" Type="http://schemas.openxmlformats.org/officeDocument/2006/relationships/hyperlink" Target="https://doi.org/10.1177/1556264617744121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doi.org/10.1080/00031305.2017.1375989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scienceeurope.org/media/nsxdyvqn/se_guidance_document_rdmps.pdf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doi.org/10.3233/ISU-170824" TargetMode="External"/><Relationship Id="rId4" Type="http://schemas.openxmlformats.org/officeDocument/2006/relationships/hyperlink" Target="https://doi.org/10.1038/sdata.2016.18%E2%80%8B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://doi.org/10.1629/uksg.468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libguides.ucc.ie/researchdataservice/home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6.jp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302" name="Google Shape;302;p1"/>
          <p:cNvPicPr preferRelativeResize="0"/>
          <p:nvPr/>
        </p:nvPicPr>
        <p:blipFill rotWithShape="1">
          <a:blip r:embed="rId3">
            <a:alphaModFix/>
          </a:blip>
          <a:srcRect b="11539" l="33076" r="0" t="0"/>
          <a:stretch/>
        </p:blipFill>
        <p:spPr>
          <a:xfrm>
            <a:off x="2150534" y="0"/>
            <a:ext cx="6993466" cy="6933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303" name="Google Shape;30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"/>
          <p:cNvSpPr txBox="1"/>
          <p:nvPr/>
        </p:nvSpPr>
        <p:spPr>
          <a:xfrm>
            <a:off x="364243" y="1660140"/>
            <a:ext cx="3697118" cy="906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1"/>
          <p:cNvSpPr txBox="1"/>
          <p:nvPr/>
        </p:nvSpPr>
        <p:spPr>
          <a:xfrm>
            <a:off x="364243" y="2450863"/>
            <a:ext cx="4465334" cy="1260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Venn diagram&#10;&#10;Description automatically generated with low confidence" id="310" name="Google Shape;3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8200" y="1555200"/>
            <a:ext cx="3747600" cy="37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6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lang="en-US" sz="2000"/>
              <a:t>Module 3 – </a:t>
            </a:r>
            <a:r>
              <a:rPr b="1" lang="en-US" sz="2000"/>
              <a:t>Research Data Management</a:t>
            </a:r>
            <a:endParaRPr sz="2000"/>
          </a:p>
        </p:txBody>
      </p:sp>
      <p:sp>
        <p:nvSpPr>
          <p:cNvPr id="312" name="Google Shape;312;p16"/>
          <p:cNvSpPr txBox="1"/>
          <p:nvPr/>
        </p:nvSpPr>
        <p:spPr>
          <a:xfrm>
            <a:off x="2724623" y="1555200"/>
            <a:ext cx="3702770" cy="1315076"/>
          </a:xfrm>
          <a:prstGeom prst="rect">
            <a:avLst/>
          </a:prstGeom>
          <a:noFill/>
          <a:ln>
            <a:noFill/>
          </a:ln>
          <a:effectLst>
            <a:outerShdw blurRad="165100" sx="103000" rotWithShape="0" algn="tl" dir="2700000" dist="38100" sy="103000">
              <a:srgbClr val="000000">
                <a:alpha val="24313"/>
              </a:srgbClr>
            </a:outerShdw>
          </a:effectLst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What is research data?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d7c5b07514_1_638"/>
          <p:cNvSpPr txBox="1"/>
          <p:nvPr>
            <p:ph idx="4294967295" type="body"/>
          </p:nvPr>
        </p:nvSpPr>
        <p:spPr>
          <a:xfrm>
            <a:off x="254000" y="1209050"/>
            <a:ext cx="78864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/>
              <a:t>Research data is the information underlying research findings.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/>
          </a:p>
        </p:txBody>
      </p:sp>
      <p:pic>
        <p:nvPicPr>
          <p:cNvPr id="318" name="Google Shape;318;gd7c5b07514_1_638"/>
          <p:cNvPicPr preferRelativeResize="0"/>
          <p:nvPr/>
        </p:nvPicPr>
        <p:blipFill rotWithShape="1">
          <a:blip r:embed="rId3">
            <a:alphaModFix/>
          </a:blip>
          <a:srcRect b="20827" l="0" r="59329" t="23585"/>
          <a:stretch/>
        </p:blipFill>
        <p:spPr>
          <a:xfrm>
            <a:off x="1233385" y="1802000"/>
            <a:ext cx="2746526" cy="19205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d7c5b07514_1_63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What is research data?</a:t>
            </a:r>
            <a:endParaRPr b="1" sz="2400"/>
          </a:p>
        </p:txBody>
      </p:sp>
      <p:sp>
        <p:nvSpPr>
          <p:cNvPr id="320" name="Google Shape;320;gd7c5b07514_1_638"/>
          <p:cNvSpPr/>
          <p:nvPr/>
        </p:nvSpPr>
        <p:spPr>
          <a:xfrm>
            <a:off x="1440768" y="2081751"/>
            <a:ext cx="22554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52244"/>
                </a:solidFill>
                <a:latin typeface="Roboto"/>
                <a:ea typeface="Roboto"/>
                <a:cs typeface="Roboto"/>
                <a:sym typeface="Roboto"/>
              </a:rPr>
              <a:t>It is all information</a:t>
            </a:r>
            <a:br>
              <a:rPr b="0" i="0" lang="en-US" sz="1400" u="none" cap="none" strike="noStrike">
                <a:solidFill>
                  <a:srgbClr val="252244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400" u="none" cap="none" strike="noStrike">
                <a:solidFill>
                  <a:srgbClr val="252244"/>
                </a:solidFill>
                <a:latin typeface="Roboto"/>
                <a:ea typeface="Roboto"/>
                <a:cs typeface="Roboto"/>
                <a:sym typeface="Roboto"/>
              </a:rPr>
              <a:t> collected, observed, recorded or created throughout the research process</a:t>
            </a:r>
            <a:endParaRPr b="0" i="0" sz="1400" u="none" cap="none" strike="noStrike">
              <a:solidFill>
                <a:srgbClr val="25224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1" name="Google Shape;321;gd7c5b07514_1_6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0323" y="2155149"/>
            <a:ext cx="2041800" cy="4208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gd7c5b07514_1_6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6849" y="1828374"/>
            <a:ext cx="805951" cy="93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gd7c5b07514_1_6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64034" y="2361025"/>
            <a:ext cx="714380" cy="80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gd7c5b07514_1_6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46144" y="2522378"/>
            <a:ext cx="842303" cy="93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gd7c5b07514_1_6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96304" y="3001625"/>
            <a:ext cx="2111042" cy="3192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d7c5b07514_1_652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What is research data?</a:t>
            </a:r>
            <a:endParaRPr b="1" sz="2400"/>
          </a:p>
        </p:txBody>
      </p:sp>
      <p:sp>
        <p:nvSpPr>
          <p:cNvPr id="331" name="Google Shape;331;gd7c5b07514_1_652"/>
          <p:cNvSpPr txBox="1"/>
          <p:nvPr>
            <p:ph idx="4294967295" type="body"/>
          </p:nvPr>
        </p:nvSpPr>
        <p:spPr>
          <a:xfrm>
            <a:off x="253999" y="1209050"/>
            <a:ext cx="8346661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/>
              <a:t>Data can be quantitative or qualitative and can exist in different formats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/>
          </a:p>
        </p:txBody>
      </p:sp>
      <p:grpSp>
        <p:nvGrpSpPr>
          <p:cNvPr id="332" name="Google Shape;332;gd7c5b07514_1_652"/>
          <p:cNvGrpSpPr/>
          <p:nvPr/>
        </p:nvGrpSpPr>
        <p:grpSpPr>
          <a:xfrm>
            <a:off x="328384" y="1901215"/>
            <a:ext cx="8477132" cy="3869635"/>
            <a:chOff x="402768" y="2054087"/>
            <a:chExt cx="8477132" cy="3869635"/>
          </a:xfrm>
        </p:grpSpPr>
        <p:sp>
          <p:nvSpPr>
            <p:cNvPr id="333" name="Google Shape;333;gd7c5b07514_1_652"/>
            <p:cNvSpPr/>
            <p:nvPr/>
          </p:nvSpPr>
          <p:spPr>
            <a:xfrm>
              <a:off x="402768" y="2054087"/>
              <a:ext cx="8477132" cy="3869635"/>
            </a:xfrm>
            <a:prstGeom prst="rect">
              <a:avLst/>
            </a:prstGeom>
            <a:solidFill>
              <a:srgbClr val="CFEFFA"/>
            </a:solidFill>
            <a:ln cap="flat" cmpd="sng" w="25400">
              <a:solidFill>
                <a:srgbClr val="1081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4" name="Google Shape;334;gd7c5b07514_1_652"/>
            <p:cNvGrpSpPr/>
            <p:nvPr/>
          </p:nvGrpSpPr>
          <p:grpSpPr>
            <a:xfrm>
              <a:off x="402768" y="2250051"/>
              <a:ext cx="8338464" cy="3321200"/>
              <a:chOff x="335305" y="2208776"/>
              <a:chExt cx="8338464" cy="3321200"/>
            </a:xfrm>
          </p:grpSpPr>
          <p:sp>
            <p:nvSpPr>
              <p:cNvPr id="335" name="Google Shape;335;gd7c5b07514_1_652"/>
              <p:cNvSpPr txBox="1"/>
              <p:nvPr/>
            </p:nvSpPr>
            <p:spPr>
              <a:xfrm>
                <a:off x="335305" y="2208776"/>
                <a:ext cx="1804200" cy="328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rmAutofit lnSpcReduction="10000"/>
              </a:bodyPr>
              <a:lstStyle/>
              <a:p>
                <a:pPr indent="0" lvl="0" marL="114300" marR="0" rtl="0" algn="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C000"/>
                  </a:buClr>
                  <a:buSzPts val="1800"/>
                  <a:buFont typeface="Arial"/>
                  <a:buNone/>
                </a:pPr>
                <a:br>
                  <a:rPr b="0" i="0" lang="en-US" sz="1800" u="none" cap="none" strike="noStrike">
                    <a:solidFill>
                      <a:srgbClr val="FFC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br>
                  <a:rPr b="0" i="0" lang="en-US" sz="1800" u="none" cap="none" strike="noStrike">
                    <a:solidFill>
                      <a:srgbClr val="FFC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800" u="none" cap="none" strike="noStrike">
                    <a:solidFill>
                      <a:srgbClr val="FFC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Notes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114300" marR="0" rtl="0" algn="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52244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25224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114300" marR="0" rtl="0" algn="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6663F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F6663F"/>
                    </a:solidFill>
                    <a:latin typeface="Roboto"/>
                    <a:ea typeface="Roboto"/>
                    <a:cs typeface="Roboto"/>
                    <a:sym typeface="Roboto"/>
                  </a:rPr>
                  <a:t>Videos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114300" marR="0" rtl="0" algn="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52244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25224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114300" marR="0" rtl="0" algn="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62479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F62479"/>
                    </a:solidFill>
                    <a:latin typeface="Roboto"/>
                    <a:ea typeface="Roboto"/>
                    <a:cs typeface="Roboto"/>
                    <a:sym typeface="Roboto"/>
                  </a:rPr>
                  <a:t>Applications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114300" marR="0" rtl="0" algn="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52244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25224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114300" marR="0" rtl="0" algn="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B27C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47B27C"/>
                    </a:solidFill>
                    <a:latin typeface="Roboto"/>
                    <a:ea typeface="Roboto"/>
                    <a:cs typeface="Roboto"/>
                    <a:sym typeface="Roboto"/>
                  </a:rPr>
                  <a:t>Audio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114300" marR="0" rtl="0" algn="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52244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25224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114300" marR="0" rtl="0" algn="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184AD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1184AD"/>
                    </a:solidFill>
                    <a:latin typeface="Roboto"/>
                    <a:ea typeface="Roboto"/>
                    <a:cs typeface="Roboto"/>
                    <a:sym typeface="Roboto"/>
                  </a:rPr>
                  <a:t>Spreadsheets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114300" marR="0" rtl="0" algn="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52244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25224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114300" marR="0" rtl="0" algn="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1278E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91278E"/>
                    </a:solidFill>
                    <a:latin typeface="Roboto"/>
                    <a:ea typeface="Roboto"/>
                    <a:cs typeface="Roboto"/>
                    <a:sym typeface="Roboto"/>
                  </a:rPr>
                  <a:t>Dialogue/</a:t>
                </a:r>
                <a:br>
                  <a:rPr b="0" i="0" lang="en-US" sz="1800" u="none" cap="none" strike="noStrike">
                    <a:solidFill>
                      <a:srgbClr val="91278E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800" u="none" cap="none" strike="noStrike">
                    <a:solidFill>
                      <a:srgbClr val="91278E"/>
                    </a:solidFill>
                    <a:latin typeface="Roboto"/>
                    <a:ea typeface="Roboto"/>
                    <a:cs typeface="Roboto"/>
                    <a:sym typeface="Roboto"/>
                  </a:rPr>
                  <a:t>spoken word</a:t>
                </a:r>
                <a:endParaRPr b="0" i="0" sz="1600" u="none" cap="none" strike="noStrike">
                  <a:solidFill>
                    <a:srgbClr val="91278E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36" name="Google Shape;336;gd7c5b07514_1_652"/>
              <p:cNvSpPr txBox="1"/>
              <p:nvPr/>
            </p:nvSpPr>
            <p:spPr>
              <a:xfrm>
                <a:off x="6869569" y="2394376"/>
                <a:ext cx="1804200" cy="313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rmAutofit/>
              </a:bodyPr>
              <a:lstStyle/>
              <a:p>
                <a:pPr indent="0" lvl="0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184AD"/>
                  </a:buClr>
                  <a:buSzPts val="1800"/>
                  <a:buFont typeface="Arial"/>
                  <a:buNone/>
                </a:pPr>
                <a:br>
                  <a:rPr b="0" i="0" lang="en-US" sz="1800" u="none" cap="none" strike="noStrike">
                    <a:solidFill>
                      <a:srgbClr val="1184AD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800" u="none" cap="none" strike="noStrike">
                    <a:solidFill>
                      <a:srgbClr val="1184AD"/>
                    </a:solidFill>
                    <a:latin typeface="Roboto"/>
                    <a:ea typeface="Roboto"/>
                    <a:cs typeface="Roboto"/>
                    <a:sym typeface="Roboto"/>
                  </a:rPr>
                  <a:t>Images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52244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25224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7B27C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47B27C"/>
                    </a:solidFill>
                    <a:latin typeface="Roboto"/>
                    <a:ea typeface="Roboto"/>
                    <a:cs typeface="Roboto"/>
                    <a:sym typeface="Roboto"/>
                  </a:rPr>
                  <a:t>Code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52244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25224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62479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F62479"/>
                    </a:solidFill>
                    <a:latin typeface="Roboto"/>
                    <a:ea typeface="Roboto"/>
                    <a:cs typeface="Roboto"/>
                    <a:sym typeface="Roboto"/>
                  </a:rPr>
                  <a:t>Performances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52244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25224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C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FFC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Algorithms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52244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25224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1278E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91278E"/>
                    </a:solidFill>
                    <a:latin typeface="Roboto"/>
                    <a:ea typeface="Roboto"/>
                    <a:cs typeface="Roboto"/>
                    <a:sym typeface="Roboto"/>
                  </a:rPr>
                  <a:t>Music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52244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25224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6663F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F6663F"/>
                    </a:solidFill>
                    <a:latin typeface="Roboto"/>
                    <a:ea typeface="Roboto"/>
                    <a:cs typeface="Roboto"/>
                    <a:sym typeface="Roboto"/>
                  </a:rPr>
                  <a:t>Artefacts</a:t>
                </a:r>
                <a:endParaRPr b="0" i="0" sz="1600" u="none" cap="none" strike="noStrike">
                  <a:solidFill>
                    <a:srgbClr val="F6663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pic>
          <p:nvPicPr>
            <p:cNvPr id="337" name="Google Shape;337;gd7c5b07514_1_652"/>
            <p:cNvPicPr preferRelativeResize="0"/>
            <p:nvPr/>
          </p:nvPicPr>
          <p:blipFill rotWithShape="1">
            <a:blip r:embed="rId3">
              <a:alphaModFix/>
            </a:blip>
            <a:srcRect b="29808" l="12787" r="31972" t="19845"/>
            <a:stretch/>
          </p:blipFill>
          <p:spPr>
            <a:xfrm>
              <a:off x="2359425" y="2468851"/>
              <a:ext cx="4425125" cy="30692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342" name="Google Shape;34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343" name="Google Shape;34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348" name="Google Shape;348;g3a2a2538afe_0_0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349" name="Google Shape;349;g3a2a2538afe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a2a2538afe_0_0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g3a2a2538afe_0_0"/>
          <p:cNvSpPr txBox="1"/>
          <p:nvPr/>
        </p:nvSpPr>
        <p:spPr>
          <a:xfrm>
            <a:off x="364243" y="2450863"/>
            <a:ext cx="44652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, venn diagram&#10;&#10;Description automatically generated" id="356" name="Google Shape;356;g3a2a2538afe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8200" y="1555200"/>
            <a:ext cx="3747600" cy="37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g3a2a2538afe_0_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lang="en-US" sz="2000"/>
              <a:t>Module 3 – </a:t>
            </a:r>
            <a:r>
              <a:rPr b="1" lang="en-US" sz="2000"/>
              <a:t>Research Data Management</a:t>
            </a:r>
            <a:endParaRPr sz="2000"/>
          </a:p>
        </p:txBody>
      </p:sp>
      <p:sp>
        <p:nvSpPr>
          <p:cNvPr id="358" name="Google Shape;358;g3a2a2538afe_0_7"/>
          <p:cNvSpPr txBox="1"/>
          <p:nvPr/>
        </p:nvSpPr>
        <p:spPr>
          <a:xfrm>
            <a:off x="2724623" y="1555200"/>
            <a:ext cx="3702900" cy="1820100"/>
          </a:xfrm>
          <a:prstGeom prst="rect">
            <a:avLst/>
          </a:prstGeom>
          <a:noFill/>
          <a:ln>
            <a:noFill/>
          </a:ln>
          <a:effectLst>
            <a:outerShdw blurRad="165100" sx="103000" rotWithShape="0" algn="tl" dir="2700000" dist="38100" sy="103000">
              <a:srgbClr val="000000">
                <a:alpha val="24310"/>
              </a:srgbClr>
            </a:outerShdw>
          </a:effectLst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Open Research Data: What, Why &amp; How?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a2a2538afe_0_1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000"/>
              <a:t>What is open research data?</a:t>
            </a:r>
            <a:endParaRPr b="1" sz="2000"/>
          </a:p>
        </p:txBody>
      </p:sp>
      <p:grpSp>
        <p:nvGrpSpPr>
          <p:cNvPr id="364" name="Google Shape;364;g3a2a2538afe_0_13"/>
          <p:cNvGrpSpPr/>
          <p:nvPr/>
        </p:nvGrpSpPr>
        <p:grpSpPr>
          <a:xfrm>
            <a:off x="1600673" y="1250960"/>
            <a:ext cx="5942700" cy="4356080"/>
            <a:chOff x="1600673" y="1250960"/>
            <a:chExt cx="5942700" cy="4356080"/>
          </a:xfrm>
        </p:grpSpPr>
        <p:grpSp>
          <p:nvGrpSpPr>
            <p:cNvPr id="365" name="Google Shape;365;g3a2a2538afe_0_13"/>
            <p:cNvGrpSpPr/>
            <p:nvPr/>
          </p:nvGrpSpPr>
          <p:grpSpPr>
            <a:xfrm>
              <a:off x="1600673" y="1250960"/>
              <a:ext cx="5942700" cy="4356080"/>
              <a:chOff x="1600673" y="1250960"/>
              <a:chExt cx="5942700" cy="4356080"/>
            </a:xfrm>
          </p:grpSpPr>
          <p:cxnSp>
            <p:nvCxnSpPr>
              <p:cNvPr id="366" name="Google Shape;366;g3a2a2538afe_0_13"/>
              <p:cNvCxnSpPr/>
              <p:nvPr/>
            </p:nvCxnSpPr>
            <p:spPr>
              <a:xfrm>
                <a:off x="5108756" y="4898641"/>
                <a:ext cx="4002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17B1E7"/>
                </a:solidFill>
                <a:prstDash val="solid"/>
                <a:miter lim="800000"/>
                <a:headEnd len="sm" w="sm" type="none"/>
                <a:tailEnd len="med" w="med" type="stealth"/>
              </a:ln>
            </p:spPr>
          </p:cxnSp>
          <p:grpSp>
            <p:nvGrpSpPr>
              <p:cNvPr id="367" name="Google Shape;367;g3a2a2538afe_0_13"/>
              <p:cNvGrpSpPr/>
              <p:nvPr/>
            </p:nvGrpSpPr>
            <p:grpSpPr>
              <a:xfrm>
                <a:off x="1600673" y="1250960"/>
                <a:ext cx="5942700" cy="4356080"/>
                <a:chOff x="1316863" y="980861"/>
                <a:chExt cx="5942700" cy="4356080"/>
              </a:xfrm>
            </p:grpSpPr>
            <p:grpSp>
              <p:nvGrpSpPr>
                <p:cNvPr id="368" name="Google Shape;368;g3a2a2538afe_0_13"/>
                <p:cNvGrpSpPr/>
                <p:nvPr/>
              </p:nvGrpSpPr>
              <p:grpSpPr>
                <a:xfrm>
                  <a:off x="1316863" y="980861"/>
                  <a:ext cx="5942700" cy="876600"/>
                  <a:chOff x="2937246" y="579579"/>
                  <a:chExt cx="5942700" cy="876600"/>
                </a:xfrm>
              </p:grpSpPr>
              <p:sp>
                <p:nvSpPr>
                  <p:cNvPr id="369" name="Google Shape;369;g3a2a2538afe_0_13"/>
                  <p:cNvSpPr/>
                  <p:nvPr/>
                </p:nvSpPr>
                <p:spPr>
                  <a:xfrm>
                    <a:off x="2937246" y="579579"/>
                    <a:ext cx="5942700" cy="876600"/>
                  </a:xfrm>
                  <a:prstGeom prst="roundRect">
                    <a:avLst>
                      <a:gd fmla="val 10000" name="adj"/>
                    </a:avLst>
                  </a:prstGeom>
                  <a:solidFill>
                    <a:srgbClr val="CFEFFA"/>
                  </a:solidFill>
                  <a:ln cap="flat" cmpd="sng" w="9525">
                    <a:solidFill>
                      <a:srgbClr val="10AEE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0" name="Google Shape;370;g3a2a2538afe_0_13"/>
                  <p:cNvSpPr/>
                  <p:nvPr/>
                </p:nvSpPr>
                <p:spPr>
                  <a:xfrm>
                    <a:off x="3897961" y="765107"/>
                    <a:ext cx="4782300" cy="505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1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rPr b="0" i="0" lang="en-US" sz="1400" u="none" cap="none" strike="noStrike">
                        <a:solidFill>
                          <a:srgbClr val="252244"/>
                        </a:solidFill>
                        <a:latin typeface="Roboto"/>
                        <a:ea typeface="Roboto"/>
                        <a:cs typeface="Roboto"/>
                        <a:sym typeface="Roboto"/>
                      </a:rPr>
                      <a:t>Open data is data that is made publicly available without any restrictions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p:grpSp>
            <p:grpSp>
              <p:nvGrpSpPr>
                <p:cNvPr id="371" name="Google Shape;371;g3a2a2538afe_0_13"/>
                <p:cNvGrpSpPr/>
                <p:nvPr/>
              </p:nvGrpSpPr>
              <p:grpSpPr>
                <a:xfrm>
                  <a:off x="1316863" y="2140688"/>
                  <a:ext cx="5942700" cy="876600"/>
                  <a:chOff x="2937246" y="579579"/>
                  <a:chExt cx="5942700" cy="876600"/>
                </a:xfrm>
              </p:grpSpPr>
              <p:sp>
                <p:nvSpPr>
                  <p:cNvPr id="372" name="Google Shape;372;g3a2a2538afe_0_13"/>
                  <p:cNvSpPr/>
                  <p:nvPr/>
                </p:nvSpPr>
                <p:spPr>
                  <a:xfrm>
                    <a:off x="2937246" y="579579"/>
                    <a:ext cx="5942700" cy="876600"/>
                  </a:xfrm>
                  <a:prstGeom prst="roundRect">
                    <a:avLst>
                      <a:gd fmla="val 10000" name="adj"/>
                    </a:avLst>
                  </a:prstGeom>
                  <a:solidFill>
                    <a:srgbClr val="CFEFFA"/>
                  </a:solidFill>
                  <a:ln cap="flat" cmpd="sng" w="9525">
                    <a:solidFill>
                      <a:srgbClr val="10AEE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3" name="Google Shape;373;g3a2a2538afe_0_13"/>
                  <p:cNvSpPr/>
                  <p:nvPr/>
                </p:nvSpPr>
                <p:spPr>
                  <a:xfrm>
                    <a:off x="3897961" y="765107"/>
                    <a:ext cx="4782300" cy="505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1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400" u="none" cap="none" strike="noStrike">
                        <a:solidFill>
                          <a:srgbClr val="252244"/>
                        </a:solidFill>
                        <a:latin typeface="Roboto"/>
                        <a:ea typeface="Roboto"/>
                        <a:cs typeface="Roboto"/>
                        <a:sym typeface="Roboto"/>
                      </a:rPr>
                      <a:t>It is data that is available to anyone to access, use and share</a:t>
                    </a:r>
                    <a:endParaRPr b="0" i="0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374" name="Google Shape;374;g3a2a2538afe_0_13"/>
                <p:cNvGrpSpPr/>
                <p:nvPr/>
              </p:nvGrpSpPr>
              <p:grpSpPr>
                <a:xfrm>
                  <a:off x="1316863" y="3300515"/>
                  <a:ext cx="5942700" cy="876600"/>
                  <a:chOff x="2937246" y="579579"/>
                  <a:chExt cx="5942700" cy="876600"/>
                </a:xfrm>
              </p:grpSpPr>
              <p:sp>
                <p:nvSpPr>
                  <p:cNvPr id="375" name="Google Shape;375;g3a2a2538afe_0_13"/>
                  <p:cNvSpPr/>
                  <p:nvPr/>
                </p:nvSpPr>
                <p:spPr>
                  <a:xfrm>
                    <a:off x="2937246" y="579579"/>
                    <a:ext cx="5942700" cy="876600"/>
                  </a:xfrm>
                  <a:prstGeom prst="roundRect">
                    <a:avLst>
                      <a:gd fmla="val 10000" name="adj"/>
                    </a:avLst>
                  </a:prstGeom>
                  <a:solidFill>
                    <a:srgbClr val="CFEFFA"/>
                  </a:solidFill>
                  <a:ln cap="flat" cmpd="sng" w="9525">
                    <a:solidFill>
                      <a:srgbClr val="10AEE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6" name="Google Shape;376;g3a2a2538afe_0_13"/>
                  <p:cNvSpPr/>
                  <p:nvPr/>
                </p:nvSpPr>
                <p:spPr>
                  <a:xfrm>
                    <a:off x="3897961" y="765107"/>
                    <a:ext cx="4782300" cy="505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1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400" u="none" cap="none" strike="noStrike">
                        <a:solidFill>
                          <a:srgbClr val="252244"/>
                        </a:solidFill>
                        <a:latin typeface="Roboto"/>
                        <a:ea typeface="Roboto"/>
                        <a:cs typeface="Roboto"/>
                        <a:sym typeface="Roboto"/>
                      </a:rPr>
                      <a:t>The FAIR Principles and data management plans enable open data sharing</a:t>
                    </a:r>
                    <a:endParaRPr b="0" i="0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377" name="Google Shape;377;g3a2a2538afe_0_13"/>
                <p:cNvGrpSpPr/>
                <p:nvPr/>
              </p:nvGrpSpPr>
              <p:grpSpPr>
                <a:xfrm>
                  <a:off x="1316863" y="4460341"/>
                  <a:ext cx="5942700" cy="876600"/>
                  <a:chOff x="2937246" y="579579"/>
                  <a:chExt cx="5942700" cy="876600"/>
                </a:xfrm>
              </p:grpSpPr>
              <p:sp>
                <p:nvSpPr>
                  <p:cNvPr id="378" name="Google Shape;378;g3a2a2538afe_0_13"/>
                  <p:cNvSpPr/>
                  <p:nvPr/>
                </p:nvSpPr>
                <p:spPr>
                  <a:xfrm>
                    <a:off x="2937246" y="579579"/>
                    <a:ext cx="5942700" cy="876600"/>
                  </a:xfrm>
                  <a:prstGeom prst="roundRect">
                    <a:avLst>
                      <a:gd fmla="val 10000" name="adj"/>
                    </a:avLst>
                  </a:prstGeom>
                  <a:solidFill>
                    <a:srgbClr val="CFEFFA"/>
                  </a:solidFill>
                  <a:ln cap="flat" cmpd="sng" w="9525">
                    <a:solidFill>
                      <a:srgbClr val="10AEE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9" name="Google Shape;379;g3a2a2538afe_0_13"/>
                  <p:cNvSpPr/>
                  <p:nvPr/>
                </p:nvSpPr>
                <p:spPr>
                  <a:xfrm>
                    <a:off x="3897961" y="765107"/>
                    <a:ext cx="4782300" cy="505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1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400" u="none" cap="none" strike="noStrike">
                        <a:solidFill>
                          <a:srgbClr val="252244"/>
                        </a:solidFill>
                        <a:latin typeface="Roboto"/>
                        <a:ea typeface="Roboto"/>
                        <a:cs typeface="Roboto"/>
                        <a:sym typeface="Roboto"/>
                      </a:rPr>
                      <a:t>Making data openly available reinforces the principles of open research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p:grpSp>
          </p:grpSp>
          <p:pic>
            <p:nvPicPr>
              <p:cNvPr descr="Icon&#10;&#10;Description automatically generated" id="380" name="Google Shape;380;g3a2a2538afe_0_1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800399" y="1343724"/>
                <a:ext cx="546428" cy="69107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picture containing text, building, window&#10;&#10;Description automatically generated" id="381" name="Google Shape;381;g3a2a2538afe_0_1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690013" y="2498369"/>
                <a:ext cx="782035" cy="7014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2" name="Google Shape;382;g3a2a2538afe_0_13"/>
              <p:cNvPicPr preferRelativeResize="0"/>
              <p:nvPr/>
            </p:nvPicPr>
            <p:blipFill rotWithShape="1">
              <a:blip r:embed="rId5">
                <a:alphaModFix/>
              </a:blip>
              <a:srcRect b="6223" l="33132" r="33919" t="52345"/>
              <a:stretch/>
            </p:blipFill>
            <p:spPr>
              <a:xfrm>
                <a:off x="1747856" y="4929612"/>
                <a:ext cx="666350" cy="47135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83" name="Google Shape;383;g3a2a2538afe_0_13"/>
              <p:cNvGrpSpPr/>
              <p:nvPr/>
            </p:nvGrpSpPr>
            <p:grpSpPr>
              <a:xfrm>
                <a:off x="1689998" y="3101873"/>
                <a:ext cx="871434" cy="1265193"/>
                <a:chOff x="-460856" y="2184012"/>
                <a:chExt cx="1797141" cy="1447258"/>
              </a:xfrm>
            </p:grpSpPr>
            <p:pic>
              <p:nvPicPr>
                <p:cNvPr descr="A map of the world&#10;&#10;Description automatically generated with low confidence" id="384" name="Google Shape;384;g3a2a2538afe_0_13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58260" l="50443" r="5194" t="0"/>
                <a:stretch/>
              </p:blipFill>
              <p:spPr>
                <a:xfrm>
                  <a:off x="-460856" y="2184012"/>
                  <a:ext cx="1367057" cy="13301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 picture containing text&#10;&#10;Description automatically generated" id="385" name="Google Shape;385;g3a2a2538afe_0_13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53341" l="0" r="57005" t="28318"/>
                <a:stretch/>
              </p:blipFill>
              <p:spPr>
                <a:xfrm>
                  <a:off x="476112" y="3052931"/>
                  <a:ext cx="860173" cy="57833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sp>
          <p:nvSpPr>
            <p:cNvPr id="386" name="Google Shape;386;g3a2a2538afe_0_13"/>
            <p:cNvSpPr/>
            <p:nvPr/>
          </p:nvSpPr>
          <p:spPr>
            <a:xfrm rot="683032">
              <a:off x="2140376" y="1589625"/>
              <a:ext cx="45597" cy="82016"/>
            </a:xfrm>
            <a:prstGeom prst="roundRect">
              <a:avLst>
                <a:gd fmla="val 16667" name="adj"/>
              </a:avLst>
            </a:prstGeom>
            <a:solidFill>
              <a:srgbClr val="CFEFFA"/>
            </a:solidFill>
            <a:ln cap="flat" cmpd="sng" w="25400">
              <a:solidFill>
                <a:srgbClr val="CFEF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g3a2a2538afe_0_13"/>
            <p:cNvSpPr/>
            <p:nvPr/>
          </p:nvSpPr>
          <p:spPr>
            <a:xfrm rot="5400000">
              <a:off x="2140539" y="1566765"/>
              <a:ext cx="45600" cy="81900"/>
            </a:xfrm>
            <a:prstGeom prst="roundRect">
              <a:avLst>
                <a:gd fmla="val 16667" name="adj"/>
              </a:avLst>
            </a:prstGeom>
            <a:solidFill>
              <a:srgbClr val="CFEFFA"/>
            </a:solidFill>
            <a:ln cap="flat" cmpd="sng" w="25400">
              <a:solidFill>
                <a:srgbClr val="CFEF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g3a2a2538afe_0_13"/>
            <p:cNvSpPr/>
            <p:nvPr/>
          </p:nvSpPr>
          <p:spPr>
            <a:xfrm rot="-1450746">
              <a:off x="2073907" y="1654708"/>
              <a:ext cx="96682" cy="45660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g3a2a2538afe_0_13"/>
            <p:cNvSpPr/>
            <p:nvPr/>
          </p:nvSpPr>
          <p:spPr>
            <a:xfrm rot="1544084">
              <a:off x="2140494" y="1642276"/>
              <a:ext cx="46291" cy="4562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a2a2538afe_0_4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What is open research data?</a:t>
            </a:r>
            <a:endParaRPr b="1" sz="2400"/>
          </a:p>
        </p:txBody>
      </p:sp>
      <p:grpSp>
        <p:nvGrpSpPr>
          <p:cNvPr id="395" name="Google Shape;395;g3a2a2538afe_0_43"/>
          <p:cNvGrpSpPr/>
          <p:nvPr/>
        </p:nvGrpSpPr>
        <p:grpSpPr>
          <a:xfrm>
            <a:off x="91538" y="1938077"/>
            <a:ext cx="3358442" cy="2941242"/>
            <a:chOff x="-692706" y="2110324"/>
            <a:chExt cx="3642562" cy="2941242"/>
          </a:xfrm>
        </p:grpSpPr>
        <p:pic>
          <p:nvPicPr>
            <p:cNvPr descr="Copy of Open reporting importance for open reporting module (2).png" id="396" name="Google Shape;396;g3a2a2538afe_0_43"/>
            <p:cNvPicPr preferRelativeResize="0"/>
            <p:nvPr/>
          </p:nvPicPr>
          <p:blipFill rotWithShape="1">
            <a:blip r:embed="rId3">
              <a:alphaModFix/>
            </a:blip>
            <a:srcRect b="20699" l="0" r="60164" t="22118"/>
            <a:stretch/>
          </p:blipFill>
          <p:spPr>
            <a:xfrm>
              <a:off x="-692706" y="2110324"/>
              <a:ext cx="3642562" cy="29412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7" name="Google Shape;397;g3a2a2538afe_0_43"/>
            <p:cNvSpPr txBox="1"/>
            <p:nvPr/>
          </p:nvSpPr>
          <p:spPr>
            <a:xfrm>
              <a:off x="-177318" y="2998897"/>
              <a:ext cx="2611800" cy="8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252244"/>
                  </a:solidFill>
                  <a:latin typeface="Roboto"/>
                  <a:ea typeface="Roboto"/>
                  <a:cs typeface="Roboto"/>
                  <a:sym typeface="Roboto"/>
                </a:rPr>
                <a:t>Why is open data important?</a:t>
              </a:r>
              <a:endParaRPr b="0" i="0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98" name="Google Shape;398;g3a2a2538afe_0_43"/>
          <p:cNvGrpSpPr/>
          <p:nvPr/>
        </p:nvGrpSpPr>
        <p:grpSpPr>
          <a:xfrm>
            <a:off x="3616499" y="1056489"/>
            <a:ext cx="5263407" cy="4431852"/>
            <a:chOff x="3642575" y="484648"/>
            <a:chExt cx="5294646" cy="6188873"/>
          </a:xfrm>
        </p:grpSpPr>
        <p:grpSp>
          <p:nvGrpSpPr>
            <p:cNvPr id="399" name="Google Shape;399;g3a2a2538afe_0_43"/>
            <p:cNvGrpSpPr/>
            <p:nvPr/>
          </p:nvGrpSpPr>
          <p:grpSpPr>
            <a:xfrm>
              <a:off x="3642598" y="484648"/>
              <a:ext cx="5294619" cy="969706"/>
              <a:chOff x="3623050" y="364141"/>
              <a:chExt cx="5256770" cy="877800"/>
            </a:xfrm>
          </p:grpSpPr>
          <p:sp>
            <p:nvSpPr>
              <p:cNvPr id="400" name="Google Shape;400;g3a2a2538afe_0_43"/>
              <p:cNvSpPr/>
              <p:nvPr/>
            </p:nvSpPr>
            <p:spPr>
              <a:xfrm>
                <a:off x="4332720" y="364141"/>
                <a:ext cx="4547100" cy="877800"/>
              </a:xfrm>
              <a:prstGeom prst="roundRect">
                <a:avLst>
                  <a:gd fmla="val 16667" name="adj"/>
                </a:avLst>
              </a:prstGeom>
              <a:solidFill>
                <a:srgbClr val="CFEFFA"/>
              </a:solidFill>
              <a:ln cap="flat" cmpd="sng" w="9525">
                <a:solidFill>
                  <a:srgbClr val="CFEFF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187325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252244"/>
                    </a:solidFill>
                    <a:latin typeface="Roboto"/>
                    <a:ea typeface="Roboto"/>
                    <a:cs typeface="Roboto"/>
                    <a:sym typeface="Roboto"/>
                  </a:rPr>
                  <a:t>It enables others to verify and/or reuse your data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01" name="Google Shape;401;g3a2a2538afe_0_43"/>
              <p:cNvSpPr/>
              <p:nvPr/>
            </p:nvSpPr>
            <p:spPr>
              <a:xfrm>
                <a:off x="3623050" y="364141"/>
                <a:ext cx="877800" cy="8778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 cap="flat" cmpd="sng" w="9525">
                <a:solidFill>
                  <a:srgbClr val="17B1E7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1</a:t>
                </a:r>
                <a:endParaRPr b="1" i="0" sz="18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402" name="Google Shape;402;g3a2a2538afe_0_43"/>
            <p:cNvGrpSpPr/>
            <p:nvPr/>
          </p:nvGrpSpPr>
          <p:grpSpPr>
            <a:xfrm>
              <a:off x="3642598" y="1788906"/>
              <a:ext cx="5294619" cy="969708"/>
              <a:chOff x="3623050" y="1465902"/>
              <a:chExt cx="5256770" cy="877802"/>
            </a:xfrm>
          </p:grpSpPr>
          <p:sp>
            <p:nvSpPr>
              <p:cNvPr id="403" name="Google Shape;403;g3a2a2538afe_0_43"/>
              <p:cNvSpPr/>
              <p:nvPr/>
            </p:nvSpPr>
            <p:spPr>
              <a:xfrm>
                <a:off x="4332720" y="1465902"/>
                <a:ext cx="4547100" cy="877800"/>
              </a:xfrm>
              <a:prstGeom prst="roundRect">
                <a:avLst>
                  <a:gd fmla="val 16667" name="adj"/>
                </a:avLst>
              </a:prstGeom>
              <a:solidFill>
                <a:srgbClr val="CFEFFA"/>
              </a:solidFill>
              <a:ln cap="flat" cmpd="sng" w="9525">
                <a:solidFill>
                  <a:srgbClr val="CFEFF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187325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252244"/>
                    </a:solidFill>
                    <a:latin typeface="Roboto"/>
                    <a:ea typeface="Roboto"/>
                    <a:cs typeface="Roboto"/>
                    <a:sym typeface="Roboto"/>
                  </a:rPr>
                  <a:t>You may be able to use openly available data in your own research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04" name="Google Shape;404;g3a2a2538afe_0_43"/>
              <p:cNvSpPr/>
              <p:nvPr/>
            </p:nvSpPr>
            <p:spPr>
              <a:xfrm>
                <a:off x="3623050" y="1465904"/>
                <a:ext cx="877800" cy="8778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 cap="flat" cmpd="sng" w="9525">
                <a:solidFill>
                  <a:srgbClr val="17B1E7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2</a:t>
                </a:r>
                <a:endParaRPr b="1" i="0" sz="18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405" name="Google Shape;405;g3a2a2538afe_0_43"/>
            <p:cNvGrpSpPr/>
            <p:nvPr/>
          </p:nvGrpSpPr>
          <p:grpSpPr>
            <a:xfrm>
              <a:off x="3642598" y="3093172"/>
              <a:ext cx="5294623" cy="969708"/>
              <a:chOff x="3623050" y="2679708"/>
              <a:chExt cx="5256774" cy="877802"/>
            </a:xfrm>
          </p:grpSpPr>
          <p:sp>
            <p:nvSpPr>
              <p:cNvPr id="406" name="Google Shape;406;g3a2a2538afe_0_43"/>
              <p:cNvSpPr/>
              <p:nvPr/>
            </p:nvSpPr>
            <p:spPr>
              <a:xfrm>
                <a:off x="4332724" y="2679710"/>
                <a:ext cx="4547100" cy="877800"/>
              </a:xfrm>
              <a:prstGeom prst="roundRect">
                <a:avLst>
                  <a:gd fmla="val 16667" name="adj"/>
                </a:avLst>
              </a:prstGeom>
              <a:solidFill>
                <a:srgbClr val="CFEFFA"/>
              </a:solidFill>
              <a:ln cap="flat" cmpd="sng" w="9525">
                <a:solidFill>
                  <a:srgbClr val="CFEFF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187325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252244"/>
                    </a:solidFill>
                    <a:latin typeface="Roboto"/>
                    <a:ea typeface="Roboto"/>
                    <a:cs typeface="Roboto"/>
                    <a:sym typeface="Roboto"/>
                  </a:rPr>
                  <a:t>When you make your data available on an online repository it has a Digital Object Identifier (DOI) that you can cite as an output of your research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07" name="Google Shape;407;g3a2a2538afe_0_43"/>
              <p:cNvSpPr/>
              <p:nvPr/>
            </p:nvSpPr>
            <p:spPr>
              <a:xfrm>
                <a:off x="3623050" y="2679708"/>
                <a:ext cx="877800" cy="8778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 cap="flat" cmpd="sng" w="9525">
                <a:solidFill>
                  <a:srgbClr val="17B1E7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3</a:t>
                </a:r>
                <a:endParaRPr b="1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8" name="Google Shape;408;g3a2a2538afe_0_43"/>
            <p:cNvGrpSpPr/>
            <p:nvPr/>
          </p:nvGrpSpPr>
          <p:grpSpPr>
            <a:xfrm>
              <a:off x="3642598" y="4397435"/>
              <a:ext cx="5294619" cy="969707"/>
              <a:chOff x="3623050" y="3899139"/>
              <a:chExt cx="5256770" cy="877801"/>
            </a:xfrm>
          </p:grpSpPr>
          <p:sp>
            <p:nvSpPr>
              <p:cNvPr id="409" name="Google Shape;409;g3a2a2538afe_0_43"/>
              <p:cNvSpPr/>
              <p:nvPr/>
            </p:nvSpPr>
            <p:spPr>
              <a:xfrm>
                <a:off x="4332720" y="3899139"/>
                <a:ext cx="4547100" cy="877800"/>
              </a:xfrm>
              <a:prstGeom prst="roundRect">
                <a:avLst>
                  <a:gd fmla="val 16667" name="adj"/>
                </a:avLst>
              </a:prstGeom>
              <a:solidFill>
                <a:srgbClr val="CFEFFA"/>
              </a:solidFill>
              <a:ln cap="flat" cmpd="sng" w="9525">
                <a:solidFill>
                  <a:srgbClr val="CFEFF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187325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252244"/>
                    </a:solidFill>
                    <a:latin typeface="Roboto"/>
                    <a:ea typeface="Roboto"/>
                    <a:cs typeface="Roboto"/>
                    <a:sym typeface="Roboto"/>
                  </a:rPr>
                  <a:t>Making data open and/or using open data enhances opportunities for collaborations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10" name="Google Shape;410;g3a2a2538afe_0_43"/>
              <p:cNvSpPr/>
              <p:nvPr/>
            </p:nvSpPr>
            <p:spPr>
              <a:xfrm>
                <a:off x="3623050" y="3899140"/>
                <a:ext cx="877800" cy="8778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 cap="flat" cmpd="sng" w="9525">
                <a:solidFill>
                  <a:srgbClr val="17B1E7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4</a:t>
                </a:r>
                <a:endParaRPr b="1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1" name="Google Shape;411;g3a2a2538afe_0_43"/>
            <p:cNvGrpSpPr/>
            <p:nvPr/>
          </p:nvGrpSpPr>
          <p:grpSpPr>
            <a:xfrm>
              <a:off x="3642575" y="5701521"/>
              <a:ext cx="5294575" cy="972000"/>
              <a:chOff x="3642575" y="5701521"/>
              <a:chExt cx="5294575" cy="972000"/>
            </a:xfrm>
          </p:grpSpPr>
          <p:sp>
            <p:nvSpPr>
              <p:cNvPr id="412" name="Google Shape;412;g3a2a2538afe_0_43"/>
              <p:cNvSpPr/>
              <p:nvPr/>
            </p:nvSpPr>
            <p:spPr>
              <a:xfrm>
                <a:off x="4357350" y="5701521"/>
                <a:ext cx="4579800" cy="972000"/>
              </a:xfrm>
              <a:prstGeom prst="roundRect">
                <a:avLst>
                  <a:gd fmla="val 16667" name="adj"/>
                </a:avLst>
              </a:prstGeom>
              <a:solidFill>
                <a:srgbClr val="CFEF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187325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252244"/>
                    </a:solidFill>
                    <a:latin typeface="Roboto"/>
                    <a:ea typeface="Roboto"/>
                    <a:cs typeface="Roboto"/>
                    <a:sym typeface="Roboto"/>
                  </a:rPr>
                  <a:t>Research funders and journals are increasingly adopting open research practices- so this may be important for you in the future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g3a2a2538afe_0_43"/>
              <p:cNvSpPr/>
              <p:nvPr/>
            </p:nvSpPr>
            <p:spPr>
              <a:xfrm>
                <a:off x="3642575" y="5701521"/>
                <a:ext cx="884100" cy="9720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 cap="flat" cmpd="sng" w="9525">
                <a:solidFill>
                  <a:srgbClr val="17B1E7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5</a:t>
                </a:r>
                <a:endParaRPr b="1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418" name="Google Shape;418;g3a2a2538afe_0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419" name="Google Shape;419;g3a2a2538afe_0_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424" name="Google Shape;424;g3a2a2538afe_0_287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425" name="Google Shape;425;g3a2a2538afe_0_2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g3a2a2538afe_0_287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g3a2a2538afe_0_287"/>
          <p:cNvSpPr txBox="1"/>
          <p:nvPr/>
        </p:nvSpPr>
        <p:spPr>
          <a:xfrm>
            <a:off x="364243" y="2450863"/>
            <a:ext cx="44652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&#10;&#10;Description automatically generated with medium confidence" id="432" name="Google Shape;432;g3a2a2538afe_0_2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8200" y="1555200"/>
            <a:ext cx="3747600" cy="37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g3a2a2538afe_0_294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lang="en-US" sz="2000"/>
              <a:t>Module 3 – </a:t>
            </a:r>
            <a:r>
              <a:rPr b="1" lang="en-US" sz="2000"/>
              <a:t>Research Data Management</a:t>
            </a:r>
            <a:endParaRPr sz="2000"/>
          </a:p>
        </p:txBody>
      </p:sp>
      <p:sp>
        <p:nvSpPr>
          <p:cNvPr id="434" name="Google Shape;434;g3a2a2538afe_0_294"/>
          <p:cNvSpPr txBox="1"/>
          <p:nvPr/>
        </p:nvSpPr>
        <p:spPr>
          <a:xfrm>
            <a:off x="2724623" y="1555200"/>
            <a:ext cx="3702900" cy="1273200"/>
          </a:xfrm>
          <a:prstGeom prst="rect">
            <a:avLst/>
          </a:prstGeom>
          <a:noFill/>
          <a:ln>
            <a:noFill/>
          </a:ln>
          <a:effectLst>
            <a:outerShdw blurRad="165100" sx="103000" rotWithShape="0" algn="tl" dir="2700000" dist="38100" sy="103000">
              <a:srgbClr val="000000">
                <a:alpha val="24310"/>
              </a:srgbClr>
            </a:outerShdw>
          </a:effectLst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How can I make my data open?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a2a2538afe_0_300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How can I make my data open?</a:t>
            </a:r>
            <a:endParaRPr b="1" sz="2400"/>
          </a:p>
        </p:txBody>
      </p:sp>
      <p:sp>
        <p:nvSpPr>
          <p:cNvPr id="440" name="Google Shape;440;g3a2a2538afe_0_300"/>
          <p:cNvSpPr txBox="1"/>
          <p:nvPr>
            <p:ph idx="4294967295" type="body"/>
          </p:nvPr>
        </p:nvSpPr>
        <p:spPr>
          <a:xfrm>
            <a:off x="254000" y="1472593"/>
            <a:ext cx="86259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000"/>
              <a:t>A good place to start is the FAIR Data Principles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t/>
            </a:r>
            <a:endParaRPr sz="10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000"/>
              <a:t>The FAIR principles outline the importance of making data: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/>
          </a:p>
        </p:txBody>
      </p:sp>
      <p:grpSp>
        <p:nvGrpSpPr>
          <p:cNvPr id="441" name="Google Shape;441;g3a2a2538afe_0_300"/>
          <p:cNvGrpSpPr/>
          <p:nvPr/>
        </p:nvGrpSpPr>
        <p:grpSpPr>
          <a:xfrm>
            <a:off x="290850" y="3073131"/>
            <a:ext cx="8562299" cy="1840147"/>
            <a:chOff x="290843" y="3073131"/>
            <a:chExt cx="8562299" cy="1840147"/>
          </a:xfrm>
        </p:grpSpPr>
        <p:grpSp>
          <p:nvGrpSpPr>
            <p:cNvPr id="442" name="Google Shape;442;g3a2a2538afe_0_300"/>
            <p:cNvGrpSpPr/>
            <p:nvPr/>
          </p:nvGrpSpPr>
          <p:grpSpPr>
            <a:xfrm>
              <a:off x="290843" y="3073131"/>
              <a:ext cx="8562299" cy="1840147"/>
              <a:chOff x="453644" y="2691220"/>
              <a:chExt cx="8236940" cy="1475777"/>
            </a:xfrm>
          </p:grpSpPr>
          <p:grpSp>
            <p:nvGrpSpPr>
              <p:cNvPr id="443" name="Google Shape;443;g3a2a2538afe_0_300"/>
              <p:cNvGrpSpPr/>
              <p:nvPr/>
            </p:nvGrpSpPr>
            <p:grpSpPr>
              <a:xfrm>
                <a:off x="453644" y="2701518"/>
                <a:ext cx="1800208" cy="1454302"/>
                <a:chOff x="254000" y="4448745"/>
                <a:chExt cx="1550700" cy="582000"/>
              </a:xfrm>
            </p:grpSpPr>
            <p:sp>
              <p:nvSpPr>
                <p:cNvPr id="444" name="Google Shape;444;g3a2a2538afe_0_300"/>
                <p:cNvSpPr/>
                <p:nvPr/>
              </p:nvSpPr>
              <p:spPr>
                <a:xfrm>
                  <a:off x="254000" y="4448745"/>
                  <a:ext cx="1550700" cy="582000"/>
                </a:xfrm>
                <a:prstGeom prst="rect">
                  <a:avLst/>
                </a:prstGeom>
                <a:solidFill>
                  <a:srgbClr val="CFEFFA"/>
                </a:solidFill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252244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" name="Google Shape;445;g3a2a2538afe_0_300"/>
                <p:cNvSpPr/>
                <p:nvPr/>
              </p:nvSpPr>
              <p:spPr>
                <a:xfrm>
                  <a:off x="290754" y="4478184"/>
                  <a:ext cx="1477200" cy="18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1" i="0" lang="en-US" sz="2400" u="none" cap="none" strike="noStrike">
                      <a:solidFill>
                        <a:srgbClr val="0070C0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F</a:t>
                  </a:r>
                  <a:r>
                    <a:rPr b="0" i="0" lang="en-US" sz="2000" u="none" cap="none" strike="noStrike">
                      <a:solidFill>
                        <a:srgbClr val="252244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indable</a:t>
                  </a:r>
                  <a:endParaRPr b="0" i="0" sz="2000" u="none" cap="none" strike="noStrike">
                    <a:solidFill>
                      <a:srgbClr val="2E2E2E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grpSp>
            <p:nvGrpSpPr>
              <p:cNvPr id="446" name="Google Shape;446;g3a2a2538afe_0_300"/>
              <p:cNvGrpSpPr/>
              <p:nvPr/>
            </p:nvGrpSpPr>
            <p:grpSpPr>
              <a:xfrm>
                <a:off x="4740744" y="2701518"/>
                <a:ext cx="1800208" cy="1454302"/>
                <a:chOff x="254000" y="4448745"/>
                <a:chExt cx="1550700" cy="582000"/>
              </a:xfrm>
            </p:grpSpPr>
            <p:sp>
              <p:nvSpPr>
                <p:cNvPr id="447" name="Google Shape;447;g3a2a2538afe_0_300"/>
                <p:cNvSpPr/>
                <p:nvPr/>
              </p:nvSpPr>
              <p:spPr>
                <a:xfrm>
                  <a:off x="254000" y="4448745"/>
                  <a:ext cx="1550700" cy="582000"/>
                </a:xfrm>
                <a:prstGeom prst="rect">
                  <a:avLst/>
                </a:prstGeom>
                <a:solidFill>
                  <a:srgbClr val="CFEFFA"/>
                </a:solidFill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252244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g3a2a2538afe_0_300"/>
                <p:cNvSpPr/>
                <p:nvPr/>
              </p:nvSpPr>
              <p:spPr>
                <a:xfrm>
                  <a:off x="290754" y="4478184"/>
                  <a:ext cx="1477200" cy="18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1" i="0" lang="en-US" sz="2400" u="none" cap="none" strike="noStrike">
                      <a:solidFill>
                        <a:srgbClr val="0070C0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I</a:t>
                  </a:r>
                  <a:r>
                    <a:rPr b="0" i="0" lang="en-US" sz="2000" u="none" cap="none" strike="noStrike">
                      <a:solidFill>
                        <a:srgbClr val="1C1835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nteroperable</a:t>
                  </a:r>
                  <a:endParaRPr b="0" i="0" sz="1800" u="none" cap="none" strike="noStrike">
                    <a:solidFill>
                      <a:srgbClr val="1C1835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grpSp>
            <p:nvGrpSpPr>
              <p:cNvPr id="449" name="Google Shape;449;g3a2a2538afe_0_300"/>
              <p:cNvGrpSpPr/>
              <p:nvPr/>
            </p:nvGrpSpPr>
            <p:grpSpPr>
              <a:xfrm>
                <a:off x="6890376" y="2691220"/>
                <a:ext cx="1800208" cy="1475777"/>
                <a:chOff x="254000" y="4448745"/>
                <a:chExt cx="1550700" cy="582000"/>
              </a:xfrm>
            </p:grpSpPr>
            <p:sp>
              <p:nvSpPr>
                <p:cNvPr id="450" name="Google Shape;450;g3a2a2538afe_0_300"/>
                <p:cNvSpPr/>
                <p:nvPr/>
              </p:nvSpPr>
              <p:spPr>
                <a:xfrm>
                  <a:off x="254000" y="4448745"/>
                  <a:ext cx="1550700" cy="582000"/>
                </a:xfrm>
                <a:prstGeom prst="rect">
                  <a:avLst/>
                </a:prstGeom>
                <a:solidFill>
                  <a:srgbClr val="CFEFFA"/>
                </a:solidFill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252244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g3a2a2538afe_0_300"/>
                <p:cNvSpPr/>
                <p:nvPr/>
              </p:nvSpPr>
              <p:spPr>
                <a:xfrm>
                  <a:off x="290754" y="4478184"/>
                  <a:ext cx="1477200" cy="182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1" i="0" lang="en-US" sz="2400" u="none" cap="none" strike="noStrike">
                      <a:solidFill>
                        <a:srgbClr val="0070C0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R</a:t>
                  </a:r>
                  <a:r>
                    <a:rPr b="0" i="0" lang="en-US" sz="2000" u="none" cap="none" strike="noStrike">
                      <a:solidFill>
                        <a:srgbClr val="1C1835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eusable</a:t>
                  </a:r>
                  <a:endParaRPr b="0" i="0" sz="1600" u="none" cap="none" strike="noStrike">
                    <a:solidFill>
                      <a:srgbClr val="1C1835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grpSp>
            <p:nvGrpSpPr>
              <p:cNvPr id="452" name="Google Shape;452;g3a2a2538afe_0_300"/>
              <p:cNvGrpSpPr/>
              <p:nvPr/>
            </p:nvGrpSpPr>
            <p:grpSpPr>
              <a:xfrm>
                <a:off x="2603267" y="2701713"/>
                <a:ext cx="1787967" cy="1454700"/>
                <a:chOff x="2230724" y="1230942"/>
                <a:chExt cx="1787967" cy="1454700"/>
              </a:xfrm>
            </p:grpSpPr>
            <p:sp>
              <p:nvSpPr>
                <p:cNvPr id="453" name="Google Shape;453;g3a2a2538afe_0_300"/>
                <p:cNvSpPr/>
                <p:nvPr/>
              </p:nvSpPr>
              <p:spPr>
                <a:xfrm>
                  <a:off x="2230724" y="1230942"/>
                  <a:ext cx="1787700" cy="1454700"/>
                </a:xfrm>
                <a:prstGeom prst="rect">
                  <a:avLst/>
                </a:prstGeom>
                <a:solidFill>
                  <a:srgbClr val="CFEFFA"/>
                </a:solidFill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252244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" name="Google Shape;454;g3a2a2538afe_0_300"/>
                <p:cNvSpPr/>
                <p:nvPr/>
              </p:nvSpPr>
              <p:spPr>
                <a:xfrm>
                  <a:off x="2303891" y="1304505"/>
                  <a:ext cx="17148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1" i="0" lang="en-US" sz="2400" u="none" cap="none" strike="noStrike">
                      <a:solidFill>
                        <a:srgbClr val="0070C0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A</a:t>
                  </a:r>
                  <a:r>
                    <a:rPr b="0" i="0" lang="en-US" sz="2000" u="none" cap="none" strike="noStrike">
                      <a:solidFill>
                        <a:srgbClr val="1C1835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ccessible</a:t>
                  </a:r>
                  <a:endParaRPr b="0" i="0" sz="1600" u="none" cap="none" strike="noStrike">
                    <a:solidFill>
                      <a:srgbClr val="1C1835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</p:grpSp>
        <p:pic>
          <p:nvPicPr>
            <p:cNvPr descr="Icon&#10;&#10;Description automatically generated" id="455" name="Google Shape;455;g3a2a2538afe_0_30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1896" y="3576195"/>
              <a:ext cx="1057346" cy="11726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56" name="Google Shape;456;g3a2a2538afe_0_300"/>
            <p:cNvGrpSpPr/>
            <p:nvPr/>
          </p:nvGrpSpPr>
          <p:grpSpPr>
            <a:xfrm>
              <a:off x="3071445" y="3635277"/>
              <a:ext cx="763524" cy="1079040"/>
              <a:chOff x="1800399" y="1343724"/>
              <a:chExt cx="546428" cy="691072"/>
            </a:xfrm>
          </p:grpSpPr>
          <p:pic>
            <p:nvPicPr>
              <p:cNvPr descr="Icon&#10;&#10;Description automatically generated" id="457" name="Google Shape;457;g3a2a2538afe_0_30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800399" y="1343724"/>
                <a:ext cx="546428" cy="69107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8" name="Google Shape;458;g3a2a2538afe_0_300"/>
              <p:cNvSpPr/>
              <p:nvPr/>
            </p:nvSpPr>
            <p:spPr>
              <a:xfrm rot="5400000">
                <a:off x="2140539" y="1566765"/>
                <a:ext cx="45600" cy="81900"/>
              </a:xfrm>
              <a:prstGeom prst="roundRect">
                <a:avLst>
                  <a:gd fmla="val 16667" name="adj"/>
                </a:avLst>
              </a:prstGeom>
              <a:solidFill>
                <a:srgbClr val="CFEFFA"/>
              </a:solidFill>
              <a:ln cap="flat" cmpd="sng" w="25400">
                <a:solidFill>
                  <a:srgbClr val="CFEFF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g3a2a2538afe_0_300"/>
              <p:cNvSpPr/>
              <p:nvPr/>
            </p:nvSpPr>
            <p:spPr>
              <a:xfrm rot="-1450746">
                <a:off x="2073907" y="1654708"/>
                <a:ext cx="96682" cy="45660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g3a2a2538afe_0_300"/>
              <p:cNvSpPr/>
              <p:nvPr/>
            </p:nvSpPr>
            <p:spPr>
              <a:xfrm rot="1544084">
                <a:off x="2140494" y="1642276"/>
                <a:ext cx="46291" cy="45621"/>
              </a:xfrm>
              <a:prstGeom prst="rect">
                <a:avLst/>
              </a:prstGeom>
              <a:solidFill>
                <a:schemeClr val="accent1"/>
              </a:solidFill>
              <a:ln cap="flat" cmpd="sng" w="254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descr="Icon&#10;&#10;Description automatically generated" id="461" name="Google Shape;461;g3a2a2538afe_0_300"/>
            <p:cNvPicPr preferRelativeResize="0"/>
            <p:nvPr/>
          </p:nvPicPr>
          <p:blipFill rotWithShape="1">
            <a:blip r:embed="rId5">
              <a:alphaModFix/>
            </a:blip>
            <a:srcRect b="18487" l="0" r="72866" t="39321"/>
            <a:stretch/>
          </p:blipFill>
          <p:spPr>
            <a:xfrm>
              <a:off x="5119022" y="3713368"/>
              <a:ext cx="1127842" cy="9864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con&#10;&#10;Description automatically generated" id="462" name="Google Shape;462;g3a2a2538afe_0_300"/>
            <p:cNvPicPr preferRelativeResize="0"/>
            <p:nvPr/>
          </p:nvPicPr>
          <p:blipFill rotWithShape="1">
            <a:blip r:embed="rId5">
              <a:alphaModFix/>
            </a:blip>
            <a:srcRect b="27776" l="37674" r="37612" t="27646"/>
            <a:stretch/>
          </p:blipFill>
          <p:spPr>
            <a:xfrm>
              <a:off x="7469478" y="3762179"/>
              <a:ext cx="896016" cy="9091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" name="Google Shape;467;g3a2a2538afe_0_327"/>
          <p:cNvGrpSpPr/>
          <p:nvPr/>
        </p:nvGrpSpPr>
        <p:grpSpPr>
          <a:xfrm>
            <a:off x="237524" y="879763"/>
            <a:ext cx="8592606" cy="2727283"/>
            <a:chOff x="237524" y="879763"/>
            <a:chExt cx="8592606" cy="2727283"/>
          </a:xfrm>
        </p:grpSpPr>
        <p:sp>
          <p:nvSpPr>
            <p:cNvPr id="468" name="Google Shape;468;g3a2a2538afe_0_327"/>
            <p:cNvSpPr/>
            <p:nvPr/>
          </p:nvSpPr>
          <p:spPr>
            <a:xfrm>
              <a:off x="272030" y="879763"/>
              <a:ext cx="8558100" cy="2451600"/>
            </a:xfrm>
            <a:prstGeom prst="rect">
              <a:avLst/>
            </a:prstGeom>
            <a:solidFill>
              <a:srgbClr val="CFEFFA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9" name="Google Shape;469;g3a2a2538afe_0_327"/>
            <p:cNvGrpSpPr/>
            <p:nvPr/>
          </p:nvGrpSpPr>
          <p:grpSpPr>
            <a:xfrm>
              <a:off x="237524" y="926463"/>
              <a:ext cx="4674856" cy="2680583"/>
              <a:chOff x="237524" y="926463"/>
              <a:chExt cx="4674856" cy="2680583"/>
            </a:xfrm>
          </p:grpSpPr>
          <p:grpSp>
            <p:nvGrpSpPr>
              <p:cNvPr id="470" name="Google Shape;470;g3a2a2538afe_0_327"/>
              <p:cNvGrpSpPr/>
              <p:nvPr/>
            </p:nvGrpSpPr>
            <p:grpSpPr>
              <a:xfrm>
                <a:off x="1693802" y="926463"/>
                <a:ext cx="3218578" cy="2680583"/>
                <a:chOff x="1942423" y="927122"/>
                <a:chExt cx="3218578" cy="2680583"/>
              </a:xfrm>
            </p:grpSpPr>
            <p:pic>
              <p:nvPicPr>
                <p:cNvPr id="471" name="Google Shape;471;g3a2a2538afe_0_32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20828" l="0" r="59329" t="23585"/>
                <a:stretch/>
              </p:blipFill>
              <p:spPr>
                <a:xfrm rot="10051542">
                  <a:off x="2138000" y="1207464"/>
                  <a:ext cx="2827424" cy="211989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72" name="Google Shape;472;g3a2a2538afe_0_327"/>
                <p:cNvSpPr txBox="1"/>
                <p:nvPr/>
              </p:nvSpPr>
              <p:spPr>
                <a:xfrm>
                  <a:off x="2431513" y="1819504"/>
                  <a:ext cx="2240400" cy="1143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ctr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The FAIR principles provide a framework for research data management</a:t>
                  </a:r>
                  <a:endParaRPr b="0" i="0" sz="1400" u="none" cap="none" strike="noStrike">
                    <a:solidFill>
                      <a:srgbClr val="1C1835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pic>
            <p:nvPicPr>
              <p:cNvPr descr="A picture containing text&#10;&#10;Description automatically generated" id="473" name="Google Shape;473;g3a2a2538afe_0_327"/>
              <p:cNvPicPr preferRelativeResize="0"/>
              <p:nvPr/>
            </p:nvPicPr>
            <p:blipFill rotWithShape="1">
              <a:blip r:embed="rId4">
                <a:alphaModFix/>
              </a:blip>
              <a:srcRect b="24738" l="0" r="0" t="0"/>
              <a:stretch/>
            </p:blipFill>
            <p:spPr>
              <a:xfrm>
                <a:off x="237524" y="1191057"/>
                <a:ext cx="2632286" cy="211527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74" name="Google Shape;474;g3a2a2538afe_0_32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The FAIR Principles</a:t>
            </a:r>
            <a:endParaRPr b="1" sz="2400"/>
          </a:p>
        </p:txBody>
      </p:sp>
      <p:grpSp>
        <p:nvGrpSpPr>
          <p:cNvPr id="475" name="Google Shape;475;g3a2a2538afe_0_327"/>
          <p:cNvGrpSpPr/>
          <p:nvPr/>
        </p:nvGrpSpPr>
        <p:grpSpPr>
          <a:xfrm>
            <a:off x="5082563" y="850340"/>
            <a:ext cx="3685066" cy="2484073"/>
            <a:chOff x="5082563" y="850340"/>
            <a:chExt cx="3685066" cy="2484073"/>
          </a:xfrm>
        </p:grpSpPr>
        <p:grpSp>
          <p:nvGrpSpPr>
            <p:cNvPr id="476" name="Google Shape;476;g3a2a2538afe_0_327"/>
            <p:cNvGrpSpPr/>
            <p:nvPr/>
          </p:nvGrpSpPr>
          <p:grpSpPr>
            <a:xfrm>
              <a:off x="5082563" y="850340"/>
              <a:ext cx="2240400" cy="1959012"/>
              <a:chOff x="3637505" y="1045614"/>
              <a:chExt cx="2240400" cy="1959012"/>
            </a:xfrm>
          </p:grpSpPr>
          <p:pic>
            <p:nvPicPr>
              <p:cNvPr id="477" name="Google Shape;477;g3a2a2538afe_0_327"/>
              <p:cNvPicPr preferRelativeResize="0"/>
              <p:nvPr/>
            </p:nvPicPr>
            <p:blipFill rotWithShape="1">
              <a:blip r:embed="rId3">
                <a:alphaModFix/>
              </a:blip>
              <a:srcRect b="20828" l="0" r="59329" t="23585"/>
              <a:stretch/>
            </p:blipFill>
            <p:spPr>
              <a:xfrm>
                <a:off x="3793912" y="1045614"/>
                <a:ext cx="1995446" cy="195901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78" name="Google Shape;478;g3a2a2538afe_0_327"/>
              <p:cNvSpPr txBox="1"/>
              <p:nvPr/>
            </p:nvSpPr>
            <p:spPr>
              <a:xfrm>
                <a:off x="3637505" y="1478713"/>
                <a:ext cx="2240400" cy="89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This enables and supports sharing of research data</a:t>
                </a:r>
                <a:endParaRPr b="0" i="0" sz="1400" u="none" cap="none" strike="noStrike">
                  <a:solidFill>
                    <a:srgbClr val="1C183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pic>
          <p:nvPicPr>
            <p:cNvPr descr="A picture containing text, silhouette, vector graphics&#10;&#10;Description automatically generated" id="479" name="Google Shape;479;g3a2a2538afe_0_327"/>
            <p:cNvPicPr preferRelativeResize="0"/>
            <p:nvPr/>
          </p:nvPicPr>
          <p:blipFill rotWithShape="1">
            <a:blip r:embed="rId5">
              <a:alphaModFix/>
            </a:blip>
            <a:srcRect b="26847" l="12679" r="11164" t="0"/>
            <a:stretch/>
          </p:blipFill>
          <p:spPr>
            <a:xfrm flipH="1">
              <a:off x="6844638" y="1191056"/>
              <a:ext cx="1922991" cy="21433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0" name="Google Shape;480;g3a2a2538afe_0_327"/>
          <p:cNvGrpSpPr/>
          <p:nvPr/>
        </p:nvGrpSpPr>
        <p:grpSpPr>
          <a:xfrm>
            <a:off x="264100" y="3122504"/>
            <a:ext cx="8558100" cy="2758097"/>
            <a:chOff x="264100" y="3122504"/>
            <a:chExt cx="8558100" cy="2758097"/>
          </a:xfrm>
        </p:grpSpPr>
        <p:sp>
          <p:nvSpPr>
            <p:cNvPr id="481" name="Google Shape;481;g3a2a2538afe_0_327"/>
            <p:cNvSpPr/>
            <p:nvPr/>
          </p:nvSpPr>
          <p:spPr>
            <a:xfrm>
              <a:off x="264100" y="3429000"/>
              <a:ext cx="8558100" cy="2451600"/>
            </a:xfrm>
            <a:prstGeom prst="rect">
              <a:avLst/>
            </a:prstGeom>
            <a:solidFill>
              <a:srgbClr val="CFEFFA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2" name="Google Shape;482;g3a2a2538afe_0_327"/>
            <p:cNvGrpSpPr/>
            <p:nvPr/>
          </p:nvGrpSpPr>
          <p:grpSpPr>
            <a:xfrm>
              <a:off x="272030" y="3122504"/>
              <a:ext cx="4158023" cy="2758097"/>
              <a:chOff x="272030" y="3122504"/>
              <a:chExt cx="4158023" cy="2758097"/>
            </a:xfrm>
          </p:grpSpPr>
          <p:grpSp>
            <p:nvGrpSpPr>
              <p:cNvPr id="483" name="Google Shape;483;g3a2a2538afe_0_327"/>
              <p:cNvGrpSpPr/>
              <p:nvPr/>
            </p:nvGrpSpPr>
            <p:grpSpPr>
              <a:xfrm>
                <a:off x="1387510" y="3122504"/>
                <a:ext cx="3042543" cy="2758096"/>
                <a:chOff x="1481650" y="2877921"/>
                <a:chExt cx="3042543" cy="2758096"/>
              </a:xfrm>
            </p:grpSpPr>
            <p:pic>
              <p:nvPicPr>
                <p:cNvPr id="484" name="Google Shape;484;g3a2a2538afe_0_32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20828" l="0" r="59329" t="23585"/>
                <a:stretch/>
              </p:blipFill>
              <p:spPr>
                <a:xfrm flipH="1" rot="960927">
                  <a:off x="1726912" y="3188497"/>
                  <a:ext cx="2552019" cy="213694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85" name="Google Shape;485;g3a2a2538afe_0_327"/>
                <p:cNvSpPr txBox="1"/>
                <p:nvPr/>
              </p:nvSpPr>
              <p:spPr>
                <a:xfrm>
                  <a:off x="1896022" y="3536968"/>
                  <a:ext cx="2240400" cy="1143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ctr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They also facilitate control over access to datasets that need to be protected</a:t>
                  </a:r>
                  <a:endParaRPr b="0" i="0" sz="1400" u="none" cap="none" strike="noStrike">
                    <a:solidFill>
                      <a:srgbClr val="1C1835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pic>
            <p:nvPicPr>
              <p:cNvPr descr="A picture containing text, vector graphics&#10;&#10;Description automatically generated" id="486" name="Google Shape;486;g3a2a2538afe_0_327"/>
              <p:cNvPicPr preferRelativeResize="0"/>
              <p:nvPr/>
            </p:nvPicPr>
            <p:blipFill rotWithShape="1">
              <a:blip r:embed="rId6">
                <a:alphaModFix/>
              </a:blip>
              <a:srcRect b="48749" l="8178" r="25596" t="8341"/>
              <a:stretch/>
            </p:blipFill>
            <p:spPr>
              <a:xfrm>
                <a:off x="272030" y="3684304"/>
                <a:ext cx="1856072" cy="21962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87" name="Google Shape;487;g3a2a2538afe_0_327"/>
          <p:cNvGrpSpPr/>
          <p:nvPr/>
        </p:nvGrpSpPr>
        <p:grpSpPr>
          <a:xfrm>
            <a:off x="4278129" y="3465918"/>
            <a:ext cx="4489500" cy="2414683"/>
            <a:chOff x="4278129" y="3465918"/>
            <a:chExt cx="4489500" cy="2414683"/>
          </a:xfrm>
        </p:grpSpPr>
        <p:grpSp>
          <p:nvGrpSpPr>
            <p:cNvPr id="488" name="Google Shape;488;g3a2a2538afe_0_327"/>
            <p:cNvGrpSpPr/>
            <p:nvPr/>
          </p:nvGrpSpPr>
          <p:grpSpPr>
            <a:xfrm>
              <a:off x="4278129" y="3465918"/>
              <a:ext cx="2901538" cy="2196296"/>
              <a:chOff x="4984852" y="3402586"/>
              <a:chExt cx="2901538" cy="2196296"/>
            </a:xfrm>
          </p:grpSpPr>
          <p:pic>
            <p:nvPicPr>
              <p:cNvPr id="489" name="Google Shape;489;g3a2a2538afe_0_327"/>
              <p:cNvPicPr preferRelativeResize="0"/>
              <p:nvPr/>
            </p:nvPicPr>
            <p:blipFill rotWithShape="1">
              <a:blip r:embed="rId3">
                <a:alphaModFix/>
              </a:blip>
              <a:srcRect b="20828" l="0" r="59329" t="23585"/>
              <a:stretch/>
            </p:blipFill>
            <p:spPr>
              <a:xfrm>
                <a:off x="4984852" y="3402586"/>
                <a:ext cx="2901538" cy="219629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90" name="Google Shape;490;g3a2a2538afe_0_327"/>
              <p:cNvSpPr txBox="1"/>
              <p:nvPr/>
            </p:nvSpPr>
            <p:spPr>
              <a:xfrm>
                <a:off x="5243566" y="3828484"/>
                <a:ext cx="2240400" cy="11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Where required, data can be as open as possible but also as closed as necessary</a:t>
                </a:r>
                <a:endParaRPr b="0" i="0" sz="1400" u="none" cap="none" strike="noStrike">
                  <a:solidFill>
                    <a:srgbClr val="1C183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pic>
          <p:nvPicPr>
            <p:cNvPr descr="A picture containing text, vector graphics&#10;&#10;Description automatically generated" id="491" name="Google Shape;491;g3a2a2538afe_0_327"/>
            <p:cNvPicPr preferRelativeResize="0"/>
            <p:nvPr/>
          </p:nvPicPr>
          <p:blipFill rotWithShape="1">
            <a:blip r:embed="rId7">
              <a:alphaModFix/>
            </a:blip>
            <a:srcRect b="54197" l="6230" r="12541" t="596"/>
            <a:stretch/>
          </p:blipFill>
          <p:spPr>
            <a:xfrm flipH="1">
              <a:off x="6686870" y="3668998"/>
              <a:ext cx="2080759" cy="22116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a2a2538afe_0_35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The FAIR Principles</a:t>
            </a:r>
            <a:endParaRPr b="1" sz="2400"/>
          </a:p>
        </p:txBody>
      </p:sp>
      <p:grpSp>
        <p:nvGrpSpPr>
          <p:cNvPr id="497" name="Google Shape;497;g3a2a2538afe_0_355"/>
          <p:cNvGrpSpPr/>
          <p:nvPr/>
        </p:nvGrpSpPr>
        <p:grpSpPr>
          <a:xfrm>
            <a:off x="552600" y="1223000"/>
            <a:ext cx="8038800" cy="3913200"/>
            <a:chOff x="552600" y="1223000"/>
            <a:chExt cx="8038800" cy="3913200"/>
          </a:xfrm>
        </p:grpSpPr>
        <p:sp>
          <p:nvSpPr>
            <p:cNvPr id="498" name="Google Shape;498;g3a2a2538afe_0_355"/>
            <p:cNvSpPr/>
            <p:nvPr/>
          </p:nvSpPr>
          <p:spPr>
            <a:xfrm>
              <a:off x="552600" y="1223000"/>
              <a:ext cx="8038800" cy="3913200"/>
            </a:xfrm>
            <a:prstGeom prst="rect">
              <a:avLst/>
            </a:prstGeom>
            <a:solidFill>
              <a:srgbClr val="CFEFFA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9" name="Google Shape;499;g3a2a2538afe_0_355"/>
            <p:cNvGrpSpPr/>
            <p:nvPr/>
          </p:nvGrpSpPr>
          <p:grpSpPr>
            <a:xfrm>
              <a:off x="1178331" y="1251289"/>
              <a:ext cx="2743200" cy="2180493"/>
              <a:chOff x="4853354" y="829993"/>
              <a:chExt cx="2743200" cy="2180493"/>
            </a:xfrm>
          </p:grpSpPr>
          <p:pic>
            <p:nvPicPr>
              <p:cNvPr id="500" name="Google Shape;500;g3a2a2538afe_0_355"/>
              <p:cNvPicPr preferRelativeResize="0"/>
              <p:nvPr/>
            </p:nvPicPr>
            <p:blipFill rotWithShape="1">
              <a:blip r:embed="rId3">
                <a:alphaModFix/>
              </a:blip>
              <a:srcRect b="20828" l="0" r="59329" t="23585"/>
              <a:stretch/>
            </p:blipFill>
            <p:spPr>
              <a:xfrm flipH="1">
                <a:off x="4853354" y="829993"/>
                <a:ext cx="2743200" cy="218049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1" name="Google Shape;501;g3a2a2538afe_0_355"/>
              <p:cNvSpPr txBox="1"/>
              <p:nvPr/>
            </p:nvSpPr>
            <p:spPr>
              <a:xfrm>
                <a:off x="5104754" y="1332402"/>
                <a:ext cx="2240400" cy="11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With FAIR you can make your data Findable, Accessible and Reusable by yourself</a:t>
                </a:r>
                <a:endParaRPr b="0" i="0" sz="1400" u="none" cap="none" strike="noStrike">
                  <a:solidFill>
                    <a:srgbClr val="1C183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pic>
          <p:nvPicPr>
            <p:cNvPr descr="A picture containing vector graphics&#10;&#10;Description automatically generated" id="502" name="Google Shape;502;g3a2a2538afe_0_355"/>
            <p:cNvPicPr preferRelativeResize="0"/>
            <p:nvPr/>
          </p:nvPicPr>
          <p:blipFill rotWithShape="1">
            <a:blip r:embed="rId4">
              <a:alphaModFix/>
            </a:blip>
            <a:srcRect b="15354" l="5829" r="0" t="0"/>
            <a:stretch/>
          </p:blipFill>
          <p:spPr>
            <a:xfrm>
              <a:off x="615623" y="2510444"/>
              <a:ext cx="2050834" cy="261929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3" name="Google Shape;503;g3a2a2538afe_0_355"/>
          <p:cNvGrpSpPr/>
          <p:nvPr/>
        </p:nvGrpSpPr>
        <p:grpSpPr>
          <a:xfrm>
            <a:off x="2161338" y="2008784"/>
            <a:ext cx="3371251" cy="3109036"/>
            <a:chOff x="2161338" y="2008784"/>
            <a:chExt cx="3371251" cy="3109036"/>
          </a:xfrm>
        </p:grpSpPr>
        <p:pic>
          <p:nvPicPr>
            <p:cNvPr descr="A picture containing text, vector graphics&#10;&#10;Description automatically generated" id="504" name="Google Shape;504;g3a2a2538afe_0_355"/>
            <p:cNvPicPr preferRelativeResize="0"/>
            <p:nvPr/>
          </p:nvPicPr>
          <p:blipFill rotWithShape="1">
            <a:blip r:embed="rId5">
              <a:alphaModFix/>
            </a:blip>
            <a:srcRect b="9633" l="0" r="0" t="0"/>
            <a:stretch/>
          </p:blipFill>
          <p:spPr>
            <a:xfrm>
              <a:off x="3292189" y="2008784"/>
              <a:ext cx="2240400" cy="310903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05" name="Google Shape;505;g3a2a2538afe_0_355"/>
            <p:cNvGrpSpPr/>
            <p:nvPr/>
          </p:nvGrpSpPr>
          <p:grpSpPr>
            <a:xfrm>
              <a:off x="2161338" y="2882856"/>
              <a:ext cx="2680176" cy="1603519"/>
              <a:chOff x="2509593" y="3115706"/>
              <a:chExt cx="2680176" cy="1603519"/>
            </a:xfrm>
          </p:grpSpPr>
          <p:pic>
            <p:nvPicPr>
              <p:cNvPr id="506" name="Google Shape;506;g3a2a2538afe_0_355"/>
              <p:cNvPicPr preferRelativeResize="0"/>
              <p:nvPr/>
            </p:nvPicPr>
            <p:blipFill rotWithShape="1">
              <a:blip r:embed="rId3">
                <a:alphaModFix/>
              </a:blip>
              <a:srcRect b="20828" l="0" r="59329" t="23585"/>
              <a:stretch/>
            </p:blipFill>
            <p:spPr>
              <a:xfrm flipH="1" rot="10800000">
                <a:off x="2509593" y="3115706"/>
                <a:ext cx="2680176" cy="160351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7" name="Google Shape;507;g3a2a2538afe_0_355"/>
              <p:cNvSpPr txBox="1"/>
              <p:nvPr/>
            </p:nvSpPr>
            <p:spPr>
              <a:xfrm>
                <a:off x="2792504" y="3618113"/>
                <a:ext cx="2240400" cy="89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Making it Interoperable will require additional supports</a:t>
                </a:r>
                <a:endParaRPr b="0" i="0" sz="1400" u="none" cap="none" strike="noStrike">
                  <a:solidFill>
                    <a:srgbClr val="1C183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508" name="Google Shape;508;g3a2a2538afe_0_355"/>
          <p:cNvGrpSpPr/>
          <p:nvPr/>
        </p:nvGrpSpPr>
        <p:grpSpPr>
          <a:xfrm>
            <a:off x="4967560" y="1223000"/>
            <a:ext cx="3686862" cy="3894821"/>
            <a:chOff x="4967560" y="1223000"/>
            <a:chExt cx="3686862" cy="3894821"/>
          </a:xfrm>
        </p:grpSpPr>
        <p:grpSp>
          <p:nvGrpSpPr>
            <p:cNvPr id="509" name="Google Shape;509;g3a2a2538afe_0_355"/>
            <p:cNvGrpSpPr/>
            <p:nvPr/>
          </p:nvGrpSpPr>
          <p:grpSpPr>
            <a:xfrm>
              <a:off x="4967560" y="1223000"/>
              <a:ext cx="2743200" cy="2180493"/>
              <a:chOff x="4412389" y="1258517"/>
              <a:chExt cx="2743200" cy="2180493"/>
            </a:xfrm>
          </p:grpSpPr>
          <p:pic>
            <p:nvPicPr>
              <p:cNvPr id="510" name="Google Shape;510;g3a2a2538afe_0_355"/>
              <p:cNvPicPr preferRelativeResize="0"/>
              <p:nvPr/>
            </p:nvPicPr>
            <p:blipFill rotWithShape="1">
              <a:blip r:embed="rId3">
                <a:alphaModFix/>
              </a:blip>
              <a:srcRect b="20828" l="0" r="59329" t="23585"/>
              <a:stretch/>
            </p:blipFill>
            <p:spPr>
              <a:xfrm>
                <a:off x="4412389" y="1258517"/>
                <a:ext cx="2743200" cy="218049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1" name="Google Shape;511;g3a2a2538afe_0_355"/>
              <p:cNvSpPr txBox="1"/>
              <p:nvPr/>
            </p:nvSpPr>
            <p:spPr>
              <a:xfrm>
                <a:off x="4653138" y="1521313"/>
                <a:ext cx="2240400" cy="139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The best way to implement FAIR principles is to develop a data management plan yourself!</a:t>
                </a:r>
                <a:endParaRPr b="0" i="0" sz="1400" u="none" cap="none" strike="noStrike">
                  <a:solidFill>
                    <a:srgbClr val="1C183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pic>
          <p:nvPicPr>
            <p:cNvPr descr="A picture containing text&#10;&#10;Description automatically generated" id="512" name="Google Shape;512;g3a2a2538afe_0_355"/>
            <p:cNvPicPr preferRelativeResize="0"/>
            <p:nvPr/>
          </p:nvPicPr>
          <p:blipFill rotWithShape="1">
            <a:blip r:embed="rId6">
              <a:alphaModFix/>
            </a:blip>
            <a:srcRect b="8750" l="0" r="0" t="0"/>
            <a:stretch/>
          </p:blipFill>
          <p:spPr>
            <a:xfrm flipH="1">
              <a:off x="6967250" y="1381806"/>
              <a:ext cx="1687172" cy="373601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a2a2538afe_0_37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Why are the FAIR Principles important?</a:t>
            </a:r>
            <a:endParaRPr b="1" sz="2400"/>
          </a:p>
        </p:txBody>
      </p:sp>
      <p:pic>
        <p:nvPicPr>
          <p:cNvPr id="518" name="Google Shape;518;g3a2a2538afe_0_375"/>
          <p:cNvPicPr preferRelativeResize="0"/>
          <p:nvPr/>
        </p:nvPicPr>
        <p:blipFill rotWithShape="1">
          <a:blip r:embed="rId3">
            <a:alphaModFix/>
          </a:blip>
          <a:srcRect b="68320" l="44227" r="0" t="12074"/>
          <a:stretch/>
        </p:blipFill>
        <p:spPr>
          <a:xfrm>
            <a:off x="3859200" y="4290625"/>
            <a:ext cx="5374051" cy="94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g3a2a2538afe_0_375"/>
          <p:cNvPicPr preferRelativeResize="0"/>
          <p:nvPr/>
        </p:nvPicPr>
        <p:blipFill rotWithShape="1">
          <a:blip r:embed="rId3">
            <a:alphaModFix/>
          </a:blip>
          <a:srcRect b="68320" l="45696" r="0" t="12074"/>
          <a:stretch/>
        </p:blipFill>
        <p:spPr>
          <a:xfrm>
            <a:off x="4000638" y="3348525"/>
            <a:ext cx="5232624" cy="94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g3a2a2538afe_0_375"/>
          <p:cNvPicPr preferRelativeResize="0"/>
          <p:nvPr/>
        </p:nvPicPr>
        <p:blipFill rotWithShape="1">
          <a:blip r:embed="rId3">
            <a:alphaModFix/>
          </a:blip>
          <a:srcRect b="68320" l="44227" r="0" t="12074"/>
          <a:stretch/>
        </p:blipFill>
        <p:spPr>
          <a:xfrm>
            <a:off x="3859200" y="2406413"/>
            <a:ext cx="5374051" cy="94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g3a2a2538afe_0_375"/>
          <p:cNvPicPr preferRelativeResize="0"/>
          <p:nvPr/>
        </p:nvPicPr>
        <p:blipFill rotWithShape="1">
          <a:blip r:embed="rId3">
            <a:alphaModFix/>
          </a:blip>
          <a:srcRect b="68320" l="44227" r="0" t="12074"/>
          <a:stretch/>
        </p:blipFill>
        <p:spPr>
          <a:xfrm>
            <a:off x="3859200" y="1464325"/>
            <a:ext cx="5374051" cy="94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g3a2a2538afe_0_375"/>
          <p:cNvPicPr preferRelativeResize="0"/>
          <p:nvPr/>
        </p:nvPicPr>
        <p:blipFill rotWithShape="1">
          <a:blip r:embed="rId4">
            <a:alphaModFix/>
          </a:blip>
          <a:srcRect b="0" l="0" r="56825" t="0"/>
          <a:stretch/>
        </p:blipFill>
        <p:spPr>
          <a:xfrm>
            <a:off x="0" y="857250"/>
            <a:ext cx="394777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g3a2a2538afe_0_375"/>
          <p:cNvSpPr txBox="1"/>
          <p:nvPr/>
        </p:nvSpPr>
        <p:spPr>
          <a:xfrm>
            <a:off x="660050" y="2702025"/>
            <a:ext cx="2543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Why are FAIR Principles important?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" name="Google Shape;524;g3a2a2538afe_0_375"/>
          <p:cNvSpPr txBox="1"/>
          <p:nvPr/>
        </p:nvSpPr>
        <p:spPr>
          <a:xfrm>
            <a:off x="4796124" y="1575113"/>
            <a:ext cx="3947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Sharing data according to FAIR Principles helps ensure that others have enough information to verify or reuse your data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5" name="Google Shape;525;g3a2a2538afe_0_375"/>
          <p:cNvSpPr txBox="1"/>
          <p:nvPr/>
        </p:nvSpPr>
        <p:spPr>
          <a:xfrm>
            <a:off x="4796125" y="2741372"/>
            <a:ext cx="394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They help to make your data more transparent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Google Shape;526;g3a2a2538afe_0_375"/>
          <p:cNvSpPr txBox="1"/>
          <p:nvPr/>
        </p:nvSpPr>
        <p:spPr>
          <a:xfrm>
            <a:off x="4796125" y="3683460"/>
            <a:ext cx="379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They help to make your data more reusable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g3a2a2538afe_0_375"/>
          <p:cNvSpPr txBox="1"/>
          <p:nvPr/>
        </p:nvSpPr>
        <p:spPr>
          <a:xfrm>
            <a:off x="4796125" y="4520587"/>
            <a:ext cx="379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They help to make your research more reproducible (see module 4)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g3a2a2538afe_0_375"/>
          <p:cNvSpPr txBox="1"/>
          <p:nvPr/>
        </p:nvSpPr>
        <p:spPr>
          <a:xfrm>
            <a:off x="4057550" y="1737663"/>
            <a:ext cx="7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g3a2a2538afe_0_375"/>
          <p:cNvSpPr txBox="1"/>
          <p:nvPr/>
        </p:nvSpPr>
        <p:spPr>
          <a:xfrm>
            <a:off x="4057550" y="2708375"/>
            <a:ext cx="7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g3a2a2538afe_0_375"/>
          <p:cNvSpPr txBox="1"/>
          <p:nvPr/>
        </p:nvSpPr>
        <p:spPr>
          <a:xfrm>
            <a:off x="4057550" y="3639475"/>
            <a:ext cx="7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g3a2a2538afe_0_375"/>
          <p:cNvSpPr txBox="1"/>
          <p:nvPr/>
        </p:nvSpPr>
        <p:spPr>
          <a:xfrm>
            <a:off x="4057550" y="4570575"/>
            <a:ext cx="7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1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a2a2538afe_0_39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000"/>
              <a:t>Why isn’t all research data open?</a:t>
            </a:r>
            <a:endParaRPr b="1" sz="2000"/>
          </a:p>
        </p:txBody>
      </p:sp>
      <p:sp>
        <p:nvSpPr>
          <p:cNvPr id="537" name="Google Shape;537;g3a2a2538afe_0_393"/>
          <p:cNvSpPr txBox="1"/>
          <p:nvPr/>
        </p:nvSpPr>
        <p:spPr>
          <a:xfrm>
            <a:off x="4679675" y="4436303"/>
            <a:ext cx="40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8" name="Google Shape;538;g3a2a2538afe_0_393"/>
          <p:cNvGrpSpPr/>
          <p:nvPr/>
        </p:nvGrpSpPr>
        <p:grpSpPr>
          <a:xfrm>
            <a:off x="263532" y="1445398"/>
            <a:ext cx="3549300" cy="3913200"/>
            <a:chOff x="263532" y="1445398"/>
            <a:chExt cx="3549300" cy="3913200"/>
          </a:xfrm>
        </p:grpSpPr>
        <p:sp>
          <p:nvSpPr>
            <p:cNvPr id="539" name="Google Shape;539;g3a2a2538afe_0_393"/>
            <p:cNvSpPr/>
            <p:nvPr/>
          </p:nvSpPr>
          <p:spPr>
            <a:xfrm>
              <a:off x="263532" y="1445398"/>
              <a:ext cx="3549300" cy="3913200"/>
            </a:xfrm>
            <a:prstGeom prst="rect">
              <a:avLst/>
            </a:prstGeom>
            <a:solidFill>
              <a:srgbClr val="CFEFFA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40" name="Google Shape;540;g3a2a2538afe_0_393"/>
            <p:cNvPicPr preferRelativeResize="0"/>
            <p:nvPr/>
          </p:nvPicPr>
          <p:blipFill rotWithShape="1">
            <a:blip r:embed="rId3">
              <a:alphaModFix/>
            </a:blip>
            <a:srcRect b="8767" l="0" r="11746" t="0"/>
            <a:stretch/>
          </p:blipFill>
          <p:spPr>
            <a:xfrm>
              <a:off x="2252682" y="3302637"/>
              <a:ext cx="1485884" cy="19924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1" name="Google Shape;541;g3a2a2538afe_0_393"/>
            <p:cNvPicPr preferRelativeResize="0"/>
            <p:nvPr/>
          </p:nvPicPr>
          <p:blipFill rotWithShape="1">
            <a:blip r:embed="rId4">
              <a:alphaModFix/>
            </a:blip>
            <a:srcRect b="45696" l="0" r="8441" t="0"/>
            <a:stretch/>
          </p:blipFill>
          <p:spPr>
            <a:xfrm flipH="1">
              <a:off x="307331" y="3342488"/>
              <a:ext cx="2240399" cy="19924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2" name="Google Shape;542;g3a2a2538afe_0_393"/>
            <p:cNvPicPr preferRelativeResize="0"/>
            <p:nvPr/>
          </p:nvPicPr>
          <p:blipFill rotWithShape="1">
            <a:blip r:embed="rId5">
              <a:alphaModFix/>
            </a:blip>
            <a:srcRect b="20828" l="0" r="59329" t="23585"/>
            <a:stretch/>
          </p:blipFill>
          <p:spPr>
            <a:xfrm flipH="1">
              <a:off x="668066" y="1647495"/>
              <a:ext cx="3144744" cy="2198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g3a2a2538afe_0_393"/>
            <p:cNvSpPr txBox="1"/>
            <p:nvPr/>
          </p:nvSpPr>
          <p:spPr>
            <a:xfrm>
              <a:off x="1164433" y="2116021"/>
              <a:ext cx="2240400" cy="11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Not all data can be made publicly available due to ethical, pri</a:t>
              </a:r>
              <a:r>
                <a:rPr b="0" i="0" lang="en-US" sz="1400" u="none" cap="none" strike="noStrike">
                  <a:solidFill>
                    <a:srgbClr val="1C1835"/>
                  </a:solidFill>
                  <a:latin typeface="Roboto"/>
                  <a:ea typeface="Roboto"/>
                  <a:cs typeface="Roboto"/>
                  <a:sym typeface="Roboto"/>
                </a:rPr>
                <a:t>vacy, safety or legal considerations</a:t>
              </a:r>
              <a:endParaRPr b="0" i="0" sz="1400" u="none" cap="none" strike="noStrike">
                <a:solidFill>
                  <a:srgbClr val="1C183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44" name="Google Shape;544;g3a2a2538afe_0_393"/>
          <p:cNvGrpSpPr/>
          <p:nvPr/>
        </p:nvGrpSpPr>
        <p:grpSpPr>
          <a:xfrm>
            <a:off x="3892181" y="1432435"/>
            <a:ext cx="4896212" cy="3926163"/>
            <a:chOff x="3892181" y="1432435"/>
            <a:chExt cx="4896212" cy="3926163"/>
          </a:xfrm>
        </p:grpSpPr>
        <p:sp>
          <p:nvSpPr>
            <p:cNvPr id="545" name="Google Shape;545;g3a2a2538afe_0_393"/>
            <p:cNvSpPr/>
            <p:nvPr/>
          </p:nvSpPr>
          <p:spPr>
            <a:xfrm>
              <a:off x="3966426" y="1445398"/>
              <a:ext cx="4821900" cy="3913200"/>
            </a:xfrm>
            <a:prstGeom prst="rect">
              <a:avLst/>
            </a:prstGeom>
            <a:solidFill>
              <a:srgbClr val="CFEFFA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46" name="Google Shape;546;g3a2a2538afe_0_393"/>
            <p:cNvPicPr preferRelativeResize="0"/>
            <p:nvPr/>
          </p:nvPicPr>
          <p:blipFill rotWithShape="1">
            <a:blip r:embed="rId5">
              <a:alphaModFix/>
            </a:blip>
            <a:srcRect b="20828" l="0" r="59329" t="23585"/>
            <a:stretch/>
          </p:blipFill>
          <p:spPr>
            <a:xfrm>
              <a:off x="3892181" y="1432435"/>
              <a:ext cx="4261704" cy="38626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g3a2a2538afe_0_393"/>
            <p:cNvSpPr txBox="1"/>
            <p:nvPr/>
          </p:nvSpPr>
          <p:spPr>
            <a:xfrm>
              <a:off x="4307717" y="1928502"/>
              <a:ext cx="3425400" cy="271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Data may be sensitive 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 </a:t>
              </a:r>
              <a:r>
                <a:rPr b="0" i="0" lang="en-US" sz="1400" u="none" cap="none" strike="noStrike">
                  <a:solidFill>
                    <a:srgbClr val="1C1835"/>
                  </a:solidFill>
                  <a:latin typeface="Roboto"/>
                  <a:ea typeface="Roboto"/>
                  <a:cs typeface="Roboto"/>
                  <a:sym typeface="Roboto"/>
                </a:rPr>
                <a:t>in nature (i.e. the location of endangered species) or it may be  impossible to completely anonymise. It may also not be appropriate for reuse.</a:t>
              </a:r>
              <a:endParaRPr/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-US" sz="500" u="none" cap="none" strike="noStrike">
                  <a:solidFill>
                    <a:srgbClr val="1C1835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/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Data might also not be 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made open because the researcher did not get informed consent to use participant data in this way.</a:t>
              </a:r>
              <a:endParaRPr/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1C183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48" name="Google Shape;548;g3a2a2538afe_0_393"/>
            <p:cNvPicPr preferRelativeResize="0"/>
            <p:nvPr/>
          </p:nvPicPr>
          <p:blipFill rotWithShape="1">
            <a:blip r:embed="rId6">
              <a:alphaModFix/>
            </a:blip>
            <a:srcRect b="45696" l="20923" r="0" t="0"/>
            <a:stretch/>
          </p:blipFill>
          <p:spPr>
            <a:xfrm flipH="1">
              <a:off x="7246960" y="3259621"/>
              <a:ext cx="1541433" cy="207527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a2a2538afe_0_40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000"/>
              <a:t>Why isn’t all research data open?</a:t>
            </a:r>
            <a:endParaRPr b="1" sz="2000"/>
          </a:p>
        </p:txBody>
      </p:sp>
      <p:sp>
        <p:nvSpPr>
          <p:cNvPr id="554" name="Google Shape;554;g3a2a2538afe_0_409"/>
          <p:cNvSpPr txBox="1"/>
          <p:nvPr/>
        </p:nvSpPr>
        <p:spPr>
          <a:xfrm>
            <a:off x="293088" y="4428488"/>
            <a:ext cx="40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55" name="Google Shape;555;g3a2a2538afe_0_409"/>
          <p:cNvGrpSpPr/>
          <p:nvPr/>
        </p:nvGrpSpPr>
        <p:grpSpPr>
          <a:xfrm>
            <a:off x="552599" y="1223000"/>
            <a:ext cx="8038801" cy="3913200"/>
            <a:chOff x="552599" y="1223000"/>
            <a:chExt cx="8038801" cy="3913200"/>
          </a:xfrm>
        </p:grpSpPr>
        <p:sp>
          <p:nvSpPr>
            <p:cNvPr id="556" name="Google Shape;556;g3a2a2538afe_0_409"/>
            <p:cNvSpPr/>
            <p:nvPr/>
          </p:nvSpPr>
          <p:spPr>
            <a:xfrm>
              <a:off x="552600" y="1223000"/>
              <a:ext cx="8038800" cy="3913200"/>
            </a:xfrm>
            <a:prstGeom prst="rect">
              <a:avLst/>
            </a:prstGeom>
            <a:solidFill>
              <a:srgbClr val="CFEFFA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57" name="Google Shape;557;g3a2a2538afe_0_409"/>
            <p:cNvPicPr preferRelativeResize="0"/>
            <p:nvPr/>
          </p:nvPicPr>
          <p:blipFill rotWithShape="1">
            <a:blip r:embed="rId3">
              <a:alphaModFix/>
            </a:blip>
            <a:srcRect b="20828" l="0" r="59329" t="23585"/>
            <a:stretch/>
          </p:blipFill>
          <p:spPr>
            <a:xfrm flipH="1">
              <a:off x="1252006" y="1330012"/>
              <a:ext cx="3144744" cy="2198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8" name="Google Shape;558;g3a2a2538afe_0_409"/>
            <p:cNvSpPr txBox="1"/>
            <p:nvPr/>
          </p:nvSpPr>
          <p:spPr>
            <a:xfrm>
              <a:off x="1746779" y="1863606"/>
              <a:ext cx="2240400" cy="8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With this in mind, the FAIR Principles allow for ‘closed’ data...</a:t>
              </a:r>
              <a:endParaRPr b="0" i="0" sz="1400" u="none" cap="none" strike="noStrike">
                <a:solidFill>
                  <a:srgbClr val="1C183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59" name="Google Shape;559;g3a2a2538afe_0_409"/>
            <p:cNvPicPr preferRelativeResize="0"/>
            <p:nvPr/>
          </p:nvPicPr>
          <p:blipFill rotWithShape="1">
            <a:blip r:embed="rId4">
              <a:alphaModFix/>
            </a:blip>
            <a:srcRect b="47682" l="0" r="23599" t="0"/>
            <a:stretch/>
          </p:blipFill>
          <p:spPr>
            <a:xfrm flipH="1">
              <a:off x="552599" y="2705377"/>
              <a:ext cx="2509842" cy="2399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0" name="Google Shape;560;g3a2a2538afe_0_409"/>
          <p:cNvGrpSpPr/>
          <p:nvPr/>
        </p:nvGrpSpPr>
        <p:grpSpPr>
          <a:xfrm>
            <a:off x="4679675" y="1407743"/>
            <a:ext cx="3911725" cy="3696735"/>
            <a:chOff x="4679675" y="1407743"/>
            <a:chExt cx="3911725" cy="3696735"/>
          </a:xfrm>
        </p:grpSpPr>
        <p:pic>
          <p:nvPicPr>
            <p:cNvPr id="561" name="Google Shape;561;g3a2a2538afe_0_409"/>
            <p:cNvPicPr preferRelativeResize="0"/>
            <p:nvPr/>
          </p:nvPicPr>
          <p:blipFill rotWithShape="1">
            <a:blip r:embed="rId5">
              <a:alphaModFix/>
            </a:blip>
            <a:srcRect b="53563" l="8767" r="0" t="0"/>
            <a:stretch/>
          </p:blipFill>
          <p:spPr>
            <a:xfrm flipH="1">
              <a:off x="5645988" y="2704252"/>
              <a:ext cx="2945412" cy="24002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62" name="Google Shape;562;g3a2a2538afe_0_409"/>
            <p:cNvGrpSpPr/>
            <p:nvPr/>
          </p:nvGrpSpPr>
          <p:grpSpPr>
            <a:xfrm>
              <a:off x="4679675" y="1407743"/>
              <a:ext cx="3144744" cy="2198999"/>
              <a:chOff x="6055575" y="1056501"/>
              <a:chExt cx="3144744" cy="2198999"/>
            </a:xfrm>
          </p:grpSpPr>
          <p:pic>
            <p:nvPicPr>
              <p:cNvPr id="563" name="Google Shape;563;g3a2a2538afe_0_409"/>
              <p:cNvPicPr preferRelativeResize="0"/>
              <p:nvPr/>
            </p:nvPicPr>
            <p:blipFill rotWithShape="1">
              <a:blip r:embed="rId3">
                <a:alphaModFix/>
              </a:blip>
              <a:srcRect b="20828" l="0" r="59329" t="23585"/>
              <a:stretch/>
            </p:blipFill>
            <p:spPr>
              <a:xfrm>
                <a:off x="6055575" y="1056501"/>
                <a:ext cx="3144744" cy="21989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4" name="Google Shape;564;g3a2a2538afe_0_409"/>
              <p:cNvSpPr txBox="1"/>
              <p:nvPr/>
            </p:nvSpPr>
            <p:spPr>
              <a:xfrm>
                <a:off x="6434809" y="1418756"/>
                <a:ext cx="2331300" cy="11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...and include the caveat</a:t>
                </a:r>
                <a:b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 that data should be ‘as open as possible but as closed as necessary’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a2a2538afe_0_424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000"/>
              <a:t>What about qualitative data?</a:t>
            </a:r>
            <a:endParaRPr b="1" sz="2000"/>
          </a:p>
        </p:txBody>
      </p:sp>
      <p:grpSp>
        <p:nvGrpSpPr>
          <p:cNvPr id="570" name="Google Shape;570;g3a2a2538afe_0_424"/>
          <p:cNvGrpSpPr/>
          <p:nvPr/>
        </p:nvGrpSpPr>
        <p:grpSpPr>
          <a:xfrm>
            <a:off x="285049" y="779670"/>
            <a:ext cx="4279020" cy="2630454"/>
            <a:chOff x="285049" y="779670"/>
            <a:chExt cx="4279020" cy="2630454"/>
          </a:xfrm>
        </p:grpSpPr>
        <p:sp>
          <p:nvSpPr>
            <p:cNvPr id="571" name="Google Shape;571;g3a2a2538afe_0_424"/>
            <p:cNvSpPr/>
            <p:nvPr/>
          </p:nvSpPr>
          <p:spPr>
            <a:xfrm>
              <a:off x="300316" y="779670"/>
              <a:ext cx="4179600" cy="2451600"/>
            </a:xfrm>
            <a:prstGeom prst="rect">
              <a:avLst/>
            </a:prstGeom>
            <a:solidFill>
              <a:srgbClr val="CFEFFA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72" name="Google Shape;572;g3a2a2538afe_0_4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5049" y="779670"/>
              <a:ext cx="1927506" cy="263045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73" name="Google Shape;573;g3a2a2538afe_0_424"/>
            <p:cNvGrpSpPr/>
            <p:nvPr/>
          </p:nvGrpSpPr>
          <p:grpSpPr>
            <a:xfrm>
              <a:off x="1419320" y="1053900"/>
              <a:ext cx="3144749" cy="2198999"/>
              <a:chOff x="1391413" y="1278075"/>
              <a:chExt cx="3144749" cy="2198999"/>
            </a:xfrm>
          </p:grpSpPr>
          <p:pic>
            <p:nvPicPr>
              <p:cNvPr id="574" name="Google Shape;574;g3a2a2538afe_0_424"/>
              <p:cNvPicPr preferRelativeResize="0"/>
              <p:nvPr/>
            </p:nvPicPr>
            <p:blipFill rotWithShape="1">
              <a:blip r:embed="rId4">
                <a:alphaModFix/>
              </a:blip>
              <a:srcRect b="20828" l="0" r="59329" t="23585"/>
              <a:stretch/>
            </p:blipFill>
            <p:spPr>
              <a:xfrm rot="10800000">
                <a:off x="1391413" y="1278075"/>
                <a:ext cx="3144749" cy="21989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75" name="Google Shape;575;g3a2a2538afe_0_424"/>
              <p:cNvSpPr txBox="1"/>
              <p:nvPr/>
            </p:nvSpPr>
            <p:spPr>
              <a:xfrm>
                <a:off x="1697487" y="1809850"/>
                <a:ext cx="2532600" cy="139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Qualitative data, from interviews for instance, can be of an intimate nature, and sensitive information may 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be disclosed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6" name="Google Shape;576;g3a2a2538afe_0_424"/>
          <p:cNvGrpSpPr/>
          <p:nvPr/>
        </p:nvGrpSpPr>
        <p:grpSpPr>
          <a:xfrm>
            <a:off x="4365965" y="552889"/>
            <a:ext cx="4508253" cy="3029599"/>
            <a:chOff x="4365965" y="552889"/>
            <a:chExt cx="4508253" cy="3029599"/>
          </a:xfrm>
        </p:grpSpPr>
        <p:sp>
          <p:nvSpPr>
            <p:cNvPr id="577" name="Google Shape;577;g3a2a2538afe_0_424"/>
            <p:cNvSpPr/>
            <p:nvPr/>
          </p:nvSpPr>
          <p:spPr>
            <a:xfrm>
              <a:off x="4678757" y="779670"/>
              <a:ext cx="4179600" cy="2451600"/>
            </a:xfrm>
            <a:prstGeom prst="rect">
              <a:avLst/>
            </a:prstGeom>
            <a:solidFill>
              <a:srgbClr val="CFEFFA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78" name="Google Shape;578;g3a2a2538afe_0_424"/>
            <p:cNvPicPr preferRelativeResize="0"/>
            <p:nvPr/>
          </p:nvPicPr>
          <p:blipFill rotWithShape="1">
            <a:blip r:embed="rId5">
              <a:alphaModFix/>
            </a:blip>
            <a:srcRect b="1283" l="0" r="0" t="0"/>
            <a:stretch/>
          </p:blipFill>
          <p:spPr>
            <a:xfrm>
              <a:off x="6921034" y="838890"/>
              <a:ext cx="1953185" cy="24516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79" name="Google Shape;579;g3a2a2538afe_0_424"/>
            <p:cNvGrpSpPr/>
            <p:nvPr/>
          </p:nvGrpSpPr>
          <p:grpSpPr>
            <a:xfrm>
              <a:off x="4365965" y="552889"/>
              <a:ext cx="3624161" cy="3029599"/>
              <a:chOff x="4516375" y="780074"/>
              <a:chExt cx="3624161" cy="3029599"/>
            </a:xfrm>
          </p:grpSpPr>
          <p:pic>
            <p:nvPicPr>
              <p:cNvPr id="580" name="Google Shape;580;g3a2a2538afe_0_424"/>
              <p:cNvPicPr preferRelativeResize="0"/>
              <p:nvPr/>
            </p:nvPicPr>
            <p:blipFill rotWithShape="1">
              <a:blip r:embed="rId4">
                <a:alphaModFix/>
              </a:blip>
              <a:srcRect b="20828" l="0" r="59329" t="23585"/>
              <a:stretch/>
            </p:blipFill>
            <p:spPr>
              <a:xfrm flipH="1" rot="-9727302">
                <a:off x="4776357" y="1203879"/>
                <a:ext cx="3104199" cy="218198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1" name="Google Shape;581;g3a2a2538afe_0_424"/>
              <p:cNvSpPr txBox="1"/>
              <p:nvPr/>
            </p:nvSpPr>
            <p:spPr>
              <a:xfrm>
                <a:off x="5172830" y="1820452"/>
                <a:ext cx="2073300" cy="139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In addition, the public </a:t>
                </a:r>
                <a:b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are not always clear about or comfortable with qualitative data sharing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582" name="Google Shape;582;g3a2a2538afe_0_424"/>
          <p:cNvGrpSpPr/>
          <p:nvPr/>
        </p:nvGrpSpPr>
        <p:grpSpPr>
          <a:xfrm>
            <a:off x="285049" y="3050929"/>
            <a:ext cx="8558100" cy="2818566"/>
            <a:chOff x="285049" y="3050929"/>
            <a:chExt cx="8558100" cy="2818566"/>
          </a:xfrm>
        </p:grpSpPr>
        <p:sp>
          <p:nvSpPr>
            <p:cNvPr id="583" name="Google Shape;583;g3a2a2538afe_0_424"/>
            <p:cNvSpPr/>
            <p:nvPr/>
          </p:nvSpPr>
          <p:spPr>
            <a:xfrm>
              <a:off x="285049" y="3366607"/>
              <a:ext cx="8558100" cy="2451600"/>
            </a:xfrm>
            <a:prstGeom prst="rect">
              <a:avLst/>
            </a:prstGeom>
            <a:solidFill>
              <a:srgbClr val="CFEFFA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4" name="Google Shape;584;g3a2a2538afe_0_424"/>
            <p:cNvPicPr preferRelativeResize="0"/>
            <p:nvPr/>
          </p:nvPicPr>
          <p:blipFill rotWithShape="1">
            <a:blip r:embed="rId6">
              <a:alphaModFix/>
            </a:blip>
            <a:srcRect b="47324" l="0" r="0" t="0"/>
            <a:stretch/>
          </p:blipFill>
          <p:spPr>
            <a:xfrm>
              <a:off x="760457" y="3681060"/>
              <a:ext cx="2230751" cy="2112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5" name="Google Shape;585;g3a2a2538afe_0_424"/>
            <p:cNvPicPr preferRelativeResize="0"/>
            <p:nvPr/>
          </p:nvPicPr>
          <p:blipFill rotWithShape="1">
            <a:blip r:embed="rId7">
              <a:alphaModFix/>
            </a:blip>
            <a:srcRect b="46839" l="0" r="0" t="0"/>
            <a:stretch/>
          </p:blipFill>
          <p:spPr>
            <a:xfrm flipH="1">
              <a:off x="5027584" y="3713563"/>
              <a:ext cx="2294875" cy="21046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6" name="Google Shape;586;g3a2a2538afe_0_424"/>
            <p:cNvPicPr preferRelativeResize="0"/>
            <p:nvPr/>
          </p:nvPicPr>
          <p:blipFill rotWithShape="1">
            <a:blip r:embed="rId4">
              <a:alphaModFix/>
            </a:blip>
            <a:srcRect b="20828" l="0" r="59329" t="23585"/>
            <a:stretch/>
          </p:blipFill>
          <p:spPr>
            <a:xfrm flipH="1" rot="738156">
              <a:off x="2458917" y="3360713"/>
              <a:ext cx="3144744" cy="21989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7" name="Google Shape;587;g3a2a2538afe_0_424"/>
            <p:cNvSpPr txBox="1"/>
            <p:nvPr/>
          </p:nvSpPr>
          <p:spPr>
            <a:xfrm>
              <a:off x="2879846" y="3853426"/>
              <a:ext cx="2346300" cy="106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25000" lnSpcReduction="20000"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00000"/>
                <a:buFont typeface="Arial"/>
                <a:buNone/>
              </a:pPr>
              <a:r>
                <a:rPr b="0" i="0" lang="en-US" sz="5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So it is important to </a:t>
              </a:r>
              <a:br>
                <a:rPr b="0" i="0" lang="en-US" sz="5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5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clearly outline data sharing procedures when gaining informed consent</a:t>
              </a:r>
              <a:endParaRPr/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2" name="Google Shape;592;g3a2a2538afe_0_446"/>
          <p:cNvGrpSpPr/>
          <p:nvPr/>
        </p:nvGrpSpPr>
        <p:grpSpPr>
          <a:xfrm>
            <a:off x="552600" y="1223000"/>
            <a:ext cx="8038800" cy="3913200"/>
            <a:chOff x="552600" y="1223000"/>
            <a:chExt cx="8038800" cy="3913200"/>
          </a:xfrm>
        </p:grpSpPr>
        <p:sp>
          <p:nvSpPr>
            <p:cNvPr id="593" name="Google Shape;593;g3a2a2538afe_0_446"/>
            <p:cNvSpPr/>
            <p:nvPr/>
          </p:nvSpPr>
          <p:spPr>
            <a:xfrm>
              <a:off x="552600" y="1223000"/>
              <a:ext cx="8038800" cy="3913200"/>
            </a:xfrm>
            <a:prstGeom prst="rect">
              <a:avLst/>
            </a:prstGeom>
            <a:solidFill>
              <a:srgbClr val="CFEFFA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4" name="Google Shape;594;g3a2a2538afe_0_446"/>
            <p:cNvPicPr preferRelativeResize="0"/>
            <p:nvPr/>
          </p:nvPicPr>
          <p:blipFill rotWithShape="1">
            <a:blip r:embed="rId3">
              <a:alphaModFix/>
            </a:blip>
            <a:srcRect b="20828" l="0" r="59329" t="23585"/>
            <a:stretch/>
          </p:blipFill>
          <p:spPr>
            <a:xfrm flipH="1">
              <a:off x="1568134" y="1355126"/>
              <a:ext cx="3144744" cy="2198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g3a2a2538afe_0_446"/>
            <p:cNvSpPr txBox="1"/>
            <p:nvPr/>
          </p:nvSpPr>
          <p:spPr>
            <a:xfrm>
              <a:off x="1875232" y="1668076"/>
              <a:ext cx="2630100" cy="13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 is also important to 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practice data minimisation. This means not collecting more information than is strictly needed</a:t>
              </a:r>
              <a:endParaRPr b="0" i="0" sz="1400" u="none" cap="none" strike="noStrike">
                <a:solidFill>
                  <a:srgbClr val="1C183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96" name="Google Shape;596;g3a2a2538afe_0_4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03297" y="2720870"/>
              <a:ext cx="2256895" cy="241532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7" name="Google Shape;597;g3a2a2538afe_0_44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000"/>
              <a:t>What about qualitative data?</a:t>
            </a:r>
            <a:endParaRPr b="1" sz="2000"/>
          </a:p>
        </p:txBody>
      </p:sp>
      <p:sp>
        <p:nvSpPr>
          <p:cNvPr id="598" name="Google Shape;598;g3a2a2538afe_0_446"/>
          <p:cNvSpPr txBox="1"/>
          <p:nvPr/>
        </p:nvSpPr>
        <p:spPr>
          <a:xfrm>
            <a:off x="4679675" y="4436303"/>
            <a:ext cx="40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g3a2a2538afe_0_446"/>
          <p:cNvSpPr txBox="1"/>
          <p:nvPr/>
        </p:nvSpPr>
        <p:spPr>
          <a:xfrm>
            <a:off x="293088" y="4428488"/>
            <a:ext cx="40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00" name="Google Shape;600;g3a2a2538afe_0_446"/>
          <p:cNvGrpSpPr/>
          <p:nvPr/>
        </p:nvGrpSpPr>
        <p:grpSpPr>
          <a:xfrm>
            <a:off x="3822343" y="1992573"/>
            <a:ext cx="4684107" cy="3272829"/>
            <a:chOff x="3822343" y="1992573"/>
            <a:chExt cx="4684107" cy="3272829"/>
          </a:xfrm>
        </p:grpSpPr>
        <p:pic>
          <p:nvPicPr>
            <p:cNvPr id="601" name="Google Shape;601;g3a2a2538afe_0_44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6317300" y="1992573"/>
              <a:ext cx="2189150" cy="32728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2" name="Google Shape;602;g3a2a2538afe_0_446"/>
            <p:cNvPicPr preferRelativeResize="0"/>
            <p:nvPr/>
          </p:nvPicPr>
          <p:blipFill rotWithShape="1">
            <a:blip r:embed="rId3">
              <a:alphaModFix/>
            </a:blip>
            <a:srcRect b="20828" l="0" r="59329" t="23585"/>
            <a:stretch/>
          </p:blipFill>
          <p:spPr>
            <a:xfrm flipH="1" rot="10800000">
              <a:off x="3822343" y="2765392"/>
              <a:ext cx="3352291" cy="23312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3" name="Google Shape;603;g3a2a2538afe_0_446"/>
            <p:cNvSpPr txBox="1"/>
            <p:nvPr/>
          </p:nvSpPr>
          <p:spPr>
            <a:xfrm>
              <a:off x="4332838" y="3338176"/>
              <a:ext cx="2331300" cy="13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And it is important to replace information that could be used to identify individuals with a pseudonym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608" name="Google Shape;608;g3a2a2538afe_0_4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609" name="Google Shape;609;g3a2a2538afe_0_4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614" name="Google Shape;614;g3a2a2538afe_0_677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615" name="Google Shape;615;g3a2a2538afe_0_6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g3a2a2538afe_0_677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7" name="Google Shape;617;g3a2a2538afe_0_677"/>
          <p:cNvSpPr txBox="1"/>
          <p:nvPr/>
        </p:nvSpPr>
        <p:spPr>
          <a:xfrm>
            <a:off x="364243" y="2450863"/>
            <a:ext cx="44652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, venn diagram&#10;&#10;Description automatically generated" id="622" name="Google Shape;622;g3a2a2538afe_0_6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8200" y="1555200"/>
            <a:ext cx="3747600" cy="37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g3a2a2538afe_0_684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lang="en-US" sz="2400"/>
              <a:t>Module 3 – </a:t>
            </a:r>
            <a:r>
              <a:rPr b="1" lang="en-US" sz="2400"/>
              <a:t>Research Data Management</a:t>
            </a:r>
            <a:endParaRPr sz="2400"/>
          </a:p>
        </p:txBody>
      </p:sp>
      <p:sp>
        <p:nvSpPr>
          <p:cNvPr id="624" name="Google Shape;624;g3a2a2538afe_0_684"/>
          <p:cNvSpPr txBox="1"/>
          <p:nvPr/>
        </p:nvSpPr>
        <p:spPr>
          <a:xfrm>
            <a:off x="2724623" y="1555200"/>
            <a:ext cx="3702900" cy="726000"/>
          </a:xfrm>
          <a:prstGeom prst="rect">
            <a:avLst/>
          </a:prstGeom>
          <a:noFill/>
          <a:ln>
            <a:noFill/>
          </a:ln>
          <a:effectLst>
            <a:outerShdw blurRad="165100" sx="103000" rotWithShape="0" algn="tl" dir="2700000" dist="38100" sy="103000">
              <a:srgbClr val="000000">
                <a:alpha val="24310"/>
              </a:srgbClr>
            </a:outerShdw>
          </a:effectLst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Data Management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a2a2538afe_0_690"/>
          <p:cNvSpPr txBox="1"/>
          <p:nvPr>
            <p:ph idx="4294967295" type="body"/>
          </p:nvPr>
        </p:nvSpPr>
        <p:spPr>
          <a:xfrm>
            <a:off x="254000" y="1209050"/>
            <a:ext cx="3713100" cy="46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>
                <a:solidFill>
                  <a:srgbClr val="000000"/>
                </a:solidFill>
              </a:rPr>
              <a:t>Data management is a series of processes employed throughout the research cycle to manage data. 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630" name="Google Shape;630;g3a2a2538afe_0_690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What is data management?</a:t>
            </a:r>
            <a:endParaRPr b="1" sz="2400"/>
          </a:p>
        </p:txBody>
      </p:sp>
      <p:sp>
        <p:nvSpPr>
          <p:cNvPr id="631" name="Google Shape;631;g3a2a2538afe_0_690"/>
          <p:cNvSpPr txBox="1"/>
          <p:nvPr/>
        </p:nvSpPr>
        <p:spPr>
          <a:xfrm>
            <a:off x="0" y="5577551"/>
            <a:ext cx="733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32" name="Google Shape;632;g3a2a2538afe_0_690"/>
          <p:cNvGrpSpPr/>
          <p:nvPr/>
        </p:nvGrpSpPr>
        <p:grpSpPr>
          <a:xfrm>
            <a:off x="4004478" y="914806"/>
            <a:ext cx="5047011" cy="4948407"/>
            <a:chOff x="1020004" y="256"/>
            <a:chExt cx="5047011" cy="4948407"/>
          </a:xfrm>
        </p:grpSpPr>
        <p:sp>
          <p:nvSpPr>
            <p:cNvPr id="633" name="Google Shape;633;g3a2a2538afe_0_690"/>
            <p:cNvSpPr/>
            <p:nvPr/>
          </p:nvSpPr>
          <p:spPr>
            <a:xfrm>
              <a:off x="1486461" y="517282"/>
              <a:ext cx="4114200" cy="4114200"/>
            </a:xfrm>
            <a:prstGeom prst="blockArc">
              <a:avLst>
                <a:gd fmla="val 13114286" name="adj1"/>
                <a:gd fmla="val 16200000" name="adj2"/>
                <a:gd fmla="val 3900" name="adj3"/>
              </a:avLst>
            </a:prstGeom>
            <a:solidFill>
              <a:srgbClr val="A9D4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g3a2a2538afe_0_690"/>
            <p:cNvSpPr/>
            <p:nvPr/>
          </p:nvSpPr>
          <p:spPr>
            <a:xfrm>
              <a:off x="1486461" y="517282"/>
              <a:ext cx="4114200" cy="4114200"/>
            </a:xfrm>
            <a:prstGeom prst="blockArc">
              <a:avLst>
                <a:gd fmla="val 10028571" name="adj1"/>
                <a:gd fmla="val 13114286" name="adj2"/>
                <a:gd fmla="val 3900" name="adj3"/>
              </a:avLst>
            </a:prstGeom>
            <a:solidFill>
              <a:srgbClr val="A9D4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g3a2a2538afe_0_690"/>
            <p:cNvSpPr/>
            <p:nvPr/>
          </p:nvSpPr>
          <p:spPr>
            <a:xfrm>
              <a:off x="1486461" y="517282"/>
              <a:ext cx="4114200" cy="4114200"/>
            </a:xfrm>
            <a:prstGeom prst="blockArc">
              <a:avLst>
                <a:gd fmla="val 6942857" name="adj1"/>
                <a:gd fmla="val 10028571" name="adj2"/>
                <a:gd fmla="val 3900" name="adj3"/>
              </a:avLst>
            </a:prstGeom>
            <a:solidFill>
              <a:srgbClr val="A9D4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g3a2a2538afe_0_690"/>
            <p:cNvSpPr/>
            <p:nvPr/>
          </p:nvSpPr>
          <p:spPr>
            <a:xfrm>
              <a:off x="1486461" y="517282"/>
              <a:ext cx="4114200" cy="4114200"/>
            </a:xfrm>
            <a:prstGeom prst="blockArc">
              <a:avLst>
                <a:gd fmla="val 3857143" name="adj1"/>
                <a:gd fmla="val 6942857" name="adj2"/>
                <a:gd fmla="val 3900" name="adj3"/>
              </a:avLst>
            </a:prstGeom>
            <a:solidFill>
              <a:srgbClr val="A9D4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g3a2a2538afe_0_690"/>
            <p:cNvSpPr/>
            <p:nvPr/>
          </p:nvSpPr>
          <p:spPr>
            <a:xfrm>
              <a:off x="1486461" y="517282"/>
              <a:ext cx="4114200" cy="4114200"/>
            </a:xfrm>
            <a:prstGeom prst="blockArc">
              <a:avLst>
                <a:gd fmla="val 771429" name="adj1"/>
                <a:gd fmla="val 3857143" name="adj2"/>
                <a:gd fmla="val 3900" name="adj3"/>
              </a:avLst>
            </a:prstGeom>
            <a:solidFill>
              <a:srgbClr val="A9D4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g3a2a2538afe_0_690"/>
            <p:cNvSpPr/>
            <p:nvPr/>
          </p:nvSpPr>
          <p:spPr>
            <a:xfrm>
              <a:off x="1486461" y="517282"/>
              <a:ext cx="4114200" cy="4114200"/>
            </a:xfrm>
            <a:prstGeom prst="blockArc">
              <a:avLst>
                <a:gd fmla="val 19285714" name="adj1"/>
                <a:gd fmla="val 771429" name="adj2"/>
                <a:gd fmla="val 3900" name="adj3"/>
              </a:avLst>
            </a:prstGeom>
            <a:solidFill>
              <a:srgbClr val="A9D4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g3a2a2538afe_0_690"/>
            <p:cNvSpPr/>
            <p:nvPr/>
          </p:nvSpPr>
          <p:spPr>
            <a:xfrm>
              <a:off x="1486461" y="517282"/>
              <a:ext cx="4114200" cy="4114200"/>
            </a:xfrm>
            <a:prstGeom prst="blockArc">
              <a:avLst>
                <a:gd fmla="val 16200000" name="adj1"/>
                <a:gd fmla="val 19285714" name="adj2"/>
                <a:gd fmla="val 3900" name="adj3"/>
              </a:avLst>
            </a:prstGeom>
            <a:solidFill>
              <a:srgbClr val="A9D4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g3a2a2538afe_0_690"/>
            <p:cNvSpPr/>
            <p:nvPr/>
          </p:nvSpPr>
          <p:spPr>
            <a:xfrm>
              <a:off x="2747635" y="1778457"/>
              <a:ext cx="1591800" cy="1591800"/>
            </a:xfrm>
            <a:prstGeom prst="ellipse">
              <a:avLst/>
            </a:prstGeom>
            <a:solidFill>
              <a:srgbClr val="14B1E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g3a2a2538afe_0_690"/>
            <p:cNvSpPr txBox="1"/>
            <p:nvPr/>
          </p:nvSpPr>
          <p:spPr>
            <a:xfrm>
              <a:off x="2980753" y="2011575"/>
              <a:ext cx="1125600" cy="112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Life-cycle</a:t>
              </a:r>
              <a:endParaRPr/>
            </a:p>
          </p:txBody>
        </p:sp>
        <p:sp>
          <p:nvSpPr>
            <p:cNvPr id="642" name="Google Shape;642;g3a2a2538afe_0_690"/>
            <p:cNvSpPr/>
            <p:nvPr/>
          </p:nvSpPr>
          <p:spPr>
            <a:xfrm>
              <a:off x="2986410" y="256"/>
              <a:ext cx="1114200" cy="1114200"/>
            </a:xfrm>
            <a:prstGeom prst="ellipse">
              <a:avLst/>
            </a:prstGeom>
            <a:solidFill>
              <a:srgbClr val="14B1E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g3a2a2538afe_0_690"/>
            <p:cNvSpPr txBox="1"/>
            <p:nvPr/>
          </p:nvSpPr>
          <p:spPr>
            <a:xfrm>
              <a:off x="3149593" y="163439"/>
              <a:ext cx="787800" cy="7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Plan</a:t>
              </a:r>
              <a:endParaRPr/>
            </a:p>
          </p:txBody>
        </p:sp>
        <p:sp>
          <p:nvSpPr>
            <p:cNvPr id="644" name="Google Shape;644;g3a2a2538afe_0_690"/>
            <p:cNvSpPr/>
            <p:nvPr/>
          </p:nvSpPr>
          <p:spPr>
            <a:xfrm>
              <a:off x="4563345" y="759667"/>
              <a:ext cx="1114200" cy="1114200"/>
            </a:xfrm>
            <a:prstGeom prst="ellipse">
              <a:avLst/>
            </a:prstGeom>
            <a:solidFill>
              <a:srgbClr val="14B1E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g3a2a2538afe_0_690"/>
            <p:cNvSpPr txBox="1"/>
            <p:nvPr/>
          </p:nvSpPr>
          <p:spPr>
            <a:xfrm>
              <a:off x="4726528" y="922850"/>
              <a:ext cx="787800" cy="7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Create</a:t>
              </a:r>
              <a:endParaRPr/>
            </a:p>
          </p:txBody>
        </p:sp>
        <p:sp>
          <p:nvSpPr>
            <p:cNvPr id="646" name="Google Shape;646;g3a2a2538afe_0_690"/>
            <p:cNvSpPr/>
            <p:nvPr/>
          </p:nvSpPr>
          <p:spPr>
            <a:xfrm>
              <a:off x="4952815" y="2466050"/>
              <a:ext cx="1114200" cy="1114200"/>
            </a:xfrm>
            <a:prstGeom prst="ellipse">
              <a:avLst/>
            </a:prstGeom>
            <a:solidFill>
              <a:srgbClr val="14B1E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g3a2a2538afe_0_690"/>
            <p:cNvSpPr txBox="1"/>
            <p:nvPr/>
          </p:nvSpPr>
          <p:spPr>
            <a:xfrm>
              <a:off x="5115998" y="2629233"/>
              <a:ext cx="787800" cy="7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Process</a:t>
              </a:r>
              <a:endParaRPr/>
            </a:p>
          </p:txBody>
        </p:sp>
        <p:sp>
          <p:nvSpPr>
            <p:cNvPr id="648" name="Google Shape;648;g3a2a2538afe_0_690"/>
            <p:cNvSpPr/>
            <p:nvPr/>
          </p:nvSpPr>
          <p:spPr>
            <a:xfrm>
              <a:off x="3861543" y="3834463"/>
              <a:ext cx="1114200" cy="1114200"/>
            </a:xfrm>
            <a:prstGeom prst="ellipse">
              <a:avLst/>
            </a:prstGeom>
            <a:solidFill>
              <a:srgbClr val="14B1E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g3a2a2538afe_0_690"/>
            <p:cNvSpPr txBox="1"/>
            <p:nvPr/>
          </p:nvSpPr>
          <p:spPr>
            <a:xfrm>
              <a:off x="4024726" y="3997646"/>
              <a:ext cx="787800" cy="7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Analyse</a:t>
              </a:r>
              <a:endParaRPr/>
            </a:p>
          </p:txBody>
        </p:sp>
        <p:sp>
          <p:nvSpPr>
            <p:cNvPr id="650" name="Google Shape;650;g3a2a2538afe_0_690"/>
            <p:cNvSpPr/>
            <p:nvPr/>
          </p:nvSpPr>
          <p:spPr>
            <a:xfrm>
              <a:off x="2111277" y="3834463"/>
              <a:ext cx="1114200" cy="1114200"/>
            </a:xfrm>
            <a:prstGeom prst="ellipse">
              <a:avLst/>
            </a:prstGeom>
            <a:solidFill>
              <a:srgbClr val="14B1E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g3a2a2538afe_0_690"/>
            <p:cNvSpPr txBox="1"/>
            <p:nvPr/>
          </p:nvSpPr>
          <p:spPr>
            <a:xfrm>
              <a:off x="2274460" y="3997646"/>
              <a:ext cx="787800" cy="7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Preserve</a:t>
              </a:r>
              <a:endParaRPr/>
            </a:p>
          </p:txBody>
        </p:sp>
        <p:sp>
          <p:nvSpPr>
            <p:cNvPr id="652" name="Google Shape;652;g3a2a2538afe_0_690"/>
            <p:cNvSpPr/>
            <p:nvPr/>
          </p:nvSpPr>
          <p:spPr>
            <a:xfrm>
              <a:off x="1020004" y="2466050"/>
              <a:ext cx="1114200" cy="1114200"/>
            </a:xfrm>
            <a:prstGeom prst="ellipse">
              <a:avLst/>
            </a:prstGeom>
            <a:solidFill>
              <a:srgbClr val="14B1E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g3a2a2538afe_0_690"/>
            <p:cNvSpPr txBox="1"/>
            <p:nvPr/>
          </p:nvSpPr>
          <p:spPr>
            <a:xfrm>
              <a:off x="1183187" y="2629233"/>
              <a:ext cx="787800" cy="7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Share</a:t>
              </a:r>
              <a:endParaRPr/>
            </a:p>
          </p:txBody>
        </p:sp>
        <p:sp>
          <p:nvSpPr>
            <p:cNvPr id="654" name="Google Shape;654;g3a2a2538afe_0_690"/>
            <p:cNvSpPr/>
            <p:nvPr/>
          </p:nvSpPr>
          <p:spPr>
            <a:xfrm>
              <a:off x="1409475" y="759667"/>
              <a:ext cx="1114200" cy="1114200"/>
            </a:xfrm>
            <a:prstGeom prst="ellipse">
              <a:avLst/>
            </a:prstGeom>
            <a:solidFill>
              <a:srgbClr val="14B1E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g3a2a2538afe_0_690"/>
            <p:cNvSpPr txBox="1"/>
            <p:nvPr/>
          </p:nvSpPr>
          <p:spPr>
            <a:xfrm>
              <a:off x="1572658" y="922850"/>
              <a:ext cx="787800" cy="7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Re-use</a:t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a2a2538afe_0_720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Why is data management important?</a:t>
            </a:r>
            <a:endParaRPr b="1" sz="2400"/>
          </a:p>
        </p:txBody>
      </p:sp>
      <p:pic>
        <p:nvPicPr>
          <p:cNvPr id="661" name="Google Shape;661;g3a2a2538afe_0_720"/>
          <p:cNvPicPr preferRelativeResize="0"/>
          <p:nvPr/>
        </p:nvPicPr>
        <p:blipFill rotWithShape="1">
          <a:blip r:embed="rId3">
            <a:alphaModFix/>
          </a:blip>
          <a:srcRect b="19955" l="0" r="61425" t="0"/>
          <a:stretch/>
        </p:blipFill>
        <p:spPr>
          <a:xfrm>
            <a:off x="0" y="975126"/>
            <a:ext cx="3527198" cy="4117225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g3a2a2538afe_0_720"/>
          <p:cNvSpPr txBox="1"/>
          <p:nvPr/>
        </p:nvSpPr>
        <p:spPr>
          <a:xfrm>
            <a:off x="571176" y="2427926"/>
            <a:ext cx="236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Why is data management important? 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63" name="Google Shape;663;g3a2a2538afe_0_720"/>
          <p:cNvGrpSpPr/>
          <p:nvPr/>
        </p:nvGrpSpPr>
        <p:grpSpPr>
          <a:xfrm>
            <a:off x="3565993" y="935252"/>
            <a:ext cx="5324006" cy="784801"/>
            <a:chOff x="3565993" y="809751"/>
            <a:chExt cx="5324006" cy="784801"/>
          </a:xfrm>
        </p:grpSpPr>
        <p:pic>
          <p:nvPicPr>
            <p:cNvPr id="664" name="Google Shape;664;g3a2a2538afe_0_720"/>
            <p:cNvPicPr preferRelativeResize="0"/>
            <p:nvPr/>
          </p:nvPicPr>
          <p:blipFill rotWithShape="1">
            <a:blip r:embed="rId4">
              <a:alphaModFix/>
            </a:blip>
            <a:srcRect b="68008" l="45773" r="1757" t="13716"/>
            <a:stretch/>
          </p:blipFill>
          <p:spPr>
            <a:xfrm>
              <a:off x="3565993" y="809751"/>
              <a:ext cx="5324006" cy="7848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5" name="Google Shape;665;g3a2a2538afe_0_720"/>
            <p:cNvSpPr txBox="1"/>
            <p:nvPr/>
          </p:nvSpPr>
          <p:spPr>
            <a:xfrm>
              <a:off x="4422939" y="894351"/>
              <a:ext cx="41457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helps you keep track of your own work and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protect against data loss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6" name="Google Shape;666;g3a2a2538afe_0_720"/>
            <p:cNvSpPr txBox="1"/>
            <p:nvPr/>
          </p:nvSpPr>
          <p:spPr>
            <a:xfrm>
              <a:off x="3628749" y="971301"/>
              <a:ext cx="794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67" name="Google Shape;667;g3a2a2538afe_0_720"/>
          <p:cNvGrpSpPr/>
          <p:nvPr/>
        </p:nvGrpSpPr>
        <p:grpSpPr>
          <a:xfrm>
            <a:off x="3565993" y="1785721"/>
            <a:ext cx="5324006" cy="788076"/>
            <a:chOff x="3565993" y="1782626"/>
            <a:chExt cx="5324006" cy="788076"/>
          </a:xfrm>
        </p:grpSpPr>
        <p:pic>
          <p:nvPicPr>
            <p:cNvPr id="668" name="Google Shape;668;g3a2a2538afe_0_720"/>
            <p:cNvPicPr preferRelativeResize="0"/>
            <p:nvPr/>
          </p:nvPicPr>
          <p:blipFill rotWithShape="1">
            <a:blip r:embed="rId4">
              <a:alphaModFix/>
            </a:blip>
            <a:srcRect b="68008" l="45773" r="1757" t="13716"/>
            <a:stretch/>
          </p:blipFill>
          <p:spPr>
            <a:xfrm>
              <a:off x="3565993" y="1782626"/>
              <a:ext cx="5324006" cy="7880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9" name="Google Shape;669;g3a2a2538afe_0_720"/>
            <p:cNvSpPr txBox="1"/>
            <p:nvPr/>
          </p:nvSpPr>
          <p:spPr>
            <a:xfrm>
              <a:off x="4423106" y="1976563"/>
              <a:ext cx="4145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increases research efficacy 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0" name="Google Shape;670;g3a2a2538afe_0_720"/>
            <p:cNvSpPr txBox="1"/>
            <p:nvPr/>
          </p:nvSpPr>
          <p:spPr>
            <a:xfrm>
              <a:off x="3628749" y="1945813"/>
              <a:ext cx="794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71" name="Google Shape;671;g3a2a2538afe_0_720"/>
          <p:cNvGrpSpPr/>
          <p:nvPr/>
        </p:nvGrpSpPr>
        <p:grpSpPr>
          <a:xfrm>
            <a:off x="3565993" y="2639465"/>
            <a:ext cx="5324006" cy="784801"/>
            <a:chOff x="3586625" y="2755501"/>
            <a:chExt cx="5324006" cy="784801"/>
          </a:xfrm>
        </p:grpSpPr>
        <p:pic>
          <p:nvPicPr>
            <p:cNvPr id="672" name="Google Shape;672;g3a2a2538afe_0_720"/>
            <p:cNvPicPr preferRelativeResize="0"/>
            <p:nvPr/>
          </p:nvPicPr>
          <p:blipFill rotWithShape="1">
            <a:blip r:embed="rId4">
              <a:alphaModFix/>
            </a:blip>
            <a:srcRect b="68008" l="45773" r="1757" t="13716"/>
            <a:stretch/>
          </p:blipFill>
          <p:spPr>
            <a:xfrm>
              <a:off x="3586625" y="2755501"/>
              <a:ext cx="5324006" cy="7848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3" name="Google Shape;673;g3a2a2538afe_0_720"/>
            <p:cNvSpPr txBox="1"/>
            <p:nvPr/>
          </p:nvSpPr>
          <p:spPr>
            <a:xfrm>
              <a:off x="4423106" y="2947801"/>
              <a:ext cx="4145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minimises errors and data omission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4" name="Google Shape;674;g3a2a2538afe_0_720"/>
            <p:cNvSpPr txBox="1"/>
            <p:nvPr/>
          </p:nvSpPr>
          <p:spPr>
            <a:xfrm>
              <a:off x="3628749" y="2917051"/>
              <a:ext cx="794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75" name="Google Shape;675;g3a2a2538afe_0_720"/>
          <p:cNvGrpSpPr/>
          <p:nvPr/>
        </p:nvGrpSpPr>
        <p:grpSpPr>
          <a:xfrm>
            <a:off x="3565993" y="3521761"/>
            <a:ext cx="5281882" cy="784801"/>
            <a:chOff x="3527198" y="3748721"/>
            <a:chExt cx="5281882" cy="784801"/>
          </a:xfrm>
        </p:grpSpPr>
        <p:pic>
          <p:nvPicPr>
            <p:cNvPr id="676" name="Google Shape;676;g3a2a2538afe_0_720"/>
            <p:cNvPicPr preferRelativeResize="0"/>
            <p:nvPr/>
          </p:nvPicPr>
          <p:blipFill rotWithShape="1">
            <a:blip r:embed="rId4">
              <a:alphaModFix/>
            </a:blip>
            <a:srcRect b="68008" l="45773" r="1757" t="13716"/>
            <a:stretch/>
          </p:blipFill>
          <p:spPr>
            <a:xfrm>
              <a:off x="3527198" y="3748721"/>
              <a:ext cx="5281882" cy="7848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7" name="Google Shape;677;g3a2a2538afe_0_720"/>
            <p:cNvSpPr txBox="1"/>
            <p:nvPr/>
          </p:nvSpPr>
          <p:spPr>
            <a:xfrm>
              <a:off x="4384144" y="3833321"/>
              <a:ext cx="39720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There are funding and publishing incentives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for good data management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8" name="Google Shape;678;g3a2a2538afe_0_720"/>
            <p:cNvSpPr txBox="1"/>
            <p:nvPr/>
          </p:nvSpPr>
          <p:spPr>
            <a:xfrm>
              <a:off x="3589954" y="3910271"/>
              <a:ext cx="794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1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79" name="Google Shape;679;g3a2a2538afe_0_720"/>
          <p:cNvGrpSpPr/>
          <p:nvPr/>
        </p:nvGrpSpPr>
        <p:grpSpPr>
          <a:xfrm>
            <a:off x="3565993" y="4356811"/>
            <a:ext cx="5324006" cy="784801"/>
            <a:chOff x="3527198" y="4715802"/>
            <a:chExt cx="5324006" cy="784801"/>
          </a:xfrm>
        </p:grpSpPr>
        <p:pic>
          <p:nvPicPr>
            <p:cNvPr id="680" name="Google Shape;680;g3a2a2538afe_0_720"/>
            <p:cNvPicPr preferRelativeResize="0"/>
            <p:nvPr/>
          </p:nvPicPr>
          <p:blipFill rotWithShape="1">
            <a:blip r:embed="rId4">
              <a:alphaModFix/>
            </a:blip>
            <a:srcRect b="68008" l="45773" r="1757" t="13716"/>
            <a:stretch/>
          </p:blipFill>
          <p:spPr>
            <a:xfrm>
              <a:off x="3527198" y="4715802"/>
              <a:ext cx="5324006" cy="7848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1" name="Google Shape;681;g3a2a2538afe_0_720"/>
            <p:cNvSpPr txBox="1"/>
            <p:nvPr/>
          </p:nvSpPr>
          <p:spPr>
            <a:xfrm>
              <a:off x="4384310" y="4800402"/>
              <a:ext cx="41844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There are institutional and legal requirements for good data management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2" name="Google Shape;682;g3a2a2538afe_0_720"/>
            <p:cNvSpPr txBox="1"/>
            <p:nvPr/>
          </p:nvSpPr>
          <p:spPr>
            <a:xfrm>
              <a:off x="3589954" y="4877352"/>
              <a:ext cx="794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b="1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3" name="Google Shape;683;g3a2a2538afe_0_720"/>
          <p:cNvGrpSpPr/>
          <p:nvPr/>
        </p:nvGrpSpPr>
        <p:grpSpPr>
          <a:xfrm>
            <a:off x="3565993" y="5194440"/>
            <a:ext cx="5324006" cy="784801"/>
            <a:chOff x="3527198" y="5688677"/>
            <a:chExt cx="5324006" cy="784801"/>
          </a:xfrm>
        </p:grpSpPr>
        <p:pic>
          <p:nvPicPr>
            <p:cNvPr id="684" name="Google Shape;684;g3a2a2538afe_0_720"/>
            <p:cNvPicPr preferRelativeResize="0"/>
            <p:nvPr/>
          </p:nvPicPr>
          <p:blipFill rotWithShape="1">
            <a:blip r:embed="rId4">
              <a:alphaModFix/>
            </a:blip>
            <a:srcRect b="68008" l="45773" r="1757" t="13716"/>
            <a:stretch/>
          </p:blipFill>
          <p:spPr>
            <a:xfrm>
              <a:off x="3527198" y="5688677"/>
              <a:ext cx="5324006" cy="7848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5" name="Google Shape;685;g3a2a2538afe_0_720"/>
            <p:cNvSpPr txBox="1"/>
            <p:nvPr/>
          </p:nvSpPr>
          <p:spPr>
            <a:xfrm>
              <a:off x="4384311" y="5773316"/>
              <a:ext cx="39720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Data management enables and facilitates sharing of research data as FAIR and open data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6" name="Google Shape;686;g3a2a2538afe_0_720"/>
            <p:cNvSpPr txBox="1"/>
            <p:nvPr/>
          </p:nvSpPr>
          <p:spPr>
            <a:xfrm>
              <a:off x="3589954" y="5850227"/>
              <a:ext cx="794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b="1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a2a2538afe_0_750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000"/>
              <a:t>What is a data management plan?</a:t>
            </a:r>
            <a:endParaRPr b="1" sz="2000"/>
          </a:p>
        </p:txBody>
      </p:sp>
      <p:grpSp>
        <p:nvGrpSpPr>
          <p:cNvPr id="692" name="Google Shape;692;g3a2a2538afe_0_750"/>
          <p:cNvGrpSpPr/>
          <p:nvPr/>
        </p:nvGrpSpPr>
        <p:grpSpPr>
          <a:xfrm>
            <a:off x="1585098" y="1314911"/>
            <a:ext cx="5963750" cy="4228178"/>
            <a:chOff x="1595623" y="1540359"/>
            <a:chExt cx="5963750" cy="4228178"/>
          </a:xfrm>
        </p:grpSpPr>
        <p:grpSp>
          <p:nvGrpSpPr>
            <p:cNvPr id="693" name="Google Shape;693;g3a2a2538afe_0_750"/>
            <p:cNvGrpSpPr/>
            <p:nvPr/>
          </p:nvGrpSpPr>
          <p:grpSpPr>
            <a:xfrm>
              <a:off x="1595623" y="1540359"/>
              <a:ext cx="5942700" cy="876600"/>
              <a:chOff x="1595623" y="1540359"/>
              <a:chExt cx="5942700" cy="876600"/>
            </a:xfrm>
          </p:grpSpPr>
          <p:sp>
            <p:nvSpPr>
              <p:cNvPr id="694" name="Google Shape;694;g3a2a2538afe_0_750"/>
              <p:cNvSpPr/>
              <p:nvPr/>
            </p:nvSpPr>
            <p:spPr>
              <a:xfrm>
                <a:off x="1595623" y="1540359"/>
                <a:ext cx="5942700" cy="876600"/>
              </a:xfrm>
              <a:prstGeom prst="roundRect">
                <a:avLst>
                  <a:gd fmla="val 10000" name="adj"/>
                </a:avLst>
              </a:prstGeom>
              <a:solidFill>
                <a:srgbClr val="CFEFFA"/>
              </a:solidFill>
              <a:ln cap="flat" cmpd="sng" w="9525">
                <a:solidFill>
                  <a:srgbClr val="10AEE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g3a2a2538afe_0_750"/>
              <p:cNvSpPr/>
              <p:nvPr/>
            </p:nvSpPr>
            <p:spPr>
              <a:xfrm>
                <a:off x="2437417" y="1675748"/>
                <a:ext cx="4976400" cy="68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1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252244"/>
                    </a:solidFill>
                    <a:latin typeface="Roboto"/>
                    <a:ea typeface="Roboto"/>
                    <a:cs typeface="Roboto"/>
                    <a:sym typeface="Roboto"/>
                  </a:rPr>
                  <a:t>It is a living document which is developed at the outset of a research project and updated throughout</a:t>
                </a:r>
                <a:endParaRPr/>
              </a:p>
            </p:txBody>
          </p:sp>
        </p:grpSp>
        <p:grpSp>
          <p:nvGrpSpPr>
            <p:cNvPr id="696" name="Google Shape;696;g3a2a2538afe_0_750"/>
            <p:cNvGrpSpPr/>
            <p:nvPr/>
          </p:nvGrpSpPr>
          <p:grpSpPr>
            <a:xfrm>
              <a:off x="1595623" y="2674155"/>
              <a:ext cx="5942700" cy="876600"/>
              <a:chOff x="1616673" y="1527763"/>
              <a:chExt cx="5942700" cy="876600"/>
            </a:xfrm>
          </p:grpSpPr>
          <p:sp>
            <p:nvSpPr>
              <p:cNvPr id="697" name="Google Shape;697;g3a2a2538afe_0_750"/>
              <p:cNvSpPr/>
              <p:nvPr/>
            </p:nvSpPr>
            <p:spPr>
              <a:xfrm>
                <a:off x="1616673" y="1527763"/>
                <a:ext cx="5942700" cy="876600"/>
              </a:xfrm>
              <a:prstGeom prst="roundRect">
                <a:avLst>
                  <a:gd fmla="val 10000" name="adj"/>
                </a:avLst>
              </a:prstGeom>
              <a:solidFill>
                <a:srgbClr val="CFEFFA"/>
              </a:solidFill>
              <a:ln cap="flat" cmpd="sng" w="9525">
                <a:solidFill>
                  <a:srgbClr val="10AEE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g3a2a2538afe_0_750"/>
              <p:cNvSpPr/>
              <p:nvPr/>
            </p:nvSpPr>
            <p:spPr>
              <a:xfrm>
                <a:off x="2458467" y="1585243"/>
                <a:ext cx="4976400" cy="761700"/>
              </a:xfrm>
              <a:prstGeom prst="rect">
                <a:avLst/>
              </a:prstGeom>
              <a:solidFill>
                <a:srgbClr val="CFEFF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1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252244"/>
                    </a:solidFill>
                    <a:latin typeface="Roboto"/>
                    <a:ea typeface="Roboto"/>
                    <a:cs typeface="Roboto"/>
                    <a:sym typeface="Roboto"/>
                  </a:rPr>
                  <a:t>It details how data will be organised, managed, stored while the project is active and how it will be preserved and shared (if relevant) once the study is over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699" name="Google Shape;699;g3a2a2538afe_0_750"/>
            <p:cNvGrpSpPr/>
            <p:nvPr/>
          </p:nvGrpSpPr>
          <p:grpSpPr>
            <a:xfrm>
              <a:off x="1595623" y="3777417"/>
              <a:ext cx="5942700" cy="876600"/>
              <a:chOff x="1616673" y="2511325"/>
              <a:chExt cx="5942700" cy="876600"/>
            </a:xfrm>
          </p:grpSpPr>
          <p:sp>
            <p:nvSpPr>
              <p:cNvPr id="700" name="Google Shape;700;g3a2a2538afe_0_750"/>
              <p:cNvSpPr/>
              <p:nvPr/>
            </p:nvSpPr>
            <p:spPr>
              <a:xfrm>
                <a:off x="1616673" y="2511325"/>
                <a:ext cx="5942700" cy="876600"/>
              </a:xfrm>
              <a:prstGeom prst="roundRect">
                <a:avLst>
                  <a:gd fmla="val 10000" name="adj"/>
                </a:avLst>
              </a:prstGeom>
              <a:solidFill>
                <a:srgbClr val="CFEFFA"/>
              </a:solidFill>
              <a:ln cap="flat" cmpd="sng" w="9525">
                <a:solidFill>
                  <a:srgbClr val="10AEE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g3a2a2538afe_0_750"/>
              <p:cNvSpPr txBox="1"/>
              <p:nvPr/>
            </p:nvSpPr>
            <p:spPr>
              <a:xfrm>
                <a:off x="2458467" y="2609547"/>
                <a:ext cx="4976400" cy="6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It is a core “good research practice” and ensures research reproducibility</a:t>
                </a:r>
                <a:endParaRPr b="0" i="0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702" name="Google Shape;702;g3a2a2538afe_0_750"/>
            <p:cNvGrpSpPr/>
            <p:nvPr/>
          </p:nvGrpSpPr>
          <p:grpSpPr>
            <a:xfrm>
              <a:off x="1616673" y="4891937"/>
              <a:ext cx="5942700" cy="876600"/>
              <a:chOff x="1616673" y="3523457"/>
              <a:chExt cx="5942700" cy="876600"/>
            </a:xfrm>
          </p:grpSpPr>
          <p:sp>
            <p:nvSpPr>
              <p:cNvPr id="703" name="Google Shape;703;g3a2a2538afe_0_750"/>
              <p:cNvSpPr/>
              <p:nvPr/>
            </p:nvSpPr>
            <p:spPr>
              <a:xfrm>
                <a:off x="1616673" y="3523457"/>
                <a:ext cx="5942700" cy="876600"/>
              </a:xfrm>
              <a:prstGeom prst="roundRect">
                <a:avLst>
                  <a:gd fmla="val 10000" name="adj"/>
                </a:avLst>
              </a:prstGeom>
              <a:solidFill>
                <a:srgbClr val="CFEFFA"/>
              </a:solidFill>
              <a:ln cap="flat" cmpd="sng" w="9525">
                <a:solidFill>
                  <a:srgbClr val="10AEE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g3a2a2538afe_0_750"/>
              <p:cNvSpPr txBox="1"/>
              <p:nvPr/>
            </p:nvSpPr>
            <p:spPr>
              <a:xfrm>
                <a:off x="2437417" y="3621679"/>
                <a:ext cx="5089800" cy="6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It is important to familiarise yourself with data management plans early in your research journey</a:t>
                </a:r>
                <a:endParaRPr b="0" i="0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pic>
          <p:nvPicPr>
            <p:cNvPr descr="A picture containing text&#10;&#10;Description automatically generated" id="705" name="Google Shape;705;g3a2a2538afe_0_7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30327" y="1675748"/>
              <a:ext cx="572385" cy="6429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Diagram&#10;&#10;Description automatically generated with medium confidence" id="706" name="Google Shape;706;g3a2a2538afe_0_7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56284" y="2900817"/>
              <a:ext cx="720470" cy="4989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con&#10;&#10;Description automatically generated" id="707" name="Google Shape;707;g3a2a2538afe_0_75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93306" y="4953223"/>
              <a:ext cx="646429" cy="7168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8" name="Google Shape;708;g3a2a2538afe_0_750"/>
            <p:cNvPicPr preferRelativeResize="0"/>
            <p:nvPr/>
          </p:nvPicPr>
          <p:blipFill rotWithShape="1">
            <a:blip r:embed="rId6">
              <a:alphaModFix/>
            </a:blip>
            <a:srcRect b="30323" l="13691" r="68154" t="28413"/>
            <a:stretch/>
          </p:blipFill>
          <p:spPr>
            <a:xfrm>
              <a:off x="1819573" y="3963919"/>
              <a:ext cx="393893" cy="50359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a2a2538afe_0_771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Why is data management important?</a:t>
            </a:r>
            <a:endParaRPr b="1" sz="2400"/>
          </a:p>
        </p:txBody>
      </p:sp>
      <p:pic>
        <p:nvPicPr>
          <p:cNvPr id="714" name="Google Shape;714;g3a2a2538afe_0_771"/>
          <p:cNvPicPr preferRelativeResize="0"/>
          <p:nvPr/>
        </p:nvPicPr>
        <p:blipFill rotWithShape="1">
          <a:blip r:embed="rId3">
            <a:alphaModFix/>
          </a:blip>
          <a:srcRect b="19955" l="0" r="61425" t="0"/>
          <a:stretch/>
        </p:blipFill>
        <p:spPr>
          <a:xfrm>
            <a:off x="0" y="1161854"/>
            <a:ext cx="3527198" cy="4117225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g3a2a2538afe_0_771"/>
          <p:cNvSpPr txBox="1"/>
          <p:nvPr/>
        </p:nvSpPr>
        <p:spPr>
          <a:xfrm>
            <a:off x="471564" y="2610703"/>
            <a:ext cx="2584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Why are data management plans important? 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16" name="Google Shape;716;g3a2a2538afe_0_771"/>
          <p:cNvGrpSpPr/>
          <p:nvPr/>
        </p:nvGrpSpPr>
        <p:grpSpPr>
          <a:xfrm>
            <a:off x="3565993" y="935252"/>
            <a:ext cx="5324006" cy="784801"/>
            <a:chOff x="3565993" y="809751"/>
            <a:chExt cx="5324006" cy="784801"/>
          </a:xfrm>
        </p:grpSpPr>
        <p:pic>
          <p:nvPicPr>
            <p:cNvPr id="717" name="Google Shape;717;g3a2a2538afe_0_771"/>
            <p:cNvPicPr preferRelativeResize="0"/>
            <p:nvPr/>
          </p:nvPicPr>
          <p:blipFill rotWithShape="1">
            <a:blip r:embed="rId4">
              <a:alphaModFix/>
            </a:blip>
            <a:srcRect b="68008" l="45773" r="1757" t="13716"/>
            <a:stretch/>
          </p:blipFill>
          <p:spPr>
            <a:xfrm>
              <a:off x="3565993" y="809751"/>
              <a:ext cx="5324006" cy="7848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8" name="Google Shape;718;g3a2a2538afe_0_771"/>
            <p:cNvSpPr txBox="1"/>
            <p:nvPr/>
          </p:nvSpPr>
          <p:spPr>
            <a:xfrm>
              <a:off x="4422939" y="894351"/>
              <a:ext cx="41457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They set out transparent data practices for the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research project</a:t>
              </a:r>
              <a:endParaRPr/>
            </a:p>
          </p:txBody>
        </p:sp>
        <p:sp>
          <p:nvSpPr>
            <p:cNvPr id="719" name="Google Shape;719;g3a2a2538afe_0_771"/>
            <p:cNvSpPr txBox="1"/>
            <p:nvPr/>
          </p:nvSpPr>
          <p:spPr>
            <a:xfrm>
              <a:off x="3628749" y="971301"/>
              <a:ext cx="794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20" name="Google Shape;720;g3a2a2538afe_0_771"/>
          <p:cNvGrpSpPr/>
          <p:nvPr/>
        </p:nvGrpSpPr>
        <p:grpSpPr>
          <a:xfrm>
            <a:off x="3565993" y="1785721"/>
            <a:ext cx="5324006" cy="788076"/>
            <a:chOff x="3565993" y="1782626"/>
            <a:chExt cx="5324006" cy="788076"/>
          </a:xfrm>
        </p:grpSpPr>
        <p:pic>
          <p:nvPicPr>
            <p:cNvPr id="721" name="Google Shape;721;g3a2a2538afe_0_771"/>
            <p:cNvPicPr preferRelativeResize="0"/>
            <p:nvPr/>
          </p:nvPicPr>
          <p:blipFill rotWithShape="1">
            <a:blip r:embed="rId4">
              <a:alphaModFix/>
            </a:blip>
            <a:srcRect b="68008" l="45773" r="1757" t="13716"/>
            <a:stretch/>
          </p:blipFill>
          <p:spPr>
            <a:xfrm>
              <a:off x="3565993" y="1782626"/>
              <a:ext cx="5324006" cy="7880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2" name="Google Shape;722;g3a2a2538afe_0_771"/>
            <p:cNvSpPr txBox="1"/>
            <p:nvPr/>
          </p:nvSpPr>
          <p:spPr>
            <a:xfrm>
              <a:off x="4423106" y="1890011"/>
              <a:ext cx="41457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They make it easy to find and understand your data when you need to use it</a:t>
              </a:r>
              <a:endParaRPr/>
            </a:p>
          </p:txBody>
        </p:sp>
        <p:sp>
          <p:nvSpPr>
            <p:cNvPr id="723" name="Google Shape;723;g3a2a2538afe_0_771"/>
            <p:cNvSpPr txBox="1"/>
            <p:nvPr/>
          </p:nvSpPr>
          <p:spPr>
            <a:xfrm>
              <a:off x="3628749" y="1945813"/>
              <a:ext cx="794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24" name="Google Shape;724;g3a2a2538afe_0_771"/>
          <p:cNvGrpSpPr/>
          <p:nvPr/>
        </p:nvGrpSpPr>
        <p:grpSpPr>
          <a:xfrm>
            <a:off x="3565993" y="2639465"/>
            <a:ext cx="5324006" cy="784801"/>
            <a:chOff x="3586625" y="2755501"/>
            <a:chExt cx="5324006" cy="784801"/>
          </a:xfrm>
        </p:grpSpPr>
        <p:pic>
          <p:nvPicPr>
            <p:cNvPr id="725" name="Google Shape;725;g3a2a2538afe_0_771"/>
            <p:cNvPicPr preferRelativeResize="0"/>
            <p:nvPr/>
          </p:nvPicPr>
          <p:blipFill rotWithShape="1">
            <a:blip r:embed="rId4">
              <a:alphaModFix/>
            </a:blip>
            <a:srcRect b="68008" l="45773" r="1757" t="13716"/>
            <a:stretch/>
          </p:blipFill>
          <p:spPr>
            <a:xfrm>
              <a:off x="3586625" y="2755501"/>
              <a:ext cx="5324006" cy="7848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6" name="Google Shape;726;g3a2a2538afe_0_771"/>
            <p:cNvSpPr txBox="1"/>
            <p:nvPr/>
          </p:nvSpPr>
          <p:spPr>
            <a:xfrm>
              <a:off x="4423105" y="2848343"/>
              <a:ext cx="41457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They help to avoid unnecessary duplication (e.g. recollecting data)</a:t>
              </a:r>
              <a:endParaRPr/>
            </a:p>
          </p:txBody>
        </p:sp>
        <p:sp>
          <p:nvSpPr>
            <p:cNvPr id="727" name="Google Shape;727;g3a2a2538afe_0_771"/>
            <p:cNvSpPr txBox="1"/>
            <p:nvPr/>
          </p:nvSpPr>
          <p:spPr>
            <a:xfrm>
              <a:off x="3628749" y="2917051"/>
              <a:ext cx="794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28" name="Google Shape;728;g3a2a2538afe_0_771"/>
          <p:cNvGrpSpPr/>
          <p:nvPr/>
        </p:nvGrpSpPr>
        <p:grpSpPr>
          <a:xfrm>
            <a:off x="3565993" y="3521761"/>
            <a:ext cx="5281882" cy="784801"/>
            <a:chOff x="3527198" y="3748721"/>
            <a:chExt cx="5281882" cy="784801"/>
          </a:xfrm>
        </p:grpSpPr>
        <p:pic>
          <p:nvPicPr>
            <p:cNvPr id="729" name="Google Shape;729;g3a2a2538afe_0_771"/>
            <p:cNvPicPr preferRelativeResize="0"/>
            <p:nvPr/>
          </p:nvPicPr>
          <p:blipFill rotWithShape="1">
            <a:blip r:embed="rId4">
              <a:alphaModFix/>
            </a:blip>
            <a:srcRect b="68008" l="45773" r="1757" t="13716"/>
            <a:stretch/>
          </p:blipFill>
          <p:spPr>
            <a:xfrm>
              <a:off x="3527198" y="3748721"/>
              <a:ext cx="5281882" cy="7848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0" name="Google Shape;730;g3a2a2538afe_0_771"/>
            <p:cNvSpPr txBox="1"/>
            <p:nvPr/>
          </p:nvSpPr>
          <p:spPr>
            <a:xfrm>
              <a:off x="4384144" y="3833321"/>
              <a:ext cx="39720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They help you to maintain your data so it can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be validated by other researchers</a:t>
              </a:r>
              <a:endParaRPr/>
            </a:p>
          </p:txBody>
        </p:sp>
        <p:sp>
          <p:nvSpPr>
            <p:cNvPr id="731" name="Google Shape;731;g3a2a2538afe_0_771"/>
            <p:cNvSpPr txBox="1"/>
            <p:nvPr/>
          </p:nvSpPr>
          <p:spPr>
            <a:xfrm>
              <a:off x="3589954" y="3910271"/>
              <a:ext cx="794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1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32" name="Google Shape;732;g3a2a2538afe_0_771"/>
          <p:cNvGrpSpPr/>
          <p:nvPr/>
        </p:nvGrpSpPr>
        <p:grpSpPr>
          <a:xfrm>
            <a:off x="3565993" y="4356811"/>
            <a:ext cx="5324006" cy="784801"/>
            <a:chOff x="3527198" y="4715802"/>
            <a:chExt cx="5324006" cy="784801"/>
          </a:xfrm>
        </p:grpSpPr>
        <p:pic>
          <p:nvPicPr>
            <p:cNvPr id="733" name="Google Shape;733;g3a2a2538afe_0_771"/>
            <p:cNvPicPr preferRelativeResize="0"/>
            <p:nvPr/>
          </p:nvPicPr>
          <p:blipFill rotWithShape="1">
            <a:blip r:embed="rId4">
              <a:alphaModFix/>
            </a:blip>
            <a:srcRect b="68008" l="45773" r="1757" t="13716"/>
            <a:stretch/>
          </p:blipFill>
          <p:spPr>
            <a:xfrm>
              <a:off x="3527198" y="4715802"/>
              <a:ext cx="5324006" cy="7848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4" name="Google Shape;734;g3a2a2538afe_0_771"/>
            <p:cNvSpPr txBox="1"/>
            <p:nvPr/>
          </p:nvSpPr>
          <p:spPr>
            <a:xfrm>
              <a:off x="4384310" y="4800402"/>
              <a:ext cx="41844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They help you remember what you did and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what you plan to do with your data</a:t>
              </a:r>
              <a:endParaRPr/>
            </a:p>
          </p:txBody>
        </p:sp>
        <p:sp>
          <p:nvSpPr>
            <p:cNvPr id="735" name="Google Shape;735;g3a2a2538afe_0_771"/>
            <p:cNvSpPr txBox="1"/>
            <p:nvPr/>
          </p:nvSpPr>
          <p:spPr>
            <a:xfrm>
              <a:off x="3589954" y="4877352"/>
              <a:ext cx="794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b="1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36" name="Google Shape;736;g3a2a2538afe_0_771"/>
          <p:cNvGrpSpPr/>
          <p:nvPr/>
        </p:nvGrpSpPr>
        <p:grpSpPr>
          <a:xfrm>
            <a:off x="3565993" y="5194440"/>
            <a:ext cx="5324006" cy="784801"/>
            <a:chOff x="3527198" y="5688677"/>
            <a:chExt cx="5324006" cy="784801"/>
          </a:xfrm>
        </p:grpSpPr>
        <p:pic>
          <p:nvPicPr>
            <p:cNvPr id="737" name="Google Shape;737;g3a2a2538afe_0_771"/>
            <p:cNvPicPr preferRelativeResize="0"/>
            <p:nvPr/>
          </p:nvPicPr>
          <p:blipFill rotWithShape="1">
            <a:blip r:embed="rId4">
              <a:alphaModFix/>
            </a:blip>
            <a:srcRect b="68008" l="45773" r="1757" t="13716"/>
            <a:stretch/>
          </p:blipFill>
          <p:spPr>
            <a:xfrm>
              <a:off x="3527198" y="5688677"/>
              <a:ext cx="5324006" cy="7848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8" name="Google Shape;738;g3a2a2538afe_0_771"/>
            <p:cNvSpPr txBox="1"/>
            <p:nvPr/>
          </p:nvSpPr>
          <p:spPr>
            <a:xfrm>
              <a:off x="4384311" y="5773316"/>
              <a:ext cx="41457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Well-managed research data can also be another output from a project - which is good for your CV!</a:t>
              </a:r>
              <a:endParaRPr/>
            </a:p>
          </p:txBody>
        </p:sp>
        <p:sp>
          <p:nvSpPr>
            <p:cNvPr id="739" name="Google Shape;739;g3a2a2538afe_0_771"/>
            <p:cNvSpPr txBox="1"/>
            <p:nvPr/>
          </p:nvSpPr>
          <p:spPr>
            <a:xfrm>
              <a:off x="3589954" y="5850227"/>
              <a:ext cx="794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b="1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a2a2538afe_0_801"/>
          <p:cNvSpPr txBox="1"/>
          <p:nvPr>
            <p:ph type="title"/>
          </p:nvPr>
        </p:nvSpPr>
        <p:spPr>
          <a:xfrm>
            <a:off x="254000" y="254001"/>
            <a:ext cx="46557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000"/>
              <a:t>Things to Consider When Making a Data Management Plan</a:t>
            </a:r>
            <a:endParaRPr b="1" sz="2000"/>
          </a:p>
        </p:txBody>
      </p:sp>
      <p:grpSp>
        <p:nvGrpSpPr>
          <p:cNvPr id="745" name="Google Shape;745;g3a2a2538afe_0_801"/>
          <p:cNvGrpSpPr/>
          <p:nvPr/>
        </p:nvGrpSpPr>
        <p:grpSpPr>
          <a:xfrm>
            <a:off x="2239333" y="366099"/>
            <a:ext cx="5818886" cy="5619368"/>
            <a:chOff x="642650" y="-143856"/>
            <a:chExt cx="5818886" cy="5619368"/>
          </a:xfrm>
        </p:grpSpPr>
        <p:sp>
          <p:nvSpPr>
            <p:cNvPr id="746" name="Google Shape;746;g3a2a2538afe_0_801"/>
            <p:cNvSpPr/>
            <p:nvPr/>
          </p:nvSpPr>
          <p:spPr>
            <a:xfrm>
              <a:off x="1358081" y="676467"/>
              <a:ext cx="4388100" cy="4388100"/>
            </a:xfrm>
            <a:prstGeom prst="blockArc">
              <a:avLst>
                <a:gd fmla="val 11880000" name="adj1"/>
                <a:gd fmla="val 16200000" name="adj2"/>
                <a:gd fmla="val 4638" name="adj3"/>
              </a:avLst>
            </a:prstGeom>
            <a:solidFill>
              <a:srgbClr val="A9D4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g3a2a2538afe_0_801"/>
            <p:cNvSpPr/>
            <p:nvPr/>
          </p:nvSpPr>
          <p:spPr>
            <a:xfrm>
              <a:off x="1358081" y="676467"/>
              <a:ext cx="4388100" cy="4388100"/>
            </a:xfrm>
            <a:prstGeom prst="blockArc">
              <a:avLst>
                <a:gd fmla="val 7560000" name="adj1"/>
                <a:gd fmla="val 11880000" name="adj2"/>
                <a:gd fmla="val 4638" name="adj3"/>
              </a:avLst>
            </a:prstGeom>
            <a:solidFill>
              <a:srgbClr val="A9D4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g3a2a2538afe_0_801"/>
            <p:cNvSpPr/>
            <p:nvPr/>
          </p:nvSpPr>
          <p:spPr>
            <a:xfrm>
              <a:off x="1236985" y="594645"/>
              <a:ext cx="4388100" cy="4388100"/>
            </a:xfrm>
            <a:prstGeom prst="blockArc">
              <a:avLst>
                <a:gd fmla="val 3194940" name="adj1"/>
                <a:gd fmla="val 7325524" name="adj2"/>
                <a:gd fmla="val 4638" name="adj3"/>
              </a:avLst>
            </a:prstGeom>
            <a:solidFill>
              <a:srgbClr val="A9D4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g3a2a2538afe_0_801"/>
            <p:cNvSpPr/>
            <p:nvPr/>
          </p:nvSpPr>
          <p:spPr>
            <a:xfrm>
              <a:off x="1317947" y="537060"/>
              <a:ext cx="4388100" cy="4388100"/>
            </a:xfrm>
            <a:prstGeom prst="blockArc">
              <a:avLst>
                <a:gd fmla="val 20752746" name="adj1"/>
                <a:gd fmla="val 3354323" name="adj2"/>
                <a:gd fmla="val 4638" name="adj3"/>
              </a:avLst>
            </a:prstGeom>
            <a:solidFill>
              <a:srgbClr val="A9D4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g3a2a2538afe_0_801"/>
            <p:cNvSpPr/>
            <p:nvPr/>
          </p:nvSpPr>
          <p:spPr>
            <a:xfrm>
              <a:off x="1358081" y="676467"/>
              <a:ext cx="4388100" cy="4388100"/>
            </a:xfrm>
            <a:prstGeom prst="blockArc">
              <a:avLst>
                <a:gd fmla="val 16200000" name="adj1"/>
                <a:gd fmla="val 20520000" name="adj2"/>
                <a:gd fmla="val 4638" name="adj3"/>
              </a:avLst>
            </a:prstGeom>
            <a:solidFill>
              <a:srgbClr val="A9D4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g3a2a2538afe_0_801"/>
            <p:cNvSpPr/>
            <p:nvPr/>
          </p:nvSpPr>
          <p:spPr>
            <a:xfrm>
              <a:off x="2542659" y="1861045"/>
              <a:ext cx="2019000" cy="2019000"/>
            </a:xfrm>
            <a:prstGeom prst="ellipse">
              <a:avLst/>
            </a:prstGeom>
            <a:solidFill>
              <a:srgbClr val="14B1E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g3a2a2538afe_0_801"/>
            <p:cNvSpPr txBox="1"/>
            <p:nvPr/>
          </p:nvSpPr>
          <p:spPr>
            <a:xfrm>
              <a:off x="2838315" y="2156701"/>
              <a:ext cx="1427700" cy="142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22850" spcFirstLastPara="1" rIns="2285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 Management Plan</a:t>
              </a:r>
              <a:endParaRPr/>
            </a:p>
          </p:txBody>
        </p:sp>
        <p:sp>
          <p:nvSpPr>
            <p:cNvPr id="753" name="Google Shape;753;g3a2a2538afe_0_801"/>
            <p:cNvSpPr/>
            <p:nvPr/>
          </p:nvSpPr>
          <p:spPr>
            <a:xfrm>
              <a:off x="2680893" y="-143856"/>
              <a:ext cx="1742400" cy="1742400"/>
            </a:xfrm>
            <a:prstGeom prst="ellipse">
              <a:avLst/>
            </a:prstGeom>
            <a:solidFill>
              <a:srgbClr val="14B1E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g3a2a2538afe_0_801"/>
            <p:cNvSpPr txBox="1"/>
            <p:nvPr/>
          </p:nvSpPr>
          <p:spPr>
            <a:xfrm>
              <a:off x="2936061" y="111312"/>
              <a:ext cx="1232100" cy="12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What are the ethical requirements for your data?</a:t>
              </a:r>
              <a:endParaRPr/>
            </a:p>
          </p:txBody>
        </p:sp>
        <p:sp>
          <p:nvSpPr>
            <p:cNvPr id="755" name="Google Shape;755;g3a2a2538afe_0_801"/>
            <p:cNvSpPr/>
            <p:nvPr/>
          </p:nvSpPr>
          <p:spPr>
            <a:xfrm>
              <a:off x="4719136" y="1337014"/>
              <a:ext cx="1742400" cy="1742400"/>
            </a:xfrm>
            <a:prstGeom prst="ellipse">
              <a:avLst/>
            </a:prstGeom>
            <a:solidFill>
              <a:srgbClr val="14B1E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g3a2a2538afe_0_801"/>
            <p:cNvSpPr txBox="1"/>
            <p:nvPr/>
          </p:nvSpPr>
          <p:spPr>
            <a:xfrm>
              <a:off x="4974304" y="1592182"/>
              <a:ext cx="1232100" cy="12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How will you collect your data?</a:t>
              </a:r>
              <a:endParaRPr/>
            </a:p>
          </p:txBody>
        </p:sp>
        <p:sp>
          <p:nvSpPr>
            <p:cNvPr id="757" name="Google Shape;757;g3a2a2538afe_0_801"/>
            <p:cNvSpPr/>
            <p:nvPr/>
          </p:nvSpPr>
          <p:spPr>
            <a:xfrm>
              <a:off x="3842118" y="3634630"/>
              <a:ext cx="1742400" cy="1742400"/>
            </a:xfrm>
            <a:prstGeom prst="ellipse">
              <a:avLst/>
            </a:prstGeom>
            <a:solidFill>
              <a:srgbClr val="14B1E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g3a2a2538afe_0_801"/>
            <p:cNvSpPr txBox="1"/>
            <p:nvPr/>
          </p:nvSpPr>
          <p:spPr>
            <a:xfrm>
              <a:off x="4097286" y="3889798"/>
              <a:ext cx="1232100" cy="12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metadata and/or other documentation can go with your data?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g3a2a2538afe_0_801"/>
            <p:cNvSpPr/>
            <p:nvPr/>
          </p:nvSpPr>
          <p:spPr>
            <a:xfrm>
              <a:off x="1421190" y="3733112"/>
              <a:ext cx="1742400" cy="1742400"/>
            </a:xfrm>
            <a:prstGeom prst="ellipse">
              <a:avLst/>
            </a:prstGeom>
            <a:solidFill>
              <a:srgbClr val="14B1E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g3a2a2538afe_0_801"/>
            <p:cNvSpPr txBox="1"/>
            <p:nvPr/>
          </p:nvSpPr>
          <p:spPr>
            <a:xfrm>
              <a:off x="1676358" y="3988280"/>
              <a:ext cx="1232100" cy="12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How will you store and back up your data?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g3a2a2538afe_0_801"/>
            <p:cNvSpPr/>
            <p:nvPr/>
          </p:nvSpPr>
          <p:spPr>
            <a:xfrm>
              <a:off x="642650" y="1337014"/>
              <a:ext cx="1742400" cy="1742400"/>
            </a:xfrm>
            <a:prstGeom prst="ellipse">
              <a:avLst/>
            </a:prstGeom>
            <a:solidFill>
              <a:srgbClr val="14B1E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g3a2a2538afe_0_801"/>
            <p:cNvSpPr txBox="1"/>
            <p:nvPr/>
          </p:nvSpPr>
          <p:spPr>
            <a:xfrm>
              <a:off x="897818" y="1592182"/>
              <a:ext cx="1232100" cy="12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Can/will you share your data, and if so, how?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7" name="Google Shape;767;g3a2a2538afe_0_823"/>
          <p:cNvGrpSpPr/>
          <p:nvPr/>
        </p:nvGrpSpPr>
        <p:grpSpPr>
          <a:xfrm>
            <a:off x="547550" y="1597754"/>
            <a:ext cx="8038800" cy="3913203"/>
            <a:chOff x="547550" y="1597754"/>
            <a:chExt cx="8038800" cy="3913203"/>
          </a:xfrm>
        </p:grpSpPr>
        <p:sp>
          <p:nvSpPr>
            <p:cNvPr id="768" name="Google Shape;768;g3a2a2538afe_0_823"/>
            <p:cNvSpPr/>
            <p:nvPr/>
          </p:nvSpPr>
          <p:spPr>
            <a:xfrm>
              <a:off x="547550" y="1597754"/>
              <a:ext cx="8038800" cy="3913200"/>
            </a:xfrm>
            <a:prstGeom prst="rect">
              <a:avLst/>
            </a:prstGeom>
            <a:solidFill>
              <a:srgbClr val="CFEFFA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silhouette, vector graphics&#10;&#10;Description automatically generated" id="769" name="Google Shape;769;g3a2a2538afe_0_8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47550" y="1905820"/>
              <a:ext cx="1724193" cy="36051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0" name="Google Shape;770;g3a2a2538afe_0_823"/>
            <p:cNvPicPr preferRelativeResize="0"/>
            <p:nvPr/>
          </p:nvPicPr>
          <p:blipFill rotWithShape="1">
            <a:blip r:embed="rId4">
              <a:alphaModFix/>
            </a:blip>
            <a:srcRect b="20828" l="0" r="59329" t="23585"/>
            <a:stretch/>
          </p:blipFill>
          <p:spPr>
            <a:xfrm rot="10800000">
              <a:off x="1689313" y="2580375"/>
              <a:ext cx="3086136" cy="23663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1" name="Google Shape;771;g3a2a2538afe_0_823"/>
            <p:cNvSpPr txBox="1"/>
            <p:nvPr/>
          </p:nvSpPr>
          <p:spPr>
            <a:xfrm>
              <a:off x="2083783" y="3228209"/>
              <a:ext cx="2307600" cy="13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The first question you should think about is 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what type of data will I be collecting during my project?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72" name="Google Shape;772;g3a2a2538afe_0_82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Think About the Data Before Collecting Any</a:t>
            </a:r>
            <a:endParaRPr b="1" sz="2400"/>
          </a:p>
        </p:txBody>
      </p:sp>
      <p:grpSp>
        <p:nvGrpSpPr>
          <p:cNvPr id="773" name="Google Shape;773;g3a2a2538afe_0_823"/>
          <p:cNvGrpSpPr/>
          <p:nvPr/>
        </p:nvGrpSpPr>
        <p:grpSpPr>
          <a:xfrm>
            <a:off x="4785816" y="1674504"/>
            <a:ext cx="3800533" cy="3891627"/>
            <a:chOff x="4785816" y="1674504"/>
            <a:chExt cx="3800533" cy="3891627"/>
          </a:xfrm>
        </p:grpSpPr>
        <p:pic>
          <p:nvPicPr>
            <p:cNvPr descr="A picture containing text, vector graphics&#10;&#10;Description automatically generated" id="774" name="Google Shape;774;g3a2a2538afe_0_823"/>
            <p:cNvPicPr preferRelativeResize="0"/>
            <p:nvPr/>
          </p:nvPicPr>
          <p:blipFill rotWithShape="1">
            <a:blip r:embed="rId5">
              <a:alphaModFix/>
            </a:blip>
            <a:srcRect b="0" l="0" r="16881" t="0"/>
            <a:stretch/>
          </p:blipFill>
          <p:spPr>
            <a:xfrm>
              <a:off x="6772215" y="1960996"/>
              <a:ext cx="1814134" cy="360513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75" name="Google Shape;775;g3a2a2538afe_0_823"/>
            <p:cNvGrpSpPr/>
            <p:nvPr/>
          </p:nvGrpSpPr>
          <p:grpSpPr>
            <a:xfrm>
              <a:off x="4785816" y="1674504"/>
              <a:ext cx="2531083" cy="1811740"/>
              <a:chOff x="4785815" y="1905820"/>
              <a:chExt cx="2531083" cy="1811740"/>
            </a:xfrm>
          </p:grpSpPr>
          <p:pic>
            <p:nvPicPr>
              <p:cNvPr id="776" name="Google Shape;776;g3a2a2538afe_0_823"/>
              <p:cNvPicPr preferRelativeResize="0"/>
              <p:nvPr/>
            </p:nvPicPr>
            <p:blipFill rotWithShape="1">
              <a:blip r:embed="rId4">
                <a:alphaModFix/>
              </a:blip>
              <a:srcRect b="20828" l="0" r="59329" t="23585"/>
              <a:stretch/>
            </p:blipFill>
            <p:spPr>
              <a:xfrm>
                <a:off x="4785815" y="1905820"/>
                <a:ext cx="2531083" cy="181174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7" name="Google Shape;777;g3a2a2538afe_0_823"/>
              <p:cNvSpPr txBox="1"/>
              <p:nvPr/>
            </p:nvSpPr>
            <p:spPr>
              <a:xfrm>
                <a:off x="5118659" y="2245588"/>
                <a:ext cx="1814100" cy="89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Think in terms of the type, volume and frequency of data</a:t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a2a2538afe_0_83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What is metadata?</a:t>
            </a:r>
            <a:endParaRPr b="1" sz="2400"/>
          </a:p>
        </p:txBody>
      </p:sp>
      <p:grpSp>
        <p:nvGrpSpPr>
          <p:cNvPr id="783" name="Google Shape;783;g3a2a2538afe_0_837"/>
          <p:cNvGrpSpPr/>
          <p:nvPr/>
        </p:nvGrpSpPr>
        <p:grpSpPr>
          <a:xfrm>
            <a:off x="1488661" y="1314911"/>
            <a:ext cx="6166724" cy="4228178"/>
            <a:chOff x="1488661" y="1314911"/>
            <a:chExt cx="6166724" cy="4228178"/>
          </a:xfrm>
        </p:grpSpPr>
        <p:grpSp>
          <p:nvGrpSpPr>
            <p:cNvPr id="784" name="Google Shape;784;g3a2a2538afe_0_837"/>
            <p:cNvGrpSpPr/>
            <p:nvPr/>
          </p:nvGrpSpPr>
          <p:grpSpPr>
            <a:xfrm>
              <a:off x="1488661" y="1314911"/>
              <a:ext cx="6166724" cy="4228178"/>
              <a:chOff x="1392649" y="1540359"/>
              <a:chExt cx="6166724" cy="4228178"/>
            </a:xfrm>
          </p:grpSpPr>
          <p:grpSp>
            <p:nvGrpSpPr>
              <p:cNvPr id="785" name="Google Shape;785;g3a2a2538afe_0_837"/>
              <p:cNvGrpSpPr/>
              <p:nvPr/>
            </p:nvGrpSpPr>
            <p:grpSpPr>
              <a:xfrm>
                <a:off x="1595623" y="1540359"/>
                <a:ext cx="5942700" cy="876600"/>
                <a:chOff x="1595623" y="1540359"/>
                <a:chExt cx="5942700" cy="876600"/>
              </a:xfrm>
            </p:grpSpPr>
            <p:sp>
              <p:nvSpPr>
                <p:cNvPr id="786" name="Google Shape;786;g3a2a2538afe_0_837"/>
                <p:cNvSpPr/>
                <p:nvPr/>
              </p:nvSpPr>
              <p:spPr>
                <a:xfrm>
                  <a:off x="1595623" y="1540359"/>
                  <a:ext cx="5942700" cy="8766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CFEFFA"/>
                </a:solidFill>
                <a:ln cap="flat" cmpd="sng" w="9525">
                  <a:solidFill>
                    <a:srgbClr val="10AEE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7" name="Google Shape;787;g3a2a2538afe_0_837"/>
                <p:cNvSpPr/>
                <p:nvPr/>
              </p:nvSpPr>
              <p:spPr>
                <a:xfrm>
                  <a:off x="2437417" y="1816433"/>
                  <a:ext cx="4976400" cy="436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1" marL="0" marR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252244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Metadata is data about your data</a:t>
                  </a:r>
                  <a:endParaRPr/>
                </a:p>
              </p:txBody>
            </p:sp>
          </p:grpSp>
          <p:grpSp>
            <p:nvGrpSpPr>
              <p:cNvPr id="788" name="Google Shape;788;g3a2a2538afe_0_837"/>
              <p:cNvGrpSpPr/>
              <p:nvPr/>
            </p:nvGrpSpPr>
            <p:grpSpPr>
              <a:xfrm>
                <a:off x="1595623" y="2674155"/>
                <a:ext cx="5942700" cy="876600"/>
                <a:chOff x="1616673" y="1527763"/>
                <a:chExt cx="5942700" cy="876600"/>
              </a:xfrm>
            </p:grpSpPr>
            <p:sp>
              <p:nvSpPr>
                <p:cNvPr id="789" name="Google Shape;789;g3a2a2538afe_0_837"/>
                <p:cNvSpPr/>
                <p:nvPr/>
              </p:nvSpPr>
              <p:spPr>
                <a:xfrm>
                  <a:off x="1616673" y="1527763"/>
                  <a:ext cx="5942700" cy="8766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CFEFFA"/>
                </a:solidFill>
                <a:ln cap="flat" cmpd="sng" w="9525">
                  <a:solidFill>
                    <a:srgbClr val="10AEE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0" name="Google Shape;790;g3a2a2538afe_0_837"/>
                <p:cNvSpPr/>
                <p:nvPr/>
              </p:nvSpPr>
              <p:spPr>
                <a:xfrm>
                  <a:off x="2458467" y="1691077"/>
                  <a:ext cx="4976400" cy="668100"/>
                </a:xfrm>
                <a:prstGeom prst="rect">
                  <a:avLst/>
                </a:prstGeom>
                <a:solidFill>
                  <a:srgbClr val="CFEF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1" marL="0" marR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400" u="none" cap="none" strike="noStrike">
                      <a:solidFill>
                        <a:srgbClr val="252244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It can be contextual information provided with your data (i.e. variable names, types of measurement)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grpSp>
            <p:nvGrpSpPr>
              <p:cNvPr id="791" name="Google Shape;791;g3a2a2538afe_0_837"/>
              <p:cNvGrpSpPr/>
              <p:nvPr/>
            </p:nvGrpSpPr>
            <p:grpSpPr>
              <a:xfrm>
                <a:off x="1595623" y="3777417"/>
                <a:ext cx="5942700" cy="876600"/>
                <a:chOff x="1616673" y="2511325"/>
                <a:chExt cx="5942700" cy="876600"/>
              </a:xfrm>
            </p:grpSpPr>
            <p:sp>
              <p:nvSpPr>
                <p:cNvPr id="792" name="Google Shape;792;g3a2a2538afe_0_837"/>
                <p:cNvSpPr/>
                <p:nvPr/>
              </p:nvSpPr>
              <p:spPr>
                <a:xfrm>
                  <a:off x="1616673" y="2511325"/>
                  <a:ext cx="5942700" cy="8766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CFEFFA"/>
                </a:solidFill>
                <a:ln cap="flat" cmpd="sng" w="9525">
                  <a:solidFill>
                    <a:srgbClr val="10AEE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3" name="Google Shape;793;g3a2a2538afe_0_837"/>
                <p:cNvSpPr txBox="1"/>
                <p:nvPr/>
              </p:nvSpPr>
              <p:spPr>
                <a:xfrm>
                  <a:off x="2458467" y="2609547"/>
                  <a:ext cx="4976400" cy="64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It can include things like keywords to help people find your data</a:t>
                  </a:r>
                  <a:endParaRPr b="0" i="0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grpSp>
            <p:nvGrpSpPr>
              <p:cNvPr id="794" name="Google Shape;794;g3a2a2538afe_0_837"/>
              <p:cNvGrpSpPr/>
              <p:nvPr/>
            </p:nvGrpSpPr>
            <p:grpSpPr>
              <a:xfrm>
                <a:off x="1616673" y="4891937"/>
                <a:ext cx="5942700" cy="876600"/>
                <a:chOff x="1616673" y="3523457"/>
                <a:chExt cx="5942700" cy="876600"/>
              </a:xfrm>
            </p:grpSpPr>
            <p:sp>
              <p:nvSpPr>
                <p:cNvPr id="795" name="Google Shape;795;g3a2a2538afe_0_837"/>
                <p:cNvSpPr/>
                <p:nvPr/>
              </p:nvSpPr>
              <p:spPr>
                <a:xfrm>
                  <a:off x="1616673" y="3523457"/>
                  <a:ext cx="5942700" cy="8766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CFEFFA"/>
                </a:solidFill>
                <a:ln cap="flat" cmpd="sng" w="9525">
                  <a:solidFill>
                    <a:srgbClr val="10AEE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6" name="Google Shape;796;g3a2a2538afe_0_837"/>
                <p:cNvSpPr txBox="1"/>
                <p:nvPr/>
              </p:nvSpPr>
              <p:spPr>
                <a:xfrm>
                  <a:off x="2437417" y="3621679"/>
                  <a:ext cx="5089800" cy="64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These give your data meaning and make them findable and reusable</a:t>
                  </a:r>
                  <a:endParaRPr/>
                </a:p>
              </p:txBody>
            </p:sp>
          </p:grpSp>
          <p:pic>
            <p:nvPicPr>
              <p:cNvPr descr="Icon&#10;&#10;Description automatically generated" id="797" name="Google Shape;797;g3a2a2538afe_0_837"/>
              <p:cNvPicPr preferRelativeResize="0"/>
              <p:nvPr/>
            </p:nvPicPr>
            <p:blipFill rotWithShape="1">
              <a:blip r:embed="rId3">
                <a:alphaModFix/>
              </a:blip>
              <a:srcRect b="22420" l="0" r="22570" t="0"/>
              <a:stretch/>
            </p:blipFill>
            <p:spPr>
              <a:xfrm>
                <a:off x="1392649" y="3580613"/>
                <a:ext cx="920165" cy="102244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798" name="Google Shape;798;g3a2a2538afe_0_837"/>
            <p:cNvPicPr preferRelativeResize="0"/>
            <p:nvPr/>
          </p:nvPicPr>
          <p:blipFill rotWithShape="1">
            <a:blip r:embed="rId4">
              <a:alphaModFix/>
            </a:blip>
            <a:srcRect b="83385" l="5693" r="82225" t="3640"/>
            <a:stretch/>
          </p:blipFill>
          <p:spPr>
            <a:xfrm>
              <a:off x="1901297" y="1453451"/>
              <a:ext cx="534450" cy="5739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con&#10;&#10;Description automatically generated" id="799" name="Google Shape;799;g3a2a2538afe_0_837"/>
            <p:cNvPicPr preferRelativeResize="0"/>
            <p:nvPr/>
          </p:nvPicPr>
          <p:blipFill rotWithShape="1">
            <a:blip r:embed="rId5">
              <a:alphaModFix/>
            </a:blip>
            <a:srcRect b="29408" l="36540" r="37538" t="27652"/>
            <a:stretch/>
          </p:blipFill>
          <p:spPr>
            <a:xfrm>
              <a:off x="1853335" y="2652617"/>
              <a:ext cx="555490" cy="5175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0" name="Google Shape;800;g3a2a2538afe_0_837"/>
            <p:cNvSpPr txBox="1"/>
            <p:nvPr/>
          </p:nvSpPr>
          <p:spPr>
            <a:xfrm>
              <a:off x="1768096" y="3650191"/>
              <a:ext cx="547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abc</a:t>
              </a:r>
              <a:endParaRPr b="1" i="0" sz="14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descr="Icon&#10;&#10;Description automatically generated" id="801" name="Google Shape;801;g3a2a2538afe_0_837"/>
            <p:cNvPicPr preferRelativeResize="0"/>
            <p:nvPr/>
          </p:nvPicPr>
          <p:blipFill rotWithShape="1">
            <a:blip r:embed="rId3">
              <a:alphaModFix/>
            </a:blip>
            <a:srcRect b="22420" l="0" r="22570" t="0"/>
            <a:stretch/>
          </p:blipFill>
          <p:spPr>
            <a:xfrm flipH="1">
              <a:off x="1901296" y="4439500"/>
              <a:ext cx="920165" cy="10224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con&#10;&#10;Description automatically generated" id="802" name="Google Shape;802;g3a2a2538afe_0_837"/>
            <p:cNvPicPr preferRelativeResize="0"/>
            <p:nvPr/>
          </p:nvPicPr>
          <p:blipFill rotWithShape="1">
            <a:blip r:embed="rId6">
              <a:alphaModFix/>
            </a:blip>
            <a:srcRect b="27776" l="37674" r="37612" t="27646"/>
            <a:stretch/>
          </p:blipFill>
          <p:spPr>
            <a:xfrm>
              <a:off x="2086971" y="4764711"/>
              <a:ext cx="359400" cy="36467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a2a2538afe_0_861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How do you create a data management plan?</a:t>
            </a:r>
            <a:endParaRPr b="1" sz="2400"/>
          </a:p>
        </p:txBody>
      </p:sp>
      <p:sp>
        <p:nvSpPr>
          <p:cNvPr id="808" name="Google Shape;808;g3a2a2538afe_0_861"/>
          <p:cNvSpPr txBox="1"/>
          <p:nvPr>
            <p:ph idx="4294967295" type="body"/>
          </p:nvPr>
        </p:nvSpPr>
        <p:spPr>
          <a:xfrm>
            <a:off x="254000" y="1209050"/>
            <a:ext cx="9278700" cy="57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/>
              <a:t>Use these 6 headings to begin drafting a data management </a:t>
            </a:r>
            <a:br>
              <a:rPr lang="en-US" sz="2000"/>
            </a:br>
            <a:r>
              <a:rPr lang="en-US" sz="2000"/>
              <a:t>plan:</a:t>
            </a:r>
            <a:endParaRPr b="1"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grpSp>
        <p:nvGrpSpPr>
          <p:cNvPr id="809" name="Google Shape;809;g3a2a2538afe_0_861"/>
          <p:cNvGrpSpPr/>
          <p:nvPr/>
        </p:nvGrpSpPr>
        <p:grpSpPr>
          <a:xfrm>
            <a:off x="253991" y="2367063"/>
            <a:ext cx="8835033" cy="3069952"/>
            <a:chOff x="261281" y="2170115"/>
            <a:chExt cx="8835033" cy="3069952"/>
          </a:xfrm>
        </p:grpSpPr>
        <p:grpSp>
          <p:nvGrpSpPr>
            <p:cNvPr id="810" name="Google Shape;810;g3a2a2538afe_0_861"/>
            <p:cNvGrpSpPr/>
            <p:nvPr/>
          </p:nvGrpSpPr>
          <p:grpSpPr>
            <a:xfrm>
              <a:off x="261282" y="2170115"/>
              <a:ext cx="4229923" cy="784801"/>
              <a:chOff x="3565993" y="809751"/>
              <a:chExt cx="5324006" cy="784801"/>
            </a:xfrm>
          </p:grpSpPr>
          <p:pic>
            <p:nvPicPr>
              <p:cNvPr id="811" name="Google Shape;811;g3a2a2538afe_0_861"/>
              <p:cNvPicPr preferRelativeResize="0"/>
              <p:nvPr/>
            </p:nvPicPr>
            <p:blipFill rotWithShape="1">
              <a:blip r:embed="rId3">
                <a:alphaModFix/>
              </a:blip>
              <a:srcRect b="68008" l="45773" r="1757" t="13716"/>
              <a:stretch/>
            </p:blipFill>
            <p:spPr>
              <a:xfrm>
                <a:off x="3565993" y="809751"/>
                <a:ext cx="5324006" cy="784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2" name="Google Shape;812;g3a2a2538afe_0_861"/>
              <p:cNvSpPr txBox="1"/>
              <p:nvPr/>
            </p:nvSpPr>
            <p:spPr>
              <a:xfrm>
                <a:off x="4552025" y="1002144"/>
                <a:ext cx="38877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Data Collection</a:t>
                </a:r>
                <a:endParaRPr b="0" i="0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13" name="Google Shape;813;g3a2a2538afe_0_861"/>
              <p:cNvSpPr txBox="1"/>
              <p:nvPr/>
            </p:nvSpPr>
            <p:spPr>
              <a:xfrm>
                <a:off x="3628749" y="971301"/>
                <a:ext cx="794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1</a:t>
                </a:r>
                <a:endParaRPr b="1" i="0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814" name="Google Shape;814;g3a2a2538afe_0_861"/>
            <p:cNvGrpSpPr/>
            <p:nvPr/>
          </p:nvGrpSpPr>
          <p:grpSpPr>
            <a:xfrm>
              <a:off x="261281" y="3311053"/>
              <a:ext cx="4229923" cy="788076"/>
              <a:chOff x="3565993" y="1782626"/>
              <a:chExt cx="5324006" cy="788076"/>
            </a:xfrm>
          </p:grpSpPr>
          <p:pic>
            <p:nvPicPr>
              <p:cNvPr id="815" name="Google Shape;815;g3a2a2538afe_0_861"/>
              <p:cNvPicPr preferRelativeResize="0"/>
              <p:nvPr/>
            </p:nvPicPr>
            <p:blipFill rotWithShape="1">
              <a:blip r:embed="rId3">
                <a:alphaModFix/>
              </a:blip>
              <a:srcRect b="68008" l="45773" r="1757" t="13716"/>
              <a:stretch/>
            </p:blipFill>
            <p:spPr>
              <a:xfrm>
                <a:off x="3565993" y="1782626"/>
                <a:ext cx="5324006" cy="7880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6" name="Google Shape;816;g3a2a2538afe_0_861"/>
              <p:cNvSpPr txBox="1"/>
              <p:nvPr/>
            </p:nvSpPr>
            <p:spPr>
              <a:xfrm>
                <a:off x="4556258" y="1975255"/>
                <a:ext cx="41457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Documentation and Metadata</a:t>
                </a:r>
                <a:endParaRPr b="0" i="0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17" name="Google Shape;817;g3a2a2538afe_0_861"/>
              <p:cNvSpPr txBox="1"/>
              <p:nvPr/>
            </p:nvSpPr>
            <p:spPr>
              <a:xfrm>
                <a:off x="3628749" y="1945813"/>
                <a:ext cx="794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2</a:t>
                </a:r>
                <a:endParaRPr b="1" i="0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818" name="Google Shape;818;g3a2a2538afe_0_861"/>
            <p:cNvGrpSpPr/>
            <p:nvPr/>
          </p:nvGrpSpPr>
          <p:grpSpPr>
            <a:xfrm>
              <a:off x="261282" y="4455266"/>
              <a:ext cx="4229923" cy="784801"/>
              <a:chOff x="3586625" y="2755501"/>
              <a:chExt cx="5324006" cy="784801"/>
            </a:xfrm>
          </p:grpSpPr>
          <p:pic>
            <p:nvPicPr>
              <p:cNvPr id="819" name="Google Shape;819;g3a2a2538afe_0_861"/>
              <p:cNvPicPr preferRelativeResize="0"/>
              <p:nvPr/>
            </p:nvPicPr>
            <p:blipFill rotWithShape="1">
              <a:blip r:embed="rId3">
                <a:alphaModFix/>
              </a:blip>
              <a:srcRect b="68008" l="45773" r="1757" t="13716"/>
              <a:stretch/>
            </p:blipFill>
            <p:spPr>
              <a:xfrm>
                <a:off x="3586625" y="2755501"/>
                <a:ext cx="5324006" cy="784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0" name="Google Shape;820;g3a2a2538afe_0_861"/>
              <p:cNvSpPr txBox="1"/>
              <p:nvPr/>
            </p:nvSpPr>
            <p:spPr>
              <a:xfrm>
                <a:off x="4595440" y="2809362"/>
                <a:ext cx="39081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Storage and Back-up during Active Research</a:t>
                </a:r>
                <a:endParaRPr b="0" i="0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21" name="Google Shape;821;g3a2a2538afe_0_861"/>
              <p:cNvSpPr txBox="1"/>
              <p:nvPr/>
            </p:nvSpPr>
            <p:spPr>
              <a:xfrm>
                <a:off x="3628749" y="2917051"/>
                <a:ext cx="794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3</a:t>
                </a:r>
                <a:endParaRPr b="1" i="0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822" name="Google Shape;822;g3a2a2538afe_0_861"/>
            <p:cNvGrpSpPr/>
            <p:nvPr/>
          </p:nvGrpSpPr>
          <p:grpSpPr>
            <a:xfrm>
              <a:off x="4831336" y="2170115"/>
              <a:ext cx="4233600" cy="784801"/>
              <a:chOff x="3527198" y="3748721"/>
              <a:chExt cx="4233600" cy="784801"/>
            </a:xfrm>
          </p:grpSpPr>
          <p:pic>
            <p:nvPicPr>
              <p:cNvPr id="823" name="Google Shape;823;g3a2a2538afe_0_861"/>
              <p:cNvPicPr preferRelativeResize="0"/>
              <p:nvPr/>
            </p:nvPicPr>
            <p:blipFill rotWithShape="1">
              <a:blip r:embed="rId3">
                <a:alphaModFix/>
              </a:blip>
              <a:srcRect b="68008" l="45773" r="1757" t="13716"/>
              <a:stretch/>
            </p:blipFill>
            <p:spPr>
              <a:xfrm>
                <a:off x="3527198" y="3748721"/>
                <a:ext cx="4233600" cy="784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4" name="Google Shape;824;g3a2a2538afe_0_861"/>
              <p:cNvSpPr txBox="1"/>
              <p:nvPr/>
            </p:nvSpPr>
            <p:spPr>
              <a:xfrm>
                <a:off x="4384145" y="3928088"/>
                <a:ext cx="2991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Legal &amp; Ethical Considerations </a:t>
                </a:r>
                <a:endParaRPr b="0" i="0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25" name="Google Shape;825;g3a2a2538afe_0_861"/>
              <p:cNvSpPr txBox="1"/>
              <p:nvPr/>
            </p:nvSpPr>
            <p:spPr>
              <a:xfrm>
                <a:off x="3589954" y="3910271"/>
                <a:ext cx="5997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4</a:t>
                </a:r>
                <a:endParaRPr b="1" i="0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826" name="Google Shape;826;g3a2a2538afe_0_861"/>
            <p:cNvGrpSpPr/>
            <p:nvPr/>
          </p:nvGrpSpPr>
          <p:grpSpPr>
            <a:xfrm>
              <a:off x="4862714" y="3312691"/>
              <a:ext cx="4233600" cy="784801"/>
              <a:chOff x="3527198" y="4715802"/>
              <a:chExt cx="4233600" cy="784801"/>
            </a:xfrm>
          </p:grpSpPr>
          <p:pic>
            <p:nvPicPr>
              <p:cNvPr id="827" name="Google Shape;827;g3a2a2538afe_0_861"/>
              <p:cNvPicPr preferRelativeResize="0"/>
              <p:nvPr/>
            </p:nvPicPr>
            <p:blipFill rotWithShape="1">
              <a:blip r:embed="rId3">
                <a:alphaModFix/>
              </a:blip>
              <a:srcRect b="68008" l="45773" r="1757" t="13716"/>
              <a:stretch/>
            </p:blipFill>
            <p:spPr>
              <a:xfrm>
                <a:off x="3527198" y="4715802"/>
                <a:ext cx="4233600" cy="784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8" name="Google Shape;828;g3a2a2538afe_0_861"/>
              <p:cNvSpPr txBox="1"/>
              <p:nvPr/>
            </p:nvSpPr>
            <p:spPr>
              <a:xfrm>
                <a:off x="4384309" y="4800402"/>
                <a:ext cx="31248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Data Sharing &amp; Long-term Preservation (FAIR &amp; Open Data) </a:t>
                </a:r>
                <a:endParaRPr b="0" i="0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29" name="Google Shape;829;g3a2a2538afe_0_861"/>
              <p:cNvSpPr txBox="1"/>
              <p:nvPr/>
            </p:nvSpPr>
            <p:spPr>
              <a:xfrm>
                <a:off x="3564062" y="4908787"/>
                <a:ext cx="6255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5</a:t>
                </a:r>
                <a:endParaRPr b="1" i="0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830" name="Google Shape;830;g3a2a2538afe_0_861"/>
            <p:cNvGrpSpPr/>
            <p:nvPr/>
          </p:nvGrpSpPr>
          <p:grpSpPr>
            <a:xfrm>
              <a:off x="4831336" y="4455266"/>
              <a:ext cx="4233600" cy="784801"/>
              <a:chOff x="3527198" y="5688677"/>
              <a:chExt cx="4233600" cy="784801"/>
            </a:xfrm>
          </p:grpSpPr>
          <p:pic>
            <p:nvPicPr>
              <p:cNvPr id="831" name="Google Shape;831;g3a2a2538afe_0_861"/>
              <p:cNvPicPr preferRelativeResize="0"/>
              <p:nvPr/>
            </p:nvPicPr>
            <p:blipFill rotWithShape="1">
              <a:blip r:embed="rId3">
                <a:alphaModFix/>
              </a:blip>
              <a:srcRect b="68008" l="45773" r="1757" t="13716"/>
              <a:stretch/>
            </p:blipFill>
            <p:spPr>
              <a:xfrm>
                <a:off x="3527198" y="5688677"/>
                <a:ext cx="4233600" cy="784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32" name="Google Shape;832;g3a2a2538afe_0_861"/>
              <p:cNvSpPr txBox="1"/>
              <p:nvPr/>
            </p:nvSpPr>
            <p:spPr>
              <a:xfrm>
                <a:off x="4362207" y="5772311"/>
                <a:ext cx="31461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Data Management Responsibilities</a:t>
                </a:r>
                <a:endParaRPr b="0" i="0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33" name="Google Shape;833;g3a2a2538afe_0_861"/>
              <p:cNvSpPr txBox="1"/>
              <p:nvPr/>
            </p:nvSpPr>
            <p:spPr>
              <a:xfrm>
                <a:off x="3558576" y="5871800"/>
                <a:ext cx="688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6</a:t>
                </a:r>
                <a:endParaRPr b="1" i="0" sz="1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a2a2538afe_0_891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How do you create a data management plan? </a:t>
            </a:r>
            <a:endParaRPr b="1" sz="2400"/>
          </a:p>
        </p:txBody>
      </p:sp>
      <p:sp>
        <p:nvSpPr>
          <p:cNvPr id="839" name="Google Shape;839;g3a2a2538afe_0_891"/>
          <p:cNvSpPr txBox="1"/>
          <p:nvPr>
            <p:ph idx="4294967295" type="body"/>
          </p:nvPr>
        </p:nvSpPr>
        <p:spPr>
          <a:xfrm>
            <a:off x="254000" y="1209050"/>
            <a:ext cx="8163300" cy="57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Take a look at our data management template to get a sense of what is required.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a2a2538afe_0_896"/>
          <p:cNvSpPr txBox="1"/>
          <p:nvPr>
            <p:ph idx="4294967295" type="body"/>
          </p:nvPr>
        </p:nvSpPr>
        <p:spPr>
          <a:xfrm>
            <a:off x="254000" y="1532606"/>
            <a:ext cx="8490000" cy="5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000"/>
              <a:t>Research data can be shared openly in many repositories worldwide 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000"/>
              <a:t>There are lots of examples of repositories where you can make your data openly available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t/>
            </a:r>
            <a:endParaRPr sz="20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000"/>
              <a:t>Some are general, e.g:</a:t>
            </a:r>
            <a:endParaRPr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000" u="sng">
                <a:solidFill>
                  <a:schemeClr val="hlink"/>
                </a:solidFill>
                <a:hlinkClick r:id="rId3"/>
              </a:rPr>
              <a:t>Zenodo</a:t>
            </a:r>
            <a:endParaRPr sz="2000"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000" u="sng">
                <a:solidFill>
                  <a:schemeClr val="hlink"/>
                </a:solidFill>
                <a:hlinkClick r:id="rId4"/>
              </a:rPr>
              <a:t>Figshare</a:t>
            </a:r>
            <a:endParaRPr sz="2000"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000" u="sng">
                <a:solidFill>
                  <a:schemeClr val="hlink"/>
                </a:solidFill>
                <a:hlinkClick r:id="rId5"/>
              </a:rPr>
              <a:t>Software Heritage</a:t>
            </a:r>
            <a:endParaRPr sz="2000"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45" name="Google Shape;845;g3a2a2538afe_0_89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Where can I share my data?</a:t>
            </a:r>
            <a:endParaRPr b="1" sz="2400"/>
          </a:p>
        </p:txBody>
      </p:sp>
      <p:pic>
        <p:nvPicPr>
          <p:cNvPr descr="A picture containing logo&#10;&#10;Description automatically generated" id="846" name="Google Shape;846;g3a2a2538afe_0_89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6161307" y="2869900"/>
            <a:ext cx="2582693" cy="2974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a2a2538afe_0_902"/>
          <p:cNvSpPr txBox="1"/>
          <p:nvPr>
            <p:ph idx="4294967295" type="body"/>
          </p:nvPr>
        </p:nvSpPr>
        <p:spPr>
          <a:xfrm>
            <a:off x="254000" y="1209050"/>
            <a:ext cx="8490000" cy="57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400"/>
              <a:t>For specialist data repositories </a:t>
            </a:r>
            <a:r>
              <a:rPr lang="en-US" sz="2400" u="sng">
                <a:solidFill>
                  <a:srgbClr val="17B1E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FAIRsharing.org</a:t>
            </a:r>
            <a:r>
              <a:rPr lang="en-US" sz="2400"/>
              <a:t> is a good place to start! 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400"/>
              <a:t>Here you can search data repositories according to the kind of data you are working with.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52" name="Google Shape;852;g3a2a2538afe_0_902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Where can I share my data?</a:t>
            </a:r>
            <a:endParaRPr b="1" sz="2400"/>
          </a:p>
        </p:txBody>
      </p:sp>
      <p:pic>
        <p:nvPicPr>
          <p:cNvPr descr="A picture containing logo&#10;&#10;Description automatically generated" id="853" name="Google Shape;853;g3a2a2538afe_0_9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6161307" y="2869900"/>
            <a:ext cx="2582693" cy="2974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a2a2538afe_0_90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Steps Towards Open Data</a:t>
            </a:r>
            <a:endParaRPr b="1" sz="2400"/>
          </a:p>
        </p:txBody>
      </p:sp>
      <p:sp>
        <p:nvSpPr>
          <p:cNvPr id="859" name="Google Shape;859;g3a2a2538afe_0_908"/>
          <p:cNvSpPr txBox="1"/>
          <p:nvPr>
            <p:ph idx="4294967295" type="body"/>
          </p:nvPr>
        </p:nvSpPr>
        <p:spPr>
          <a:xfrm>
            <a:off x="311224" y="999865"/>
            <a:ext cx="74106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endParaRPr b="1">
              <a:solidFill>
                <a:srgbClr val="000000"/>
              </a:solidFill>
            </a:endParaRPr>
          </a:p>
        </p:txBody>
      </p:sp>
      <p:grpSp>
        <p:nvGrpSpPr>
          <p:cNvPr id="860" name="Google Shape;860;g3a2a2538afe_0_908"/>
          <p:cNvGrpSpPr/>
          <p:nvPr/>
        </p:nvGrpSpPr>
        <p:grpSpPr>
          <a:xfrm>
            <a:off x="311224" y="1583979"/>
            <a:ext cx="4463220" cy="3874285"/>
            <a:chOff x="311224" y="1583979"/>
            <a:chExt cx="4463220" cy="3874285"/>
          </a:xfrm>
        </p:grpSpPr>
        <p:sp>
          <p:nvSpPr>
            <p:cNvPr id="861" name="Google Shape;861;g3a2a2538afe_0_908"/>
            <p:cNvSpPr/>
            <p:nvPr/>
          </p:nvSpPr>
          <p:spPr>
            <a:xfrm>
              <a:off x="455300" y="1583979"/>
              <a:ext cx="4166100" cy="3874200"/>
            </a:xfrm>
            <a:prstGeom prst="rect">
              <a:avLst/>
            </a:prstGeom>
            <a:solidFill>
              <a:srgbClr val="CFEFFA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62" name="Google Shape;862;g3a2a2538afe_0_908"/>
            <p:cNvPicPr preferRelativeResize="0"/>
            <p:nvPr/>
          </p:nvPicPr>
          <p:blipFill rotWithShape="1">
            <a:blip r:embed="rId3">
              <a:alphaModFix/>
            </a:blip>
            <a:srcRect b="48586" l="0" r="0" t="0"/>
            <a:stretch/>
          </p:blipFill>
          <p:spPr>
            <a:xfrm>
              <a:off x="311224" y="3801363"/>
              <a:ext cx="2155410" cy="1656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3" name="Google Shape;863;g3a2a2538afe_0_908"/>
            <p:cNvPicPr preferRelativeResize="0"/>
            <p:nvPr/>
          </p:nvPicPr>
          <p:blipFill rotWithShape="1">
            <a:blip r:embed="rId4">
              <a:alphaModFix/>
            </a:blip>
            <a:srcRect b="45696" l="0" r="0" t="0"/>
            <a:stretch/>
          </p:blipFill>
          <p:spPr>
            <a:xfrm>
              <a:off x="2635425" y="3801363"/>
              <a:ext cx="2139019" cy="16375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4" name="Google Shape;864;g3a2a2538afe_0_908"/>
            <p:cNvPicPr preferRelativeResize="0"/>
            <p:nvPr/>
          </p:nvPicPr>
          <p:blipFill rotWithShape="1">
            <a:blip r:embed="rId5">
              <a:alphaModFix/>
            </a:blip>
            <a:srcRect b="20828" l="0" r="59329" t="23585"/>
            <a:stretch/>
          </p:blipFill>
          <p:spPr>
            <a:xfrm flipH="1">
              <a:off x="1254443" y="2140843"/>
              <a:ext cx="3144744" cy="2198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5" name="Google Shape;865;g3a2a2538afe_0_908"/>
            <p:cNvSpPr txBox="1"/>
            <p:nvPr/>
          </p:nvSpPr>
          <p:spPr>
            <a:xfrm>
              <a:off x="1785595" y="2458319"/>
              <a:ext cx="2155500" cy="13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An 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essential</a:t>
              </a: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first step </a:t>
              </a:r>
              <a:endPara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is to discuss what is possible and appropriate for your data with your supervisor </a:t>
              </a:r>
              <a:endPara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66" name="Google Shape;866;g3a2a2538afe_0_908"/>
          <p:cNvGrpSpPr/>
          <p:nvPr/>
        </p:nvGrpSpPr>
        <p:grpSpPr>
          <a:xfrm>
            <a:off x="4713800" y="1583979"/>
            <a:ext cx="4166100" cy="3874200"/>
            <a:chOff x="4713800" y="1583979"/>
            <a:chExt cx="4166100" cy="3874200"/>
          </a:xfrm>
        </p:grpSpPr>
        <p:sp>
          <p:nvSpPr>
            <p:cNvPr id="867" name="Google Shape;867;g3a2a2538afe_0_908"/>
            <p:cNvSpPr/>
            <p:nvPr/>
          </p:nvSpPr>
          <p:spPr>
            <a:xfrm>
              <a:off x="4713800" y="1583979"/>
              <a:ext cx="4166100" cy="3874200"/>
            </a:xfrm>
            <a:prstGeom prst="rect">
              <a:avLst/>
            </a:prstGeom>
            <a:solidFill>
              <a:srgbClr val="CFEFFA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68" name="Google Shape;868;g3a2a2538afe_0_908"/>
            <p:cNvPicPr preferRelativeResize="0"/>
            <p:nvPr/>
          </p:nvPicPr>
          <p:blipFill rotWithShape="1">
            <a:blip r:embed="rId5">
              <a:alphaModFix/>
            </a:blip>
            <a:srcRect b="20828" l="1325" r="59330" t="23585"/>
            <a:stretch/>
          </p:blipFill>
          <p:spPr>
            <a:xfrm flipH="1">
              <a:off x="5611232" y="1602201"/>
              <a:ext cx="3221544" cy="25338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9" name="Google Shape;869;g3a2a2538afe_0_908"/>
            <p:cNvSpPr txBox="1"/>
            <p:nvPr/>
          </p:nvSpPr>
          <p:spPr>
            <a:xfrm>
              <a:off x="5881500" y="2097685"/>
              <a:ext cx="2789700" cy="13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Then develop and implement </a:t>
              </a:r>
              <a:endPara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 data management plan 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which includes provision and</a:t>
              </a:r>
              <a:endPara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plans for making data FAIR </a:t>
              </a:r>
              <a:endPara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and open 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descr="A picture containing logo&#10;&#10;Description automatically generated" id="870" name="Google Shape;870;g3a2a2538afe_0_908"/>
            <p:cNvPicPr preferRelativeResize="0"/>
            <p:nvPr/>
          </p:nvPicPr>
          <p:blipFill rotWithShape="1">
            <a:blip r:embed="rId6">
              <a:alphaModFix/>
            </a:blip>
            <a:srcRect b="25222" l="0" r="0" t="0"/>
            <a:stretch/>
          </p:blipFill>
          <p:spPr>
            <a:xfrm>
              <a:off x="4713800" y="3297896"/>
              <a:ext cx="2470149" cy="21273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a2a2538afe_0_924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/>
              <a:t>Steps Towards Open Data</a:t>
            </a:r>
            <a:endParaRPr b="1" sz="2400"/>
          </a:p>
        </p:txBody>
      </p:sp>
      <p:sp>
        <p:nvSpPr>
          <p:cNvPr id="876" name="Google Shape;876;g3a2a2538afe_0_924"/>
          <p:cNvSpPr txBox="1"/>
          <p:nvPr>
            <p:ph idx="4294967295" type="body"/>
          </p:nvPr>
        </p:nvSpPr>
        <p:spPr>
          <a:xfrm>
            <a:off x="311224" y="999865"/>
            <a:ext cx="74106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br>
              <a:rPr b="1" lang="en-US" sz="2800">
                <a:solidFill>
                  <a:srgbClr val="000000"/>
                </a:solidFill>
              </a:rPr>
            </a:br>
            <a:endParaRPr b="1">
              <a:solidFill>
                <a:srgbClr val="000000"/>
              </a:solidFill>
            </a:endParaRPr>
          </a:p>
        </p:txBody>
      </p:sp>
      <p:grpSp>
        <p:nvGrpSpPr>
          <p:cNvPr id="877" name="Google Shape;877;g3a2a2538afe_0_924"/>
          <p:cNvGrpSpPr/>
          <p:nvPr/>
        </p:nvGrpSpPr>
        <p:grpSpPr>
          <a:xfrm>
            <a:off x="547550" y="1597754"/>
            <a:ext cx="8038800" cy="4010448"/>
            <a:chOff x="547550" y="1597754"/>
            <a:chExt cx="8038800" cy="4010448"/>
          </a:xfrm>
        </p:grpSpPr>
        <p:sp>
          <p:nvSpPr>
            <p:cNvPr id="878" name="Google Shape;878;g3a2a2538afe_0_924"/>
            <p:cNvSpPr/>
            <p:nvPr/>
          </p:nvSpPr>
          <p:spPr>
            <a:xfrm>
              <a:off x="547550" y="1597754"/>
              <a:ext cx="8038800" cy="3913200"/>
            </a:xfrm>
            <a:prstGeom prst="rect">
              <a:avLst/>
            </a:prstGeom>
            <a:solidFill>
              <a:srgbClr val="CFEFFA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79" name="Google Shape;879;g3a2a2538afe_0_924"/>
            <p:cNvPicPr preferRelativeResize="0"/>
            <p:nvPr/>
          </p:nvPicPr>
          <p:blipFill rotWithShape="1">
            <a:blip r:embed="rId3">
              <a:alphaModFix/>
            </a:blip>
            <a:srcRect b="20828" l="0" r="59329" t="23585"/>
            <a:stretch/>
          </p:blipFill>
          <p:spPr>
            <a:xfrm flipH="1">
              <a:off x="1953578" y="1597754"/>
              <a:ext cx="3206515" cy="23075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0" name="Google Shape;880;g3a2a2538afe_0_924"/>
            <p:cNvSpPr txBox="1"/>
            <p:nvPr/>
          </p:nvSpPr>
          <p:spPr>
            <a:xfrm>
              <a:off x="2310391" y="1952040"/>
              <a:ext cx="2540100" cy="13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Once your data is </a:t>
              </a:r>
              <a:endPara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collected and the project is finished, review your data and metadata for completeness and quality</a:t>
              </a:r>
              <a:endPara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881" name="Google Shape;881;g3a2a2538afe_0_9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795503" y="3043394"/>
              <a:ext cx="2205900" cy="25648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2" name="Google Shape;882;g3a2a2538afe_0_924"/>
          <p:cNvGrpSpPr/>
          <p:nvPr/>
        </p:nvGrpSpPr>
        <p:grpSpPr>
          <a:xfrm>
            <a:off x="4421363" y="2241703"/>
            <a:ext cx="3507789" cy="3269252"/>
            <a:chOff x="4421363" y="2241703"/>
            <a:chExt cx="3507789" cy="3269252"/>
          </a:xfrm>
        </p:grpSpPr>
        <p:pic>
          <p:nvPicPr>
            <p:cNvPr id="883" name="Google Shape;883;g3a2a2538afe_0_924"/>
            <p:cNvPicPr preferRelativeResize="0"/>
            <p:nvPr/>
          </p:nvPicPr>
          <p:blipFill rotWithShape="1">
            <a:blip r:embed="rId5">
              <a:alphaModFix/>
            </a:blip>
            <a:srcRect b="4870" l="4030" r="0" t="0"/>
            <a:stretch/>
          </p:blipFill>
          <p:spPr>
            <a:xfrm flipH="1">
              <a:off x="6414264" y="2241703"/>
              <a:ext cx="1514888" cy="32692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84" name="Google Shape;884;g3a2a2538afe_0_924"/>
            <p:cNvGrpSpPr/>
            <p:nvPr/>
          </p:nvGrpSpPr>
          <p:grpSpPr>
            <a:xfrm>
              <a:off x="4421363" y="2787318"/>
              <a:ext cx="2618338" cy="1927274"/>
              <a:chOff x="4978215" y="2883878"/>
              <a:chExt cx="2618338" cy="1927274"/>
            </a:xfrm>
          </p:grpSpPr>
          <p:pic>
            <p:nvPicPr>
              <p:cNvPr id="885" name="Google Shape;885;g3a2a2538afe_0_924"/>
              <p:cNvPicPr preferRelativeResize="0"/>
              <p:nvPr/>
            </p:nvPicPr>
            <p:blipFill rotWithShape="1">
              <a:blip r:embed="rId3">
                <a:alphaModFix/>
              </a:blip>
              <a:srcRect b="20828" l="0" r="59329" t="23585"/>
              <a:stretch/>
            </p:blipFill>
            <p:spPr>
              <a:xfrm flipH="1" rot="10800000">
                <a:off x="4978215" y="2883878"/>
                <a:ext cx="2618338" cy="192727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86" name="Google Shape;886;g3a2a2538afe_0_924"/>
              <p:cNvSpPr txBox="1"/>
              <p:nvPr/>
            </p:nvSpPr>
            <p:spPr>
              <a:xfrm>
                <a:off x="5155468" y="3521121"/>
                <a:ext cx="2205900" cy="89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Then choose your data repository and upload your data!</a:t>
                </a:r>
                <a:endParaRPr b="0" i="0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891" name="Google Shape;891;g3a2a2538afe_0_9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892" name="Google Shape;892;g3a2a2538afe_0_9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897" name="Google Shape;897;g3a2a2538afe_0_1370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898" name="Google Shape;898;g3a2a2538afe_0_13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g3a2a2538afe_0_1370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0" name="Google Shape;900;g3a2a2538afe_0_1370"/>
          <p:cNvSpPr txBox="1"/>
          <p:nvPr/>
        </p:nvSpPr>
        <p:spPr>
          <a:xfrm>
            <a:off x="364243" y="2450863"/>
            <a:ext cx="44652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 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a2a2538afe_0_1377"/>
          <p:cNvSpPr txBox="1"/>
          <p:nvPr>
            <p:ph idx="1" type="body"/>
          </p:nvPr>
        </p:nvSpPr>
        <p:spPr>
          <a:xfrm>
            <a:off x="254000" y="1209050"/>
            <a:ext cx="8489700" cy="5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952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</a:pPr>
            <a:br>
              <a:rPr b="1" lang="en-US"/>
            </a:b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b="1" sz="1800"/>
          </a:p>
        </p:txBody>
      </p:sp>
      <p:sp>
        <p:nvSpPr>
          <p:cNvPr id="906" name="Google Shape;906;g3a2a2538afe_0_1377"/>
          <p:cNvSpPr txBox="1"/>
          <p:nvPr/>
        </p:nvSpPr>
        <p:spPr>
          <a:xfrm>
            <a:off x="322100" y="2379465"/>
            <a:ext cx="8489700" cy="14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52244"/>
              </a:buClr>
              <a:buSzPct val="5625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Additional Resources</a:t>
            </a:r>
            <a:endParaRPr b="0" i="0" sz="2800" u="none" cap="none" strike="noStrike">
              <a:solidFill>
                <a:srgbClr val="2522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ct val="64285"/>
              <a:buFont typeface="Arial"/>
              <a:buNone/>
            </a:pPr>
            <a:r>
              <a:t/>
            </a:r>
            <a:endParaRPr b="0" i="0" sz="2800" u="sng" cap="none" strike="noStrike">
              <a:solidFill>
                <a:srgbClr val="FFC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52244"/>
              </a:buClr>
              <a:buSzPct val="45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2522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52244"/>
              </a:buClr>
              <a:buSzPct val="64285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5224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a2a2538afe_0_1382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000000"/>
                </a:solidFill>
              </a:rPr>
              <a:t>Want to know more about. . . </a:t>
            </a:r>
            <a:endParaRPr sz="2400"/>
          </a:p>
        </p:txBody>
      </p:sp>
      <p:sp>
        <p:nvSpPr>
          <p:cNvPr id="912" name="Google Shape;912;g3a2a2538afe_0_1382"/>
          <p:cNvSpPr txBox="1"/>
          <p:nvPr/>
        </p:nvSpPr>
        <p:spPr>
          <a:xfrm>
            <a:off x="254000" y="1209050"/>
            <a:ext cx="8490000" cy="57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Open data and data repositories?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Take a look at this handy guide on selecting a data repository: </a:t>
            </a:r>
            <a:r>
              <a:rPr b="0" i="0" lang="en-US" sz="2000" u="sng" cap="none" strike="noStrike">
                <a:solidFill>
                  <a:srgbClr val="17B1E7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OpenAIRE Guide for Researchers: How to Select a Data Reposito</a:t>
            </a:r>
            <a:r>
              <a:rPr b="0" i="0" lang="en-US" sz="2000" u="sng" cap="none" strike="noStrike">
                <a:solidFill>
                  <a:srgbClr val="17B1E7"/>
                </a:solidFill>
                <a:latin typeface="Roboto"/>
                <a:ea typeface="Roboto"/>
                <a:cs typeface="Roboto"/>
                <a:sym typeface="Roboto"/>
              </a:rPr>
              <a:t>ry</a:t>
            </a:r>
            <a:r>
              <a:rPr b="0" i="0" lang="en-US" sz="2000" u="none" cap="none" strike="noStrike">
                <a:solidFill>
                  <a:srgbClr val="17B1E7"/>
                </a:solidFill>
                <a:latin typeface="Roboto"/>
                <a:ea typeface="Roboto"/>
                <a:cs typeface="Roboto"/>
                <a:sym typeface="Roboto"/>
              </a:rPr>
              <a:t>​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You can read about some concerns and challenges of using open data repositories here: </a:t>
            </a:r>
            <a:r>
              <a:rPr b="0" i="0" lang="en-US" sz="2000" u="sng" cap="none" strike="noStrike">
                <a:solidFill>
                  <a:srgbClr val="17B1E7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data repositories: current risks and opportunities </a:t>
            </a:r>
            <a:endParaRPr b="0" i="0" sz="2000" u="sng" cap="none" strike="noStrike">
              <a:solidFill>
                <a:srgbClr val="17B1E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17B1E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5556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One researcher’s experience of sharing data?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Don’t worry, its not as scary as the name of this blogpost suggests: </a:t>
            </a:r>
            <a:r>
              <a:rPr b="0" i="0" lang="en-US" sz="2000" u="sng" cap="none" strike="noStrike">
                <a:solidFill>
                  <a:srgbClr val="17B1E7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Science is really scary y’all</a:t>
            </a:r>
            <a:r>
              <a:rPr b="0" i="0" lang="en-US" sz="2000" u="none" cap="none" strike="noStrike">
                <a:solidFill>
                  <a:srgbClr val="17B1E7"/>
                </a:solidFill>
                <a:latin typeface="Roboto"/>
                <a:ea typeface="Roboto"/>
                <a:cs typeface="Roboto"/>
                <a:sym typeface="Roboto"/>
              </a:rPr>
              <a:t>​</a:t>
            </a:r>
            <a:endParaRPr/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None/>
            </a:pPr>
            <a:r>
              <a:t/>
            </a:r>
            <a:endParaRPr b="0" i="0" sz="2400" u="none" cap="none" strike="noStrike">
              <a:solidFill>
                <a:srgbClr val="17B1E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a2a2538afe_0_138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000000"/>
                </a:solidFill>
              </a:rPr>
              <a:t>Want to know more about. . . </a:t>
            </a:r>
            <a:endParaRPr sz="2400"/>
          </a:p>
        </p:txBody>
      </p:sp>
      <p:sp>
        <p:nvSpPr>
          <p:cNvPr id="918" name="Google Shape;918;g3a2a2538afe_0_1387"/>
          <p:cNvSpPr txBox="1"/>
          <p:nvPr/>
        </p:nvSpPr>
        <p:spPr>
          <a:xfrm>
            <a:off x="254000" y="1209050"/>
            <a:ext cx="8490000" cy="4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 the challenges of open data sharing: </a:t>
            </a:r>
            <a:endParaRPr/>
          </a:p>
          <a:p>
            <a:pPr indent="-190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This article discusses some perceived barriers to open data sharing in psychology (but is relevant across disciplines):</a:t>
            </a:r>
            <a:endParaRPr/>
          </a:p>
          <a:p>
            <a:pPr indent="0" lvl="0" marL="44608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Houtkoop, B. L., Chambers, C., Macleod, M., Bishop, D. V., Nichols, T. E., &amp; Wagenmakers, E. J. (2018). Data sharing in psychology: A survey on barriers and preconditions. Advances in methods and practices in psychological science, 1(1), 70-85. </a:t>
            </a:r>
            <a:r>
              <a:rPr b="0" i="0" lang="en-US" sz="2000" u="sng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https://doi.org/10.1177/2515245917751886</a:t>
            </a:r>
            <a:endParaRPr b="0" i="0" sz="2000" u="none" cap="none" strike="noStrike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a2a2538afe_0_1392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000000"/>
                </a:solidFill>
              </a:rPr>
              <a:t>Want to know more about. . . </a:t>
            </a:r>
            <a:endParaRPr sz="2400"/>
          </a:p>
        </p:txBody>
      </p:sp>
      <p:sp>
        <p:nvSpPr>
          <p:cNvPr id="924" name="Google Shape;924;g3a2a2538afe_0_1392"/>
          <p:cNvSpPr txBox="1"/>
          <p:nvPr/>
        </p:nvSpPr>
        <p:spPr>
          <a:xfrm>
            <a:off x="254000" y="1209050"/>
            <a:ext cx="8490000" cy="46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management and archiving for qualitative data?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Char char="•"/>
            </a:pPr>
            <a:r>
              <a:rPr b="0" i="0" lang="en-US" sz="2000" u="sng" cap="none" strike="noStrike">
                <a:solidFill>
                  <a:srgbClr val="17B1E7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This paper</a:t>
            </a:r>
            <a:r>
              <a:rPr b="0" i="0" lang="en-US" sz="2000" u="none" cap="none" strike="noStrike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outlines how software like NVivo can be used to manage your qualitative data </a:t>
            </a:r>
            <a:endParaRPr/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You can also check out the </a:t>
            </a:r>
            <a:r>
              <a:rPr b="0" i="0" lang="en-US" sz="2000" u="sng" cap="none" strike="noStrike">
                <a:solidFill>
                  <a:srgbClr val="17B1E7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Irish Qualitative Data Archive</a:t>
            </a:r>
            <a:r>
              <a:rPr b="0" i="0" lang="en-US" sz="2000" u="sng" cap="none" strike="noStrike">
                <a:solidFill>
                  <a:srgbClr val="17B1E7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which provides lots of useful information and resources </a:t>
            </a:r>
            <a:endParaRPr/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Or take a look at the</a:t>
            </a:r>
            <a:r>
              <a:rPr b="0" i="0" lang="en-US" sz="2000" u="none" cap="none" strike="noStrike">
                <a:solidFill>
                  <a:srgbClr val="17B1E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2000" u="sng" cap="none" strike="noStrike">
                <a:solidFill>
                  <a:srgbClr val="17B1E7"/>
                </a:solidFill>
                <a:latin typeface="Roboto"/>
                <a:ea typeface="Roboto"/>
                <a:cs typeface="Roboto"/>
                <a:sym typeface="Robo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Qualitative Data Repository</a:t>
            </a:r>
            <a:endParaRPr b="0" i="0" sz="2000" u="sng" cap="none" strike="noStrike">
              <a:solidFill>
                <a:srgbClr val="17B1E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a2a2538afe_0_139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000000"/>
                </a:solidFill>
              </a:rPr>
              <a:t>Want to know more about. . . </a:t>
            </a:r>
            <a:endParaRPr sz="2400"/>
          </a:p>
        </p:txBody>
      </p:sp>
      <p:sp>
        <p:nvSpPr>
          <p:cNvPr id="930" name="Google Shape;930;g3a2a2538afe_0_1397"/>
          <p:cNvSpPr txBox="1"/>
          <p:nvPr/>
        </p:nvSpPr>
        <p:spPr>
          <a:xfrm>
            <a:off x="254000" y="1209050"/>
            <a:ext cx="8490000" cy="46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6666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management and archiving for qualitative data?</a:t>
            </a:r>
            <a:endParaRPr/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240000"/>
              <a:buFont typeface="Roboto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957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20000"/>
              <a:buFont typeface="Roboto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This paper outlines some challenges with making some qualitative data open: </a:t>
            </a:r>
            <a:endParaRPr/>
          </a:p>
          <a:p>
            <a:pPr indent="0" lvl="0" marL="44608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20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Chauvette et al. (2019). Open data in qualitative research. International Journal of Qualitative Methods, 18; </a:t>
            </a:r>
            <a:r>
              <a:rPr b="0" i="0" lang="en-US" sz="2000" u="sng" cap="none" strike="noStrike">
                <a:solidFill>
                  <a:srgbClr val="17B1E7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https://doi.org/10.1177/1609406918823863</a:t>
            </a:r>
            <a:endParaRPr b="0" i="0" sz="2000" u="sng" cap="none" strike="noStrike">
              <a:solidFill>
                <a:srgbClr val="17B1E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4608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20000"/>
              <a:buFont typeface="Arial"/>
              <a:buNone/>
            </a:pPr>
            <a:r>
              <a:t/>
            </a:r>
            <a:endParaRPr b="0" i="0" sz="2000" u="sng" cap="none" strike="noStrike">
              <a:solidFill>
                <a:srgbClr val="17B1E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21957" lvl="0" marL="44608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20000"/>
              <a:buFont typeface="Roboto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paper presents an examination of repository guidelines for sharing qualitative data:</a:t>
            </a:r>
            <a:endParaRPr/>
          </a:p>
          <a:p>
            <a:pPr indent="0" lvl="0" marL="446087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20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Antes et al. (2018). Examining data repository guidelines for qualitative data sharing. Journal of Empirical Research on Human Research Ethics, 13(1), 61-73. </a:t>
            </a:r>
            <a:r>
              <a:rPr b="0" i="0" lang="en-US" sz="2000" u="sng" cap="none" strike="noStrike">
                <a:solidFill>
                  <a:srgbClr val="17B1E7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https://doi.org/10.1177/1556264617744121</a:t>
            </a:r>
            <a:endParaRPr b="0" i="0" sz="2000" u="sng" cap="none" strike="noStrike">
              <a:solidFill>
                <a:srgbClr val="17B1E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5016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20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987" lvl="0" marL="44608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20000"/>
              <a:buFont typeface="Roboto"/>
              <a:buNone/>
            </a:pPr>
            <a:r>
              <a:t/>
            </a:r>
            <a:endParaRPr b="0" i="0" sz="2000" u="sng" cap="none" strike="noStrike">
              <a:solidFill>
                <a:srgbClr val="17B1E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a2a2538afe_0_1402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000000"/>
                </a:solidFill>
              </a:rPr>
              <a:t>Want to know more about. . . </a:t>
            </a:r>
            <a:endParaRPr sz="2400"/>
          </a:p>
        </p:txBody>
      </p:sp>
      <p:sp>
        <p:nvSpPr>
          <p:cNvPr id="936" name="Google Shape;936;g3a2a2538afe_0_1402"/>
          <p:cNvSpPr txBox="1"/>
          <p:nvPr/>
        </p:nvSpPr>
        <p:spPr>
          <a:xfrm>
            <a:off x="254000" y="1056501"/>
            <a:ext cx="8490000" cy="57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76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17B1E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76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Use of spreadsheets for data management?</a:t>
            </a:r>
            <a:endParaRPr b="0" i="0" sz="2400" u="none" cap="none" strike="noStrike">
              <a:solidFill>
                <a:srgbClr val="17B1E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19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This is a handy article outlining practical recommendations for organizing spreadsheet data  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Broman, K. &amp; Woo, K (2018). Data organization in spreadsheets. The American Statistician, 72(1), 2-10</a:t>
            </a:r>
            <a:r>
              <a:rPr b="0" i="0" lang="en-US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b="0" i="0" lang="en-US" sz="2000" u="sng" cap="none" strike="noStrike">
                <a:solidFill>
                  <a:srgbClr val="17B1E7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https://doi.org/10.1080/00031305.2017.1375989</a:t>
            </a:r>
            <a:endParaRPr b="0" i="0" sz="2000" u="sng" cap="none" strike="noStrike">
              <a:solidFill>
                <a:srgbClr val="17B1E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0322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a2a2538afe_0_140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000000"/>
                </a:solidFill>
              </a:rPr>
              <a:t>Want to know more about. . . </a:t>
            </a:r>
            <a:endParaRPr sz="2400"/>
          </a:p>
        </p:txBody>
      </p:sp>
      <p:sp>
        <p:nvSpPr>
          <p:cNvPr id="942" name="Google Shape;942;g3a2a2538afe_0_1407"/>
          <p:cNvSpPr txBox="1"/>
          <p:nvPr/>
        </p:nvSpPr>
        <p:spPr>
          <a:xfrm>
            <a:off x="254000" y="1645148"/>
            <a:ext cx="8490000" cy="4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Discipline-specific Research Data Management?</a:t>
            </a:r>
            <a:endParaRPr/>
          </a:p>
          <a:p>
            <a:pPr indent="-190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Take a look at the </a:t>
            </a:r>
            <a:r>
              <a:rPr b="0" i="0" lang="en-US" sz="2000" u="sng" cap="none" strike="noStrike">
                <a:solidFill>
                  <a:srgbClr val="17B1E7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Science Europe Guidance Document: Presenting a Framework for Discipline-specific Research Data management</a:t>
            </a:r>
            <a:r>
              <a:rPr b="0" i="0" lang="en-US" sz="2000" u="sng" cap="none" strike="noStrike">
                <a:solidFill>
                  <a:srgbClr val="17B1E7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This looks like a long document but there is an over-all section, followed by discipline-specific sections that will be of more, or less, relevance to you.</a:t>
            </a:r>
            <a:endParaRPr/>
          </a:p>
          <a:p>
            <a:pPr indent="-38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a2a2538afe_0_1412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000000"/>
                </a:solidFill>
              </a:rPr>
              <a:t>Want to know more about. . . </a:t>
            </a:r>
            <a:endParaRPr sz="2400"/>
          </a:p>
        </p:txBody>
      </p:sp>
      <p:sp>
        <p:nvSpPr>
          <p:cNvPr id="948" name="Google Shape;948;g3a2a2538afe_0_1412"/>
          <p:cNvSpPr txBox="1"/>
          <p:nvPr/>
        </p:nvSpPr>
        <p:spPr>
          <a:xfrm>
            <a:off x="254000" y="1209050"/>
            <a:ext cx="8490000" cy="4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76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08107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use of FAIR Principles?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0999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17935"/>
              <a:buFont typeface="Roboto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This article clarifies what FAIRness is, and what it is not:</a:t>
            </a:r>
            <a:endParaRPr/>
          </a:p>
          <a:p>
            <a:pPr indent="0" lvl="0" marL="44608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17935"/>
              <a:buFont typeface="Arial"/>
              <a:buNone/>
            </a:pPr>
            <a:r>
              <a:rPr b="0" i="0" lang="en-US" sz="2200" u="none" cap="none" strike="noStrike">
                <a:solidFill>
                  <a:srgbClr val="1C1835"/>
                </a:solidFill>
                <a:latin typeface="Roboto"/>
                <a:ea typeface="Roboto"/>
                <a:cs typeface="Roboto"/>
                <a:sym typeface="Roboto"/>
              </a:rPr>
              <a:t>Mons et al.(2017) ‘Cloudy, Increasingly FAIR; Revisiting the FAIR Data Guiding Principles for the European Open Science Cloud’. Information Services and Use, 49 – 56. </a:t>
            </a:r>
            <a:r>
              <a:rPr b="0" i="0" lang="en-US" sz="2200" u="sng" cap="none" strike="noStrike">
                <a:solidFill>
                  <a:srgbClr val="17B1E7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https://doi.org/10.3233/ISU-170824</a:t>
            </a:r>
            <a:endParaRPr b="0" i="0" sz="2200" u="sng" cap="none" strike="noStrike">
              <a:solidFill>
                <a:srgbClr val="17B1E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17935"/>
              <a:buFont typeface="Roboto"/>
              <a:buNone/>
            </a:pPr>
            <a:r>
              <a:t/>
            </a:r>
            <a:endParaRPr b="0" i="0" sz="2200" u="sng" cap="none" strike="noStrike">
              <a:solidFill>
                <a:srgbClr val="17B1E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0999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17935"/>
              <a:buFont typeface="Roboto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​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article discusses the FAIR principles and presents useful examples of their use:</a:t>
            </a:r>
            <a:endParaRPr b="1" i="0" sz="2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4608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7592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Wilkinson et al. The FAIR Guiding Principles for scientific data management and stewardship. Sci Data 3, 160018 (2016). </a:t>
            </a:r>
            <a:r>
              <a:rPr b="0" i="0" lang="en-US" sz="2200" u="sng" cap="none" strike="noStrike">
                <a:solidFill>
                  <a:srgbClr val="17B1E7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https://doi.org/10.1038/sdata.2016.18​</a:t>
            </a:r>
            <a:r>
              <a:rPr b="0" i="0" lang="en-US" sz="2200" u="sng" cap="none" strike="noStrike">
                <a:solidFill>
                  <a:srgbClr val="17B1E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b="1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2400" u="none" cap="none" strike="noStrike">
              <a:solidFill>
                <a:srgbClr val="17B1E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a2a2538afe_0_141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000000"/>
                </a:solidFill>
              </a:rPr>
              <a:t>Want to know more about. . . </a:t>
            </a:r>
            <a:endParaRPr sz="2400"/>
          </a:p>
        </p:txBody>
      </p:sp>
      <p:sp>
        <p:nvSpPr>
          <p:cNvPr id="954" name="Google Shape;954;g3a2a2538afe_0_1417"/>
          <p:cNvSpPr txBox="1"/>
          <p:nvPr/>
        </p:nvSpPr>
        <p:spPr>
          <a:xfrm>
            <a:off x="254000" y="1227020"/>
            <a:ext cx="8490000" cy="4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76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research data management, FAIR and Open are related to each other?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This article clarifies presents the overlaps and distinctions between these three concepts:</a:t>
            </a:r>
            <a:endParaRPr/>
          </a:p>
          <a:p>
            <a:pPr indent="0" lvl="0" marL="5016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Higman R, Bangert D and Jones S, “Three camps, one destination: the intersections of research data management, FAIR and Open”, Insights, 2019, 32: 18, 1–9; DOI: </a:t>
            </a:r>
            <a:r>
              <a:rPr b="0" i="0" lang="en-US" sz="2200" u="sng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http://doi.org/10.1629/uksg.468</a:t>
            </a:r>
            <a:endParaRPr b="0" i="0" sz="2200" u="none" cap="none" strike="noStrike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5016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Arial"/>
              <a:buNone/>
            </a:pPr>
            <a:br>
              <a:rPr b="1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2400" u="none" cap="none" strike="noStrike">
              <a:solidFill>
                <a:srgbClr val="17B1E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a2a2538afe_0_1422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000000"/>
                </a:solidFill>
              </a:rPr>
              <a:t>Want to know more about. . . </a:t>
            </a:r>
            <a:endParaRPr sz="2400"/>
          </a:p>
        </p:txBody>
      </p:sp>
      <p:sp>
        <p:nvSpPr>
          <p:cNvPr id="960" name="Google Shape;960;g3a2a2538afe_0_1422"/>
          <p:cNvSpPr txBox="1"/>
          <p:nvPr/>
        </p:nvSpPr>
        <p:spPr>
          <a:xfrm>
            <a:off x="254000" y="1617013"/>
            <a:ext cx="8490000" cy="4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Resources for data management in University College Cork? </a:t>
            </a:r>
            <a:endParaRPr/>
          </a:p>
          <a:p>
            <a:pPr indent="-190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0" i="0" lang="en-US" sz="2000" u="sng" cap="none" strike="noStrike">
                <a:solidFill>
                  <a:srgbClr val="17B1E7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UCC Research Data Service</a:t>
            </a:r>
            <a:r>
              <a:rPr b="0" i="0" lang="en-US" sz="2000" u="sng" cap="none" strike="noStrike">
                <a:solidFill>
                  <a:srgbClr val="17B1E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provides information, including videos and resources </a:t>
            </a:r>
            <a:endParaRPr/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965" name="Google Shape;965;g3a2a2538afe_0_14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966" name="Google Shape;966;g3a2a2538afe_0_14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7_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5_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2021-03-16T17:05:21Z</dcterms:created>
  <dc:creator>Orlagh O'Brien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0x010100AA7A9ED9D3E8CD4BAE96912ACCE469BD</vt:lpwstr>
  </property>
</Properties>
</file>