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8" r:id="rId4"/>
    <p:sldMasterId id="2147483670" r:id="rId5"/>
    <p:sldMasterId id="214748368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y="6858000" cx="9144000"/>
  <p:notesSz cx="6858000" cy="9144000"/>
  <p:embeddedFontLst>
    <p:embeddedFont>
      <p:font typeface="Roboto"/>
      <p:regular r:id="rId57"/>
      <p:bold r:id="rId58"/>
      <p:italic r:id="rId59"/>
      <p:boldItalic r:id="rId60"/>
    </p:embeddedFont>
    <p:embeddedFont>
      <p:font typeface="Roboto Medium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5" roundtripDataSignature="AMtx7mh7xcALPm4xyLDCckoNdVpyJlT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RobotoMedium-bold.fntdata"/><Relationship Id="rId61" Type="http://schemas.openxmlformats.org/officeDocument/2006/relationships/font" Target="fonts/RobotoMedium-regular.fntdata"/><Relationship Id="rId20" Type="http://schemas.openxmlformats.org/officeDocument/2006/relationships/slide" Target="slides/slide13.xml"/><Relationship Id="rId64" Type="http://schemas.openxmlformats.org/officeDocument/2006/relationships/font" Target="fonts/RobotoMedium-boldItalic.fntdata"/><Relationship Id="rId63" Type="http://schemas.openxmlformats.org/officeDocument/2006/relationships/font" Target="fonts/RobotoMedium-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65" Type="http://customschemas.google.com/relationships/presentationmetadata" Target="meta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Roboto-boldItalic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font" Target="fonts/Roboto-regular.fntdata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font" Target="fonts/Roboto-italic.fntdata"/><Relationship Id="rId14" Type="http://schemas.openxmlformats.org/officeDocument/2006/relationships/slide" Target="slides/slide7.xml"/><Relationship Id="rId58" Type="http://schemas.openxmlformats.org/officeDocument/2006/relationships/font" Target="fonts/Roboto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29f53c04b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g3a29f53c04b_0_1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29f53c04b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a29f53c04b_0_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29f53c04b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g3a29f53c04b_0_2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a29f53c04b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9" name="Google Shape;399;g3a29f53c04b_0_2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a29f53c04b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g3a29f53c04b_0_2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a29f53c04b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8" name="Google Shape;428;g3a29f53c04b_0_3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29f53c04b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a29f53c04b_0_3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a29f53c04b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5" name="Google Shape;445;g3a29f53c04b_0_4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a29f53c04b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0" name="Google Shape;470;g3a29f53c04b_0_4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a29f53c04b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8" name="Google Shape;508;g3a29f53c04b_0_4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a29f53c04b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5" name="Google Shape;535;g3a29f53c04b_0_4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a29f53c04b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1" name="Google Shape;541;g3a29f53c04b_0_6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a29f53c04b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a29f53c04b_0_6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a29f53c04b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7" name="Google Shape;557;g3a29f53c04b_0_6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a29f53c04b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2" name="Google Shape;572;g3a29f53c04b_0_6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a29f53c04b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9" name="Google Shape;579;g3a29f53c04b_0_6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a29f53c04b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2" name="Google Shape;602;g3a29f53c04b_0_7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a29f53c04b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8" name="Google Shape;618;g3a29f53c04b_0_7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a29f53c04b_0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4" name="Google Shape;624;g3a29f53c04b_0_8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a29f53c04b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a29f53c04b_0_8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a29f53c04b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0" name="Google Shape;640;g3a29f53c04b_0_8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a29f53c04b_0_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1" name="Google Shape;651;g3a29f53c04b_0_8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a29f53c04b_0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0" name="Google Shape;660;g3a29f53c04b_0_8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a29f53c04b_0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8" name="Google Shape;668;g3a29f53c04b_0_9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a29f53c04b_0_1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4" name="Google Shape;674;g3a29f53c04b_0_12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a29f53c04b_0_1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g3a29f53c04b_0_12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a29f53c04b_0_1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0" name="Google Shape;690;g3a29f53c04b_0_12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a29f53c04b_0_1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2" name="Google Shape;712;g3a29f53c04b_0_12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a29f53c04b_0_1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0" name="Google Shape;720;g3a29f53c04b_0_12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a29f53c04b_0_1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6" name="Google Shape;726;g3a29f53c04b_0_14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a29f53c04b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g3a29f53c04b_0_14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a29f53c04b_0_1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2" name="Google Shape;742;g3a29f53c04b_0_14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a29f53c04b_0_1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9" name="Google Shape;769;g3a29f53c04b_0_14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a29f53c04b_0_1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5" name="Google Shape;795;g3a29f53c04b_0_14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a29f53c04b_0_1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g3a29f53c04b_0_15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a29f53c04b_0_1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7" name="Google Shape;827;g3a29f53c04b_0_15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a29f53c04b_0_1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3" name="Google Shape;833;g3a29f53c04b_0_19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a29f53c04b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1" name="Google Shape;841;g3a29f53c04b_0_19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a29f53c04b_0_1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3" name="Google Shape;853;g3a29f53c04b_0_19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a29f53c04b_0_1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3" name="Google Shape;873;g3a29f53c04b_0_19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a29f53c04b_0_1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8" name="Google Shape;898;g3a29f53c04b_0_19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a29f53c04b_0_2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1" name="Google Shape;921;g3a29f53c04b_0_20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a29f53c04b_0_2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43" name="Google Shape;943;g3a29f53c04b_0_20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a29f53c04b_0_2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9" name="Google Shape;949;g3a29f53c04b_0_20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3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3"/>
          <p:cNvSpPr txBox="1"/>
          <p:nvPr>
            <p:ph idx="1" type="body"/>
          </p:nvPr>
        </p:nvSpPr>
        <p:spPr>
          <a:xfrm>
            <a:off x="623888" y="4589465"/>
            <a:ext cx="7886700" cy="1181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24" name="Google Shape;24;p5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4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4"/>
          <p:cNvSpPr txBox="1"/>
          <p:nvPr>
            <p:ph idx="1" type="body"/>
          </p:nvPr>
        </p:nvSpPr>
        <p:spPr>
          <a:xfrm>
            <a:off x="254000" y="1239521"/>
            <a:ext cx="40741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54"/>
          <p:cNvSpPr txBox="1"/>
          <p:nvPr>
            <p:ph idx="2" type="body"/>
          </p:nvPr>
        </p:nvSpPr>
        <p:spPr>
          <a:xfrm>
            <a:off x="4572000" y="1239521"/>
            <a:ext cx="43180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5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5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5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55"/>
          <p:cNvSpPr txBox="1"/>
          <p:nvPr>
            <p:ph idx="2" type="body"/>
          </p:nvPr>
        </p:nvSpPr>
        <p:spPr>
          <a:xfrm>
            <a:off x="629842" y="2505075"/>
            <a:ext cx="3868340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5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55"/>
          <p:cNvSpPr txBox="1"/>
          <p:nvPr>
            <p:ph idx="4" type="body"/>
          </p:nvPr>
        </p:nvSpPr>
        <p:spPr>
          <a:xfrm>
            <a:off x="4629150" y="2505075"/>
            <a:ext cx="3887391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6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6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6" name="Google Shape;46;p56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" name="Google Shape;47;p5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7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57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5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8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8"/>
          <p:cNvSpPr txBox="1"/>
          <p:nvPr>
            <p:ph idx="1" type="body"/>
          </p:nvPr>
        </p:nvSpPr>
        <p:spPr>
          <a:xfrm rot="5400000">
            <a:off x="2634932" y="-180658"/>
            <a:ext cx="3874135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5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9"/>
          <p:cNvSpPr txBox="1"/>
          <p:nvPr>
            <p:ph type="title"/>
          </p:nvPr>
        </p:nvSpPr>
        <p:spPr>
          <a:xfrm rot="5400000">
            <a:off x="4867275" y="2041525"/>
            <a:ext cx="5324475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9"/>
          <p:cNvSpPr txBox="1"/>
          <p:nvPr>
            <p:ph idx="1" type="body"/>
          </p:nvPr>
        </p:nvSpPr>
        <p:spPr>
          <a:xfrm rot="5400000">
            <a:off x="866775" y="127000"/>
            <a:ext cx="5324475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5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9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0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1" type="body"/>
          </p:nvPr>
        </p:nvSpPr>
        <p:spPr>
          <a:xfrm>
            <a:off x="254000" y="1239521"/>
            <a:ext cx="40741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40"/>
          <p:cNvSpPr txBox="1"/>
          <p:nvPr>
            <p:ph idx="2" type="body"/>
          </p:nvPr>
        </p:nvSpPr>
        <p:spPr>
          <a:xfrm>
            <a:off x="4572000" y="1239521"/>
            <a:ext cx="43180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4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1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1"/>
          <p:cNvSpPr txBox="1"/>
          <p:nvPr>
            <p:ph idx="1" type="body"/>
          </p:nvPr>
        </p:nvSpPr>
        <p:spPr>
          <a:xfrm>
            <a:off x="254000" y="1209040"/>
            <a:ext cx="8625840" cy="4561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4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8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7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7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7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9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79"/>
          <p:cNvSpPr txBox="1"/>
          <p:nvPr>
            <p:ph idx="1" type="body"/>
          </p:nvPr>
        </p:nvSpPr>
        <p:spPr>
          <a:xfrm>
            <a:off x="623888" y="4589465"/>
            <a:ext cx="7886700" cy="1181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103" name="Google Shape;103;p7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7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7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0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80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9" name="Google Shape;109;p80"/>
          <p:cNvSpPr txBox="1"/>
          <p:nvPr>
            <p:ph idx="2" type="body"/>
          </p:nvPr>
        </p:nvSpPr>
        <p:spPr>
          <a:xfrm>
            <a:off x="629842" y="2505075"/>
            <a:ext cx="3868340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80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1" name="Google Shape;111;p80"/>
          <p:cNvSpPr txBox="1"/>
          <p:nvPr>
            <p:ph idx="4" type="body"/>
          </p:nvPr>
        </p:nvSpPr>
        <p:spPr>
          <a:xfrm>
            <a:off x="4629150" y="2505075"/>
            <a:ext cx="3887391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8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8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8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8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8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82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2" name="Google Shape;122;p82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3" name="Google Shape;123;p8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8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8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83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83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0" name="Google Shape;130;p8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8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8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4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84"/>
          <p:cNvSpPr txBox="1"/>
          <p:nvPr>
            <p:ph idx="1" type="body"/>
          </p:nvPr>
        </p:nvSpPr>
        <p:spPr>
          <a:xfrm rot="5400000">
            <a:off x="2634932" y="-180658"/>
            <a:ext cx="3874135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8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8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8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5"/>
          <p:cNvSpPr txBox="1"/>
          <p:nvPr>
            <p:ph type="title"/>
          </p:nvPr>
        </p:nvSpPr>
        <p:spPr>
          <a:xfrm rot="5400000">
            <a:off x="4867275" y="2041525"/>
            <a:ext cx="5324475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85"/>
          <p:cNvSpPr txBox="1"/>
          <p:nvPr>
            <p:ph idx="1" type="body"/>
          </p:nvPr>
        </p:nvSpPr>
        <p:spPr>
          <a:xfrm rot="5400000">
            <a:off x="866775" y="127000"/>
            <a:ext cx="5324475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8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8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8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29f53c04b_0_2039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a29f53c04b_0_2039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a29f53c04b_0_2039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9f53c04b_0_2043"/>
          <p:cNvSpPr txBox="1"/>
          <p:nvPr>
            <p:ph type="ctrTitle"/>
          </p:nvPr>
        </p:nvSpPr>
        <p:spPr>
          <a:xfrm>
            <a:off x="685800" y="1122363"/>
            <a:ext cx="77724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a29f53c04b_0_2043"/>
          <p:cNvSpPr txBox="1"/>
          <p:nvPr>
            <p:ph idx="1" type="subTitle"/>
          </p:nvPr>
        </p:nvSpPr>
        <p:spPr>
          <a:xfrm>
            <a:off x="1143000" y="3602038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8" name="Google Shape;158;g3a29f53c04b_0_204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g3a29f53c04b_0_204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g3a29f53c04b_0_204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29f53c04b_0_2049"/>
          <p:cNvSpPr txBox="1"/>
          <p:nvPr>
            <p:ph type="title"/>
          </p:nvPr>
        </p:nvSpPr>
        <p:spPr>
          <a:xfrm>
            <a:off x="623888" y="1709739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g3a29f53c04b_0_2049"/>
          <p:cNvSpPr txBox="1"/>
          <p:nvPr>
            <p:ph idx="1" type="body"/>
          </p:nvPr>
        </p:nvSpPr>
        <p:spPr>
          <a:xfrm>
            <a:off x="623888" y="4589465"/>
            <a:ext cx="78867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164" name="Google Shape;164;g3a29f53c04b_0_2049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3a29f53c04b_0_2049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g3a29f53c04b_0_2049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29f53c04b_0_205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g3a29f53c04b_0_2055"/>
          <p:cNvSpPr txBox="1"/>
          <p:nvPr>
            <p:ph idx="1" type="body"/>
          </p:nvPr>
        </p:nvSpPr>
        <p:spPr>
          <a:xfrm>
            <a:off x="254000" y="1239521"/>
            <a:ext cx="40743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g3a29f53c04b_0_2055"/>
          <p:cNvSpPr txBox="1"/>
          <p:nvPr>
            <p:ph idx="2" type="body"/>
          </p:nvPr>
        </p:nvSpPr>
        <p:spPr>
          <a:xfrm>
            <a:off x="4572000" y="1239521"/>
            <a:ext cx="43179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g3a29f53c04b_0_2055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g3a29f53c04b_0_2055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g3a29f53c04b_0_205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29f53c04b_0_2062"/>
          <p:cNvSpPr txBox="1"/>
          <p:nvPr>
            <p:ph type="title"/>
          </p:nvPr>
        </p:nvSpPr>
        <p:spPr>
          <a:xfrm>
            <a:off x="629841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g3a29f53c04b_0_2062"/>
          <p:cNvSpPr txBox="1"/>
          <p:nvPr>
            <p:ph idx="1" type="body"/>
          </p:nvPr>
        </p:nvSpPr>
        <p:spPr>
          <a:xfrm>
            <a:off x="629842" y="1681163"/>
            <a:ext cx="3868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7" name="Google Shape;177;g3a29f53c04b_0_2062"/>
          <p:cNvSpPr txBox="1"/>
          <p:nvPr>
            <p:ph idx="2" type="body"/>
          </p:nvPr>
        </p:nvSpPr>
        <p:spPr>
          <a:xfrm>
            <a:off x="629842" y="2505075"/>
            <a:ext cx="38682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g3a29f53c04b_0_2062"/>
          <p:cNvSpPr txBox="1"/>
          <p:nvPr>
            <p:ph idx="3" type="body"/>
          </p:nvPr>
        </p:nvSpPr>
        <p:spPr>
          <a:xfrm>
            <a:off x="4629150" y="1681163"/>
            <a:ext cx="3887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9" name="Google Shape;179;g3a29f53c04b_0_2062"/>
          <p:cNvSpPr txBox="1"/>
          <p:nvPr>
            <p:ph idx="4" type="body"/>
          </p:nvPr>
        </p:nvSpPr>
        <p:spPr>
          <a:xfrm>
            <a:off x="4629150" y="2505075"/>
            <a:ext cx="38874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g3a29f53c04b_0_2062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g3a29f53c04b_0_2062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g3a29f53c04b_0_206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29f53c04b_0_2071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g3a29f53c04b_0_2071"/>
          <p:cNvSpPr txBox="1"/>
          <p:nvPr>
            <p:ph idx="1" type="body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86" name="Google Shape;186;g3a29f53c04b_0_2071"/>
          <p:cNvSpPr txBox="1"/>
          <p:nvPr>
            <p:ph idx="2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87" name="Google Shape;187;g3a29f53c04b_0_207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g3a29f53c04b_0_2071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g3a29f53c04b_0_207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29f53c04b_0_2078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g3a29f53c04b_0_2078"/>
          <p:cNvSpPr/>
          <p:nvPr>
            <p:ph idx="2" type="pic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g3a29f53c04b_0_2078"/>
          <p:cNvSpPr txBox="1"/>
          <p:nvPr>
            <p:ph idx="1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4" name="Google Shape;194;g3a29f53c04b_0_2078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g3a29f53c04b_0_2078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g3a29f53c04b_0_2078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29f53c04b_0_208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g3a29f53c04b_0_2085"/>
          <p:cNvSpPr txBox="1"/>
          <p:nvPr>
            <p:ph idx="1" type="body"/>
          </p:nvPr>
        </p:nvSpPr>
        <p:spPr>
          <a:xfrm rot="5400000">
            <a:off x="2634899" y="-180626"/>
            <a:ext cx="3874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g3a29f53c04b_0_2085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g3a29f53c04b_0_2085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g3a29f53c04b_0_208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29f53c04b_0_2091"/>
          <p:cNvSpPr txBox="1"/>
          <p:nvPr>
            <p:ph type="title"/>
          </p:nvPr>
        </p:nvSpPr>
        <p:spPr>
          <a:xfrm rot="5400000">
            <a:off x="4867350" y="2041525"/>
            <a:ext cx="53244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g3a29f53c04b_0_2091"/>
          <p:cNvSpPr txBox="1"/>
          <p:nvPr>
            <p:ph idx="1" type="body"/>
          </p:nvPr>
        </p:nvSpPr>
        <p:spPr>
          <a:xfrm rot="5400000">
            <a:off x="866775" y="126925"/>
            <a:ext cx="53244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g3a29f53c04b_0_209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g3a29f53c04b_0_2091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g3a29f53c04b_0_209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29f53c04b_0_216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g3a29f53c04b_0_2167"/>
          <p:cNvSpPr txBox="1"/>
          <p:nvPr>
            <p:ph idx="1" type="body"/>
          </p:nvPr>
        </p:nvSpPr>
        <p:spPr>
          <a:xfrm>
            <a:off x="254000" y="120904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g3a29f53c04b_0_2167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g3a29f53c04b_0_2167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g3a29f53c04b_0_216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29f53c04b_0_210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g3a29f53c04b_0_2104"/>
          <p:cNvSpPr txBox="1"/>
          <p:nvPr>
            <p:ph idx="1" type="body"/>
          </p:nvPr>
        </p:nvSpPr>
        <p:spPr>
          <a:xfrm>
            <a:off x="254000" y="120904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g3a29f53c04b_0_2104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g3a29f53c04b_0_2104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g3a29f53c04b_0_210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29f53c04b_0_2110"/>
          <p:cNvSpPr txBox="1"/>
          <p:nvPr>
            <p:ph type="title"/>
          </p:nvPr>
        </p:nvSpPr>
        <p:spPr>
          <a:xfrm>
            <a:off x="254000" y="254001"/>
            <a:ext cx="75693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g3a29f53c04b_0_2110"/>
          <p:cNvSpPr txBox="1"/>
          <p:nvPr>
            <p:ph idx="1" type="body"/>
          </p:nvPr>
        </p:nvSpPr>
        <p:spPr>
          <a:xfrm>
            <a:off x="254000" y="1209040"/>
            <a:ext cx="75693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" name="Google Shape;231;g3a29f53c04b_0_2110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g3a29f53c04b_0_2110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g3a29f53c04b_0_2110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29f53c04b_0_2116"/>
          <p:cNvSpPr txBox="1"/>
          <p:nvPr>
            <p:ph type="ctrTitle"/>
          </p:nvPr>
        </p:nvSpPr>
        <p:spPr>
          <a:xfrm>
            <a:off x="685800" y="1122363"/>
            <a:ext cx="77724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g3a29f53c04b_0_2116"/>
          <p:cNvSpPr txBox="1"/>
          <p:nvPr>
            <p:ph idx="1" type="subTitle"/>
          </p:nvPr>
        </p:nvSpPr>
        <p:spPr>
          <a:xfrm>
            <a:off x="1143000" y="3602038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7" name="Google Shape;237;g3a29f53c04b_0_2116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g3a29f53c04b_0_2116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g3a29f53c04b_0_2116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29f53c04b_0_2122"/>
          <p:cNvSpPr txBox="1"/>
          <p:nvPr>
            <p:ph type="title"/>
          </p:nvPr>
        </p:nvSpPr>
        <p:spPr>
          <a:xfrm>
            <a:off x="623888" y="1709739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g3a29f53c04b_0_2122"/>
          <p:cNvSpPr txBox="1"/>
          <p:nvPr>
            <p:ph idx="1" type="body"/>
          </p:nvPr>
        </p:nvSpPr>
        <p:spPr>
          <a:xfrm>
            <a:off x="623888" y="4589465"/>
            <a:ext cx="78867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243" name="Google Shape;243;g3a29f53c04b_0_2122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g3a29f53c04b_0_2122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g3a29f53c04b_0_212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29f53c04b_0_2128"/>
          <p:cNvSpPr txBox="1"/>
          <p:nvPr>
            <p:ph type="title"/>
          </p:nvPr>
        </p:nvSpPr>
        <p:spPr>
          <a:xfrm>
            <a:off x="629841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g3a29f53c04b_0_2128"/>
          <p:cNvSpPr txBox="1"/>
          <p:nvPr>
            <p:ph idx="1" type="body"/>
          </p:nvPr>
        </p:nvSpPr>
        <p:spPr>
          <a:xfrm>
            <a:off x="629842" y="1681163"/>
            <a:ext cx="3868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9" name="Google Shape;249;g3a29f53c04b_0_2128"/>
          <p:cNvSpPr txBox="1"/>
          <p:nvPr>
            <p:ph idx="2" type="body"/>
          </p:nvPr>
        </p:nvSpPr>
        <p:spPr>
          <a:xfrm>
            <a:off x="629842" y="2505075"/>
            <a:ext cx="38682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0" name="Google Shape;250;g3a29f53c04b_0_2128"/>
          <p:cNvSpPr txBox="1"/>
          <p:nvPr>
            <p:ph idx="3" type="body"/>
          </p:nvPr>
        </p:nvSpPr>
        <p:spPr>
          <a:xfrm>
            <a:off x="4629150" y="1681163"/>
            <a:ext cx="3887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1" name="Google Shape;251;g3a29f53c04b_0_2128"/>
          <p:cNvSpPr txBox="1"/>
          <p:nvPr>
            <p:ph idx="4" type="body"/>
          </p:nvPr>
        </p:nvSpPr>
        <p:spPr>
          <a:xfrm>
            <a:off x="4629150" y="2505075"/>
            <a:ext cx="38874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2" name="Google Shape;252;g3a29f53c04b_0_2128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g3a29f53c04b_0_2128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g3a29f53c04b_0_2128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29f53c04b_0_2137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g3a29f53c04b_0_2137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g3a29f53c04b_0_213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29f53c04b_0_2141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g3a29f53c04b_0_2141"/>
          <p:cNvSpPr txBox="1"/>
          <p:nvPr>
            <p:ph idx="1" type="body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62" name="Google Shape;262;g3a29f53c04b_0_2141"/>
          <p:cNvSpPr txBox="1"/>
          <p:nvPr>
            <p:ph idx="2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63" name="Google Shape;263;g3a29f53c04b_0_214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g3a29f53c04b_0_2141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g3a29f53c04b_0_214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29f53c04b_0_2148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g3a29f53c04b_0_2148"/>
          <p:cNvSpPr/>
          <p:nvPr>
            <p:ph idx="2" type="pic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g3a29f53c04b_0_2148"/>
          <p:cNvSpPr txBox="1"/>
          <p:nvPr>
            <p:ph idx="1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70" name="Google Shape;270;g3a29f53c04b_0_2148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g3a29f53c04b_0_2148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g3a29f53c04b_0_2148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29f53c04b_0_215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g3a29f53c04b_0_2155"/>
          <p:cNvSpPr txBox="1"/>
          <p:nvPr>
            <p:ph idx="1" type="body"/>
          </p:nvPr>
        </p:nvSpPr>
        <p:spPr>
          <a:xfrm rot="5400000">
            <a:off x="2634899" y="-180626"/>
            <a:ext cx="3874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6" name="Google Shape;276;g3a29f53c04b_0_2155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g3a29f53c04b_0_2155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g3a29f53c04b_0_215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29f53c04b_0_2161"/>
          <p:cNvSpPr txBox="1"/>
          <p:nvPr>
            <p:ph type="title"/>
          </p:nvPr>
        </p:nvSpPr>
        <p:spPr>
          <a:xfrm rot="5400000">
            <a:off x="4867350" y="2041525"/>
            <a:ext cx="53244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g3a29f53c04b_0_2161"/>
          <p:cNvSpPr txBox="1"/>
          <p:nvPr>
            <p:ph idx="1" type="body"/>
          </p:nvPr>
        </p:nvSpPr>
        <p:spPr>
          <a:xfrm rot="5400000">
            <a:off x="866775" y="126925"/>
            <a:ext cx="53244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2" name="Google Shape;282;g3a29f53c04b_0_216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g3a29f53c04b_0_2161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g3a29f53c04b_0_216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29f53c04b_0_217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g3a29f53c04b_0_217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g3a29f53c04b_0_217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g3a29f53c04b_0_217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29f53c04b_0_217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g3a29f53c04b_0_2178"/>
          <p:cNvSpPr txBox="1"/>
          <p:nvPr>
            <p:ph idx="1" type="body"/>
          </p:nvPr>
        </p:nvSpPr>
        <p:spPr>
          <a:xfrm>
            <a:off x="254000" y="1239521"/>
            <a:ext cx="40743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3" name="Google Shape;293;g3a29f53c04b_0_2178"/>
          <p:cNvSpPr txBox="1"/>
          <p:nvPr>
            <p:ph idx="2" type="body"/>
          </p:nvPr>
        </p:nvSpPr>
        <p:spPr>
          <a:xfrm>
            <a:off x="4572000" y="1239521"/>
            <a:ext cx="43179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4" name="Google Shape;294;g3a29f53c04b_0_2178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g3a29f53c04b_0_2178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g3a29f53c04b_0_2178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2" Type="http://schemas.openxmlformats.org/officeDocument/2006/relationships/theme" Target="../theme/theme5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254000" y="1219201"/>
            <a:ext cx="8625840" cy="4582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8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38"/>
          <p:cNvSpPr txBox="1"/>
          <p:nvPr>
            <p:ph idx="1" type="body"/>
          </p:nvPr>
        </p:nvSpPr>
        <p:spPr>
          <a:xfrm>
            <a:off x="254000" y="1219201"/>
            <a:ext cx="8625840" cy="4582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3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3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3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38"/>
          <p:cNvSpPr txBox="1"/>
          <p:nvPr/>
        </p:nvSpPr>
        <p:spPr>
          <a:xfrm>
            <a:off x="5779958" y="6344082"/>
            <a:ext cx="3220344" cy="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C – Why is Open Research Important?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29f53c04b_0_203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g3a29f53c04b_0_2033"/>
          <p:cNvSpPr txBox="1"/>
          <p:nvPr>
            <p:ph idx="1" type="body"/>
          </p:nvPr>
        </p:nvSpPr>
        <p:spPr>
          <a:xfrm>
            <a:off x="254000" y="1219201"/>
            <a:ext cx="8625900" cy="4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g3a29f53c04b_0_203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g3a29f53c04b_0_203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g3a29f53c04b_0_203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29f53c04b_0_209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7" name="Google Shape;217;g3a29f53c04b_0_2097"/>
          <p:cNvSpPr txBox="1"/>
          <p:nvPr>
            <p:ph idx="1" type="body"/>
          </p:nvPr>
        </p:nvSpPr>
        <p:spPr>
          <a:xfrm>
            <a:off x="254000" y="1219201"/>
            <a:ext cx="8625900" cy="4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8" name="Google Shape;218;g3a29f53c04b_0_2097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9" name="Google Shape;219;g3a29f53c04b_0_2097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0" name="Google Shape;220;g3a29f53c04b_0_209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g3a29f53c04b_0_2097"/>
          <p:cNvSpPr txBox="1"/>
          <p:nvPr/>
        </p:nvSpPr>
        <p:spPr>
          <a:xfrm>
            <a:off x="5779958" y="6344082"/>
            <a:ext cx="32202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C – Why is Open Research Important?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8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8.png"/><Relationship Id="rId7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30.png"/><Relationship Id="rId5" Type="http://schemas.openxmlformats.org/officeDocument/2006/relationships/image" Target="../media/image36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8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47.png"/><Relationship Id="rId5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43.png"/><Relationship Id="rId5" Type="http://schemas.openxmlformats.org/officeDocument/2006/relationships/image" Target="../media/image32.png"/><Relationship Id="rId6" Type="http://schemas.openxmlformats.org/officeDocument/2006/relationships/image" Target="../media/image9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0.png"/><Relationship Id="rId4" Type="http://schemas.openxmlformats.org/officeDocument/2006/relationships/image" Target="../media/image9.png"/><Relationship Id="rId9" Type="http://schemas.openxmlformats.org/officeDocument/2006/relationships/image" Target="../media/image30.png"/><Relationship Id="rId5" Type="http://schemas.openxmlformats.org/officeDocument/2006/relationships/image" Target="../media/image45.png"/><Relationship Id="rId6" Type="http://schemas.openxmlformats.org/officeDocument/2006/relationships/image" Target="../media/image54.png"/><Relationship Id="rId7" Type="http://schemas.openxmlformats.org/officeDocument/2006/relationships/image" Target="../media/image39.png"/><Relationship Id="rId8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60.png"/><Relationship Id="rId5" Type="http://schemas.openxmlformats.org/officeDocument/2006/relationships/image" Target="../media/image63.png"/><Relationship Id="rId6" Type="http://schemas.openxmlformats.org/officeDocument/2006/relationships/image" Target="../media/image58.png"/><Relationship Id="rId7" Type="http://schemas.openxmlformats.org/officeDocument/2006/relationships/image" Target="../media/image68.png"/><Relationship Id="rId8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8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Relationship Id="rId4" Type="http://schemas.openxmlformats.org/officeDocument/2006/relationships/image" Target="../media/image7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Relationship Id="rId5" Type="http://schemas.openxmlformats.org/officeDocument/2006/relationships/image" Target="../media/image73.png"/><Relationship Id="rId6" Type="http://schemas.openxmlformats.org/officeDocument/2006/relationships/image" Target="../media/image51.png"/><Relationship Id="rId7" Type="http://schemas.openxmlformats.org/officeDocument/2006/relationships/image" Target="../media/image5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02.png"/><Relationship Id="rId5" Type="http://schemas.openxmlformats.org/officeDocument/2006/relationships/image" Target="../media/image87.png"/><Relationship Id="rId6" Type="http://schemas.openxmlformats.org/officeDocument/2006/relationships/image" Target="../media/image80.png"/><Relationship Id="rId7" Type="http://schemas.openxmlformats.org/officeDocument/2006/relationships/image" Target="../media/image123.png"/><Relationship Id="rId8" Type="http://schemas.openxmlformats.org/officeDocument/2006/relationships/image" Target="../media/image7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58.png"/><Relationship Id="rId5" Type="http://schemas.openxmlformats.org/officeDocument/2006/relationships/image" Target="../media/image84.png"/><Relationship Id="rId6" Type="http://schemas.openxmlformats.org/officeDocument/2006/relationships/image" Target="../media/image4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jpg"/><Relationship Id="rId4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png"/><Relationship Id="rId4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5.png"/><Relationship Id="rId4" Type="http://schemas.openxmlformats.org/officeDocument/2006/relationships/image" Target="../media/image10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Relationship Id="rId4" Type="http://schemas.openxmlformats.org/officeDocument/2006/relationships/image" Target="../media/image7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weforum.org/agenda/2020/05/global-science-collaboration-open-source-covid-19" TargetMode="External"/><Relationship Id="rId4" Type="http://schemas.openxmlformats.org/officeDocument/2006/relationships/hyperlink" Target="https://www.weforum.org/agenda/2020/05/global-science-collaboration-open-source-covid-19" TargetMode="External"/><Relationship Id="rId5" Type="http://schemas.openxmlformats.org/officeDocument/2006/relationships/hyperlink" Target="https://www.weforum.org/agenda/2020/05/global-science-collaboration-open-source-covid-19" TargetMode="External"/><Relationship Id="rId6" Type="http://schemas.openxmlformats.org/officeDocument/2006/relationships/hyperlink" Target="https://www.weforum.org/agenda/2020/05/global-science-collaboration-open-source-covid-19" TargetMode="External"/><Relationship Id="rId7" Type="http://schemas.openxmlformats.org/officeDocument/2006/relationships/image" Target="../media/image8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jpg"/><Relationship Id="rId4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8.png"/><Relationship Id="rId4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0.png"/><Relationship Id="rId4" Type="http://schemas.openxmlformats.org/officeDocument/2006/relationships/image" Target="../media/image1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3.png"/><Relationship Id="rId4" Type="http://schemas.openxmlformats.org/officeDocument/2006/relationships/image" Target="../media/image59.png"/><Relationship Id="rId5" Type="http://schemas.openxmlformats.org/officeDocument/2006/relationships/image" Target="../media/image107.png"/><Relationship Id="rId6" Type="http://schemas.openxmlformats.org/officeDocument/2006/relationships/image" Target="../media/image104.png"/><Relationship Id="rId7" Type="http://schemas.openxmlformats.org/officeDocument/2006/relationships/image" Target="../media/image1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3.png"/><Relationship Id="rId4" Type="http://schemas.openxmlformats.org/officeDocument/2006/relationships/image" Target="../media/image9.png"/><Relationship Id="rId5" Type="http://schemas.openxmlformats.org/officeDocument/2006/relationships/hyperlink" Target="https://www.youtube.com/watch?v=dVoz_QlYQUE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jpg"/><Relationship Id="rId4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8.png"/><Relationship Id="rId4" Type="http://schemas.openxmlformats.org/officeDocument/2006/relationships/image" Target="../media/image1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2.png"/><Relationship Id="rId4" Type="http://schemas.openxmlformats.org/officeDocument/2006/relationships/image" Target="../media/image30.png"/></Relationships>
</file>

<file path=ppt/slides/_rels/slide37.xml.rels><?xml version="1.0" encoding="UTF-8" standalone="yes"?><Relationships xmlns="http://schemas.openxmlformats.org/package/2006/relationships"><Relationship Id="rId10" Type="http://schemas.openxmlformats.org/officeDocument/2006/relationships/image" Target="../media/image30.png"/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Relationship Id="rId4" Type="http://schemas.openxmlformats.org/officeDocument/2006/relationships/image" Target="../media/image140.png"/><Relationship Id="rId9" Type="http://schemas.openxmlformats.org/officeDocument/2006/relationships/image" Target="../media/image143.png"/><Relationship Id="rId5" Type="http://schemas.openxmlformats.org/officeDocument/2006/relationships/image" Target="../media/image121.png"/><Relationship Id="rId6" Type="http://schemas.openxmlformats.org/officeDocument/2006/relationships/image" Target="../media/image157.png"/><Relationship Id="rId7" Type="http://schemas.openxmlformats.org/officeDocument/2006/relationships/image" Target="../media/image74.png"/><Relationship Id="rId8" Type="http://schemas.openxmlformats.org/officeDocument/2006/relationships/image" Target="../media/image9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Relationship Id="rId4" Type="http://schemas.openxmlformats.org/officeDocument/2006/relationships/image" Target="../media/image59.png"/><Relationship Id="rId5" Type="http://schemas.openxmlformats.org/officeDocument/2006/relationships/image" Target="../media/image130.png"/><Relationship Id="rId6" Type="http://schemas.openxmlformats.org/officeDocument/2006/relationships/image" Target="../media/image14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5.png"/><Relationship Id="rId4" Type="http://schemas.openxmlformats.org/officeDocument/2006/relationships/image" Target="../media/image129.png"/><Relationship Id="rId5" Type="http://schemas.openxmlformats.org/officeDocument/2006/relationships/image" Target="../media/image104.png"/><Relationship Id="rId6" Type="http://schemas.openxmlformats.org/officeDocument/2006/relationships/image" Target="../media/image14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Relationship Id="rId4" Type="http://schemas.openxmlformats.org/officeDocument/2006/relationships/image" Target="../media/image5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3.jpg"/><Relationship Id="rId4" Type="http://schemas.openxmlformats.org/officeDocument/2006/relationships/image" Target="../media/image1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8.png"/><Relationship Id="rId4" Type="http://schemas.openxmlformats.org/officeDocument/2006/relationships/image" Target="../media/image1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8.png"/><Relationship Id="rId4" Type="http://schemas.openxmlformats.org/officeDocument/2006/relationships/image" Target="../media/image120.png"/><Relationship Id="rId5" Type="http://schemas.openxmlformats.org/officeDocument/2006/relationships/image" Target="../media/image136.png"/><Relationship Id="rId6" Type="http://schemas.openxmlformats.org/officeDocument/2006/relationships/image" Target="../media/image40.png"/><Relationship Id="rId7" Type="http://schemas.openxmlformats.org/officeDocument/2006/relationships/image" Target="../media/image32.png"/><Relationship Id="rId8" Type="http://schemas.openxmlformats.org/officeDocument/2006/relationships/image" Target="../media/image7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1.png"/><Relationship Id="rId4" Type="http://schemas.openxmlformats.org/officeDocument/2006/relationships/image" Target="../media/image84.png"/><Relationship Id="rId9" Type="http://schemas.openxmlformats.org/officeDocument/2006/relationships/image" Target="../media/image138.png"/><Relationship Id="rId5" Type="http://schemas.openxmlformats.org/officeDocument/2006/relationships/image" Target="../media/image133.png"/><Relationship Id="rId6" Type="http://schemas.openxmlformats.org/officeDocument/2006/relationships/image" Target="../media/image128.png"/><Relationship Id="rId7" Type="http://schemas.openxmlformats.org/officeDocument/2006/relationships/image" Target="../media/image123.png"/><Relationship Id="rId8" Type="http://schemas.openxmlformats.org/officeDocument/2006/relationships/image" Target="../media/image12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7.png"/><Relationship Id="rId4" Type="http://schemas.openxmlformats.org/officeDocument/2006/relationships/image" Target="../media/image9.png"/><Relationship Id="rId5" Type="http://schemas.openxmlformats.org/officeDocument/2006/relationships/image" Target="../media/image77.png"/><Relationship Id="rId6" Type="http://schemas.openxmlformats.org/officeDocument/2006/relationships/image" Target="../media/image142.png"/><Relationship Id="rId7" Type="http://schemas.openxmlformats.org/officeDocument/2006/relationships/image" Target="../media/image13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33.png"/><Relationship Id="rId4" Type="http://schemas.openxmlformats.org/officeDocument/2006/relationships/image" Target="../media/image9.png"/><Relationship Id="rId5" Type="http://schemas.openxmlformats.org/officeDocument/2006/relationships/image" Target="../media/image151.png"/><Relationship Id="rId6" Type="http://schemas.openxmlformats.org/officeDocument/2006/relationships/image" Target="../media/image129.png"/><Relationship Id="rId7" Type="http://schemas.openxmlformats.org/officeDocument/2006/relationships/image" Target="../media/image150.png"/><Relationship Id="rId8" Type="http://schemas.openxmlformats.org/officeDocument/2006/relationships/image" Target="../media/image14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9.png"/><Relationship Id="rId4" Type="http://schemas.openxmlformats.org/officeDocument/2006/relationships/image" Target="../media/image153.png"/><Relationship Id="rId5" Type="http://schemas.openxmlformats.org/officeDocument/2006/relationships/image" Target="../media/image149.png"/><Relationship Id="rId6" Type="http://schemas.openxmlformats.org/officeDocument/2006/relationships/image" Target="../media/image152.png"/><Relationship Id="rId7" Type="http://schemas.openxmlformats.org/officeDocument/2006/relationships/image" Target="../media/image15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3.jp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01" name="Google Shape;301;p1"/>
          <p:cNvPicPr preferRelativeResize="0"/>
          <p:nvPr/>
        </p:nvPicPr>
        <p:blipFill rotWithShape="1">
          <a:blip r:embed="rId3">
            <a:alphaModFix/>
          </a:blip>
          <a:srcRect b="11539" l="33076" r="0" t="0"/>
          <a:stretch/>
        </p:blipFill>
        <p:spPr>
          <a:xfrm>
            <a:off x="2150534" y="0"/>
            <a:ext cx="6993466" cy="6933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302" name="Google Shape;30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"/>
          <p:cNvSpPr txBox="1"/>
          <p:nvPr/>
        </p:nvSpPr>
        <p:spPr>
          <a:xfrm>
            <a:off x="364243" y="1660140"/>
            <a:ext cx="3697118" cy="906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1"/>
          <p:cNvSpPr txBox="1"/>
          <p:nvPr/>
        </p:nvSpPr>
        <p:spPr>
          <a:xfrm>
            <a:off x="364243" y="2450863"/>
            <a:ext cx="4465334" cy="126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12"/>
          <p:cNvGrpSpPr/>
          <p:nvPr/>
        </p:nvGrpSpPr>
        <p:grpSpPr>
          <a:xfrm>
            <a:off x="2810688" y="1555200"/>
            <a:ext cx="3700425" cy="3747600"/>
            <a:chOff x="1617606" y="3441757"/>
            <a:chExt cx="2045298" cy="1989302"/>
          </a:xfrm>
        </p:grpSpPr>
        <p:pic>
          <p:nvPicPr>
            <p:cNvPr descr="Icon&#10;&#10;Description automatically generated with medium confidence" id="310" name="Google Shape;310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17606" y="3441757"/>
              <a:ext cx="1989301" cy="1989302"/>
            </a:xfrm>
            <a:prstGeom prst="rect">
              <a:avLst/>
            </a:prstGeom>
            <a:noFill/>
            <a:ln>
              <a:noFill/>
            </a:ln>
            <a:effectLst>
              <a:outerShdw blurRad="254000" sx="101000" rotWithShape="0" algn="tl" dir="2700000" dist="127000" sy="101000">
                <a:srgbClr val="000000">
                  <a:alpha val="15686"/>
                </a:srgbClr>
              </a:outerShdw>
            </a:effectLst>
          </p:spPr>
        </p:pic>
        <p:sp>
          <p:nvSpPr>
            <p:cNvPr id="311" name="Google Shape;311;p12"/>
            <p:cNvSpPr txBox="1"/>
            <p:nvPr/>
          </p:nvSpPr>
          <p:spPr>
            <a:xfrm>
              <a:off x="1673604" y="4817964"/>
              <a:ext cx="1989300" cy="539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769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Why is Open Research Important?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3"/>
          <p:cNvPicPr preferRelativeResize="0"/>
          <p:nvPr/>
        </p:nvPicPr>
        <p:blipFill rotWithShape="1">
          <a:blip r:embed="rId3">
            <a:alphaModFix/>
          </a:blip>
          <a:srcRect b="30986" l="46208" r="4263" t="51055"/>
          <a:stretch/>
        </p:blipFill>
        <p:spPr>
          <a:xfrm>
            <a:off x="3615150" y="3429000"/>
            <a:ext cx="5079712" cy="115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3"/>
          <p:cNvPicPr preferRelativeResize="0"/>
          <p:nvPr/>
        </p:nvPicPr>
        <p:blipFill rotWithShape="1">
          <a:blip r:embed="rId3">
            <a:alphaModFix/>
          </a:blip>
          <a:srcRect b="30986" l="46208" r="4263" t="51055"/>
          <a:stretch/>
        </p:blipFill>
        <p:spPr>
          <a:xfrm>
            <a:off x="3615150" y="2068380"/>
            <a:ext cx="5079712" cy="115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3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Why is open research important?</a:t>
            </a:r>
            <a:endParaRPr b="1" sz="2400"/>
          </a:p>
        </p:txBody>
      </p:sp>
      <p:sp>
        <p:nvSpPr>
          <p:cNvPr id="319" name="Google Shape;319;p13"/>
          <p:cNvSpPr txBox="1"/>
          <p:nvPr>
            <p:ph idx="2" type="body"/>
          </p:nvPr>
        </p:nvSpPr>
        <p:spPr>
          <a:xfrm>
            <a:off x="4512550" y="3539349"/>
            <a:ext cx="3939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600"/>
              <a:t>There are benefits of open research for research, researchers and students, and society</a:t>
            </a:r>
            <a:endParaRPr sz="1600"/>
          </a:p>
        </p:txBody>
      </p:sp>
      <p:sp>
        <p:nvSpPr>
          <p:cNvPr id="320" name="Google Shape;320;p13"/>
          <p:cNvSpPr txBox="1"/>
          <p:nvPr>
            <p:ph idx="2" type="body"/>
          </p:nvPr>
        </p:nvSpPr>
        <p:spPr>
          <a:xfrm>
            <a:off x="4512550" y="2149305"/>
            <a:ext cx="40914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600"/>
              <a:t>The open research movement is rapidly growing worldwide, with more researchers, funders and publishers embracing it</a:t>
            </a:r>
            <a:endParaRPr sz="1600"/>
          </a:p>
        </p:txBody>
      </p:sp>
      <p:grpSp>
        <p:nvGrpSpPr>
          <p:cNvPr id="321" name="Google Shape;321;p13"/>
          <p:cNvGrpSpPr/>
          <p:nvPr/>
        </p:nvGrpSpPr>
        <p:grpSpPr>
          <a:xfrm>
            <a:off x="379450" y="2068380"/>
            <a:ext cx="3040675" cy="2721241"/>
            <a:chOff x="379450" y="1956875"/>
            <a:chExt cx="3040675" cy="2721241"/>
          </a:xfrm>
        </p:grpSpPr>
        <p:pic>
          <p:nvPicPr>
            <p:cNvPr id="322" name="Google Shape;322;p13"/>
            <p:cNvPicPr preferRelativeResize="0"/>
            <p:nvPr/>
          </p:nvPicPr>
          <p:blipFill rotWithShape="1">
            <a:blip r:embed="rId4">
              <a:alphaModFix/>
            </a:blip>
            <a:srcRect b="26249" l="6769" r="53690" t="10844"/>
            <a:stretch/>
          </p:blipFill>
          <p:spPr>
            <a:xfrm>
              <a:off x="379450" y="1956875"/>
              <a:ext cx="3040675" cy="27212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13"/>
            <p:cNvSpPr txBox="1"/>
            <p:nvPr/>
          </p:nvSpPr>
          <p:spPr>
            <a:xfrm>
              <a:off x="449138" y="2484400"/>
              <a:ext cx="27042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Why is open research important?</a:t>
              </a:r>
              <a:endParaRPr b="0" i="0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24" name="Google Shape;324;p13"/>
          <p:cNvSpPr txBox="1"/>
          <p:nvPr/>
        </p:nvSpPr>
        <p:spPr>
          <a:xfrm>
            <a:off x="3866138" y="2401380"/>
            <a:ext cx="3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13"/>
          <p:cNvSpPr txBox="1"/>
          <p:nvPr/>
        </p:nvSpPr>
        <p:spPr>
          <a:xfrm>
            <a:off x="3942188" y="3708849"/>
            <a:ext cx="20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Why is open research important?</a:t>
            </a:r>
            <a:endParaRPr b="1" sz="2400"/>
          </a:p>
        </p:txBody>
      </p:sp>
      <p:sp>
        <p:nvSpPr>
          <p:cNvPr id="331" name="Google Shape;331;p14"/>
          <p:cNvSpPr txBox="1"/>
          <p:nvPr>
            <p:ph idx="1" type="body"/>
          </p:nvPr>
        </p:nvSpPr>
        <p:spPr>
          <a:xfrm>
            <a:off x="253975" y="130659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/>
              <a:t>Benefits of open research for research include:</a:t>
            </a:r>
            <a:endParaRPr sz="2400"/>
          </a:p>
        </p:txBody>
      </p:sp>
      <p:grpSp>
        <p:nvGrpSpPr>
          <p:cNvPr id="332" name="Google Shape;332;p14"/>
          <p:cNvGrpSpPr/>
          <p:nvPr/>
        </p:nvGrpSpPr>
        <p:grpSpPr>
          <a:xfrm>
            <a:off x="307494" y="1988174"/>
            <a:ext cx="2703251" cy="1621951"/>
            <a:chOff x="0" y="790886"/>
            <a:chExt cx="2736098" cy="1641659"/>
          </a:xfrm>
        </p:grpSpPr>
        <p:sp>
          <p:nvSpPr>
            <p:cNvPr id="333" name="Google Shape;333;p14"/>
            <p:cNvSpPr/>
            <p:nvPr/>
          </p:nvSpPr>
          <p:spPr>
            <a:xfrm>
              <a:off x="0" y="790886"/>
              <a:ext cx="2736098" cy="1641659"/>
            </a:xfrm>
            <a:prstGeom prst="rect">
              <a:avLst/>
            </a:prstGeom>
            <a:solidFill>
              <a:srgbClr val="FFF2CC"/>
            </a:solidFill>
            <a:ln>
              <a:noFill/>
            </a:ln>
          </p:spPr>
          <p:txBody>
            <a:bodyPr anchorCtr="0" anchor="t" bIns="108000" lIns="108000" spcFirstLastPara="1" rIns="108000" wrap="square" tIns="10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4"/>
            <p:cNvSpPr txBox="1"/>
            <p:nvPr/>
          </p:nvSpPr>
          <p:spPr>
            <a:xfrm>
              <a:off x="0" y="790886"/>
              <a:ext cx="2736098" cy="1641659"/>
            </a:xfrm>
            <a:prstGeom prst="rect">
              <a:avLst/>
            </a:prstGeom>
            <a:solidFill>
              <a:srgbClr val="FFF2CC"/>
            </a:solidFill>
            <a:ln>
              <a:noFill/>
            </a:ln>
          </p:spPr>
          <p:txBody>
            <a:bodyPr anchorCtr="0" anchor="ctr" bIns="108000" lIns="108000" spcFirstLastPara="1" rIns="108000" wrap="square" tIns="10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Increased research transparency and reproducibility</a:t>
              </a:r>
              <a:endPara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5" name="Google Shape;335;p14"/>
          <p:cNvGrpSpPr/>
          <p:nvPr/>
        </p:nvGrpSpPr>
        <p:grpSpPr>
          <a:xfrm>
            <a:off x="3263708" y="1988174"/>
            <a:ext cx="2703251" cy="1621951"/>
            <a:chOff x="3009708" y="790886"/>
            <a:chExt cx="2736098" cy="1641659"/>
          </a:xfrm>
        </p:grpSpPr>
        <p:sp>
          <p:nvSpPr>
            <p:cNvPr id="336" name="Google Shape;336;p14"/>
            <p:cNvSpPr/>
            <p:nvPr/>
          </p:nvSpPr>
          <p:spPr>
            <a:xfrm>
              <a:off x="3009708" y="790886"/>
              <a:ext cx="2736098" cy="16416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108000" lIns="108000" spcFirstLastPara="1" rIns="108000" wrap="square" tIns="10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4"/>
            <p:cNvSpPr txBox="1"/>
            <p:nvPr/>
          </p:nvSpPr>
          <p:spPr>
            <a:xfrm>
              <a:off x="3009708" y="790886"/>
              <a:ext cx="2736098" cy="16416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08000" lIns="108000" spcFirstLastPara="1" rIns="108000" wrap="square" tIns="10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Enhanced accessibility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and reusability of data</a:t>
              </a:r>
              <a:endPara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8" name="Google Shape;338;p14"/>
          <p:cNvGrpSpPr/>
          <p:nvPr/>
        </p:nvGrpSpPr>
        <p:grpSpPr>
          <a:xfrm>
            <a:off x="6176589" y="1988174"/>
            <a:ext cx="2703251" cy="1621951"/>
            <a:chOff x="6019416" y="790886"/>
            <a:chExt cx="2736098" cy="1641659"/>
          </a:xfrm>
        </p:grpSpPr>
        <p:sp>
          <p:nvSpPr>
            <p:cNvPr id="339" name="Google Shape;339;p14"/>
            <p:cNvSpPr/>
            <p:nvPr/>
          </p:nvSpPr>
          <p:spPr>
            <a:xfrm>
              <a:off x="6019416" y="790886"/>
              <a:ext cx="2736098" cy="1641659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Ctr="0" anchor="t" bIns="108000" lIns="108000" spcFirstLastPara="1" rIns="108000" wrap="square" tIns="10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4"/>
            <p:cNvSpPr txBox="1"/>
            <p:nvPr/>
          </p:nvSpPr>
          <p:spPr>
            <a:xfrm>
              <a:off x="6019416" y="790886"/>
              <a:ext cx="2736098" cy="1641659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Ctr="0" anchor="ctr" bIns="108000" lIns="108000" spcFirstLastPara="1" rIns="108000" wrap="square" tIns="10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Less poor research practices and greater research accountability</a:t>
              </a:r>
              <a:endPara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1" name="Google Shape;341;p14"/>
          <p:cNvGrpSpPr/>
          <p:nvPr/>
        </p:nvGrpSpPr>
        <p:grpSpPr>
          <a:xfrm>
            <a:off x="307494" y="3802205"/>
            <a:ext cx="2703251" cy="1621951"/>
            <a:chOff x="0" y="2706154"/>
            <a:chExt cx="2736098" cy="1641659"/>
          </a:xfrm>
        </p:grpSpPr>
        <p:sp>
          <p:nvSpPr>
            <p:cNvPr id="342" name="Google Shape;342;p14"/>
            <p:cNvSpPr/>
            <p:nvPr/>
          </p:nvSpPr>
          <p:spPr>
            <a:xfrm>
              <a:off x="0" y="2706154"/>
              <a:ext cx="2736098" cy="16416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108000" lIns="108000" spcFirstLastPara="1" rIns="108000" wrap="square" tIns="10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4"/>
            <p:cNvSpPr txBox="1"/>
            <p:nvPr/>
          </p:nvSpPr>
          <p:spPr>
            <a:xfrm>
              <a:off x="0" y="2706154"/>
              <a:ext cx="2736098" cy="16416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08000" lIns="108000" spcFirstLastPara="1" rIns="108000" wrap="square" tIns="10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Increased opportunities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for research collaboration</a:t>
              </a:r>
              <a:endPara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4" name="Google Shape;344;p14"/>
          <p:cNvGrpSpPr/>
          <p:nvPr/>
        </p:nvGrpSpPr>
        <p:grpSpPr>
          <a:xfrm>
            <a:off x="3263708" y="3802205"/>
            <a:ext cx="2703251" cy="1621951"/>
            <a:chOff x="3009708" y="2706154"/>
            <a:chExt cx="2736098" cy="1641659"/>
          </a:xfrm>
        </p:grpSpPr>
        <p:sp>
          <p:nvSpPr>
            <p:cNvPr id="345" name="Google Shape;345;p14"/>
            <p:cNvSpPr/>
            <p:nvPr/>
          </p:nvSpPr>
          <p:spPr>
            <a:xfrm>
              <a:off x="3009708" y="2706154"/>
              <a:ext cx="2736098" cy="1641659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Ctr="0" anchor="t" bIns="108000" lIns="108000" spcFirstLastPara="1" rIns="108000" wrap="square" tIns="10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4"/>
            <p:cNvSpPr txBox="1"/>
            <p:nvPr/>
          </p:nvSpPr>
          <p:spPr>
            <a:xfrm>
              <a:off x="3009708" y="2706154"/>
              <a:ext cx="2736098" cy="1641659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Ctr="0" anchor="ctr" bIns="108000" lIns="108000" spcFirstLastPara="1" rIns="108000" wrap="square" tIns="10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Improved visibility of research findings</a:t>
              </a:r>
              <a:endPara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7" name="Google Shape;347;p14"/>
          <p:cNvGrpSpPr/>
          <p:nvPr/>
        </p:nvGrpSpPr>
        <p:grpSpPr>
          <a:xfrm>
            <a:off x="6176589" y="3802205"/>
            <a:ext cx="2703251" cy="1621951"/>
            <a:chOff x="6019416" y="2706154"/>
            <a:chExt cx="2736098" cy="1641659"/>
          </a:xfrm>
        </p:grpSpPr>
        <p:sp>
          <p:nvSpPr>
            <p:cNvPr id="348" name="Google Shape;348;p14"/>
            <p:cNvSpPr/>
            <p:nvPr/>
          </p:nvSpPr>
          <p:spPr>
            <a:xfrm>
              <a:off x="6019416" y="2706154"/>
              <a:ext cx="2736098" cy="1641659"/>
            </a:xfrm>
            <a:prstGeom prst="rect">
              <a:avLst/>
            </a:prstGeom>
            <a:solidFill>
              <a:srgbClr val="FFF2CC"/>
            </a:solidFill>
            <a:ln>
              <a:noFill/>
            </a:ln>
          </p:spPr>
          <p:txBody>
            <a:bodyPr anchorCtr="0" anchor="t" bIns="108000" lIns="108000" spcFirstLastPara="1" rIns="108000" wrap="square" tIns="10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4"/>
            <p:cNvSpPr txBox="1"/>
            <p:nvPr/>
          </p:nvSpPr>
          <p:spPr>
            <a:xfrm>
              <a:off x="6019416" y="2706154"/>
              <a:ext cx="2736098" cy="1641659"/>
            </a:xfrm>
            <a:prstGeom prst="rect">
              <a:avLst/>
            </a:prstGeom>
            <a:solidFill>
              <a:srgbClr val="FFF2CC"/>
            </a:solidFill>
            <a:ln>
              <a:noFill/>
            </a:ln>
          </p:spPr>
          <p:txBody>
            <a:bodyPr anchorCtr="0" anchor="ctr" bIns="108000" lIns="108000" spcFirstLastPara="1" rIns="108000" wrap="square" tIns="10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Encouragement of broader society participation in research </a:t>
              </a:r>
              <a:endPara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354" name="Google Shape;3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355" name="Google Shape;35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60" name="Google Shape;360;g3a29f53c04b_0_199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361" name="Google Shape;361;g3a29f53c04b_0_1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a29f53c04b_0_199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g3a29f53c04b_0_199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29f53c04b_0_206"/>
          <p:cNvSpPr txBox="1"/>
          <p:nvPr/>
        </p:nvSpPr>
        <p:spPr>
          <a:xfrm>
            <a:off x="2216852" y="2626360"/>
            <a:ext cx="47103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1800"/>
              <a:buFont typeface="Roboto"/>
              <a:buNone/>
            </a:pPr>
            <a:r>
              <a:rPr b="0" i="0" lang="en-US" sz="3200" u="none" cap="none" strike="noStrike">
                <a:solidFill>
                  <a:srgbClr val="252244"/>
                </a:solidFill>
                <a:latin typeface="Roboto"/>
                <a:ea typeface="Roboto"/>
                <a:cs typeface="Roboto"/>
                <a:sym typeface="Roboto"/>
              </a:rPr>
              <a:t>Increased research transparency and reproducibility</a:t>
            </a:r>
            <a:endParaRPr/>
          </a:p>
        </p:txBody>
      </p:sp>
      <p:pic>
        <p:nvPicPr>
          <p:cNvPr descr="A picture containing text&#10;&#10;Description automatically generated" id="369" name="Google Shape;369;g3a29f53c04b_0_2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17710"/>
            <a:ext cx="2560322" cy="4350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ight&#10;&#10;Description automatically generated" id="370" name="Google Shape;370;g3a29f53c04b_0_2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7182433" y="2124222"/>
            <a:ext cx="1991708" cy="4149969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a29f53c04b_0_20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a29f53c04b_0_21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How does open research increase transparency and reproducibility of research outputs?</a:t>
            </a:r>
            <a:endParaRPr b="1" sz="2400"/>
          </a:p>
        </p:txBody>
      </p:sp>
      <p:pic>
        <p:nvPicPr>
          <p:cNvPr descr="A picture containing light&#10;&#10;Description automatically generated" id="377" name="Google Shape;377;g3a29f53c04b_0_213"/>
          <p:cNvPicPr preferRelativeResize="0"/>
          <p:nvPr/>
        </p:nvPicPr>
        <p:blipFill rotWithShape="1">
          <a:blip r:embed="rId3">
            <a:alphaModFix/>
          </a:blip>
          <a:srcRect b="49130" l="0" r="0" t="0"/>
          <a:stretch/>
        </p:blipFill>
        <p:spPr>
          <a:xfrm>
            <a:off x="-235090" y="3831630"/>
            <a:ext cx="2123275" cy="2250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ight&#10;&#10;Description automatically generated" id="378" name="Google Shape;378;g3a29f53c04b_0_213"/>
          <p:cNvPicPr preferRelativeResize="0"/>
          <p:nvPr/>
        </p:nvPicPr>
        <p:blipFill rotWithShape="1">
          <a:blip r:embed="rId4">
            <a:alphaModFix/>
          </a:blip>
          <a:srcRect b="65631" l="29624" r="21147" t="0"/>
          <a:stretch/>
        </p:blipFill>
        <p:spPr>
          <a:xfrm>
            <a:off x="-155813" y="648809"/>
            <a:ext cx="3505714" cy="367145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3a29f53c04b_0_213"/>
          <p:cNvSpPr txBox="1"/>
          <p:nvPr/>
        </p:nvSpPr>
        <p:spPr>
          <a:xfrm>
            <a:off x="512981" y="1853608"/>
            <a:ext cx="1992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what ways does open research increase transparency and reproducibility of research outputs?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80" name="Google Shape;380;g3a29f53c04b_0_213"/>
          <p:cNvGrpSpPr/>
          <p:nvPr/>
        </p:nvGrpSpPr>
        <p:grpSpPr>
          <a:xfrm>
            <a:off x="3061380" y="1336326"/>
            <a:ext cx="5465121" cy="4185349"/>
            <a:chOff x="3061380" y="1389145"/>
            <a:chExt cx="5465121" cy="4185349"/>
          </a:xfrm>
        </p:grpSpPr>
        <p:grpSp>
          <p:nvGrpSpPr>
            <p:cNvPr id="381" name="Google Shape;381;g3a29f53c04b_0_213"/>
            <p:cNvGrpSpPr/>
            <p:nvPr/>
          </p:nvGrpSpPr>
          <p:grpSpPr>
            <a:xfrm>
              <a:off x="3061701" y="1389145"/>
              <a:ext cx="5464800" cy="1195200"/>
              <a:chOff x="3061701" y="1389145"/>
              <a:chExt cx="5464800" cy="1195200"/>
            </a:xfrm>
          </p:grpSpPr>
          <p:sp>
            <p:nvSpPr>
              <p:cNvPr id="382" name="Google Shape;382;g3a29f53c04b_0_213"/>
              <p:cNvSpPr/>
              <p:nvPr/>
            </p:nvSpPr>
            <p:spPr>
              <a:xfrm>
                <a:off x="3061701" y="1389145"/>
                <a:ext cx="5464800" cy="1195200"/>
              </a:xfrm>
              <a:prstGeom prst="roundRect">
                <a:avLst>
                  <a:gd fmla="val 16667" name="adj"/>
                </a:avLst>
              </a:prstGeom>
              <a:solidFill>
                <a:srgbClr val="FEE599">
                  <a:alpha val="58040"/>
                </a:srgbClr>
              </a:solidFill>
              <a:ln cap="flat" cmpd="sng" w="9525">
                <a:solidFill>
                  <a:srgbClr val="FFF2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1873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83" name="Google Shape;383;g3a29f53c04b_0_213"/>
              <p:cNvSpPr txBox="1"/>
              <p:nvPr/>
            </p:nvSpPr>
            <p:spPr>
              <a:xfrm>
                <a:off x="3994464" y="1653241"/>
                <a:ext cx="45318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By being very clear and outlining exactly what was done and how it was done</a:t>
                </a:r>
                <a:endParaRPr/>
              </a:p>
            </p:txBody>
          </p:sp>
          <p:sp>
            <p:nvSpPr>
              <p:cNvPr id="384" name="Google Shape;384;g3a29f53c04b_0_213"/>
              <p:cNvSpPr/>
              <p:nvPr/>
            </p:nvSpPr>
            <p:spPr>
              <a:xfrm>
                <a:off x="3178564" y="1598862"/>
                <a:ext cx="777600" cy="781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85" name="Google Shape;385;g3a29f53c04b_0_21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259977" y="1657895"/>
                <a:ext cx="611422" cy="67304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86" name="Google Shape;386;g3a29f53c04b_0_213"/>
            <p:cNvGrpSpPr/>
            <p:nvPr/>
          </p:nvGrpSpPr>
          <p:grpSpPr>
            <a:xfrm>
              <a:off x="3061701" y="2884220"/>
              <a:ext cx="5464800" cy="1195200"/>
              <a:chOff x="3061701" y="2812809"/>
              <a:chExt cx="5464800" cy="1195200"/>
            </a:xfrm>
          </p:grpSpPr>
          <p:sp>
            <p:nvSpPr>
              <p:cNvPr id="387" name="Google Shape;387;g3a29f53c04b_0_213"/>
              <p:cNvSpPr/>
              <p:nvPr/>
            </p:nvSpPr>
            <p:spPr>
              <a:xfrm>
                <a:off x="3061701" y="2812809"/>
                <a:ext cx="5464800" cy="1195200"/>
              </a:xfrm>
              <a:prstGeom prst="roundRect">
                <a:avLst>
                  <a:gd fmla="val 16667" name="adj"/>
                </a:avLst>
              </a:prstGeom>
              <a:solidFill>
                <a:srgbClr val="FEE599">
                  <a:alpha val="58040"/>
                </a:srgbClr>
              </a:solidFill>
              <a:ln cap="flat" cmpd="sng" w="9525">
                <a:solidFill>
                  <a:srgbClr val="FFF2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1873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88" name="Google Shape;388;g3a29f53c04b_0_213"/>
              <p:cNvSpPr txBox="1"/>
              <p:nvPr/>
            </p:nvSpPr>
            <p:spPr>
              <a:xfrm>
                <a:off x="3994464" y="2949522"/>
                <a:ext cx="4531800" cy="9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This can include clearly stating what, when and/or how archives or repositories were searched to identify research documents </a:t>
                </a:r>
                <a:endParaRPr/>
              </a:p>
            </p:txBody>
          </p:sp>
          <p:sp>
            <p:nvSpPr>
              <p:cNvPr id="389" name="Google Shape;389;g3a29f53c04b_0_213"/>
              <p:cNvSpPr/>
              <p:nvPr/>
            </p:nvSpPr>
            <p:spPr>
              <a:xfrm>
                <a:off x="3178564" y="3022526"/>
                <a:ext cx="777600" cy="781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 picture containing text, furniture, file, chest of drawers&#10;&#10;Description automatically generated" id="390" name="Google Shape;390;g3a29f53c04b_0_21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274635" y="2994315"/>
                <a:ext cx="512109" cy="7753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91" name="Google Shape;391;g3a29f53c04b_0_213"/>
            <p:cNvGrpSpPr/>
            <p:nvPr/>
          </p:nvGrpSpPr>
          <p:grpSpPr>
            <a:xfrm>
              <a:off x="3061380" y="4379294"/>
              <a:ext cx="5464800" cy="1195200"/>
              <a:chOff x="3565688" y="4359289"/>
              <a:chExt cx="5464800" cy="1195200"/>
            </a:xfrm>
          </p:grpSpPr>
          <p:sp>
            <p:nvSpPr>
              <p:cNvPr id="392" name="Google Shape;392;g3a29f53c04b_0_213"/>
              <p:cNvSpPr/>
              <p:nvPr/>
            </p:nvSpPr>
            <p:spPr>
              <a:xfrm>
                <a:off x="3565688" y="4359289"/>
                <a:ext cx="5464800" cy="1195200"/>
              </a:xfrm>
              <a:prstGeom prst="roundRect">
                <a:avLst>
                  <a:gd fmla="val 16667" name="adj"/>
                </a:avLst>
              </a:prstGeom>
              <a:solidFill>
                <a:srgbClr val="FEE599">
                  <a:alpha val="58040"/>
                </a:srgbClr>
              </a:solidFill>
              <a:ln cap="flat" cmpd="sng" w="9525">
                <a:solidFill>
                  <a:srgbClr val="FFF2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1873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93" name="Google Shape;393;g3a29f53c04b_0_213"/>
              <p:cNvSpPr txBox="1"/>
              <p:nvPr/>
            </p:nvSpPr>
            <p:spPr>
              <a:xfrm>
                <a:off x="4521009" y="4512925"/>
                <a:ext cx="4359000" cy="9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could also include clearly outlining all steps in an experimental study and/or all the steps and statistical code used to analyse data</a:t>
                </a:r>
                <a:endParaRPr/>
              </a:p>
            </p:txBody>
          </p:sp>
          <p:grpSp>
            <p:nvGrpSpPr>
              <p:cNvPr id="394" name="Google Shape;394;g3a29f53c04b_0_213"/>
              <p:cNvGrpSpPr/>
              <p:nvPr/>
            </p:nvGrpSpPr>
            <p:grpSpPr>
              <a:xfrm>
                <a:off x="3721172" y="4566289"/>
                <a:ext cx="777600" cy="781200"/>
                <a:chOff x="3721172" y="4613315"/>
                <a:chExt cx="777600" cy="781200"/>
              </a:xfrm>
            </p:grpSpPr>
            <p:sp>
              <p:nvSpPr>
                <p:cNvPr id="395" name="Google Shape;395;g3a29f53c04b_0_213"/>
                <p:cNvSpPr/>
                <p:nvPr/>
              </p:nvSpPr>
              <p:spPr>
                <a:xfrm>
                  <a:off x="3721172" y="4613315"/>
                  <a:ext cx="777600" cy="7812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396" name="Google Shape;396;g3a29f53c04b_0_213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28178" r="19328" t="26788"/>
                <a:stretch/>
              </p:blipFill>
              <p:spPr>
                <a:xfrm>
                  <a:off x="3903197" y="4657623"/>
                  <a:ext cx="395799" cy="70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29f53c04b_0_23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Roboto"/>
              <a:buNone/>
            </a:pPr>
            <a:r>
              <a:rPr b="1" lang="en-US" sz="2400"/>
              <a:t>How does open research increase transparency and reproducibility of research outputs?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Roboto"/>
              <a:buNone/>
            </a:pPr>
            <a:r>
              <a:t/>
            </a:r>
            <a:endParaRPr/>
          </a:p>
        </p:txBody>
      </p:sp>
      <p:grpSp>
        <p:nvGrpSpPr>
          <p:cNvPr id="402" name="Google Shape;402;g3a29f53c04b_0_237"/>
          <p:cNvGrpSpPr/>
          <p:nvPr/>
        </p:nvGrpSpPr>
        <p:grpSpPr>
          <a:xfrm>
            <a:off x="150369" y="1933823"/>
            <a:ext cx="2361300" cy="2239148"/>
            <a:chOff x="150369" y="1933868"/>
            <a:chExt cx="2361300" cy="2240268"/>
          </a:xfrm>
        </p:grpSpPr>
        <p:grpSp>
          <p:nvGrpSpPr>
            <p:cNvPr id="403" name="Google Shape;403;g3a29f53c04b_0_237"/>
            <p:cNvGrpSpPr/>
            <p:nvPr/>
          </p:nvGrpSpPr>
          <p:grpSpPr>
            <a:xfrm>
              <a:off x="150369" y="1933868"/>
              <a:ext cx="2361300" cy="2240268"/>
              <a:chOff x="150369" y="1933868"/>
              <a:chExt cx="2361300" cy="2240268"/>
            </a:xfrm>
          </p:grpSpPr>
          <p:sp>
            <p:nvSpPr>
              <p:cNvPr id="404" name="Google Shape;404;g3a29f53c04b_0_237"/>
              <p:cNvSpPr txBox="1"/>
              <p:nvPr/>
            </p:nvSpPr>
            <p:spPr>
              <a:xfrm>
                <a:off x="150369" y="3515336"/>
                <a:ext cx="2361300" cy="6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11430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Open research also encourages researchers to share their data with other researchers</a:t>
                </a:r>
                <a:endParaRPr/>
              </a:p>
            </p:txBody>
          </p:sp>
          <p:sp>
            <p:nvSpPr>
              <p:cNvPr id="405" name="Google Shape;405;g3a29f53c04b_0_237"/>
              <p:cNvSpPr/>
              <p:nvPr/>
            </p:nvSpPr>
            <p:spPr>
              <a:xfrm>
                <a:off x="635779" y="1972648"/>
                <a:ext cx="1526100" cy="15261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 picture containing text, vector graphics&#10;&#10;Description automatically generated" id="406" name="Google Shape;406;g3a29f53c04b_0_237"/>
              <p:cNvPicPr preferRelativeResize="0"/>
              <p:nvPr/>
            </p:nvPicPr>
            <p:blipFill rotWithShape="1">
              <a:blip r:embed="rId3">
                <a:alphaModFix/>
              </a:blip>
              <a:srcRect b="48982" l="49725" r="3019" t="8777"/>
              <a:stretch/>
            </p:blipFill>
            <p:spPr>
              <a:xfrm>
                <a:off x="635779" y="1933868"/>
                <a:ext cx="1390422" cy="12852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 picture containing text&#10;&#10;Description automatically generated" id="407" name="Google Shape;407;g3a29f53c04b_0_237"/>
            <p:cNvPicPr preferRelativeResize="0"/>
            <p:nvPr/>
          </p:nvPicPr>
          <p:blipFill rotWithShape="1">
            <a:blip r:embed="rId4">
              <a:alphaModFix/>
            </a:blip>
            <a:srcRect b="55152" l="0" r="71251" t="29132"/>
            <a:stretch/>
          </p:blipFill>
          <p:spPr>
            <a:xfrm rot="817466">
              <a:off x="1465972" y="2437556"/>
              <a:ext cx="710825" cy="61244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8" name="Google Shape;408;g3a29f53c04b_0_237"/>
          <p:cNvGrpSpPr/>
          <p:nvPr/>
        </p:nvGrpSpPr>
        <p:grpSpPr>
          <a:xfrm>
            <a:off x="2251874" y="1974610"/>
            <a:ext cx="2361300" cy="3050254"/>
            <a:chOff x="2251874" y="1974610"/>
            <a:chExt cx="2361300" cy="3050254"/>
          </a:xfrm>
        </p:grpSpPr>
        <p:sp>
          <p:nvSpPr>
            <p:cNvPr id="409" name="Google Shape;409;g3a29f53c04b_0_237"/>
            <p:cNvSpPr txBox="1"/>
            <p:nvPr/>
          </p:nvSpPr>
          <p:spPr>
            <a:xfrm>
              <a:off x="2251874" y="1974610"/>
              <a:ext cx="2361300" cy="6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11430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Data is information collected, recorded or created during the research process to validate research findings</a:t>
              </a:r>
              <a:endParaRPr/>
            </a:p>
          </p:txBody>
        </p:sp>
        <p:sp>
          <p:nvSpPr>
            <p:cNvPr id="410" name="Google Shape;410;g3a29f53c04b_0_237"/>
            <p:cNvSpPr/>
            <p:nvPr/>
          </p:nvSpPr>
          <p:spPr>
            <a:xfrm>
              <a:off x="2747207" y="3498764"/>
              <a:ext cx="1526100" cy="1526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Engineering drawing&#10;&#10;Description automatically generated with medium confidence" id="411" name="Google Shape;411;g3a29f53c04b_0_2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55287" y="3638293"/>
              <a:ext cx="1326953" cy="108251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" name="Google Shape;412;g3a29f53c04b_0_237"/>
          <p:cNvGrpSpPr/>
          <p:nvPr/>
        </p:nvGrpSpPr>
        <p:grpSpPr>
          <a:xfrm>
            <a:off x="6578393" y="2001704"/>
            <a:ext cx="2358000" cy="3041082"/>
            <a:chOff x="6578393" y="2001704"/>
            <a:chExt cx="2358000" cy="3041082"/>
          </a:xfrm>
        </p:grpSpPr>
        <p:sp>
          <p:nvSpPr>
            <p:cNvPr id="413" name="Google Shape;413;g3a29f53c04b_0_237"/>
            <p:cNvSpPr txBox="1"/>
            <p:nvPr/>
          </p:nvSpPr>
          <p:spPr>
            <a:xfrm>
              <a:off x="6578393" y="2001704"/>
              <a:ext cx="2358000" cy="84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11430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Open data helps other researchers to independently validate (or attempt to reproduce) the research</a:t>
              </a:r>
              <a:endParaRPr/>
            </a:p>
          </p:txBody>
        </p:sp>
        <p:sp>
          <p:nvSpPr>
            <p:cNvPr id="414" name="Google Shape;414;g3a29f53c04b_0_237"/>
            <p:cNvSpPr/>
            <p:nvPr/>
          </p:nvSpPr>
          <p:spPr>
            <a:xfrm>
              <a:off x="6982105" y="3516686"/>
              <a:ext cx="1526100" cy="1526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highlight>
                  <a:srgbClr val="8DD2AF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con&#10;&#10;Description automatically generated" id="415" name="Google Shape;415;g3a29f53c04b_0_23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982105" y="3493333"/>
              <a:ext cx="1313206" cy="14563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6" name="Google Shape;416;g3a29f53c04b_0_237"/>
          <p:cNvGrpSpPr/>
          <p:nvPr/>
        </p:nvGrpSpPr>
        <p:grpSpPr>
          <a:xfrm>
            <a:off x="4400736" y="1972648"/>
            <a:ext cx="2358000" cy="2445731"/>
            <a:chOff x="4400736" y="1972648"/>
            <a:chExt cx="2358000" cy="2445731"/>
          </a:xfrm>
        </p:grpSpPr>
        <p:sp>
          <p:nvSpPr>
            <p:cNvPr id="417" name="Google Shape;417;g3a29f53c04b_0_237"/>
            <p:cNvSpPr txBox="1"/>
            <p:nvPr/>
          </p:nvSpPr>
          <p:spPr>
            <a:xfrm>
              <a:off x="4400736" y="3571179"/>
              <a:ext cx="2358000" cy="84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11430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65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Data can be made available on online repositories</a:t>
              </a:r>
              <a:endParaRPr/>
            </a:p>
          </p:txBody>
        </p:sp>
        <p:sp>
          <p:nvSpPr>
            <p:cNvPr id="418" name="Google Shape;418;g3a29f53c04b_0_237"/>
            <p:cNvSpPr/>
            <p:nvPr/>
          </p:nvSpPr>
          <p:spPr>
            <a:xfrm>
              <a:off x="4811449" y="1972648"/>
              <a:ext cx="1526100" cy="1526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icon&#10;&#10;Description automatically generated" id="419" name="Google Shape;419;g3a29f53c04b_0_23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036901" y="2001704"/>
              <a:ext cx="1075212" cy="14563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424" name="Google Shape;424;g3a29f53c04b_0_2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425" name="Google Shape;425;g3a29f53c04b_0_2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430" name="Google Shape;430;g3a29f53c04b_0_392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431" name="Google Shape;431;g3a29f53c04b_0_3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g3a29f53c04b_0_392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g3a29f53c04b_0_392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29f53c04b_0_399"/>
          <p:cNvSpPr txBox="1"/>
          <p:nvPr/>
        </p:nvSpPr>
        <p:spPr>
          <a:xfrm>
            <a:off x="2216852" y="2626360"/>
            <a:ext cx="47103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1600"/>
              <a:buFont typeface="Roboto"/>
              <a:buNone/>
            </a:pPr>
            <a:r>
              <a:rPr b="0" i="0" lang="en-US" sz="3200" u="none" cap="none" strike="noStrike">
                <a:solidFill>
                  <a:srgbClr val="252244"/>
                </a:solidFill>
                <a:latin typeface="Roboto"/>
                <a:ea typeface="Roboto"/>
                <a:cs typeface="Roboto"/>
                <a:sym typeface="Roboto"/>
              </a:rPr>
              <a:t>Enhanced accessibility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1600"/>
              <a:buFont typeface="Roboto"/>
              <a:buNone/>
            </a:pPr>
            <a:r>
              <a:rPr b="0" i="0" lang="en-US" sz="3200" u="none" cap="none" strike="noStrike">
                <a:solidFill>
                  <a:srgbClr val="252244"/>
                </a:solidFill>
                <a:latin typeface="Roboto"/>
                <a:ea typeface="Roboto"/>
                <a:cs typeface="Roboto"/>
                <a:sym typeface="Roboto"/>
              </a:rPr>
              <a:t>and reusability of data</a:t>
            </a:r>
            <a:endParaRPr/>
          </a:p>
        </p:txBody>
      </p:sp>
      <p:pic>
        <p:nvPicPr>
          <p:cNvPr descr="A picture containing text, silhouette&#10;&#10;Description automatically generated" id="439" name="Google Shape;439;g3a29f53c04b_0_3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429000"/>
            <a:ext cx="2241788" cy="2830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&#10;&#10;Description automatically generated" id="440" name="Google Shape;440;g3a29f53c04b_0_3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3743" y="4617435"/>
            <a:ext cx="1975045" cy="16419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441" name="Google Shape;441;g3a29f53c04b_0_3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6219592" y="2992812"/>
            <a:ext cx="2821331" cy="3249248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g3a29f53c04b_0_39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a29f53c04b_0_40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What is open data?</a:t>
            </a:r>
            <a:endParaRPr b="1" sz="2400"/>
          </a:p>
        </p:txBody>
      </p:sp>
      <p:grpSp>
        <p:nvGrpSpPr>
          <p:cNvPr id="448" name="Google Shape;448;g3a29f53c04b_0_407"/>
          <p:cNvGrpSpPr/>
          <p:nvPr/>
        </p:nvGrpSpPr>
        <p:grpSpPr>
          <a:xfrm>
            <a:off x="4029198" y="659917"/>
            <a:ext cx="4842628" cy="2674804"/>
            <a:chOff x="4029198" y="659917"/>
            <a:chExt cx="4842628" cy="2674804"/>
          </a:xfrm>
        </p:grpSpPr>
        <p:sp>
          <p:nvSpPr>
            <p:cNvPr id="449" name="Google Shape;449;g3a29f53c04b_0_407"/>
            <p:cNvSpPr/>
            <p:nvPr/>
          </p:nvSpPr>
          <p:spPr>
            <a:xfrm>
              <a:off x="4029198" y="710320"/>
              <a:ext cx="4765800" cy="2624400"/>
            </a:xfrm>
            <a:prstGeom prst="rect">
              <a:avLst/>
            </a:prstGeom>
            <a:solidFill>
              <a:srgbClr val="FFE9B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0" name="Google Shape;450;g3a29f53c04b_0_407"/>
            <p:cNvPicPr preferRelativeResize="0"/>
            <p:nvPr/>
          </p:nvPicPr>
          <p:blipFill rotWithShape="1">
            <a:blip r:embed="rId3">
              <a:alphaModFix/>
            </a:blip>
            <a:srcRect b="26250" l="6769" r="53691" t="10844"/>
            <a:stretch/>
          </p:blipFill>
          <p:spPr>
            <a:xfrm>
              <a:off x="4133823" y="659917"/>
              <a:ext cx="3810365" cy="26064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g3a29f53c04b_0_407"/>
            <p:cNvSpPr txBox="1"/>
            <p:nvPr/>
          </p:nvSpPr>
          <p:spPr>
            <a:xfrm>
              <a:off x="4544802" y="1118729"/>
              <a:ext cx="27564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Research data is information collected, generated, recorded or used to validate/underpin the primary findings of a research project or study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A picture containing text&#10;&#10;Description automatically generated" id="452" name="Google Shape;452;g3a29f53c04b_0_407"/>
            <p:cNvPicPr preferRelativeResize="0"/>
            <p:nvPr/>
          </p:nvPicPr>
          <p:blipFill rotWithShape="1">
            <a:blip r:embed="rId4">
              <a:alphaModFix/>
            </a:blip>
            <a:srcRect b="40408" l="0" r="0" t="0"/>
            <a:stretch/>
          </p:blipFill>
          <p:spPr>
            <a:xfrm flipH="1">
              <a:off x="7128966" y="1174489"/>
              <a:ext cx="1742860" cy="21602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3" name="Google Shape;453;g3a29f53c04b_0_407"/>
          <p:cNvGrpSpPr/>
          <p:nvPr/>
        </p:nvGrpSpPr>
        <p:grpSpPr>
          <a:xfrm>
            <a:off x="233129" y="495174"/>
            <a:ext cx="4062383" cy="3453024"/>
            <a:chOff x="233129" y="495174"/>
            <a:chExt cx="4062383" cy="3453024"/>
          </a:xfrm>
        </p:grpSpPr>
        <p:sp>
          <p:nvSpPr>
            <p:cNvPr id="454" name="Google Shape;454;g3a29f53c04b_0_407"/>
            <p:cNvSpPr/>
            <p:nvPr/>
          </p:nvSpPr>
          <p:spPr>
            <a:xfrm>
              <a:off x="233129" y="712275"/>
              <a:ext cx="3711300" cy="2624400"/>
            </a:xfrm>
            <a:prstGeom prst="rect">
              <a:avLst/>
            </a:prstGeom>
            <a:solidFill>
              <a:srgbClr val="FFE9B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5" name="Google Shape;455;g3a29f53c04b_0_407"/>
            <p:cNvPicPr preferRelativeResize="0"/>
            <p:nvPr/>
          </p:nvPicPr>
          <p:blipFill rotWithShape="1">
            <a:blip r:embed="rId3">
              <a:alphaModFix/>
            </a:blip>
            <a:srcRect b="26250" l="6769" r="53691" t="10844"/>
            <a:stretch/>
          </p:blipFill>
          <p:spPr>
            <a:xfrm rot="8906685">
              <a:off x="1331004" y="959543"/>
              <a:ext cx="2487941" cy="2524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6" name="Google Shape;456;g3a29f53c04b_0_407"/>
            <p:cNvSpPr txBox="1"/>
            <p:nvPr/>
          </p:nvSpPr>
          <p:spPr>
            <a:xfrm>
              <a:off x="1883645" y="1723869"/>
              <a:ext cx="17427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Open data is research data that anyone can use access and share</a:t>
              </a:r>
              <a:endParaRPr/>
            </a:p>
          </p:txBody>
        </p:sp>
        <p:pic>
          <p:nvPicPr>
            <p:cNvPr descr="A picture containing text&#10;&#10;Description automatically generated" id="457" name="Google Shape;457;g3a29f53c04b_0_407"/>
            <p:cNvPicPr preferRelativeResize="0"/>
            <p:nvPr/>
          </p:nvPicPr>
          <p:blipFill rotWithShape="1">
            <a:blip r:embed="rId5">
              <a:alphaModFix/>
            </a:blip>
            <a:srcRect b="49857" l="22088" r="0" t="0"/>
            <a:stretch/>
          </p:blipFill>
          <p:spPr>
            <a:xfrm>
              <a:off x="272174" y="1082356"/>
              <a:ext cx="2066481" cy="228894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8" name="Google Shape;458;g3a29f53c04b_0_407"/>
          <p:cNvGrpSpPr/>
          <p:nvPr/>
        </p:nvGrpSpPr>
        <p:grpSpPr>
          <a:xfrm>
            <a:off x="4574351" y="2987359"/>
            <a:ext cx="4223373" cy="3782430"/>
            <a:chOff x="4574351" y="2987359"/>
            <a:chExt cx="4223373" cy="3782430"/>
          </a:xfrm>
        </p:grpSpPr>
        <p:sp>
          <p:nvSpPr>
            <p:cNvPr id="459" name="Google Shape;459;g3a29f53c04b_0_407"/>
            <p:cNvSpPr/>
            <p:nvPr/>
          </p:nvSpPr>
          <p:spPr>
            <a:xfrm>
              <a:off x="5083831" y="3398903"/>
              <a:ext cx="3711300" cy="2624400"/>
            </a:xfrm>
            <a:prstGeom prst="rect">
              <a:avLst/>
            </a:prstGeom>
            <a:solidFill>
              <a:srgbClr val="FFE9B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0" name="Google Shape;460;g3a29f53c04b_0_407"/>
            <p:cNvPicPr preferRelativeResize="0"/>
            <p:nvPr/>
          </p:nvPicPr>
          <p:blipFill rotWithShape="1">
            <a:blip r:embed="rId3">
              <a:alphaModFix/>
            </a:blip>
            <a:srcRect b="26250" l="6769" r="53691" t="10844"/>
            <a:stretch/>
          </p:blipFill>
          <p:spPr>
            <a:xfrm flipH="1" rot="-8452672">
              <a:off x="5143212" y="3509944"/>
              <a:ext cx="2629033" cy="27372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text&#10;&#10;Description automatically generated" id="461" name="Google Shape;461;g3a29f53c04b_0_407"/>
            <p:cNvPicPr preferRelativeResize="0"/>
            <p:nvPr/>
          </p:nvPicPr>
          <p:blipFill rotWithShape="1">
            <a:blip r:embed="rId5">
              <a:alphaModFix/>
            </a:blip>
            <a:srcRect b="51969" l="21722" r="0" t="0"/>
            <a:stretch/>
          </p:blipFill>
          <p:spPr>
            <a:xfrm flipH="1">
              <a:off x="6606907" y="3683540"/>
              <a:ext cx="2190817" cy="23135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2" name="Google Shape;462;g3a29f53c04b_0_407"/>
            <p:cNvSpPr txBox="1"/>
            <p:nvPr/>
          </p:nvSpPr>
          <p:spPr>
            <a:xfrm>
              <a:off x="5401710" y="4247646"/>
              <a:ext cx="15615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Making data open and available is an important part of open research</a:t>
              </a:r>
              <a:endParaRPr/>
            </a:p>
          </p:txBody>
        </p:sp>
      </p:grpSp>
      <p:grpSp>
        <p:nvGrpSpPr>
          <p:cNvPr id="463" name="Google Shape;463;g3a29f53c04b_0_407"/>
          <p:cNvGrpSpPr/>
          <p:nvPr/>
        </p:nvGrpSpPr>
        <p:grpSpPr>
          <a:xfrm>
            <a:off x="90103" y="3224741"/>
            <a:ext cx="4806463" cy="2798562"/>
            <a:chOff x="90103" y="3224741"/>
            <a:chExt cx="4806463" cy="2798562"/>
          </a:xfrm>
        </p:grpSpPr>
        <p:sp>
          <p:nvSpPr>
            <p:cNvPr id="464" name="Google Shape;464;g3a29f53c04b_0_407"/>
            <p:cNvSpPr/>
            <p:nvPr/>
          </p:nvSpPr>
          <p:spPr>
            <a:xfrm>
              <a:off x="251966" y="3398903"/>
              <a:ext cx="4644600" cy="2624400"/>
            </a:xfrm>
            <a:prstGeom prst="rect">
              <a:avLst/>
            </a:prstGeom>
            <a:solidFill>
              <a:srgbClr val="FFE9B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5" name="Google Shape;465;g3a29f53c04b_0_407"/>
            <p:cNvPicPr preferRelativeResize="0"/>
            <p:nvPr/>
          </p:nvPicPr>
          <p:blipFill rotWithShape="1">
            <a:blip r:embed="rId3">
              <a:alphaModFix/>
            </a:blip>
            <a:srcRect b="26250" l="6769" r="53691" t="10844"/>
            <a:stretch/>
          </p:blipFill>
          <p:spPr>
            <a:xfrm flipH="1">
              <a:off x="1262276" y="3224741"/>
              <a:ext cx="3586214" cy="26064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g3a29f53c04b_0_407"/>
            <p:cNvSpPr txBox="1"/>
            <p:nvPr/>
          </p:nvSpPr>
          <p:spPr>
            <a:xfrm>
              <a:off x="1764896" y="3733844"/>
              <a:ext cx="26565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Data can exist in many formats, like images, datasets, musical compositions, guidelines, multimedia, code, software and more!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67" name="Google Shape;467;g3a29f53c04b_0_407"/>
            <p:cNvPicPr preferRelativeResize="0"/>
            <p:nvPr/>
          </p:nvPicPr>
          <p:blipFill rotWithShape="1">
            <a:blip r:embed="rId6">
              <a:alphaModFix/>
            </a:blip>
            <a:srcRect b="47418" l="0" r="0" t="0"/>
            <a:stretch/>
          </p:blipFill>
          <p:spPr>
            <a:xfrm flipH="1">
              <a:off x="90103" y="3733844"/>
              <a:ext cx="2835397" cy="228945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oogle Shape;472;g3a29f53c04b_0_431"/>
          <p:cNvGrpSpPr/>
          <p:nvPr/>
        </p:nvGrpSpPr>
        <p:grpSpPr>
          <a:xfrm>
            <a:off x="264100" y="3199153"/>
            <a:ext cx="8625900" cy="2777142"/>
            <a:chOff x="264100" y="3199153"/>
            <a:chExt cx="8625900" cy="2777142"/>
          </a:xfrm>
        </p:grpSpPr>
        <p:sp>
          <p:nvSpPr>
            <p:cNvPr id="473" name="Google Shape;473;g3a29f53c04b_0_431"/>
            <p:cNvSpPr/>
            <p:nvPr/>
          </p:nvSpPr>
          <p:spPr>
            <a:xfrm>
              <a:off x="264100" y="3351895"/>
              <a:ext cx="8625900" cy="2624400"/>
            </a:xfrm>
            <a:prstGeom prst="rect">
              <a:avLst/>
            </a:prstGeom>
            <a:solidFill>
              <a:srgbClr val="FFE9B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text, vector graphics&#10;&#10;Description automatically generated" id="474" name="Google Shape;474;g3a29f53c04b_0_431"/>
            <p:cNvPicPr preferRelativeResize="0"/>
            <p:nvPr/>
          </p:nvPicPr>
          <p:blipFill rotWithShape="1">
            <a:blip r:embed="rId3">
              <a:alphaModFix/>
            </a:blip>
            <a:srcRect b="46501" l="17627" r="9502" t="0"/>
            <a:stretch/>
          </p:blipFill>
          <p:spPr>
            <a:xfrm>
              <a:off x="305862" y="3537923"/>
              <a:ext cx="1880635" cy="23961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75" name="Google Shape;475;g3a29f53c04b_0_431"/>
            <p:cNvGrpSpPr/>
            <p:nvPr/>
          </p:nvGrpSpPr>
          <p:grpSpPr>
            <a:xfrm>
              <a:off x="1137414" y="3199153"/>
              <a:ext cx="2079034" cy="2341729"/>
              <a:chOff x="1137414" y="3199153"/>
              <a:chExt cx="2079034" cy="2341729"/>
            </a:xfrm>
          </p:grpSpPr>
          <p:pic>
            <p:nvPicPr>
              <p:cNvPr id="476" name="Google Shape;476;g3a29f53c04b_0_431"/>
              <p:cNvPicPr preferRelativeResize="0"/>
              <p:nvPr/>
            </p:nvPicPr>
            <p:blipFill rotWithShape="1">
              <a:blip r:embed="rId4">
                <a:alphaModFix/>
              </a:blip>
              <a:srcRect b="26250" l="6769" r="53691" t="10844"/>
              <a:stretch/>
            </p:blipFill>
            <p:spPr>
              <a:xfrm flipH="1">
                <a:off x="1137414" y="3199153"/>
                <a:ext cx="2079034" cy="23417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7" name="Google Shape;477;g3a29f53c04b_0_431"/>
              <p:cNvSpPr/>
              <p:nvPr/>
            </p:nvSpPr>
            <p:spPr>
              <a:xfrm>
                <a:off x="1425276" y="3495506"/>
                <a:ext cx="1643100" cy="138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5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Open data requires a minimum standard of data quality to ensure its reusability</a:t>
                </a:r>
                <a:endParaRPr/>
              </a:p>
            </p:txBody>
          </p:sp>
        </p:grpSp>
      </p:grpSp>
      <p:grpSp>
        <p:nvGrpSpPr>
          <p:cNvPr id="478" name="Google Shape;478;g3a29f53c04b_0_431"/>
          <p:cNvGrpSpPr/>
          <p:nvPr/>
        </p:nvGrpSpPr>
        <p:grpSpPr>
          <a:xfrm>
            <a:off x="194436" y="670011"/>
            <a:ext cx="5477463" cy="2650067"/>
            <a:chOff x="194436" y="670011"/>
            <a:chExt cx="5477463" cy="2650067"/>
          </a:xfrm>
        </p:grpSpPr>
        <p:sp>
          <p:nvSpPr>
            <p:cNvPr id="479" name="Google Shape;479;g3a29f53c04b_0_431"/>
            <p:cNvSpPr/>
            <p:nvPr/>
          </p:nvSpPr>
          <p:spPr>
            <a:xfrm>
              <a:off x="264099" y="695678"/>
              <a:ext cx="5407800" cy="2624400"/>
            </a:xfrm>
            <a:prstGeom prst="rect">
              <a:avLst/>
            </a:prstGeom>
            <a:solidFill>
              <a:srgbClr val="FFE9B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0" name="Google Shape;480;g3a29f53c04b_0_431"/>
            <p:cNvGrpSpPr/>
            <p:nvPr/>
          </p:nvGrpSpPr>
          <p:grpSpPr>
            <a:xfrm>
              <a:off x="1175373" y="670011"/>
              <a:ext cx="1612867" cy="1755872"/>
              <a:chOff x="1165273" y="1141987"/>
              <a:chExt cx="1612867" cy="1755872"/>
            </a:xfrm>
          </p:grpSpPr>
          <p:pic>
            <p:nvPicPr>
              <p:cNvPr id="481" name="Google Shape;481;g3a29f53c04b_0_431"/>
              <p:cNvPicPr preferRelativeResize="0"/>
              <p:nvPr/>
            </p:nvPicPr>
            <p:blipFill rotWithShape="1">
              <a:blip r:embed="rId4">
                <a:alphaModFix/>
              </a:blip>
              <a:srcRect b="26250" l="6769" r="53691" t="10844"/>
              <a:stretch/>
            </p:blipFill>
            <p:spPr>
              <a:xfrm flipH="1">
                <a:off x="1165273" y="1141987"/>
                <a:ext cx="1612867" cy="175587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82" name="Google Shape;482;g3a29f53c04b_0_431"/>
              <p:cNvSpPr/>
              <p:nvPr/>
            </p:nvSpPr>
            <p:spPr>
              <a:xfrm>
                <a:off x="1323408" y="1456806"/>
                <a:ext cx="1413000" cy="9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5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In the past, open data has not been the norm</a:t>
                </a:r>
                <a:endParaRPr/>
              </a:p>
            </p:txBody>
          </p:sp>
        </p:grpSp>
        <p:pic>
          <p:nvPicPr>
            <p:cNvPr descr="A picture containing text, vector graphics&#10;&#10;Description automatically generated" id="483" name="Google Shape;483;g3a29f53c04b_0_431"/>
            <p:cNvPicPr preferRelativeResize="0"/>
            <p:nvPr/>
          </p:nvPicPr>
          <p:blipFill rotWithShape="1">
            <a:blip r:embed="rId5">
              <a:alphaModFix/>
            </a:blip>
            <a:srcRect b="46566" l="3799" r="3521" t="0"/>
            <a:stretch/>
          </p:blipFill>
          <p:spPr>
            <a:xfrm>
              <a:off x="194436" y="1527672"/>
              <a:ext cx="2038165" cy="17608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4" name="Google Shape;484;g3a29f53c04b_0_43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What is open data?</a:t>
            </a:r>
            <a:endParaRPr b="1" sz="2400"/>
          </a:p>
        </p:txBody>
      </p:sp>
      <p:sp>
        <p:nvSpPr>
          <p:cNvPr id="485" name="Google Shape;485;g3a29f53c04b_0_431"/>
          <p:cNvSpPr txBox="1"/>
          <p:nvPr>
            <p:ph idx="1" type="body"/>
          </p:nvPr>
        </p:nvSpPr>
        <p:spPr>
          <a:xfrm>
            <a:off x="212238" y="109949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grpSp>
        <p:nvGrpSpPr>
          <p:cNvPr id="486" name="Google Shape;486;g3a29f53c04b_0_431"/>
          <p:cNvGrpSpPr/>
          <p:nvPr/>
        </p:nvGrpSpPr>
        <p:grpSpPr>
          <a:xfrm>
            <a:off x="5830532" y="584525"/>
            <a:ext cx="3059400" cy="2735553"/>
            <a:chOff x="5830532" y="584525"/>
            <a:chExt cx="3059400" cy="2735553"/>
          </a:xfrm>
        </p:grpSpPr>
        <p:sp>
          <p:nvSpPr>
            <p:cNvPr id="487" name="Google Shape;487;g3a29f53c04b_0_431"/>
            <p:cNvSpPr/>
            <p:nvPr/>
          </p:nvSpPr>
          <p:spPr>
            <a:xfrm>
              <a:off x="5830532" y="695678"/>
              <a:ext cx="3059400" cy="2624400"/>
            </a:xfrm>
            <a:prstGeom prst="rect">
              <a:avLst/>
            </a:prstGeom>
            <a:solidFill>
              <a:srgbClr val="FFE9B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8" name="Google Shape;488;g3a29f53c04b_0_431"/>
            <p:cNvPicPr preferRelativeResize="0"/>
            <p:nvPr/>
          </p:nvPicPr>
          <p:blipFill rotWithShape="1">
            <a:blip r:embed="rId4">
              <a:alphaModFix/>
            </a:blip>
            <a:srcRect b="33338" l="9074" r="53690" t="10845"/>
            <a:stretch/>
          </p:blipFill>
          <p:spPr>
            <a:xfrm>
              <a:off x="5841355" y="584525"/>
              <a:ext cx="2182445" cy="192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g3a29f53c04b_0_431"/>
            <p:cNvSpPr/>
            <p:nvPr/>
          </p:nvSpPr>
          <p:spPr>
            <a:xfrm>
              <a:off x="5841355" y="1053771"/>
              <a:ext cx="1847100" cy="9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Open data is not yet universal but is increasingly standard practice</a:t>
              </a:r>
              <a:endParaRPr/>
            </a:p>
          </p:txBody>
        </p:sp>
        <p:pic>
          <p:nvPicPr>
            <p:cNvPr descr="Logo&#10;&#10;Description automatically generated" id="490" name="Google Shape;490;g3a29f53c04b_0_431"/>
            <p:cNvPicPr preferRelativeResize="0"/>
            <p:nvPr/>
          </p:nvPicPr>
          <p:blipFill rotWithShape="1">
            <a:blip r:embed="rId6">
              <a:alphaModFix/>
            </a:blip>
            <a:srcRect b="14163" l="0" r="14893" t="0"/>
            <a:stretch/>
          </p:blipFill>
          <p:spPr>
            <a:xfrm>
              <a:off x="7178248" y="1414495"/>
              <a:ext cx="1669990" cy="18890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1" name="Google Shape;491;g3a29f53c04b_0_431"/>
          <p:cNvGrpSpPr/>
          <p:nvPr/>
        </p:nvGrpSpPr>
        <p:grpSpPr>
          <a:xfrm>
            <a:off x="2681663" y="602910"/>
            <a:ext cx="2973761" cy="2700613"/>
            <a:chOff x="2681663" y="602910"/>
            <a:chExt cx="2973761" cy="2700613"/>
          </a:xfrm>
        </p:grpSpPr>
        <p:grpSp>
          <p:nvGrpSpPr>
            <p:cNvPr id="492" name="Google Shape;492;g3a29f53c04b_0_431"/>
            <p:cNvGrpSpPr/>
            <p:nvPr/>
          </p:nvGrpSpPr>
          <p:grpSpPr>
            <a:xfrm>
              <a:off x="2681663" y="602910"/>
              <a:ext cx="2353608" cy="2063353"/>
              <a:chOff x="2370790" y="1543446"/>
              <a:chExt cx="2353608" cy="2063353"/>
            </a:xfrm>
          </p:grpSpPr>
          <p:pic>
            <p:nvPicPr>
              <p:cNvPr id="493" name="Google Shape;493;g3a29f53c04b_0_431"/>
              <p:cNvPicPr preferRelativeResize="0"/>
              <p:nvPr/>
            </p:nvPicPr>
            <p:blipFill rotWithShape="1">
              <a:blip r:embed="rId4">
                <a:alphaModFix/>
              </a:blip>
              <a:srcRect b="26250" l="6769" r="53691" t="10844"/>
              <a:stretch/>
            </p:blipFill>
            <p:spPr>
              <a:xfrm>
                <a:off x="2370790" y="1543446"/>
                <a:ext cx="2353608" cy="206335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4" name="Google Shape;494;g3a29f53c04b_0_431"/>
              <p:cNvSpPr/>
              <p:nvPr/>
            </p:nvSpPr>
            <p:spPr>
              <a:xfrm>
                <a:off x="2583944" y="1886471"/>
                <a:ext cx="1826700" cy="116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5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Technological developments have removed many of the barriers to data sharing</a:t>
                </a:r>
                <a:endParaRPr/>
              </a:p>
            </p:txBody>
          </p:sp>
        </p:grpSp>
        <p:pic>
          <p:nvPicPr>
            <p:cNvPr descr="Logo&#10;&#10;Description automatically generated" id="495" name="Google Shape;495;g3a29f53c04b_0_431"/>
            <p:cNvPicPr preferRelativeResize="0"/>
            <p:nvPr/>
          </p:nvPicPr>
          <p:blipFill rotWithShape="1">
            <a:blip r:embed="rId7">
              <a:alphaModFix/>
            </a:blip>
            <a:srcRect b="36934" l="24508" r="5527" t="10255"/>
            <a:stretch/>
          </p:blipFill>
          <p:spPr>
            <a:xfrm flipH="1">
              <a:off x="3825171" y="1712424"/>
              <a:ext cx="1830253" cy="15910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6" name="Google Shape;496;g3a29f53c04b_0_431"/>
          <p:cNvGrpSpPr/>
          <p:nvPr/>
        </p:nvGrpSpPr>
        <p:grpSpPr>
          <a:xfrm>
            <a:off x="2607701" y="3274281"/>
            <a:ext cx="3312477" cy="2652828"/>
            <a:chOff x="2607701" y="3274281"/>
            <a:chExt cx="3312477" cy="2652828"/>
          </a:xfrm>
        </p:grpSpPr>
        <p:grpSp>
          <p:nvGrpSpPr>
            <p:cNvPr id="497" name="Google Shape;497;g3a29f53c04b_0_431"/>
            <p:cNvGrpSpPr/>
            <p:nvPr/>
          </p:nvGrpSpPr>
          <p:grpSpPr>
            <a:xfrm>
              <a:off x="3618429" y="3274281"/>
              <a:ext cx="2301749" cy="1866378"/>
              <a:chOff x="2294678" y="1546550"/>
              <a:chExt cx="2301749" cy="1866378"/>
            </a:xfrm>
          </p:grpSpPr>
          <p:pic>
            <p:nvPicPr>
              <p:cNvPr id="498" name="Google Shape;498;g3a29f53c04b_0_431"/>
              <p:cNvPicPr preferRelativeResize="0"/>
              <p:nvPr/>
            </p:nvPicPr>
            <p:blipFill rotWithShape="1">
              <a:blip r:embed="rId4">
                <a:alphaModFix/>
              </a:blip>
              <a:srcRect b="26250" l="6769" r="53691" t="10844"/>
              <a:stretch/>
            </p:blipFill>
            <p:spPr>
              <a:xfrm flipH="1">
                <a:off x="2294678" y="1546550"/>
                <a:ext cx="2301749" cy="186637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9" name="Google Shape;499;g3a29f53c04b_0_431"/>
              <p:cNvSpPr/>
              <p:nvPr/>
            </p:nvSpPr>
            <p:spPr>
              <a:xfrm>
                <a:off x="2572810" y="1863458"/>
                <a:ext cx="1826700" cy="9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5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Adoption of minimum standards for open data is still in its infancy</a:t>
                </a:r>
                <a:endParaRPr/>
              </a:p>
            </p:txBody>
          </p:sp>
        </p:grpSp>
        <p:pic>
          <p:nvPicPr>
            <p:cNvPr descr="A close-up of a person's face&#10;&#10;Description automatically generated with low confidence" id="500" name="Google Shape;500;g3a29f53c04b_0_431"/>
            <p:cNvPicPr preferRelativeResize="0"/>
            <p:nvPr/>
          </p:nvPicPr>
          <p:blipFill rotWithShape="1">
            <a:blip r:embed="rId8">
              <a:alphaModFix/>
            </a:blip>
            <a:srcRect b="45000" l="0" r="0" t="0"/>
            <a:stretch/>
          </p:blipFill>
          <p:spPr>
            <a:xfrm>
              <a:off x="2607701" y="3768681"/>
              <a:ext cx="2054882" cy="21584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1" name="Google Shape;501;g3a29f53c04b_0_431"/>
          <p:cNvGrpSpPr/>
          <p:nvPr/>
        </p:nvGrpSpPr>
        <p:grpSpPr>
          <a:xfrm>
            <a:off x="5648857" y="3199217"/>
            <a:ext cx="3231045" cy="2727894"/>
            <a:chOff x="5648857" y="3199217"/>
            <a:chExt cx="3231045" cy="2727894"/>
          </a:xfrm>
        </p:grpSpPr>
        <p:grpSp>
          <p:nvGrpSpPr>
            <p:cNvPr id="502" name="Google Shape;502;g3a29f53c04b_0_431"/>
            <p:cNvGrpSpPr/>
            <p:nvPr/>
          </p:nvGrpSpPr>
          <p:grpSpPr>
            <a:xfrm>
              <a:off x="5648857" y="3199217"/>
              <a:ext cx="2562118" cy="2244448"/>
              <a:chOff x="2422652" y="1543446"/>
              <a:chExt cx="2526744" cy="2322964"/>
            </a:xfrm>
          </p:grpSpPr>
          <p:pic>
            <p:nvPicPr>
              <p:cNvPr id="503" name="Google Shape;503;g3a29f53c04b_0_431"/>
              <p:cNvPicPr preferRelativeResize="0"/>
              <p:nvPr/>
            </p:nvPicPr>
            <p:blipFill rotWithShape="1">
              <a:blip r:embed="rId4">
                <a:alphaModFix/>
              </a:blip>
              <a:srcRect b="26250" l="6769" r="53691" t="10844"/>
              <a:stretch/>
            </p:blipFill>
            <p:spPr>
              <a:xfrm>
                <a:off x="2422652" y="1543446"/>
                <a:ext cx="2526744" cy="23229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4" name="Google Shape;504;g3a29f53c04b_0_431"/>
              <p:cNvSpPr/>
              <p:nvPr/>
            </p:nvSpPr>
            <p:spPr>
              <a:xfrm>
                <a:off x="2616757" y="1939053"/>
                <a:ext cx="1992000" cy="121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5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But as the culture       of Open Research grows so too does the development of open data standards</a:t>
                </a:r>
                <a:endParaRPr/>
              </a:p>
            </p:txBody>
          </p:sp>
        </p:grpSp>
        <p:pic>
          <p:nvPicPr>
            <p:cNvPr descr="A picture containing text&#10;&#10;Description automatically generated" id="505" name="Google Shape;505;g3a29f53c04b_0_431"/>
            <p:cNvPicPr preferRelativeResize="0"/>
            <p:nvPr/>
          </p:nvPicPr>
          <p:blipFill rotWithShape="1">
            <a:blip r:embed="rId9">
              <a:alphaModFix/>
            </a:blip>
            <a:srcRect b="42759" l="0" r="22081" t="0"/>
            <a:stretch/>
          </p:blipFill>
          <p:spPr>
            <a:xfrm>
              <a:off x="6859864" y="3588129"/>
              <a:ext cx="2020037" cy="23389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29f53c04b_0_46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How does open data facilitate data accessibility and reusability?</a:t>
            </a:r>
            <a:endParaRPr b="1" sz="2400"/>
          </a:p>
        </p:txBody>
      </p:sp>
      <p:grpSp>
        <p:nvGrpSpPr>
          <p:cNvPr id="511" name="Google Shape;511;g3a29f53c04b_0_468"/>
          <p:cNvGrpSpPr/>
          <p:nvPr/>
        </p:nvGrpSpPr>
        <p:grpSpPr>
          <a:xfrm>
            <a:off x="1193715" y="1033162"/>
            <a:ext cx="5392210" cy="1169999"/>
            <a:chOff x="1193725" y="1494800"/>
            <a:chExt cx="5392210" cy="1169999"/>
          </a:xfrm>
        </p:grpSpPr>
        <p:pic>
          <p:nvPicPr>
            <p:cNvPr id="512" name="Google Shape;512;g3a29f53c04b_0_468"/>
            <p:cNvPicPr preferRelativeResize="0"/>
            <p:nvPr/>
          </p:nvPicPr>
          <p:blipFill rotWithShape="1">
            <a:blip r:embed="rId3">
              <a:alphaModFix/>
            </a:blip>
            <a:srcRect b="31318" l="45418" r="3446" t="50146"/>
            <a:stretch/>
          </p:blipFill>
          <p:spPr>
            <a:xfrm>
              <a:off x="1193725" y="1494800"/>
              <a:ext cx="5392210" cy="1169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3" name="Google Shape;513;g3a29f53c04b_0_468"/>
            <p:cNvSpPr txBox="1"/>
            <p:nvPr/>
          </p:nvSpPr>
          <p:spPr>
            <a:xfrm>
              <a:off x="2102615" y="1618151"/>
              <a:ext cx="43665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By making data open researchers are enhancing the reproducibility and transparency of their research outputs 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4" name="Google Shape;514;g3a29f53c04b_0_468"/>
            <p:cNvSpPr txBox="1"/>
            <p:nvPr/>
          </p:nvSpPr>
          <p:spPr>
            <a:xfrm>
              <a:off x="1518270" y="1845322"/>
              <a:ext cx="280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i="0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5" name="Google Shape;515;g3a29f53c04b_0_468"/>
          <p:cNvGrpSpPr/>
          <p:nvPr/>
        </p:nvGrpSpPr>
        <p:grpSpPr>
          <a:xfrm>
            <a:off x="1193715" y="3415838"/>
            <a:ext cx="5392210" cy="1172629"/>
            <a:chOff x="1193725" y="2667430"/>
            <a:chExt cx="5392210" cy="1172629"/>
          </a:xfrm>
        </p:grpSpPr>
        <p:pic>
          <p:nvPicPr>
            <p:cNvPr id="516" name="Google Shape;516;g3a29f53c04b_0_468"/>
            <p:cNvPicPr preferRelativeResize="0"/>
            <p:nvPr/>
          </p:nvPicPr>
          <p:blipFill rotWithShape="1">
            <a:blip r:embed="rId3">
              <a:alphaModFix/>
            </a:blip>
            <a:srcRect b="31318" l="45418" r="3446" t="50146"/>
            <a:stretch/>
          </p:blipFill>
          <p:spPr>
            <a:xfrm>
              <a:off x="1193725" y="2667430"/>
              <a:ext cx="5392210" cy="11726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g3a29f53c04b_0_468"/>
            <p:cNvSpPr txBox="1"/>
            <p:nvPr/>
          </p:nvSpPr>
          <p:spPr>
            <a:xfrm>
              <a:off x="2123015" y="2792095"/>
              <a:ext cx="43257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data can be reused by different researchers over time to answer new research questions 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8" name="Google Shape;518;g3a29f53c04b_0_468"/>
            <p:cNvSpPr txBox="1"/>
            <p:nvPr/>
          </p:nvSpPr>
          <p:spPr>
            <a:xfrm>
              <a:off x="1518324" y="3017934"/>
              <a:ext cx="280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i="0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9" name="Google Shape;519;g3a29f53c04b_0_468"/>
          <p:cNvGrpSpPr/>
          <p:nvPr/>
        </p:nvGrpSpPr>
        <p:grpSpPr>
          <a:xfrm>
            <a:off x="1193715" y="4609805"/>
            <a:ext cx="5392210" cy="1172629"/>
            <a:chOff x="1193725" y="3840061"/>
            <a:chExt cx="5392210" cy="1172629"/>
          </a:xfrm>
        </p:grpSpPr>
        <p:pic>
          <p:nvPicPr>
            <p:cNvPr id="520" name="Google Shape;520;g3a29f53c04b_0_468"/>
            <p:cNvPicPr preferRelativeResize="0"/>
            <p:nvPr/>
          </p:nvPicPr>
          <p:blipFill rotWithShape="1">
            <a:blip r:embed="rId3">
              <a:alphaModFix/>
            </a:blip>
            <a:srcRect b="31318" l="45418" r="3446" t="50146"/>
            <a:stretch/>
          </p:blipFill>
          <p:spPr>
            <a:xfrm>
              <a:off x="1193725" y="3840061"/>
              <a:ext cx="5392210" cy="11726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g3a29f53c04b_0_468"/>
            <p:cNvSpPr txBox="1"/>
            <p:nvPr/>
          </p:nvSpPr>
          <p:spPr>
            <a:xfrm>
              <a:off x="2123015" y="4118560"/>
              <a:ext cx="43257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Making data open can save time in data collection and maximises research resources 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2" name="Google Shape;522;g3a29f53c04b_0_468"/>
            <p:cNvSpPr txBox="1"/>
            <p:nvPr/>
          </p:nvSpPr>
          <p:spPr>
            <a:xfrm>
              <a:off x="1518270" y="4190572"/>
              <a:ext cx="280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i="0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523" name="Google Shape;523;g3a29f53c04b_0_4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0599" y="4526106"/>
            <a:ext cx="1239625" cy="123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g3a29f53c04b_0_4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0600" y="2210537"/>
            <a:ext cx="1239624" cy="1197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5" name="Google Shape;525;g3a29f53c04b_0_468"/>
          <p:cNvGrpSpPr/>
          <p:nvPr/>
        </p:nvGrpSpPr>
        <p:grpSpPr>
          <a:xfrm>
            <a:off x="6650599" y="3577940"/>
            <a:ext cx="1174940" cy="1054467"/>
            <a:chOff x="6650609" y="3085133"/>
            <a:chExt cx="1174940" cy="1054467"/>
          </a:xfrm>
        </p:grpSpPr>
        <p:pic>
          <p:nvPicPr>
            <p:cNvPr descr="Icon&#10;&#10;Description automatically generated" id="526" name="Google Shape;526;g3a29f53c04b_0_468"/>
            <p:cNvPicPr preferRelativeResize="0"/>
            <p:nvPr/>
          </p:nvPicPr>
          <p:blipFill rotWithShape="1">
            <a:blip r:embed="rId6">
              <a:alphaModFix/>
            </a:blip>
            <a:srcRect b="56355" l="25200" r="27598" t="15404"/>
            <a:stretch/>
          </p:blipFill>
          <p:spPr>
            <a:xfrm>
              <a:off x="6650609" y="3085133"/>
              <a:ext cx="1174940" cy="10544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con&#10;&#10;Description automatically generated" id="527" name="Google Shape;527;g3a29f53c04b_0_468"/>
            <p:cNvPicPr preferRelativeResize="0"/>
            <p:nvPr/>
          </p:nvPicPr>
          <p:blipFill rotWithShape="1">
            <a:blip r:embed="rId7">
              <a:alphaModFix/>
            </a:blip>
            <a:srcRect b="20498" l="4930" r="52160" t="23077"/>
            <a:stretch/>
          </p:blipFill>
          <p:spPr>
            <a:xfrm rot="1043649">
              <a:off x="7077160" y="3204673"/>
              <a:ext cx="426620" cy="6632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8" name="Google Shape;528;g3a29f53c04b_0_468"/>
          <p:cNvGrpSpPr/>
          <p:nvPr/>
        </p:nvGrpSpPr>
        <p:grpSpPr>
          <a:xfrm>
            <a:off x="1193715" y="2224500"/>
            <a:ext cx="5392210" cy="1169999"/>
            <a:chOff x="1193725" y="1494800"/>
            <a:chExt cx="5392210" cy="1169999"/>
          </a:xfrm>
        </p:grpSpPr>
        <p:pic>
          <p:nvPicPr>
            <p:cNvPr id="529" name="Google Shape;529;g3a29f53c04b_0_468"/>
            <p:cNvPicPr preferRelativeResize="0"/>
            <p:nvPr/>
          </p:nvPicPr>
          <p:blipFill rotWithShape="1">
            <a:blip r:embed="rId3">
              <a:alphaModFix/>
            </a:blip>
            <a:srcRect b="31318" l="45418" r="3446" t="50146"/>
            <a:stretch/>
          </p:blipFill>
          <p:spPr>
            <a:xfrm>
              <a:off x="1193725" y="1494800"/>
              <a:ext cx="5392210" cy="1169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0" name="Google Shape;530;g3a29f53c04b_0_468"/>
            <p:cNvSpPr txBox="1"/>
            <p:nvPr/>
          </p:nvSpPr>
          <p:spPr>
            <a:xfrm>
              <a:off x="2102615" y="1618151"/>
              <a:ext cx="43665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Making data open means the data can be accessed by and presented to a larger audience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1" name="Google Shape;531;g3a29f53c04b_0_468"/>
            <p:cNvSpPr txBox="1"/>
            <p:nvPr/>
          </p:nvSpPr>
          <p:spPr>
            <a:xfrm>
              <a:off x="1518270" y="1845322"/>
              <a:ext cx="280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i="0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descr="Icon&#10;&#10;Description automatically generated" id="532" name="Google Shape;532;g3a29f53c04b_0_46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5193" y="941769"/>
            <a:ext cx="1112078" cy="123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537" name="Google Shape;537;g3a29f53c04b_0_4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538" name="Google Shape;538;g3a29f53c04b_0_4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543" name="Google Shape;543;g3a29f53c04b_0_645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544" name="Google Shape;544;g3a29f53c04b_0_6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g3a29f53c04b_0_645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g3a29f53c04b_0_645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a29f53c04b_0_652"/>
          <p:cNvSpPr txBox="1"/>
          <p:nvPr/>
        </p:nvSpPr>
        <p:spPr>
          <a:xfrm>
            <a:off x="2216852" y="2626360"/>
            <a:ext cx="47103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1800"/>
              <a:buFont typeface="Roboto"/>
              <a:buNone/>
            </a:pPr>
            <a:r>
              <a:rPr b="0" i="0" lang="en-US" sz="3200" u="none" cap="none" strike="noStrike">
                <a:solidFill>
                  <a:srgbClr val="252244"/>
                </a:solidFill>
                <a:latin typeface="Roboto"/>
                <a:ea typeface="Roboto"/>
                <a:cs typeface="Roboto"/>
                <a:sym typeface="Roboto"/>
              </a:rPr>
              <a:t>Less poor research practices and greater research accountability</a:t>
            </a:r>
            <a:endParaRPr/>
          </a:p>
        </p:txBody>
      </p:sp>
      <p:pic>
        <p:nvPicPr>
          <p:cNvPr descr="A picture containing text&#10;&#10;Description automatically generated" id="552" name="Google Shape;552;g3a29f53c04b_0_6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1364" y="2518116"/>
            <a:ext cx="2153801" cy="3706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&#10;&#10;Description automatically generated" id="553" name="Google Shape;553;g3a29f53c04b_0_6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7148" y="3027680"/>
            <a:ext cx="2013683" cy="3031587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g3a29f53c04b_0_65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a29f53c04b_0_65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How does open research discourage poor research practices?</a:t>
            </a:r>
            <a:endParaRPr b="1" sz="2400"/>
          </a:p>
        </p:txBody>
      </p:sp>
      <p:pic>
        <p:nvPicPr>
          <p:cNvPr id="560" name="Google Shape;560;g3a29f53c04b_0_659"/>
          <p:cNvPicPr preferRelativeResize="0"/>
          <p:nvPr/>
        </p:nvPicPr>
        <p:blipFill rotWithShape="1">
          <a:blip r:embed="rId3">
            <a:alphaModFix/>
          </a:blip>
          <a:srcRect b="47885" l="74829" r="4212" t="24178"/>
          <a:stretch/>
        </p:blipFill>
        <p:spPr>
          <a:xfrm>
            <a:off x="7011591" y="1879300"/>
            <a:ext cx="1527780" cy="15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g3a29f53c04b_0_659"/>
          <p:cNvSpPr txBox="1"/>
          <p:nvPr/>
        </p:nvSpPr>
        <p:spPr>
          <a:xfrm>
            <a:off x="254000" y="3425953"/>
            <a:ext cx="2109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Open research encourages researchers to publicly disclose the details of their methods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g3a29f53c04b_0_659"/>
          <p:cNvSpPr txBox="1"/>
          <p:nvPr/>
        </p:nvSpPr>
        <p:spPr>
          <a:xfrm>
            <a:off x="3500874" y="3425953"/>
            <a:ext cx="2109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These can then be reviewed, assessed, and validated by other researchers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g3a29f53c04b_0_659"/>
          <p:cNvSpPr txBox="1"/>
          <p:nvPr/>
        </p:nvSpPr>
        <p:spPr>
          <a:xfrm>
            <a:off x="6720981" y="3425953"/>
            <a:ext cx="2109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This may discourage use of questionable research practices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64" name="Google Shape;564;g3a29f53c04b_0_6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244" y="1744395"/>
            <a:ext cx="2109000" cy="18195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5" name="Google Shape;565;g3a29f53c04b_0_659"/>
          <p:cNvGrpSpPr/>
          <p:nvPr/>
        </p:nvGrpSpPr>
        <p:grpSpPr>
          <a:xfrm>
            <a:off x="3169059" y="1724957"/>
            <a:ext cx="2772631" cy="1858387"/>
            <a:chOff x="2679443" y="1997753"/>
            <a:chExt cx="2772631" cy="1858387"/>
          </a:xfrm>
        </p:grpSpPr>
        <p:pic>
          <p:nvPicPr>
            <p:cNvPr id="566" name="Google Shape;566;g3a29f53c04b_0_659"/>
            <p:cNvPicPr preferRelativeResize="0"/>
            <p:nvPr/>
          </p:nvPicPr>
          <p:blipFill rotWithShape="1">
            <a:blip r:embed="rId5">
              <a:alphaModFix amt="81000"/>
            </a:blip>
            <a:srcRect b="0" l="0" r="0" t="0"/>
            <a:stretch/>
          </p:blipFill>
          <p:spPr>
            <a:xfrm>
              <a:off x="3291400" y="2086000"/>
              <a:ext cx="2160674" cy="1612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7" name="Google Shape;567;g3a29f53c04b_0_65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679443" y="1997753"/>
              <a:ext cx="1676114" cy="185838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68" name="Google Shape;568;g3a29f53c04b_0_6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98814" y="2282328"/>
            <a:ext cx="917326" cy="840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g3a29f53c04b_0_6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0596" y="2234123"/>
            <a:ext cx="917326" cy="840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a29f53c04b_0_67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How does open research help us identify methodological issues in research?</a:t>
            </a:r>
            <a:endParaRPr b="1" sz="2400"/>
          </a:p>
        </p:txBody>
      </p:sp>
      <p:sp>
        <p:nvSpPr>
          <p:cNvPr id="575" name="Google Shape;575;g3a29f53c04b_0_673"/>
          <p:cNvSpPr txBox="1"/>
          <p:nvPr>
            <p:ph idx="1" type="body"/>
          </p:nvPr>
        </p:nvSpPr>
        <p:spPr>
          <a:xfrm>
            <a:off x="254000" y="1437455"/>
            <a:ext cx="84510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</a:rPr>
              <a:t>The Case of COVID-19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454025" lvl="1" marL="72548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200">
                <a:solidFill>
                  <a:srgbClr val="000000"/>
                </a:solidFill>
              </a:rPr>
              <a:t>The COVID-19 pandemic provides a stark example of the ways poor research design can lead to poor outcomes </a:t>
            </a:r>
            <a:endParaRPr/>
          </a:p>
          <a:p>
            <a:pPr indent="-301625" lvl="1" marL="72548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  <a:p>
            <a:pPr indent="-454025" lvl="1" marL="72548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200">
                <a:solidFill>
                  <a:srgbClr val="000000"/>
                </a:solidFill>
              </a:rPr>
              <a:t>It also shows how open research can help us identify invalid results before they become the basis for bad clinical practice!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descr="A picture containing background pattern&#10;&#10;Description automatically generated" id="576" name="Google Shape;576;g3a29f53c04b_0_673"/>
          <p:cNvPicPr preferRelativeResize="0"/>
          <p:nvPr/>
        </p:nvPicPr>
        <p:blipFill rotWithShape="1">
          <a:blip r:embed="rId3">
            <a:alphaModFix/>
          </a:blip>
          <a:srcRect b="61599" l="21600" r="27599" t="12534"/>
          <a:stretch/>
        </p:blipFill>
        <p:spPr>
          <a:xfrm rot="-8189107">
            <a:off x="7062725" y="1041286"/>
            <a:ext cx="2322577" cy="1773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a29f53c04b_0_67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Roboto"/>
              <a:buNone/>
            </a:pPr>
            <a:r>
              <a:rPr b="1" lang="en-US" sz="2000"/>
              <a:t>How does open research help us identify methodological issues in research?</a:t>
            </a:r>
            <a:endParaRPr b="1"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Roboto"/>
              <a:buNone/>
            </a:pPr>
            <a:r>
              <a:t/>
            </a:r>
            <a:endParaRPr b="1" sz="1800"/>
          </a:p>
        </p:txBody>
      </p:sp>
      <p:grpSp>
        <p:nvGrpSpPr>
          <p:cNvPr id="582" name="Google Shape;582;g3a29f53c04b_0_679"/>
          <p:cNvGrpSpPr/>
          <p:nvPr/>
        </p:nvGrpSpPr>
        <p:grpSpPr>
          <a:xfrm>
            <a:off x="-265825" y="342945"/>
            <a:ext cx="5220919" cy="3653059"/>
            <a:chOff x="-265825" y="342945"/>
            <a:chExt cx="5220919" cy="3653059"/>
          </a:xfrm>
        </p:grpSpPr>
        <p:sp>
          <p:nvSpPr>
            <p:cNvPr id="583" name="Google Shape;583;g3a29f53c04b_0_679"/>
            <p:cNvSpPr/>
            <p:nvPr/>
          </p:nvSpPr>
          <p:spPr>
            <a:xfrm>
              <a:off x="403686" y="896079"/>
              <a:ext cx="4263000" cy="25068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4" name="Google Shape;584;g3a29f53c04b_0_679"/>
            <p:cNvPicPr preferRelativeResize="0"/>
            <p:nvPr/>
          </p:nvPicPr>
          <p:blipFill rotWithShape="1">
            <a:blip r:embed="rId3">
              <a:alphaModFix/>
            </a:blip>
            <a:srcRect b="26250" l="6769" r="53691" t="10844"/>
            <a:stretch/>
          </p:blipFill>
          <p:spPr>
            <a:xfrm flipH="1" rot="911803">
              <a:off x="1403022" y="715073"/>
              <a:ext cx="3227250" cy="29088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5" name="Google Shape;585;g3a29f53c04b_0_679"/>
            <p:cNvPicPr preferRelativeResize="0"/>
            <p:nvPr/>
          </p:nvPicPr>
          <p:blipFill rotWithShape="1">
            <a:blip r:embed="rId4">
              <a:alphaModFix/>
            </a:blip>
            <a:srcRect b="47232" l="0" r="0" t="0"/>
            <a:stretch/>
          </p:blipFill>
          <p:spPr>
            <a:xfrm flipH="1">
              <a:off x="-265825" y="1449213"/>
              <a:ext cx="2618194" cy="19332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g3a29f53c04b_0_679"/>
            <p:cNvSpPr txBox="1"/>
            <p:nvPr/>
          </p:nvSpPr>
          <p:spPr>
            <a:xfrm>
              <a:off x="1922781" y="1225477"/>
              <a:ext cx="2411400" cy="147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For example, during              the pandemic, a trial was conducted to assess the use of hydroxychloroquine (an anti-malarial drug) to treat severe COVID-19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87" name="Google Shape;587;g3a29f53c04b_0_679"/>
          <p:cNvGrpSpPr/>
          <p:nvPr/>
        </p:nvGrpSpPr>
        <p:grpSpPr>
          <a:xfrm>
            <a:off x="392514" y="3213486"/>
            <a:ext cx="8184000" cy="3047615"/>
            <a:chOff x="392514" y="3213486"/>
            <a:chExt cx="8184000" cy="3047615"/>
          </a:xfrm>
        </p:grpSpPr>
        <p:grpSp>
          <p:nvGrpSpPr>
            <p:cNvPr id="588" name="Google Shape;588;g3a29f53c04b_0_679"/>
            <p:cNvGrpSpPr/>
            <p:nvPr/>
          </p:nvGrpSpPr>
          <p:grpSpPr>
            <a:xfrm>
              <a:off x="392514" y="3213486"/>
              <a:ext cx="8184000" cy="3047615"/>
              <a:chOff x="392514" y="3213486"/>
              <a:chExt cx="8184000" cy="3047615"/>
            </a:xfrm>
          </p:grpSpPr>
          <p:sp>
            <p:nvSpPr>
              <p:cNvPr id="589" name="Google Shape;589;g3a29f53c04b_0_679"/>
              <p:cNvSpPr/>
              <p:nvPr/>
            </p:nvSpPr>
            <p:spPr>
              <a:xfrm>
                <a:off x="392514" y="3440495"/>
                <a:ext cx="8184000" cy="2505600"/>
              </a:xfrm>
              <a:prstGeom prst="rect">
                <a:avLst/>
              </a:prstGeom>
              <a:solidFill>
                <a:srgbClr val="FFE9B3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90" name="Google Shape;590;g3a29f53c04b_0_679"/>
              <p:cNvPicPr preferRelativeResize="0"/>
              <p:nvPr/>
            </p:nvPicPr>
            <p:blipFill rotWithShape="1">
              <a:blip r:embed="rId5">
                <a:alphaModFix/>
              </a:blip>
              <a:srcRect b="53271" l="0" r="0" t="0"/>
              <a:stretch/>
            </p:blipFill>
            <p:spPr>
              <a:xfrm>
                <a:off x="1503539" y="3571759"/>
                <a:ext cx="2958189" cy="23194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1" name="Google Shape;591;g3a29f53c04b_0_679"/>
              <p:cNvPicPr preferRelativeResize="0"/>
              <p:nvPr/>
            </p:nvPicPr>
            <p:blipFill rotWithShape="1">
              <a:blip r:embed="rId6">
                <a:alphaModFix/>
              </a:blip>
              <a:srcRect b="46729" l="0" r="7235" t="0"/>
              <a:stretch/>
            </p:blipFill>
            <p:spPr>
              <a:xfrm>
                <a:off x="5111143" y="3213486"/>
                <a:ext cx="2581550" cy="27050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2" name="Google Shape;592;g3a29f53c04b_0_679"/>
              <p:cNvPicPr preferRelativeResize="0"/>
              <p:nvPr/>
            </p:nvPicPr>
            <p:blipFill rotWithShape="1">
              <a:blip r:embed="rId3">
                <a:alphaModFix/>
              </a:blip>
              <a:srcRect b="26250" l="6769" r="53691" t="10844"/>
              <a:stretch/>
            </p:blipFill>
            <p:spPr>
              <a:xfrm rot="9987110">
                <a:off x="2931522" y="3565049"/>
                <a:ext cx="2480600" cy="243943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3" name="Google Shape;593;g3a29f53c04b_0_679"/>
              <p:cNvSpPr txBox="1"/>
              <p:nvPr/>
            </p:nvSpPr>
            <p:spPr>
              <a:xfrm>
                <a:off x="3314790" y="4183233"/>
                <a:ext cx="1927500" cy="12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As a result,  hydroxychloroquine began to be touted as a ‘cure’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id="594" name="Google Shape;594;g3a29f53c04b_0_67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236733" y="3571759"/>
              <a:ext cx="693804" cy="802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5" name="Google Shape;595;g3a29f53c04b_0_679"/>
          <p:cNvGrpSpPr/>
          <p:nvPr/>
        </p:nvGrpSpPr>
        <p:grpSpPr>
          <a:xfrm>
            <a:off x="4749469" y="787942"/>
            <a:ext cx="4025771" cy="2604128"/>
            <a:chOff x="4749469" y="787942"/>
            <a:chExt cx="4025771" cy="2604128"/>
          </a:xfrm>
        </p:grpSpPr>
        <p:sp>
          <p:nvSpPr>
            <p:cNvPr id="596" name="Google Shape;596;g3a29f53c04b_0_679"/>
            <p:cNvSpPr/>
            <p:nvPr/>
          </p:nvSpPr>
          <p:spPr>
            <a:xfrm>
              <a:off x="4749469" y="886470"/>
              <a:ext cx="3827100" cy="25056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7" name="Google Shape;597;g3a29f53c04b_0_679"/>
            <p:cNvPicPr preferRelativeResize="0"/>
            <p:nvPr/>
          </p:nvPicPr>
          <p:blipFill rotWithShape="1">
            <a:blip r:embed="rId3">
              <a:alphaModFix/>
            </a:blip>
            <a:srcRect b="26250" l="6769" r="53691" t="10844"/>
            <a:stretch/>
          </p:blipFill>
          <p:spPr>
            <a:xfrm rot="-201837">
              <a:off x="5100157" y="866641"/>
              <a:ext cx="2745112" cy="21360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g3a29f53c04b_0_679"/>
            <p:cNvSpPr txBox="1"/>
            <p:nvPr/>
          </p:nvSpPr>
          <p:spPr>
            <a:xfrm>
              <a:off x="5358234" y="1283512"/>
              <a:ext cx="20148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study reported reduced mortality in patients who received the drug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99" name="Google Shape;599;g3a29f53c04b_0_679"/>
            <p:cNvPicPr preferRelativeResize="0"/>
            <p:nvPr/>
          </p:nvPicPr>
          <p:blipFill rotWithShape="1">
            <a:blip r:embed="rId8">
              <a:alphaModFix/>
            </a:blip>
            <a:srcRect b="50977" l="0" r="0" t="0"/>
            <a:stretch/>
          </p:blipFill>
          <p:spPr>
            <a:xfrm flipH="1">
              <a:off x="7035910" y="1217480"/>
              <a:ext cx="1739330" cy="215698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g3a29f53c04b_0_701"/>
          <p:cNvGrpSpPr/>
          <p:nvPr/>
        </p:nvGrpSpPr>
        <p:grpSpPr>
          <a:xfrm>
            <a:off x="-104341" y="1472400"/>
            <a:ext cx="8847991" cy="4173042"/>
            <a:chOff x="-104341" y="1472400"/>
            <a:chExt cx="8847991" cy="4173042"/>
          </a:xfrm>
        </p:grpSpPr>
        <p:grpSp>
          <p:nvGrpSpPr>
            <p:cNvPr id="605" name="Google Shape;605;g3a29f53c04b_0_701"/>
            <p:cNvGrpSpPr/>
            <p:nvPr/>
          </p:nvGrpSpPr>
          <p:grpSpPr>
            <a:xfrm>
              <a:off x="-104341" y="1472400"/>
              <a:ext cx="8847991" cy="4173042"/>
              <a:chOff x="-104341" y="1472400"/>
              <a:chExt cx="8847991" cy="4173042"/>
            </a:xfrm>
          </p:grpSpPr>
          <p:sp>
            <p:nvSpPr>
              <p:cNvPr id="606" name="Google Shape;606;g3a29f53c04b_0_701"/>
              <p:cNvSpPr/>
              <p:nvPr/>
            </p:nvSpPr>
            <p:spPr>
              <a:xfrm>
                <a:off x="400350" y="1472400"/>
                <a:ext cx="8343300" cy="3913200"/>
              </a:xfrm>
              <a:prstGeom prst="rect">
                <a:avLst/>
              </a:prstGeom>
              <a:solidFill>
                <a:srgbClr val="FFC000">
                  <a:alpha val="27840"/>
                </a:srgbClr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07" name="Google Shape;607;g3a29f53c04b_0_701"/>
              <p:cNvPicPr preferRelativeResize="0"/>
              <p:nvPr/>
            </p:nvPicPr>
            <p:blipFill rotWithShape="1">
              <a:blip r:embed="rId3">
                <a:alphaModFix/>
              </a:blip>
              <a:srcRect b="26250" l="6769" r="53691" t="10844"/>
              <a:stretch/>
            </p:blipFill>
            <p:spPr>
              <a:xfrm rot="10337815">
                <a:off x="2157734" y="2683882"/>
                <a:ext cx="3064896" cy="276864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8" name="Google Shape;608;g3a29f53c04b_0_701"/>
              <p:cNvSpPr txBox="1"/>
              <p:nvPr/>
            </p:nvSpPr>
            <p:spPr>
              <a:xfrm>
                <a:off x="2729728" y="3559770"/>
                <a:ext cx="2159700" cy="147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But when a preprint of the study was published and other researchers began to review it, they identified a major flaw in the study design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descr="A picture containing text, vector graphics&#10;&#10;Description automatically generated" id="609" name="Google Shape;609;g3a29f53c04b_0_701"/>
              <p:cNvPicPr preferRelativeResize="0"/>
              <p:nvPr/>
            </p:nvPicPr>
            <p:blipFill rotWithShape="1">
              <a:blip r:embed="rId4">
                <a:alphaModFix/>
              </a:blip>
              <a:srcRect b="50719" l="0" r="0" t="0"/>
              <a:stretch/>
            </p:blipFill>
            <p:spPr>
              <a:xfrm flipH="1">
                <a:off x="-104341" y="2490966"/>
                <a:ext cx="3037241" cy="28699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10" name="Google Shape;610;g3a29f53c04b_0_70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9153" y="2490966"/>
              <a:ext cx="661347" cy="7934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1" name="Google Shape;611;g3a29f53c04b_0_70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Roboto"/>
              <a:buNone/>
            </a:pPr>
            <a:r>
              <a:rPr b="1" lang="en-US" sz="2400"/>
              <a:t>How does open research help us identify methodological issues in research?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Roboto"/>
              <a:buNone/>
            </a:pPr>
            <a:r>
              <a:t/>
            </a:r>
            <a:endParaRPr b="1"/>
          </a:p>
        </p:txBody>
      </p:sp>
      <p:grpSp>
        <p:nvGrpSpPr>
          <p:cNvPr id="612" name="Google Shape;612;g3a29f53c04b_0_701"/>
          <p:cNvGrpSpPr/>
          <p:nvPr/>
        </p:nvGrpSpPr>
        <p:grpSpPr>
          <a:xfrm>
            <a:off x="4572000" y="1381609"/>
            <a:ext cx="4309643" cy="3979256"/>
            <a:chOff x="4572000" y="1381609"/>
            <a:chExt cx="4309643" cy="3979256"/>
          </a:xfrm>
        </p:grpSpPr>
        <p:pic>
          <p:nvPicPr>
            <p:cNvPr id="613" name="Google Shape;613;g3a29f53c04b_0_701"/>
            <p:cNvPicPr preferRelativeResize="0"/>
            <p:nvPr/>
          </p:nvPicPr>
          <p:blipFill rotWithShape="1">
            <a:blip r:embed="rId3">
              <a:alphaModFix/>
            </a:blip>
            <a:srcRect b="26250" l="6769" r="53691" t="10844"/>
            <a:stretch/>
          </p:blipFill>
          <p:spPr>
            <a:xfrm>
              <a:off x="4572000" y="1381609"/>
              <a:ext cx="3375326" cy="2869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g3a29f53c04b_0_701"/>
            <p:cNvSpPr txBox="1"/>
            <p:nvPr/>
          </p:nvSpPr>
          <p:spPr>
            <a:xfrm>
              <a:off x="4740486" y="1841629"/>
              <a:ext cx="2795100" cy="16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This flaw likely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affected the results,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so the paper was withdrawn; and hydroxychloroquine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is not an approved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treatment for COVID-19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A picture containing text&#10;&#10;Description automatically generated" id="615" name="Google Shape;615;g3a29f53c04b_0_701"/>
            <p:cNvPicPr preferRelativeResize="0"/>
            <p:nvPr/>
          </p:nvPicPr>
          <p:blipFill rotWithShape="1">
            <a:blip r:embed="rId6">
              <a:alphaModFix/>
            </a:blip>
            <a:srcRect b="43534" l="0" r="0" t="0"/>
            <a:stretch/>
          </p:blipFill>
          <p:spPr>
            <a:xfrm flipH="1">
              <a:off x="6776073" y="2887959"/>
              <a:ext cx="2105570" cy="24729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620" name="Google Shape;620;g3a29f53c04b_0_7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621" name="Google Shape;621;g3a29f53c04b_0_7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626" name="Google Shape;626;g3a29f53c04b_0_861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627" name="Google Shape;627;g3a29f53c04b_0_8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g3a29f53c04b_0_861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g3a29f53c04b_0_861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a29f53c04b_0_868"/>
          <p:cNvSpPr txBox="1"/>
          <p:nvPr/>
        </p:nvSpPr>
        <p:spPr>
          <a:xfrm>
            <a:off x="2216852" y="2626360"/>
            <a:ext cx="47103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1800"/>
              <a:buFont typeface="Roboto"/>
              <a:buNone/>
            </a:pPr>
            <a:r>
              <a:rPr b="0" i="0" lang="en-US" sz="3200" u="none" cap="none" strike="noStrike">
                <a:solidFill>
                  <a:srgbClr val="252244"/>
                </a:solidFill>
                <a:latin typeface="Roboto"/>
                <a:ea typeface="Roboto"/>
                <a:cs typeface="Roboto"/>
                <a:sym typeface="Roboto"/>
              </a:rPr>
              <a:t>Increased opportunities for research collaboration</a:t>
            </a:r>
            <a:endParaRPr/>
          </a:p>
        </p:txBody>
      </p:sp>
      <p:pic>
        <p:nvPicPr>
          <p:cNvPr descr="A picture containing text, vector graphics&#10;&#10;Description automatically generated" id="635" name="Google Shape;635;g3a29f53c04b_0_8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471221"/>
            <a:ext cx="2583282" cy="3870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vector graphics&#10;&#10;Description automatically generated" id="636" name="Google Shape;636;g3a29f53c04b_0_8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7944" y="2626360"/>
            <a:ext cx="2426056" cy="3560492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g3a29f53c04b_0_86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a29f53c04b_0_875"/>
          <p:cNvSpPr txBox="1"/>
          <p:nvPr>
            <p:ph idx="1" type="body"/>
          </p:nvPr>
        </p:nvSpPr>
        <p:spPr>
          <a:xfrm>
            <a:off x="254000" y="986014"/>
            <a:ext cx="8625900" cy="49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>
                <a:solidFill>
                  <a:srgbClr val="000000"/>
                </a:solidFill>
              </a:rPr>
              <a:t>Open Research enhances worldwide and interdisciplinary collaboration among researchers. This is facilitated by: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643" name="Google Shape;643;g3a29f53c04b_0_87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How does open research encourage collaboration?</a:t>
            </a:r>
            <a:endParaRPr b="1" sz="2400"/>
          </a:p>
        </p:txBody>
      </p:sp>
      <p:sp>
        <p:nvSpPr>
          <p:cNvPr id="644" name="Google Shape;644;g3a29f53c04b_0_875"/>
          <p:cNvSpPr txBox="1"/>
          <p:nvPr/>
        </p:nvSpPr>
        <p:spPr>
          <a:xfrm>
            <a:off x="254000" y="4869750"/>
            <a:ext cx="87786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Open research collaboration accelerates discovery and design by bringing together knowledge, tools and expertise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5" name="Google Shape;645;g3a29f53c04b_0_875"/>
          <p:cNvGrpSpPr/>
          <p:nvPr/>
        </p:nvGrpSpPr>
        <p:grpSpPr>
          <a:xfrm>
            <a:off x="495300" y="2362526"/>
            <a:ext cx="8153400" cy="2133000"/>
            <a:chOff x="495300" y="2083452"/>
            <a:chExt cx="8153400" cy="2133000"/>
          </a:xfrm>
        </p:grpSpPr>
        <p:sp>
          <p:nvSpPr>
            <p:cNvPr id="646" name="Google Shape;646;g3a29f53c04b_0_875"/>
            <p:cNvSpPr/>
            <p:nvPr/>
          </p:nvSpPr>
          <p:spPr>
            <a:xfrm>
              <a:off x="495300" y="2083452"/>
              <a:ext cx="8153400" cy="21330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g3a29f53c04b_0_875"/>
            <p:cNvSpPr txBox="1"/>
            <p:nvPr/>
          </p:nvSpPr>
          <p:spPr>
            <a:xfrm>
              <a:off x="2781300" y="2311500"/>
              <a:ext cx="5525700" cy="17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1. Open data whereby data of any kind is openly accessible</a:t>
              </a:r>
              <a:br>
                <a:rPr b="0" i="0" lang="en-US" sz="20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br>
                <a:rPr b="0" i="0" lang="en-US" sz="20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20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2. Collaborative platforms for sharing information, tools and resources</a:t>
              </a:r>
              <a:endParaRPr b="0" i="0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48" name="Google Shape;648;g3a29f53c04b_0_875"/>
            <p:cNvPicPr preferRelativeResize="0"/>
            <p:nvPr/>
          </p:nvPicPr>
          <p:blipFill rotWithShape="1">
            <a:blip r:embed="rId3">
              <a:alphaModFix/>
            </a:blip>
            <a:srcRect b="0" l="0" r="0" t="7201"/>
            <a:stretch/>
          </p:blipFill>
          <p:spPr>
            <a:xfrm>
              <a:off x="736600" y="2174142"/>
              <a:ext cx="2044700" cy="195156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a29f53c04b_0_885"/>
          <p:cNvSpPr txBox="1"/>
          <p:nvPr>
            <p:ph idx="1" type="body"/>
          </p:nvPr>
        </p:nvSpPr>
        <p:spPr>
          <a:xfrm>
            <a:off x="254000" y="1099299"/>
            <a:ext cx="8473500" cy="55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</a:rPr>
              <a:t>The case of COVID-19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-381000" lvl="1" marL="49371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200">
                <a:solidFill>
                  <a:srgbClr val="000000"/>
                </a:solidFill>
              </a:rPr>
              <a:t>During the pandemic, researchers from across the globe collaborated and shared data to better understand the disease and work towards preventive and treatment approaches. </a:t>
            </a:r>
            <a:endParaRPr sz="2200">
              <a:solidFill>
                <a:srgbClr val="000000"/>
              </a:solidFill>
            </a:endParaRPr>
          </a:p>
        </p:txBody>
      </p:sp>
      <p:sp>
        <p:nvSpPr>
          <p:cNvPr id="654" name="Google Shape;654;g3a29f53c04b_0_88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How does open research encourage collaboration?</a:t>
            </a:r>
            <a:endParaRPr sz="2000"/>
          </a:p>
        </p:txBody>
      </p:sp>
      <p:grpSp>
        <p:nvGrpSpPr>
          <p:cNvPr id="655" name="Google Shape;655;g3a29f53c04b_0_885"/>
          <p:cNvGrpSpPr/>
          <p:nvPr/>
        </p:nvGrpSpPr>
        <p:grpSpPr>
          <a:xfrm>
            <a:off x="2299734" y="3174999"/>
            <a:ext cx="4544532" cy="3028949"/>
            <a:chOff x="4193067" y="3174999"/>
            <a:chExt cx="4544532" cy="3028949"/>
          </a:xfrm>
        </p:grpSpPr>
        <p:pic>
          <p:nvPicPr>
            <p:cNvPr descr="A picture containing text, vector graphics&#10;&#10;Description automatically generated" id="656" name="Google Shape;656;g3a29f53c04b_0_8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93067" y="3174999"/>
              <a:ext cx="2929034" cy="30289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text, vector graphics&#10;&#10;Description automatically generated" id="657" name="Google Shape;657;g3a29f53c04b_0_88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77585" y="3327399"/>
              <a:ext cx="2060014" cy="28765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a29f53c04b_0_893"/>
          <p:cNvSpPr txBox="1"/>
          <p:nvPr>
            <p:ph idx="1" type="body"/>
          </p:nvPr>
        </p:nvSpPr>
        <p:spPr>
          <a:xfrm>
            <a:off x="264100" y="1033760"/>
            <a:ext cx="8473500" cy="55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</a:rPr>
              <a:t>The case of COVID-19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1" marL="53498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200">
                <a:solidFill>
                  <a:srgbClr val="000000"/>
                </a:solidFill>
              </a:rPr>
              <a:t>There are also open research repositories dedicated specifically to COVID-19 research</a:t>
            </a:r>
            <a:endParaRPr/>
          </a:p>
          <a:p>
            <a:pPr indent="-381000" lvl="2" marL="99218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</a:rPr>
              <a:t>For example, the </a:t>
            </a:r>
            <a:r>
              <a:rPr lang="en-US" u="sng">
                <a:solidFill>
                  <a:schemeClr val="accent4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World </a:t>
            </a:r>
            <a:r>
              <a:rPr lang="en-US" u="sng">
                <a:solidFill>
                  <a:schemeClr val="accent4"/>
                </a:solidFill>
              </a:rPr>
              <a:t> </a:t>
            </a:r>
            <a:r>
              <a:rPr lang="en-US" u="sng">
                <a:solidFill>
                  <a:schemeClr val="accent4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Economic Forum-Global </a:t>
            </a:r>
            <a:r>
              <a:rPr lang="en-US" u="sng">
                <a:solidFill>
                  <a:schemeClr val="accent4"/>
                </a:solidFill>
              </a:rPr>
              <a:t> </a:t>
            </a:r>
            <a:r>
              <a:rPr lang="en-US" u="sng">
                <a:solidFill>
                  <a:schemeClr val="accent4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Science Collaboration </a:t>
            </a:r>
            <a:r>
              <a:rPr lang="en-US" u="sng">
                <a:solidFill>
                  <a:schemeClr val="accent4"/>
                </a:solidFill>
              </a:rPr>
              <a:t> </a:t>
            </a:r>
            <a:r>
              <a:rPr lang="en-US" u="sng">
                <a:solidFill>
                  <a:schemeClr val="accent4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Covid-19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663" name="Google Shape;663;g3a29f53c04b_0_89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How does open research encourage collaboration?</a:t>
            </a:r>
            <a:endParaRPr sz="2000"/>
          </a:p>
        </p:txBody>
      </p:sp>
      <p:sp>
        <p:nvSpPr>
          <p:cNvPr id="664" name="Google Shape;664;g3a29f53c04b_0_893"/>
          <p:cNvSpPr/>
          <p:nvPr/>
        </p:nvSpPr>
        <p:spPr>
          <a:xfrm>
            <a:off x="3104444" y="3589040"/>
            <a:ext cx="2925000" cy="2235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highlight>
                <a:srgbClr val="FFC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highlight>
                <a:srgbClr val="FFC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5" name="Google Shape;665;g3a29f53c04b_0_893"/>
          <p:cNvPicPr preferRelativeResize="0"/>
          <p:nvPr/>
        </p:nvPicPr>
        <p:blipFill rotWithShape="1">
          <a:blip r:embed="rId7">
            <a:alphaModFix/>
          </a:blip>
          <a:srcRect b="0" l="0" r="9082" t="0"/>
          <a:stretch/>
        </p:blipFill>
        <p:spPr>
          <a:xfrm>
            <a:off x="3183976" y="3660180"/>
            <a:ext cx="2765951" cy="2092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670" name="Google Shape;670;g3a29f53c04b_0_9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671" name="Google Shape;671;g3a29f53c04b_0_9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676" name="Google Shape;676;g3a29f53c04b_0_1232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677" name="Google Shape;677;g3a29f53c04b_0_12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g3a29f53c04b_0_1232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g3a29f53c04b_0_1232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a29f53c04b_0_1239"/>
          <p:cNvSpPr txBox="1"/>
          <p:nvPr/>
        </p:nvSpPr>
        <p:spPr>
          <a:xfrm>
            <a:off x="2216852" y="2626360"/>
            <a:ext cx="47103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1800"/>
              <a:buFont typeface="Roboto"/>
              <a:buNone/>
            </a:pPr>
            <a:r>
              <a:rPr b="0" i="0" lang="en-US" sz="3200" u="none" cap="none" strike="noStrike">
                <a:solidFill>
                  <a:srgbClr val="252244"/>
                </a:solidFill>
                <a:latin typeface="Roboto"/>
                <a:ea typeface="Roboto"/>
                <a:cs typeface="Roboto"/>
                <a:sym typeface="Roboto"/>
              </a:rPr>
              <a:t>Improved visibility of research findings</a:t>
            </a:r>
            <a:endParaRPr/>
          </a:p>
        </p:txBody>
      </p:sp>
      <p:pic>
        <p:nvPicPr>
          <p:cNvPr descr="A picture containing text, vector graphics&#10;&#10;Description automatically generated" id="685" name="Google Shape;685;g3a29f53c04b_0_12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21449"/>
            <a:ext cx="2438444" cy="4231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&#10;&#10;Description automatically generated" id="686" name="Google Shape;686;g3a29f53c04b_0_12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6995" y="1772529"/>
            <a:ext cx="2645561" cy="4831471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g3a29f53c04b_0_123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a29f53c04b_0_124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How does open research improve visibility and engagement with research?</a:t>
            </a:r>
            <a:endParaRPr b="1" sz="2400"/>
          </a:p>
        </p:txBody>
      </p:sp>
      <p:grpSp>
        <p:nvGrpSpPr>
          <p:cNvPr id="693" name="Google Shape;693;g3a29f53c04b_0_1246"/>
          <p:cNvGrpSpPr/>
          <p:nvPr/>
        </p:nvGrpSpPr>
        <p:grpSpPr>
          <a:xfrm>
            <a:off x="4241736" y="1944429"/>
            <a:ext cx="2670300" cy="2568526"/>
            <a:chOff x="4241736" y="1944429"/>
            <a:chExt cx="2670300" cy="2568526"/>
          </a:xfrm>
        </p:grpSpPr>
        <p:sp>
          <p:nvSpPr>
            <p:cNvPr id="694" name="Google Shape;694;g3a29f53c04b_0_1246"/>
            <p:cNvSpPr txBox="1"/>
            <p:nvPr/>
          </p:nvSpPr>
          <p:spPr>
            <a:xfrm>
              <a:off x="4241736" y="3665755"/>
              <a:ext cx="2670300" cy="84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11430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65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This can increase the likelihood that research will be read and engaged with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5" name="Google Shape;695;g3a29f53c04b_0_1246"/>
            <p:cNvSpPr/>
            <p:nvPr/>
          </p:nvSpPr>
          <p:spPr>
            <a:xfrm>
              <a:off x="4954797" y="2007391"/>
              <a:ext cx="1526100" cy="1526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text&#10;&#10;Description automatically generated" id="696" name="Google Shape;696;g3a29f53c04b_0_1246"/>
            <p:cNvPicPr preferRelativeResize="0"/>
            <p:nvPr/>
          </p:nvPicPr>
          <p:blipFill rotWithShape="1">
            <a:blip r:embed="rId3">
              <a:alphaModFix/>
            </a:blip>
            <a:srcRect b="45088" l="0" r="0" t="0"/>
            <a:stretch/>
          </p:blipFill>
          <p:spPr>
            <a:xfrm>
              <a:off x="5256252" y="1944429"/>
              <a:ext cx="1031270" cy="137424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7" name="Google Shape;697;g3a29f53c04b_0_1246"/>
          <p:cNvGrpSpPr/>
          <p:nvPr/>
        </p:nvGrpSpPr>
        <p:grpSpPr>
          <a:xfrm>
            <a:off x="-10177" y="2007391"/>
            <a:ext cx="2699400" cy="2317164"/>
            <a:chOff x="-10177" y="2007391"/>
            <a:chExt cx="2699400" cy="2317164"/>
          </a:xfrm>
        </p:grpSpPr>
        <p:sp>
          <p:nvSpPr>
            <p:cNvPr id="698" name="Google Shape;698;g3a29f53c04b_0_1246"/>
            <p:cNvSpPr txBox="1"/>
            <p:nvPr/>
          </p:nvSpPr>
          <p:spPr>
            <a:xfrm>
              <a:off x="-10177" y="3665755"/>
              <a:ext cx="2699400" cy="65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11430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Open research includes making final research products openly accessible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9" name="Google Shape;699;g3a29f53c04b_0_1246"/>
            <p:cNvSpPr/>
            <p:nvPr/>
          </p:nvSpPr>
          <p:spPr>
            <a:xfrm>
              <a:off x="603291" y="2007391"/>
              <a:ext cx="1526100" cy="1526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00" name="Google Shape;700;g3a29f53c04b_0_12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709148" y="2179186"/>
              <a:ext cx="1368279" cy="11825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1" name="Google Shape;701;g3a29f53c04b_0_1246"/>
          <p:cNvGrpSpPr/>
          <p:nvPr/>
        </p:nvGrpSpPr>
        <p:grpSpPr>
          <a:xfrm>
            <a:off x="6646413" y="2273345"/>
            <a:ext cx="2507700" cy="2640211"/>
            <a:chOff x="6646413" y="2273345"/>
            <a:chExt cx="2507700" cy="2640211"/>
          </a:xfrm>
        </p:grpSpPr>
        <p:sp>
          <p:nvSpPr>
            <p:cNvPr id="702" name="Google Shape;702;g3a29f53c04b_0_1246"/>
            <p:cNvSpPr txBox="1"/>
            <p:nvPr/>
          </p:nvSpPr>
          <p:spPr>
            <a:xfrm>
              <a:off x="6646413" y="2273345"/>
              <a:ext cx="2507700" cy="84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11430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Open research also tends to get more media attention, increasing visibility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3" name="Google Shape;703;g3a29f53c04b_0_1246"/>
            <p:cNvSpPr/>
            <p:nvPr/>
          </p:nvSpPr>
          <p:spPr>
            <a:xfrm>
              <a:off x="7219448" y="3387456"/>
              <a:ext cx="1526100" cy="1526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highlight>
                  <a:srgbClr val="8DD2AF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04" name="Google Shape;704;g3a29f53c04b_0_12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30894" y="3391662"/>
              <a:ext cx="1176577" cy="13954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5" name="Google Shape;705;g3a29f53c04b_0_1246"/>
          <p:cNvGrpSpPr/>
          <p:nvPr/>
        </p:nvGrpSpPr>
        <p:grpSpPr>
          <a:xfrm>
            <a:off x="2259882" y="2115229"/>
            <a:ext cx="2361300" cy="2547019"/>
            <a:chOff x="2259882" y="2115229"/>
            <a:chExt cx="2361300" cy="2547019"/>
          </a:xfrm>
        </p:grpSpPr>
        <p:sp>
          <p:nvSpPr>
            <p:cNvPr id="706" name="Google Shape;706;g3a29f53c04b_0_1246"/>
            <p:cNvSpPr txBox="1"/>
            <p:nvPr/>
          </p:nvSpPr>
          <p:spPr>
            <a:xfrm>
              <a:off x="2259882" y="2115229"/>
              <a:ext cx="2361300" cy="6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11430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can also include engaging in alternative ways of sharing research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7" name="Google Shape;707;g3a29f53c04b_0_1246"/>
            <p:cNvSpPr/>
            <p:nvPr/>
          </p:nvSpPr>
          <p:spPr>
            <a:xfrm>
              <a:off x="2715620" y="3136148"/>
              <a:ext cx="1526100" cy="1526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08" name="Google Shape;708;g3a29f53c04b_0_124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28404" y="3199514"/>
              <a:ext cx="1094426" cy="12868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text&#10;&#10;Description automatically generated" id="709" name="Google Shape;709;g3a29f53c04b_0_124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07774" y="3275564"/>
              <a:ext cx="859762" cy="12302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a29f53c04b_0_126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How does open research improve visibility and engagement with research?</a:t>
            </a:r>
            <a:endParaRPr b="1" sz="2400"/>
          </a:p>
        </p:txBody>
      </p:sp>
      <p:pic>
        <p:nvPicPr>
          <p:cNvPr descr="A picture containing text&#10;&#10;Description automatically generated" id="715" name="Google Shape;715;g3a29f53c04b_0_12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5162282" y="2693242"/>
            <a:ext cx="2578636" cy="3663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g3a29f53c04b_0_1267"/>
          <p:cNvPicPr preferRelativeResize="0"/>
          <p:nvPr/>
        </p:nvPicPr>
        <p:blipFill rotWithShape="1">
          <a:blip r:embed="rId4">
            <a:alphaModFix/>
          </a:blip>
          <a:srcRect b="26250" l="6769" r="53691" t="10844"/>
          <a:stretch/>
        </p:blipFill>
        <p:spPr>
          <a:xfrm>
            <a:off x="2042679" y="655251"/>
            <a:ext cx="4666094" cy="4544915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g3a29f53c04b_0_1267"/>
          <p:cNvSpPr txBox="1"/>
          <p:nvPr/>
        </p:nvSpPr>
        <p:spPr>
          <a:xfrm>
            <a:off x="2525297" y="1657833"/>
            <a:ext cx="35127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Take a look at this </a:t>
            </a:r>
            <a:r>
              <a:rPr b="0" i="0" lang="en-US" sz="23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TedX  talk about memory </a:t>
            </a:r>
            <a:r>
              <a:rPr b="0" i="0" lang="en-US" sz="2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 see how the speaker makes the research topic engaging and interesting!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722" name="Google Shape;722;g3a29f53c04b_0_12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723" name="Google Shape;723;g3a29f53c04b_0_12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728" name="Google Shape;728;g3a29f53c04b_0_1425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729" name="Google Shape;729;g3a29f53c04b_0_14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g3a29f53c04b_0_1425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g3a29f53c04b_0_1425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a29f53c04b_0_1432"/>
          <p:cNvSpPr txBox="1"/>
          <p:nvPr/>
        </p:nvSpPr>
        <p:spPr>
          <a:xfrm>
            <a:off x="2216852" y="2626360"/>
            <a:ext cx="47103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1800"/>
              <a:buFont typeface="Roboto"/>
              <a:buNone/>
            </a:pPr>
            <a:r>
              <a:rPr b="0" i="0" lang="en-US" sz="3200" u="none" cap="none" strike="noStrike">
                <a:solidFill>
                  <a:srgbClr val="252244"/>
                </a:solidFill>
                <a:latin typeface="Roboto"/>
                <a:ea typeface="Roboto"/>
                <a:cs typeface="Roboto"/>
                <a:sym typeface="Roboto"/>
              </a:rPr>
              <a:t>Encouragement of broader society participation in research</a:t>
            </a:r>
            <a:endParaRPr/>
          </a:p>
        </p:txBody>
      </p:sp>
      <p:pic>
        <p:nvPicPr>
          <p:cNvPr descr="A close-up of a person's face&#10;&#10;Description automatically generated with low confidence" id="737" name="Google Shape;737;g3a29f53c04b_0_14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45" y="2317653"/>
            <a:ext cx="1963051" cy="3749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&#10;&#10;Description automatically generated" id="738" name="Google Shape;738;g3a29f53c04b_0_14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1287" y="2194560"/>
            <a:ext cx="2449966" cy="386158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g3a29f53c04b_0_143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a29f53c04b_0_1439"/>
          <p:cNvSpPr txBox="1"/>
          <p:nvPr>
            <p:ph idx="1" type="body"/>
          </p:nvPr>
        </p:nvSpPr>
        <p:spPr>
          <a:xfrm>
            <a:off x="254000" y="1192687"/>
            <a:ext cx="8625900" cy="10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solidFill>
                  <a:srgbClr val="000000"/>
                </a:solidFill>
              </a:rPr>
              <a:t>Including members of the public when conducting research is important for a number of reasons.</a:t>
            </a:r>
            <a:endParaRPr sz="2200">
              <a:solidFill>
                <a:srgbClr val="000000"/>
              </a:solidFill>
              <a:highlight>
                <a:srgbClr val="FFFF00"/>
              </a:highlight>
            </a:endParaRPr>
          </a:p>
        </p:txBody>
      </p:sp>
      <p:sp>
        <p:nvSpPr>
          <p:cNvPr id="745" name="Google Shape;745;g3a29f53c04b_0_143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How does open research encourage societal participation in research?</a:t>
            </a:r>
            <a:endParaRPr b="1" sz="2400"/>
          </a:p>
        </p:txBody>
      </p:sp>
      <p:grpSp>
        <p:nvGrpSpPr>
          <p:cNvPr id="746" name="Google Shape;746;g3a29f53c04b_0_1439"/>
          <p:cNvGrpSpPr/>
          <p:nvPr/>
        </p:nvGrpSpPr>
        <p:grpSpPr>
          <a:xfrm>
            <a:off x="664066" y="2056530"/>
            <a:ext cx="4999300" cy="1093025"/>
            <a:chOff x="1930825" y="2384950"/>
            <a:chExt cx="4999300" cy="1093025"/>
          </a:xfrm>
        </p:grpSpPr>
        <p:pic>
          <p:nvPicPr>
            <p:cNvPr id="747" name="Google Shape;747;g3a29f53c04b_0_1439"/>
            <p:cNvPicPr preferRelativeResize="0"/>
            <p:nvPr/>
          </p:nvPicPr>
          <p:blipFill rotWithShape="1">
            <a:blip r:embed="rId3">
              <a:alphaModFix/>
            </a:blip>
            <a:srcRect b="31318" l="46390" r="3446" t="50146"/>
            <a:stretch/>
          </p:blipFill>
          <p:spPr>
            <a:xfrm>
              <a:off x="1930825" y="2384950"/>
              <a:ext cx="4930699" cy="1093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8" name="Google Shape;748;g3a29f53c04b_0_1439"/>
            <p:cNvSpPr txBox="1"/>
            <p:nvPr/>
          </p:nvSpPr>
          <p:spPr>
            <a:xfrm>
              <a:off x="2714825" y="2592923"/>
              <a:ext cx="42153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enhances the relevance and impact of your research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9" name="Google Shape;749;g3a29f53c04b_0_1439"/>
            <p:cNvSpPr txBox="1"/>
            <p:nvPr/>
          </p:nvSpPr>
          <p:spPr>
            <a:xfrm>
              <a:off x="1930825" y="2700613"/>
              <a:ext cx="783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50" name="Google Shape;750;g3a29f53c04b_0_1439"/>
          <p:cNvGrpSpPr/>
          <p:nvPr/>
        </p:nvGrpSpPr>
        <p:grpSpPr>
          <a:xfrm>
            <a:off x="578005" y="3421555"/>
            <a:ext cx="5026282" cy="1093049"/>
            <a:chOff x="759649" y="3452713"/>
            <a:chExt cx="5026282" cy="1093049"/>
          </a:xfrm>
        </p:grpSpPr>
        <p:pic>
          <p:nvPicPr>
            <p:cNvPr id="751" name="Google Shape;751;g3a29f53c04b_0_1439"/>
            <p:cNvPicPr preferRelativeResize="0"/>
            <p:nvPr/>
          </p:nvPicPr>
          <p:blipFill rotWithShape="1">
            <a:blip r:embed="rId3">
              <a:alphaModFix/>
            </a:blip>
            <a:srcRect b="31318" l="45418" r="3446" t="50146"/>
            <a:stretch/>
          </p:blipFill>
          <p:spPr>
            <a:xfrm>
              <a:off x="759649" y="3452713"/>
              <a:ext cx="5026282" cy="10930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2" name="Google Shape;752;g3a29f53c04b_0_1439"/>
            <p:cNvSpPr txBox="1"/>
            <p:nvPr/>
          </p:nvSpPr>
          <p:spPr>
            <a:xfrm>
              <a:off x="1650400" y="3660698"/>
              <a:ext cx="3975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helps to ensure fairer access to knowledge and reduce inequalities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3" name="Google Shape;753;g3a29f53c04b_0_1439"/>
            <p:cNvSpPr txBox="1"/>
            <p:nvPr/>
          </p:nvSpPr>
          <p:spPr>
            <a:xfrm>
              <a:off x="866500" y="3818938"/>
              <a:ext cx="783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54" name="Google Shape;754;g3a29f53c04b_0_1439"/>
          <p:cNvGrpSpPr/>
          <p:nvPr/>
        </p:nvGrpSpPr>
        <p:grpSpPr>
          <a:xfrm>
            <a:off x="664066" y="4786603"/>
            <a:ext cx="4930699" cy="1093049"/>
            <a:chOff x="1930825" y="4520500"/>
            <a:chExt cx="4930699" cy="1093049"/>
          </a:xfrm>
        </p:grpSpPr>
        <p:pic>
          <p:nvPicPr>
            <p:cNvPr id="755" name="Google Shape;755;g3a29f53c04b_0_1439"/>
            <p:cNvPicPr preferRelativeResize="0"/>
            <p:nvPr/>
          </p:nvPicPr>
          <p:blipFill rotWithShape="1">
            <a:blip r:embed="rId3">
              <a:alphaModFix/>
            </a:blip>
            <a:srcRect b="31318" l="46390" r="3446" t="50146"/>
            <a:stretch/>
          </p:blipFill>
          <p:spPr>
            <a:xfrm>
              <a:off x="1930825" y="4520500"/>
              <a:ext cx="4930699" cy="10930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6" name="Google Shape;756;g3a29f53c04b_0_1439"/>
            <p:cNvSpPr txBox="1"/>
            <p:nvPr/>
          </p:nvSpPr>
          <p:spPr>
            <a:xfrm>
              <a:off x="2714825" y="4728485"/>
              <a:ext cx="3790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Inclusion of the public in conducting research is called Citizen Research 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7" name="Google Shape;757;g3a29f53c04b_0_1439"/>
            <p:cNvSpPr txBox="1"/>
            <p:nvPr/>
          </p:nvSpPr>
          <p:spPr>
            <a:xfrm>
              <a:off x="1930825" y="4873163"/>
              <a:ext cx="783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58" name="Google Shape;758;g3a29f53c04b_0_1439"/>
          <p:cNvGrpSpPr/>
          <p:nvPr/>
        </p:nvGrpSpPr>
        <p:grpSpPr>
          <a:xfrm>
            <a:off x="5989621" y="3325226"/>
            <a:ext cx="1388167" cy="1241636"/>
            <a:chOff x="6005087" y="3307549"/>
            <a:chExt cx="1388167" cy="1241636"/>
          </a:xfrm>
        </p:grpSpPr>
        <p:pic>
          <p:nvPicPr>
            <p:cNvPr descr="A picture containing text&#10;&#10;Description automatically generated" id="759" name="Google Shape;759;g3a29f53c04b_0_14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05087" y="3307549"/>
              <a:ext cx="1388167" cy="12416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ogo&#10;&#10;Description automatically generated with medium confidence" id="760" name="Google Shape;760;g3a29f53c04b_0_143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70533" y="3661970"/>
              <a:ext cx="637386" cy="73802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picture containing logo&#10;&#10;Description automatically generated" id="761" name="Google Shape;761;g3a29f53c04b_0_14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04583" y="1858569"/>
            <a:ext cx="1358241" cy="13473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2" name="Google Shape;762;g3a29f53c04b_0_1439"/>
          <p:cNvGrpSpPr/>
          <p:nvPr/>
        </p:nvGrpSpPr>
        <p:grpSpPr>
          <a:xfrm>
            <a:off x="5800708" y="4676245"/>
            <a:ext cx="1895467" cy="1102882"/>
            <a:chOff x="-20607" y="83047"/>
            <a:chExt cx="5710957" cy="2073866"/>
          </a:xfrm>
        </p:grpSpPr>
        <p:pic>
          <p:nvPicPr>
            <p:cNvPr descr="A picture containing text, vector graphics&#10;&#10;Description automatically generated" id="763" name="Google Shape;763;g3a29f53c04b_0_1439"/>
            <p:cNvPicPr preferRelativeResize="0"/>
            <p:nvPr/>
          </p:nvPicPr>
          <p:blipFill rotWithShape="1">
            <a:blip r:embed="rId7">
              <a:alphaModFix/>
            </a:blip>
            <a:srcRect b="71234" l="33965" r="30449" t="0"/>
            <a:stretch/>
          </p:blipFill>
          <p:spPr>
            <a:xfrm>
              <a:off x="2374491" y="319986"/>
              <a:ext cx="1627395" cy="18369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text&#10;&#10;Description automatically generated" id="764" name="Google Shape;764;g3a29f53c04b_0_1439"/>
            <p:cNvPicPr preferRelativeResize="0"/>
            <p:nvPr/>
          </p:nvPicPr>
          <p:blipFill rotWithShape="1">
            <a:blip r:embed="rId8">
              <a:alphaModFix/>
            </a:blip>
            <a:srcRect b="67537" l="39716" r="14527" t="0"/>
            <a:stretch/>
          </p:blipFill>
          <p:spPr>
            <a:xfrm>
              <a:off x="1057403" y="105157"/>
              <a:ext cx="1876928" cy="2044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text&#10;&#10;Description automatically generated" id="765" name="Google Shape;765;g3a29f53c04b_0_1439"/>
            <p:cNvPicPr preferRelativeResize="0"/>
            <p:nvPr/>
          </p:nvPicPr>
          <p:blipFill rotWithShape="1">
            <a:blip r:embed="rId9">
              <a:alphaModFix/>
            </a:blip>
            <a:srcRect b="64803" l="21516" r="40669" t="0"/>
            <a:stretch/>
          </p:blipFill>
          <p:spPr>
            <a:xfrm>
              <a:off x="-20607" y="83047"/>
              <a:ext cx="1564157" cy="20686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text&#10;&#10;Description automatically generated" id="766" name="Google Shape;766;g3a29f53c04b_0_1439"/>
            <p:cNvPicPr preferRelativeResize="0"/>
            <p:nvPr/>
          </p:nvPicPr>
          <p:blipFill rotWithShape="1">
            <a:blip r:embed="rId10">
              <a:alphaModFix/>
            </a:blip>
            <a:srcRect b="67334" l="40414" r="6346" t="0"/>
            <a:stretch/>
          </p:blipFill>
          <p:spPr>
            <a:xfrm>
              <a:off x="3663063" y="187824"/>
              <a:ext cx="2027287" cy="196056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a29f53c04b_0_146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How does open research encourage societal participation in research?</a:t>
            </a:r>
            <a:endParaRPr sz="2000"/>
          </a:p>
        </p:txBody>
      </p:sp>
      <p:grpSp>
        <p:nvGrpSpPr>
          <p:cNvPr id="772" name="Google Shape;772;g3a29f53c04b_0_1465"/>
          <p:cNvGrpSpPr/>
          <p:nvPr/>
        </p:nvGrpSpPr>
        <p:grpSpPr>
          <a:xfrm>
            <a:off x="1022731" y="1071602"/>
            <a:ext cx="4776750" cy="1499466"/>
            <a:chOff x="1022731" y="1071602"/>
            <a:chExt cx="4776750" cy="1499466"/>
          </a:xfrm>
        </p:grpSpPr>
        <p:sp>
          <p:nvSpPr>
            <p:cNvPr id="773" name="Google Shape;773;g3a29f53c04b_0_1465"/>
            <p:cNvSpPr txBox="1"/>
            <p:nvPr/>
          </p:nvSpPr>
          <p:spPr>
            <a:xfrm>
              <a:off x="1756531" y="1893968"/>
              <a:ext cx="3950400" cy="677100"/>
            </a:xfrm>
            <a:prstGeom prst="rect">
              <a:avLst/>
            </a:prstGeom>
            <a:solidFill>
              <a:srgbClr val="FEE599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This means there are no fees or need to use an institutional login 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774" name="Google Shape;774;g3a29f53c04b_0_1465"/>
            <p:cNvGrpSpPr/>
            <p:nvPr/>
          </p:nvGrpSpPr>
          <p:grpSpPr>
            <a:xfrm>
              <a:off x="1022731" y="1071602"/>
              <a:ext cx="4776750" cy="881874"/>
              <a:chOff x="1435950" y="770863"/>
              <a:chExt cx="4776750" cy="881874"/>
            </a:xfrm>
          </p:grpSpPr>
          <p:pic>
            <p:nvPicPr>
              <p:cNvPr id="775" name="Google Shape;775;g3a29f53c04b_0_1465"/>
              <p:cNvPicPr preferRelativeResize="0"/>
              <p:nvPr/>
            </p:nvPicPr>
            <p:blipFill rotWithShape="1">
              <a:blip r:embed="rId3">
                <a:alphaModFix/>
              </a:blip>
              <a:srcRect b="31318" l="46390" r="3446" t="50146"/>
              <a:stretch/>
            </p:blipFill>
            <p:spPr>
              <a:xfrm>
                <a:off x="1435950" y="770863"/>
                <a:ext cx="4776749" cy="8818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6" name="Google Shape;776;g3a29f53c04b_0_1465"/>
              <p:cNvSpPr txBox="1"/>
              <p:nvPr/>
            </p:nvSpPr>
            <p:spPr>
              <a:xfrm>
                <a:off x="2231400" y="899838"/>
                <a:ext cx="39813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Open research findings and outputs can be freely accessed by the public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77" name="Google Shape;777;g3a29f53c04b_0_1465"/>
              <p:cNvSpPr txBox="1"/>
              <p:nvPr/>
            </p:nvSpPr>
            <p:spPr>
              <a:xfrm>
                <a:off x="1435950" y="1010088"/>
                <a:ext cx="7338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1" i="0" lang="en-US" sz="16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endParaRPr b="1" i="0" sz="1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778" name="Google Shape;778;g3a29f53c04b_0_1465"/>
          <p:cNvGrpSpPr/>
          <p:nvPr/>
        </p:nvGrpSpPr>
        <p:grpSpPr>
          <a:xfrm>
            <a:off x="1022731" y="2688695"/>
            <a:ext cx="4776749" cy="1513299"/>
            <a:chOff x="1022731" y="2641838"/>
            <a:chExt cx="4776749" cy="1513299"/>
          </a:xfrm>
        </p:grpSpPr>
        <p:sp>
          <p:nvSpPr>
            <p:cNvPr id="779" name="Google Shape;779;g3a29f53c04b_0_1465"/>
            <p:cNvSpPr txBox="1"/>
            <p:nvPr/>
          </p:nvSpPr>
          <p:spPr>
            <a:xfrm>
              <a:off x="1756531" y="3478037"/>
              <a:ext cx="3935100" cy="677100"/>
            </a:xfrm>
            <a:prstGeom prst="rect">
              <a:avLst/>
            </a:prstGeom>
            <a:solidFill>
              <a:srgbClr val="FEE599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This means people outside academia can engage with research outputs 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780" name="Google Shape;780;g3a29f53c04b_0_1465"/>
            <p:cNvGrpSpPr/>
            <p:nvPr/>
          </p:nvGrpSpPr>
          <p:grpSpPr>
            <a:xfrm>
              <a:off x="1022731" y="2641838"/>
              <a:ext cx="4776749" cy="881874"/>
              <a:chOff x="1435950" y="2461688"/>
              <a:chExt cx="4776749" cy="881874"/>
            </a:xfrm>
          </p:grpSpPr>
          <p:pic>
            <p:nvPicPr>
              <p:cNvPr id="781" name="Google Shape;781;g3a29f53c04b_0_1465"/>
              <p:cNvPicPr preferRelativeResize="0"/>
              <p:nvPr/>
            </p:nvPicPr>
            <p:blipFill rotWithShape="1">
              <a:blip r:embed="rId3">
                <a:alphaModFix/>
              </a:blip>
              <a:srcRect b="31318" l="46390" r="3446" t="50146"/>
              <a:stretch/>
            </p:blipFill>
            <p:spPr>
              <a:xfrm>
                <a:off x="1435950" y="2461688"/>
                <a:ext cx="4776749" cy="8818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2" name="Google Shape;782;g3a29f53c04b_0_1465"/>
              <p:cNvSpPr txBox="1"/>
              <p:nvPr/>
            </p:nvSpPr>
            <p:spPr>
              <a:xfrm>
                <a:off x="2184900" y="2594825"/>
                <a:ext cx="39351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Open research makes it easier for research to reach the public 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83" name="Google Shape;783;g3a29f53c04b_0_1465"/>
              <p:cNvSpPr txBox="1"/>
              <p:nvPr/>
            </p:nvSpPr>
            <p:spPr>
              <a:xfrm>
                <a:off x="1435950" y="2702525"/>
                <a:ext cx="7338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1" i="0" lang="en-US" sz="16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endParaRPr b="1" i="0" sz="1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784" name="Google Shape;784;g3a29f53c04b_0_1465"/>
          <p:cNvGrpSpPr/>
          <p:nvPr/>
        </p:nvGrpSpPr>
        <p:grpSpPr>
          <a:xfrm>
            <a:off x="1022731" y="4319620"/>
            <a:ext cx="4880875" cy="1507778"/>
            <a:chOff x="1022731" y="4319620"/>
            <a:chExt cx="4880875" cy="1507778"/>
          </a:xfrm>
        </p:grpSpPr>
        <p:grpSp>
          <p:nvGrpSpPr>
            <p:cNvPr id="785" name="Google Shape;785;g3a29f53c04b_0_1465"/>
            <p:cNvGrpSpPr/>
            <p:nvPr/>
          </p:nvGrpSpPr>
          <p:grpSpPr>
            <a:xfrm>
              <a:off x="1022731" y="4319620"/>
              <a:ext cx="4880875" cy="881874"/>
              <a:chOff x="1435950" y="4152513"/>
              <a:chExt cx="4880875" cy="881874"/>
            </a:xfrm>
          </p:grpSpPr>
          <p:pic>
            <p:nvPicPr>
              <p:cNvPr id="786" name="Google Shape;786;g3a29f53c04b_0_1465"/>
              <p:cNvPicPr preferRelativeResize="0"/>
              <p:nvPr/>
            </p:nvPicPr>
            <p:blipFill rotWithShape="1">
              <a:blip r:embed="rId3">
                <a:alphaModFix/>
              </a:blip>
              <a:srcRect b="31318" l="46390" r="3446" t="50146"/>
              <a:stretch/>
            </p:blipFill>
            <p:spPr>
              <a:xfrm>
                <a:off x="1435950" y="4152513"/>
                <a:ext cx="4776749" cy="8818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7" name="Google Shape;787;g3a29f53c04b_0_1465"/>
              <p:cNvSpPr txBox="1"/>
              <p:nvPr/>
            </p:nvSpPr>
            <p:spPr>
              <a:xfrm>
                <a:off x="2194225" y="4289800"/>
                <a:ext cx="41226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is not just research papers that can be made freely available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88" name="Google Shape;788;g3a29f53c04b_0_1465"/>
              <p:cNvSpPr txBox="1"/>
              <p:nvPr/>
            </p:nvSpPr>
            <p:spPr>
              <a:xfrm>
                <a:off x="1435950" y="4394950"/>
                <a:ext cx="7338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1" i="0" lang="en-US" sz="16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3</a:t>
                </a:r>
                <a:endParaRPr b="1" i="0" sz="1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89" name="Google Shape;789;g3a29f53c04b_0_1465"/>
            <p:cNvSpPr txBox="1"/>
            <p:nvPr/>
          </p:nvSpPr>
          <p:spPr>
            <a:xfrm>
              <a:off x="1756531" y="5150298"/>
              <a:ext cx="3935100" cy="677100"/>
            </a:xfrm>
            <a:prstGeom prst="rect">
              <a:avLst/>
            </a:prstGeom>
            <a:solidFill>
              <a:srgbClr val="FEE599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Textbooks can be made openly available too, e.g. via Open Textbook Library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790" name="Google Shape;790;g3a29f53c04b_0_14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9213" y="1056501"/>
            <a:ext cx="1627574" cy="140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g3a29f53c04b_0_1465"/>
          <p:cNvPicPr preferRelativeResize="0"/>
          <p:nvPr/>
        </p:nvPicPr>
        <p:blipFill rotWithShape="1">
          <a:blip r:embed="rId5">
            <a:alphaModFix/>
          </a:blip>
          <a:srcRect b="0" l="0" r="28202" t="0"/>
          <a:stretch/>
        </p:blipFill>
        <p:spPr>
          <a:xfrm>
            <a:off x="5909288" y="2783520"/>
            <a:ext cx="2167425" cy="1276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g3a29f53c04b_0_14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3912" y="4262649"/>
            <a:ext cx="1552875" cy="153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a29f53c04b_0_1490"/>
          <p:cNvSpPr txBox="1"/>
          <p:nvPr>
            <p:ph idx="1" type="body"/>
          </p:nvPr>
        </p:nvSpPr>
        <p:spPr>
          <a:xfrm>
            <a:off x="483900" y="1306970"/>
            <a:ext cx="81660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solidFill>
                  <a:srgbClr val="000000"/>
                </a:solidFill>
              </a:rPr>
              <a:t>Sharing of knowledge in open research also involves non-traditional routes, including: 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n-US" sz="1800">
                <a:solidFill>
                  <a:srgbClr val="000000"/>
                </a:solidFill>
              </a:rPr>
            </a:b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>
                <a:solidFill>
                  <a:srgbClr val="000000"/>
                </a:solidFill>
              </a:rPr>
              <a:t>Using diverse approaches to share knowledge and research increases the likelihood that people can and will engage with it.</a:t>
            </a:r>
            <a:endParaRPr b="1" sz="2200">
              <a:solidFill>
                <a:srgbClr val="000000"/>
              </a:solidFill>
            </a:endParaRPr>
          </a:p>
        </p:txBody>
      </p:sp>
      <p:sp>
        <p:nvSpPr>
          <p:cNvPr id="798" name="Google Shape;798;g3a29f53c04b_0_149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How does open research encourage societal participation in research?</a:t>
            </a:r>
            <a:endParaRPr sz="2000"/>
          </a:p>
        </p:txBody>
      </p:sp>
      <p:grpSp>
        <p:nvGrpSpPr>
          <p:cNvPr id="799" name="Google Shape;799;g3a29f53c04b_0_1490"/>
          <p:cNvGrpSpPr/>
          <p:nvPr/>
        </p:nvGrpSpPr>
        <p:grpSpPr>
          <a:xfrm>
            <a:off x="4806121" y="2340663"/>
            <a:ext cx="1526100" cy="2107933"/>
            <a:chOff x="4533535" y="2340663"/>
            <a:chExt cx="1526100" cy="2107933"/>
          </a:xfrm>
        </p:grpSpPr>
        <p:sp>
          <p:nvSpPr>
            <p:cNvPr id="800" name="Google Shape;800;g3a29f53c04b_0_1490"/>
            <p:cNvSpPr txBox="1"/>
            <p:nvPr/>
          </p:nvSpPr>
          <p:spPr>
            <a:xfrm>
              <a:off x="4556300" y="4057096"/>
              <a:ext cx="14805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7937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Blogs</a:t>
              </a:r>
              <a:endParaRPr b="0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801" name="Google Shape;801;g3a29f53c04b_0_1490"/>
            <p:cNvGrpSpPr/>
            <p:nvPr/>
          </p:nvGrpSpPr>
          <p:grpSpPr>
            <a:xfrm>
              <a:off x="4533535" y="2340663"/>
              <a:ext cx="1526100" cy="1663500"/>
              <a:chOff x="4603773" y="2340663"/>
              <a:chExt cx="1526100" cy="1663500"/>
            </a:xfrm>
          </p:grpSpPr>
          <p:sp>
            <p:nvSpPr>
              <p:cNvPr id="802" name="Google Shape;802;g3a29f53c04b_0_1490"/>
              <p:cNvSpPr/>
              <p:nvPr/>
            </p:nvSpPr>
            <p:spPr>
              <a:xfrm>
                <a:off x="4603773" y="2387408"/>
                <a:ext cx="1526100" cy="15261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803" name="Google Shape;803;g3a29f53c04b_0_149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717933" y="2340663"/>
                <a:ext cx="1225952" cy="1663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04" name="Google Shape;804;g3a29f53c04b_0_1490"/>
          <p:cNvGrpSpPr/>
          <p:nvPr/>
        </p:nvGrpSpPr>
        <p:grpSpPr>
          <a:xfrm>
            <a:off x="6827477" y="2340663"/>
            <a:ext cx="1648800" cy="2135955"/>
            <a:chOff x="6290745" y="2340663"/>
            <a:chExt cx="1648800" cy="2135955"/>
          </a:xfrm>
        </p:grpSpPr>
        <p:sp>
          <p:nvSpPr>
            <p:cNvPr id="805" name="Google Shape;805;g3a29f53c04b_0_1490"/>
            <p:cNvSpPr txBox="1"/>
            <p:nvPr/>
          </p:nvSpPr>
          <p:spPr>
            <a:xfrm>
              <a:off x="6290745" y="4085118"/>
              <a:ext cx="16488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11430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6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Visuals and infographics</a:t>
              </a:r>
              <a:endParaRPr b="0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6" name="Google Shape;806;g3a29f53c04b_0_1490"/>
            <p:cNvSpPr/>
            <p:nvPr/>
          </p:nvSpPr>
          <p:spPr>
            <a:xfrm>
              <a:off x="6352081" y="2340663"/>
              <a:ext cx="1526100" cy="1526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7" name="Google Shape;807;g3a29f53c04b_0_1490"/>
          <p:cNvGrpSpPr/>
          <p:nvPr/>
        </p:nvGrpSpPr>
        <p:grpSpPr>
          <a:xfrm>
            <a:off x="2723428" y="2364035"/>
            <a:ext cx="1526100" cy="2084561"/>
            <a:chOff x="2723718" y="2364035"/>
            <a:chExt cx="1526100" cy="2084561"/>
          </a:xfrm>
        </p:grpSpPr>
        <p:sp>
          <p:nvSpPr>
            <p:cNvPr id="808" name="Google Shape;808;g3a29f53c04b_0_1490"/>
            <p:cNvSpPr txBox="1"/>
            <p:nvPr/>
          </p:nvSpPr>
          <p:spPr>
            <a:xfrm>
              <a:off x="2746483" y="4057096"/>
              <a:ext cx="14805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7937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Public talks</a:t>
              </a:r>
              <a:endParaRPr b="0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809" name="Google Shape;809;g3a29f53c04b_0_1490"/>
            <p:cNvGrpSpPr/>
            <p:nvPr/>
          </p:nvGrpSpPr>
          <p:grpSpPr>
            <a:xfrm>
              <a:off x="2723718" y="2364035"/>
              <a:ext cx="1526100" cy="1572861"/>
              <a:chOff x="2823193" y="2340663"/>
              <a:chExt cx="1526100" cy="1572861"/>
            </a:xfrm>
          </p:grpSpPr>
          <p:sp>
            <p:nvSpPr>
              <p:cNvPr id="810" name="Google Shape;810;g3a29f53c04b_0_1490"/>
              <p:cNvSpPr/>
              <p:nvPr/>
            </p:nvSpPr>
            <p:spPr>
              <a:xfrm>
                <a:off x="2823193" y="2377538"/>
                <a:ext cx="1526100" cy="15261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811" name="Google Shape;811;g3a29f53c04b_0_149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042206" y="2340663"/>
                <a:ext cx="1088091" cy="1572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12" name="Google Shape;812;g3a29f53c04b_0_1490"/>
          <p:cNvGrpSpPr/>
          <p:nvPr/>
        </p:nvGrpSpPr>
        <p:grpSpPr>
          <a:xfrm>
            <a:off x="579401" y="2406401"/>
            <a:ext cx="1648800" cy="2070217"/>
            <a:chOff x="579401" y="2406401"/>
            <a:chExt cx="1648800" cy="2070217"/>
          </a:xfrm>
        </p:grpSpPr>
        <p:sp>
          <p:nvSpPr>
            <p:cNvPr id="813" name="Google Shape;813;g3a29f53c04b_0_1490"/>
            <p:cNvSpPr txBox="1"/>
            <p:nvPr/>
          </p:nvSpPr>
          <p:spPr>
            <a:xfrm>
              <a:off x="579401" y="4085118"/>
              <a:ext cx="16488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7937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Social media</a:t>
              </a:r>
              <a:endParaRPr b="0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814" name="Google Shape;814;g3a29f53c04b_0_1490"/>
            <p:cNvGrpSpPr/>
            <p:nvPr/>
          </p:nvGrpSpPr>
          <p:grpSpPr>
            <a:xfrm>
              <a:off x="640735" y="2406401"/>
              <a:ext cx="1526100" cy="1526100"/>
              <a:chOff x="1083578" y="2377538"/>
              <a:chExt cx="1526100" cy="1526100"/>
            </a:xfrm>
          </p:grpSpPr>
          <p:sp>
            <p:nvSpPr>
              <p:cNvPr id="815" name="Google Shape;815;g3a29f53c04b_0_1490"/>
              <p:cNvSpPr/>
              <p:nvPr/>
            </p:nvSpPr>
            <p:spPr>
              <a:xfrm>
                <a:off x="1083578" y="2377538"/>
                <a:ext cx="1526100" cy="15261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816" name="Google Shape;816;g3a29f53c04b_0_149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97736" y="2391034"/>
                <a:ext cx="1297801" cy="149912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descr="A picture containing icon&#10;&#10;Description automatically generated" id="817" name="Google Shape;817;g3a29f53c04b_0_149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3962" y="2364035"/>
            <a:ext cx="1515651" cy="1406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2" name="Google Shape;822;g3a29f53c04b_0_1514"/>
          <p:cNvPicPr preferRelativeResize="0"/>
          <p:nvPr/>
        </p:nvPicPr>
        <p:blipFill rotWithShape="1">
          <a:blip r:embed="rId3">
            <a:alphaModFix/>
          </a:blip>
          <a:srcRect b="26250" l="6769" r="53691" t="10844"/>
          <a:stretch/>
        </p:blipFill>
        <p:spPr>
          <a:xfrm flipH="1">
            <a:off x="3106937" y="-280570"/>
            <a:ext cx="4794221" cy="5063585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g3a29f53c04b_0_1514"/>
          <p:cNvSpPr txBox="1"/>
          <p:nvPr/>
        </p:nvSpPr>
        <p:spPr>
          <a:xfrm>
            <a:off x="3871955" y="641964"/>
            <a:ext cx="3593100" cy="25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1800"/>
              <a:buFont typeface="Roboto"/>
              <a:buNone/>
            </a:pPr>
            <a:r>
              <a:rPr b="0" i="0" lang="en-US" sz="2800" u="none" cap="none" strike="noStrike">
                <a:solidFill>
                  <a:srgbClr val="252244"/>
                </a:solidFill>
                <a:latin typeface="Roboto"/>
                <a:ea typeface="Roboto"/>
                <a:cs typeface="Roboto"/>
                <a:sym typeface="Roboto"/>
              </a:rPr>
              <a:t>Take a look at the next set of slides and/or recording to see why open research is important </a:t>
            </a:r>
            <a:r>
              <a:rPr b="1" i="0" lang="en-US" sz="2800" u="none" cap="none" strike="noStrike">
                <a:solidFill>
                  <a:srgbClr val="252244"/>
                </a:solidFill>
                <a:latin typeface="Roboto"/>
                <a:ea typeface="Roboto"/>
                <a:cs typeface="Roboto"/>
                <a:sym typeface="Roboto"/>
              </a:rPr>
              <a:t>for you</a:t>
            </a:r>
            <a:r>
              <a:rPr b="0" i="0" lang="en-US" sz="2800" u="none" cap="none" strike="noStrike">
                <a:solidFill>
                  <a:srgbClr val="252244"/>
                </a:solidFill>
                <a:latin typeface="Roboto"/>
                <a:ea typeface="Roboto"/>
                <a:cs typeface="Roboto"/>
                <a:sym typeface="Roboto"/>
              </a:rPr>
              <a:t>!</a:t>
            </a:r>
            <a:endParaRPr/>
          </a:p>
        </p:txBody>
      </p:sp>
      <p:pic>
        <p:nvPicPr>
          <p:cNvPr descr="Logo&#10;&#10;Description automatically generated" id="824" name="Google Shape;824;g3a29f53c04b_0_15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242843" y="2569768"/>
            <a:ext cx="3239408" cy="3632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829" name="Google Shape;829;g3a29f53c04b_0_15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830" name="Google Shape;830;g3a29f53c04b_0_15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835" name="Google Shape;835;g3a29f53c04b_0_1919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836" name="Google Shape;836;g3a29f53c04b_0_19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g3a29f53c04b_0_1919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g3a29f53c04b_0_1919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a29f53c04b_0_1926"/>
          <p:cNvSpPr/>
          <p:nvPr/>
        </p:nvSpPr>
        <p:spPr>
          <a:xfrm>
            <a:off x="552600" y="1472400"/>
            <a:ext cx="8038800" cy="3913200"/>
          </a:xfrm>
          <a:prstGeom prst="rect">
            <a:avLst/>
          </a:prstGeom>
          <a:solidFill>
            <a:srgbClr val="FFC000">
              <a:alpha val="27840"/>
            </a:srgbClr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3a29f53c04b_0_192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Why is open research important for me?</a:t>
            </a:r>
            <a:endParaRPr b="1" sz="2400"/>
          </a:p>
        </p:txBody>
      </p:sp>
      <p:pic>
        <p:nvPicPr>
          <p:cNvPr id="845" name="Google Shape;845;g3a29f53c04b_0_19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2038" y="1934478"/>
            <a:ext cx="1811749" cy="3522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g3a29f53c04b_0_19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2946014" y="1934478"/>
            <a:ext cx="1615162" cy="3614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&#10;&#10;Description automatically generated" id="847" name="Google Shape;847;g3a29f53c04b_0_19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4000" y="3096126"/>
            <a:ext cx="2059008" cy="23891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vector graphics&#10;&#10;Description automatically generated" id="848" name="Google Shape;848;g3a29f53c04b_0_19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34172" y="1842891"/>
            <a:ext cx="2165223" cy="37574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&#10;&#10;Description automatically generated" id="849" name="Google Shape;849;g3a29f53c04b_0_19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84390" y="1822535"/>
            <a:ext cx="2165222" cy="3726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&#10;&#10;Description automatically generated" id="850" name="Google Shape;850;g3a29f53c04b_0_19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90215" y="2543829"/>
            <a:ext cx="1921579" cy="289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a29f53c04b_0_193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Why is open research important for me?</a:t>
            </a:r>
            <a:endParaRPr b="1" sz="2400"/>
          </a:p>
        </p:txBody>
      </p:sp>
      <p:grpSp>
        <p:nvGrpSpPr>
          <p:cNvPr id="856" name="Google Shape;856;g3a29f53c04b_0_1937"/>
          <p:cNvGrpSpPr/>
          <p:nvPr/>
        </p:nvGrpSpPr>
        <p:grpSpPr>
          <a:xfrm>
            <a:off x="234531" y="1654085"/>
            <a:ext cx="8674938" cy="3549931"/>
            <a:chOff x="204962" y="1612845"/>
            <a:chExt cx="8674938" cy="3549931"/>
          </a:xfrm>
        </p:grpSpPr>
        <p:sp>
          <p:nvSpPr>
            <p:cNvPr id="857" name="Google Shape;857;g3a29f53c04b_0_1937"/>
            <p:cNvSpPr/>
            <p:nvPr/>
          </p:nvSpPr>
          <p:spPr>
            <a:xfrm>
              <a:off x="4617500" y="1612845"/>
              <a:ext cx="4262400" cy="26136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g3a29f53c04b_0_1937"/>
            <p:cNvSpPr/>
            <p:nvPr/>
          </p:nvSpPr>
          <p:spPr>
            <a:xfrm>
              <a:off x="204962" y="1612845"/>
              <a:ext cx="4262400" cy="26550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59" name="Google Shape;859;g3a29f53c04b_0_19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53318" y="1773391"/>
              <a:ext cx="1084415" cy="253040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0" name="Google Shape;860;g3a29f53c04b_0_1937"/>
            <p:cNvGrpSpPr/>
            <p:nvPr/>
          </p:nvGrpSpPr>
          <p:grpSpPr>
            <a:xfrm>
              <a:off x="4613308" y="4239376"/>
              <a:ext cx="4262400" cy="923400"/>
              <a:chOff x="4717088" y="4091524"/>
              <a:chExt cx="4262400" cy="923400"/>
            </a:xfrm>
          </p:grpSpPr>
          <p:sp>
            <p:nvSpPr>
              <p:cNvPr id="861" name="Google Shape;861;g3a29f53c04b_0_1937"/>
              <p:cNvSpPr/>
              <p:nvPr/>
            </p:nvSpPr>
            <p:spPr>
              <a:xfrm>
                <a:off x="4717088" y="4102873"/>
                <a:ext cx="4262400" cy="900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g3a29f53c04b_0_1937"/>
              <p:cNvSpPr txBox="1"/>
              <p:nvPr/>
            </p:nvSpPr>
            <p:spPr>
              <a:xfrm>
                <a:off x="4805138" y="4091524"/>
                <a:ext cx="4086300" cy="9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Having a better understanding of open research allows you to better engage with the research you read and hear about.</a:t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63" name="Google Shape;863;g3a29f53c04b_0_19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24741" y="1899072"/>
              <a:ext cx="647918" cy="7555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4" name="Google Shape;864;g3a29f53c04b_0_19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944573" y="2104796"/>
              <a:ext cx="1891302" cy="2199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5" name="Google Shape;865;g3a29f53c04b_0_1937"/>
            <p:cNvSpPr/>
            <p:nvPr/>
          </p:nvSpPr>
          <p:spPr>
            <a:xfrm>
              <a:off x="204962" y="4250726"/>
              <a:ext cx="4262400" cy="900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66" name="Google Shape;866;g3a29f53c04b_0_193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73885" y="1773391"/>
              <a:ext cx="1561016" cy="2457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7" name="Google Shape;867;g3a29f53c04b_0_193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498634" y="1620432"/>
              <a:ext cx="972083" cy="11362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8" name="Google Shape;868;g3a29f53c04b_0_193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335875" y="2368926"/>
              <a:ext cx="1316363" cy="1881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9" name="Google Shape;869;g3a29f53c04b_0_1937"/>
            <p:cNvPicPr preferRelativeResize="0"/>
            <p:nvPr/>
          </p:nvPicPr>
          <p:blipFill rotWithShape="1">
            <a:blip r:embed="rId9">
              <a:alphaModFix/>
            </a:blip>
            <a:srcRect b="0" l="11847" r="0" t="0"/>
            <a:stretch/>
          </p:blipFill>
          <p:spPr>
            <a:xfrm>
              <a:off x="216086" y="2478913"/>
              <a:ext cx="1490059" cy="1960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0" name="Google Shape;870;g3a29f53c04b_0_1937"/>
            <p:cNvSpPr txBox="1"/>
            <p:nvPr/>
          </p:nvSpPr>
          <p:spPr>
            <a:xfrm>
              <a:off x="283625" y="4362487"/>
              <a:ext cx="40863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We come across research findings every day -- in the news, on television, and online.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a29f53c04b_0_195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Why is open research important for me?</a:t>
            </a:r>
            <a:endParaRPr b="1" sz="2400"/>
          </a:p>
        </p:txBody>
      </p:sp>
      <p:grpSp>
        <p:nvGrpSpPr>
          <p:cNvPr id="876" name="Google Shape;876;g3a29f53c04b_0_1956"/>
          <p:cNvGrpSpPr/>
          <p:nvPr/>
        </p:nvGrpSpPr>
        <p:grpSpPr>
          <a:xfrm>
            <a:off x="118206" y="655281"/>
            <a:ext cx="4386725" cy="2620903"/>
            <a:chOff x="673317" y="1370012"/>
            <a:chExt cx="4535958" cy="2656500"/>
          </a:xfrm>
        </p:grpSpPr>
        <p:sp>
          <p:nvSpPr>
            <p:cNvPr id="877" name="Google Shape;877;g3a29f53c04b_0_1956"/>
            <p:cNvSpPr/>
            <p:nvPr/>
          </p:nvSpPr>
          <p:spPr>
            <a:xfrm>
              <a:off x="824175" y="1486712"/>
              <a:ext cx="4385100" cy="25398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78" name="Google Shape;878;g3a29f53c04b_0_1956"/>
            <p:cNvPicPr preferRelativeResize="0"/>
            <p:nvPr/>
          </p:nvPicPr>
          <p:blipFill rotWithShape="1">
            <a:blip r:embed="rId3">
              <a:alphaModFix/>
            </a:blip>
            <a:srcRect b="53056" l="0" r="0" t="0"/>
            <a:stretch/>
          </p:blipFill>
          <p:spPr>
            <a:xfrm>
              <a:off x="673317" y="1917911"/>
              <a:ext cx="2661110" cy="2070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9" name="Google Shape;879;g3a29f53c04b_0_1956"/>
            <p:cNvPicPr preferRelativeResize="0"/>
            <p:nvPr/>
          </p:nvPicPr>
          <p:blipFill rotWithShape="1">
            <a:blip r:embed="rId4">
              <a:alphaModFix/>
            </a:blip>
            <a:srcRect b="26250" l="6769" r="53691" t="10844"/>
            <a:stretch/>
          </p:blipFill>
          <p:spPr>
            <a:xfrm flipH="1">
              <a:off x="1789134" y="1370012"/>
              <a:ext cx="2926973" cy="25312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0" name="Google Shape;880;g3a29f53c04b_0_1956"/>
            <p:cNvSpPr txBox="1"/>
            <p:nvPr/>
          </p:nvSpPr>
          <p:spPr>
            <a:xfrm>
              <a:off x="2064774" y="1737148"/>
              <a:ext cx="2550300" cy="149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Understanding good practices (and spotting bad practices!) means you can judge how reliable and trustworthy a piece of research is 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81" name="Google Shape;881;g3a29f53c04b_0_1956"/>
          <p:cNvGrpSpPr/>
          <p:nvPr/>
        </p:nvGrpSpPr>
        <p:grpSpPr>
          <a:xfrm>
            <a:off x="4613760" y="392037"/>
            <a:ext cx="4289166" cy="3235106"/>
            <a:chOff x="4613760" y="392037"/>
            <a:chExt cx="4289166" cy="3235106"/>
          </a:xfrm>
        </p:grpSpPr>
        <p:sp>
          <p:nvSpPr>
            <p:cNvPr id="882" name="Google Shape;882;g3a29f53c04b_0_1956"/>
            <p:cNvSpPr/>
            <p:nvPr/>
          </p:nvSpPr>
          <p:spPr>
            <a:xfrm>
              <a:off x="4639212" y="770384"/>
              <a:ext cx="4240800" cy="25056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text&#10;&#10;Description automatically generated" id="883" name="Google Shape;883;g3a29f53c04b_0_19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4613760" y="892578"/>
              <a:ext cx="1593696" cy="23992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4" name="Google Shape;884;g3a29f53c04b_0_1956"/>
            <p:cNvPicPr preferRelativeResize="0"/>
            <p:nvPr/>
          </p:nvPicPr>
          <p:blipFill rotWithShape="1">
            <a:blip r:embed="rId4">
              <a:alphaModFix/>
            </a:blip>
            <a:srcRect b="26250" l="6769" r="53691" t="10844"/>
            <a:stretch/>
          </p:blipFill>
          <p:spPr>
            <a:xfrm rot="10122031">
              <a:off x="5578388" y="668952"/>
              <a:ext cx="3091822" cy="26812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5" name="Google Shape;885;g3a29f53c04b_0_1956"/>
            <p:cNvSpPr txBox="1"/>
            <p:nvPr/>
          </p:nvSpPr>
          <p:spPr>
            <a:xfrm>
              <a:off x="6005903" y="1473449"/>
              <a:ext cx="2550300" cy="147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If you go on to apply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for Masters or PhD funding, research funders increasingly require open research practices for grant applications 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86" name="Google Shape;886;g3a29f53c04b_0_1956"/>
          <p:cNvGrpSpPr/>
          <p:nvPr/>
        </p:nvGrpSpPr>
        <p:grpSpPr>
          <a:xfrm>
            <a:off x="264101" y="2641911"/>
            <a:ext cx="8574600" cy="3962088"/>
            <a:chOff x="264101" y="2641911"/>
            <a:chExt cx="8574600" cy="3962088"/>
          </a:xfrm>
        </p:grpSpPr>
        <p:sp>
          <p:nvSpPr>
            <p:cNvPr id="887" name="Google Shape;887;g3a29f53c04b_0_1956"/>
            <p:cNvSpPr/>
            <p:nvPr/>
          </p:nvSpPr>
          <p:spPr>
            <a:xfrm>
              <a:off x="264101" y="3429000"/>
              <a:ext cx="8574600" cy="25056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88" name="Google Shape;888;g3a29f53c04b_0_1956"/>
            <p:cNvPicPr preferRelativeResize="0"/>
            <p:nvPr/>
          </p:nvPicPr>
          <p:blipFill rotWithShape="1">
            <a:blip r:embed="rId4">
              <a:alphaModFix/>
            </a:blip>
            <a:srcRect b="26250" l="6769" r="53691" t="10844"/>
            <a:stretch/>
          </p:blipFill>
          <p:spPr>
            <a:xfrm rot="8828091">
              <a:off x="1519497" y="3222586"/>
              <a:ext cx="2966125" cy="28007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9" name="Google Shape;889;g3a29f53c04b_0_1956"/>
            <p:cNvSpPr txBox="1"/>
            <p:nvPr/>
          </p:nvSpPr>
          <p:spPr>
            <a:xfrm>
              <a:off x="2371332" y="3856372"/>
              <a:ext cx="19017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If you decide to publish your project, many journals now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90" name="Google Shape;890;g3a29f53c04b_0_195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308180" y="3668925"/>
              <a:ext cx="1901619" cy="23256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1" name="Google Shape;891;g3a29f53c04b_0_1956"/>
            <p:cNvSpPr/>
            <p:nvPr/>
          </p:nvSpPr>
          <p:spPr>
            <a:xfrm>
              <a:off x="2090640" y="4534586"/>
              <a:ext cx="2343900" cy="9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encourage open practices, including registering studies in advance and sharing 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2" name="Google Shape;892;g3a29f53c04b_0_1956"/>
          <p:cNvGrpSpPr/>
          <p:nvPr/>
        </p:nvGrpSpPr>
        <p:grpSpPr>
          <a:xfrm>
            <a:off x="5557379" y="3617268"/>
            <a:ext cx="3442923" cy="2459943"/>
            <a:chOff x="5557379" y="3617268"/>
            <a:chExt cx="3442923" cy="2459943"/>
          </a:xfrm>
        </p:grpSpPr>
        <p:pic>
          <p:nvPicPr>
            <p:cNvPr id="893" name="Google Shape;893;g3a29f53c04b_0_1956"/>
            <p:cNvPicPr preferRelativeResize="0"/>
            <p:nvPr/>
          </p:nvPicPr>
          <p:blipFill rotWithShape="1">
            <a:blip r:embed="rId4">
              <a:alphaModFix/>
            </a:blip>
            <a:srcRect b="26250" l="6769" r="53691" t="10844"/>
            <a:stretch/>
          </p:blipFill>
          <p:spPr>
            <a:xfrm flipH="1" rot="10800000">
              <a:off x="5557379" y="3851439"/>
              <a:ext cx="2208979" cy="22257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4" name="Google Shape;894;g3a29f53c04b_0_1956"/>
            <p:cNvSpPr txBox="1"/>
            <p:nvPr/>
          </p:nvSpPr>
          <p:spPr>
            <a:xfrm>
              <a:off x="5758318" y="4591315"/>
              <a:ext cx="16827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Some journals also award badges for open research practices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A picture containing text&#10;&#10;Description automatically generated" id="895" name="Google Shape;895;g3a29f53c04b_0_195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>
              <a:off x="6940383" y="3617268"/>
              <a:ext cx="2059919" cy="23901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" name="Google Shape;900;g3a29f53c04b_0_1980"/>
          <p:cNvGrpSpPr/>
          <p:nvPr/>
        </p:nvGrpSpPr>
        <p:grpSpPr>
          <a:xfrm>
            <a:off x="4282926" y="1097004"/>
            <a:ext cx="4597086" cy="3451954"/>
            <a:chOff x="4282926" y="1097004"/>
            <a:chExt cx="4597086" cy="3451954"/>
          </a:xfrm>
        </p:grpSpPr>
        <p:sp>
          <p:nvSpPr>
            <p:cNvPr id="901" name="Google Shape;901;g3a29f53c04b_0_1980"/>
            <p:cNvSpPr/>
            <p:nvPr/>
          </p:nvSpPr>
          <p:spPr>
            <a:xfrm>
              <a:off x="4639212" y="1740386"/>
              <a:ext cx="4240800" cy="27306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2" name="Google Shape;902;g3a29f53c04b_0_19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63324" y="2260343"/>
              <a:ext cx="1916575" cy="2288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3" name="Google Shape;903;g3a29f53c04b_0_1980"/>
            <p:cNvPicPr preferRelativeResize="0"/>
            <p:nvPr/>
          </p:nvPicPr>
          <p:blipFill rotWithShape="1">
            <a:blip r:embed="rId4">
              <a:alphaModFix/>
            </a:blip>
            <a:srcRect b="26250" l="6769" r="53691" t="10844"/>
            <a:stretch/>
          </p:blipFill>
          <p:spPr>
            <a:xfrm rot="-1515521">
              <a:off x="4630005" y="1607764"/>
              <a:ext cx="2904280" cy="22775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4" name="Google Shape;904;g3a29f53c04b_0_1980"/>
            <p:cNvSpPr txBox="1"/>
            <p:nvPr/>
          </p:nvSpPr>
          <p:spPr>
            <a:xfrm>
              <a:off x="5142249" y="1959093"/>
              <a:ext cx="20043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By sharing drafts of research early, you can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g3a29f53c04b_0_1980"/>
            <p:cNvSpPr/>
            <p:nvPr/>
          </p:nvSpPr>
          <p:spPr>
            <a:xfrm>
              <a:off x="4841496" y="2432754"/>
              <a:ext cx="2099100" cy="9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get feedback from researchers all over the world to help improve your research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6" name="Google Shape;906;g3a29f53c04b_0_1980"/>
          <p:cNvGrpSpPr/>
          <p:nvPr/>
        </p:nvGrpSpPr>
        <p:grpSpPr>
          <a:xfrm>
            <a:off x="230001" y="1387202"/>
            <a:ext cx="4461120" cy="3144861"/>
            <a:chOff x="230001" y="1387202"/>
            <a:chExt cx="4461120" cy="3144861"/>
          </a:xfrm>
        </p:grpSpPr>
        <p:sp>
          <p:nvSpPr>
            <p:cNvPr id="907" name="Google Shape;907;g3a29f53c04b_0_1980"/>
            <p:cNvSpPr/>
            <p:nvPr/>
          </p:nvSpPr>
          <p:spPr>
            <a:xfrm>
              <a:off x="300832" y="1740386"/>
              <a:ext cx="4240800" cy="27306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8" name="Google Shape;908;g3a29f53c04b_0_1980"/>
            <p:cNvPicPr preferRelativeResize="0"/>
            <p:nvPr/>
          </p:nvPicPr>
          <p:blipFill rotWithShape="1">
            <a:blip r:embed="rId4">
              <a:alphaModFix/>
            </a:blip>
            <a:srcRect b="26250" l="6769" r="53691" t="10844"/>
            <a:stretch/>
          </p:blipFill>
          <p:spPr>
            <a:xfrm rot="10800000">
              <a:off x="926506" y="1707967"/>
              <a:ext cx="3450931" cy="26880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9" name="Google Shape;909;g3a29f53c04b_0_1980"/>
            <p:cNvSpPr txBox="1"/>
            <p:nvPr/>
          </p:nvSpPr>
          <p:spPr>
            <a:xfrm>
              <a:off x="1619989" y="2497471"/>
              <a:ext cx="2325900" cy="16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Sharing your research also means it is more likely to be read and/or engaged with. Meaning you have a greater chance of making an impact with your research!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0" name="Google Shape;910;g3a29f53c04b_0_1980"/>
            <p:cNvGrpSpPr/>
            <p:nvPr/>
          </p:nvGrpSpPr>
          <p:grpSpPr>
            <a:xfrm>
              <a:off x="230001" y="2026497"/>
              <a:ext cx="1667429" cy="2505566"/>
              <a:chOff x="198405" y="549927"/>
              <a:chExt cx="2055256" cy="3422437"/>
            </a:xfrm>
          </p:grpSpPr>
          <p:pic>
            <p:nvPicPr>
              <p:cNvPr id="911" name="Google Shape;911;g3a29f53c04b_0_1980"/>
              <p:cNvPicPr preferRelativeResize="0"/>
              <p:nvPr/>
            </p:nvPicPr>
            <p:blipFill rotWithShape="1">
              <a:blip r:embed="rId5">
                <a:alphaModFix amt="72000"/>
              </a:blip>
              <a:srcRect b="0" l="0" r="0" t="0"/>
              <a:stretch/>
            </p:blipFill>
            <p:spPr>
              <a:xfrm>
                <a:off x="283141" y="2909764"/>
                <a:ext cx="1799716" cy="1062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12" name="Google Shape;912;g3a29f53c04b_0_198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flipH="1">
                <a:off x="1311887" y="782461"/>
                <a:ext cx="941774" cy="13613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13" name="Google Shape;913;g3a29f53c04b_0_1980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98405" y="549927"/>
                <a:ext cx="1969199" cy="28563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Logo&#10;&#10;Description automatically generated" id="914" name="Google Shape;914;g3a29f53c04b_0_198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975260">
              <a:off x="3536228" y="1510909"/>
              <a:ext cx="1031186" cy="10311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5" name="Google Shape;915;g3a29f53c04b_0_198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Why is open research important for me?</a:t>
            </a:r>
            <a:endParaRPr b="1" sz="2400"/>
          </a:p>
        </p:txBody>
      </p:sp>
      <p:grpSp>
        <p:nvGrpSpPr>
          <p:cNvPr id="916" name="Google Shape;916;g3a29f53c04b_0_1980"/>
          <p:cNvGrpSpPr/>
          <p:nvPr/>
        </p:nvGrpSpPr>
        <p:grpSpPr>
          <a:xfrm>
            <a:off x="5781805" y="2914584"/>
            <a:ext cx="1812463" cy="1745769"/>
            <a:chOff x="5781805" y="2914584"/>
            <a:chExt cx="1812463" cy="1745769"/>
          </a:xfrm>
        </p:grpSpPr>
        <p:pic>
          <p:nvPicPr>
            <p:cNvPr id="917" name="Google Shape;917;g3a29f53c04b_0_1980"/>
            <p:cNvPicPr preferRelativeResize="0"/>
            <p:nvPr/>
          </p:nvPicPr>
          <p:blipFill rotWithShape="1">
            <a:blip r:embed="rId4">
              <a:alphaModFix/>
            </a:blip>
            <a:srcRect b="26250" l="6769" r="53691" t="10844"/>
            <a:stretch/>
          </p:blipFill>
          <p:spPr>
            <a:xfrm flipH="1" rot="-10363319">
              <a:off x="5873543" y="3011515"/>
              <a:ext cx="1628987" cy="15519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8" name="Google Shape;918;g3a29f53c04b_0_1980"/>
            <p:cNvSpPr txBox="1"/>
            <p:nvPr/>
          </p:nvSpPr>
          <p:spPr>
            <a:xfrm>
              <a:off x="5864543" y="3382687"/>
              <a:ext cx="14859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This can be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scary, but it can also be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worth it!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3" name="Google Shape;923;g3a29f53c04b_0_2002"/>
          <p:cNvGrpSpPr/>
          <p:nvPr/>
        </p:nvGrpSpPr>
        <p:grpSpPr>
          <a:xfrm>
            <a:off x="267466" y="1102024"/>
            <a:ext cx="8251735" cy="4098102"/>
            <a:chOff x="267466" y="1102024"/>
            <a:chExt cx="8251735" cy="4098102"/>
          </a:xfrm>
        </p:grpSpPr>
        <p:sp>
          <p:nvSpPr>
            <p:cNvPr id="924" name="Google Shape;924;g3a29f53c04b_0_2002"/>
            <p:cNvSpPr/>
            <p:nvPr/>
          </p:nvSpPr>
          <p:spPr>
            <a:xfrm>
              <a:off x="480401" y="1268200"/>
              <a:ext cx="8038800" cy="39132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25" name="Google Shape;925;g3a29f53c04b_0_2002"/>
            <p:cNvPicPr preferRelativeResize="0"/>
            <p:nvPr/>
          </p:nvPicPr>
          <p:blipFill rotWithShape="1">
            <a:blip r:embed="rId3">
              <a:alphaModFix/>
            </a:blip>
            <a:srcRect b="26250" l="6769" r="53691" t="10844"/>
            <a:stretch/>
          </p:blipFill>
          <p:spPr>
            <a:xfrm flipH="1">
              <a:off x="921074" y="1102024"/>
              <a:ext cx="2864506" cy="26190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6" name="Google Shape;926;g3a29f53c04b_0_2002"/>
            <p:cNvSpPr txBox="1"/>
            <p:nvPr/>
          </p:nvSpPr>
          <p:spPr>
            <a:xfrm>
              <a:off x="1264880" y="1442913"/>
              <a:ext cx="2332800" cy="16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Sharing data and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research materials online also means they can be cited by other researchers because they are assigned Digital Object Identifiers (DOIs)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927" name="Google Shape;927;g3a29f53c04b_0_20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7466" y="2371459"/>
              <a:ext cx="1457656" cy="28286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8" name="Google Shape;928;g3a29f53c04b_0_200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Why is open research important for me?</a:t>
            </a:r>
            <a:endParaRPr b="1" sz="2400"/>
          </a:p>
        </p:txBody>
      </p:sp>
      <p:sp>
        <p:nvSpPr>
          <p:cNvPr id="929" name="Google Shape;929;g3a29f53c04b_0_2002"/>
          <p:cNvSpPr txBox="1"/>
          <p:nvPr/>
        </p:nvSpPr>
        <p:spPr>
          <a:xfrm>
            <a:off x="4679675" y="4436303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g3a29f53c04b_0_2002"/>
          <p:cNvSpPr txBox="1"/>
          <p:nvPr/>
        </p:nvSpPr>
        <p:spPr>
          <a:xfrm>
            <a:off x="293088" y="4428488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31" name="Google Shape;931;g3a29f53c04b_0_2002"/>
          <p:cNvGrpSpPr/>
          <p:nvPr/>
        </p:nvGrpSpPr>
        <p:grpSpPr>
          <a:xfrm>
            <a:off x="1464615" y="2901508"/>
            <a:ext cx="3679279" cy="2387833"/>
            <a:chOff x="1464615" y="2901508"/>
            <a:chExt cx="3679279" cy="2387833"/>
          </a:xfrm>
        </p:grpSpPr>
        <p:pic>
          <p:nvPicPr>
            <p:cNvPr descr="A picture containing logo&#10;&#10;Description automatically generated" id="932" name="Google Shape;932;g3a29f53c04b_0_200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3186480" y="3169891"/>
              <a:ext cx="1957414" cy="20949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33" name="Google Shape;933;g3a29f53c04b_0_2002"/>
            <p:cNvGrpSpPr/>
            <p:nvPr/>
          </p:nvGrpSpPr>
          <p:grpSpPr>
            <a:xfrm>
              <a:off x="1464615" y="2901508"/>
              <a:ext cx="3058140" cy="2387833"/>
              <a:chOff x="1464615" y="2901508"/>
              <a:chExt cx="3058140" cy="2387833"/>
            </a:xfrm>
          </p:grpSpPr>
          <p:pic>
            <p:nvPicPr>
              <p:cNvPr id="934" name="Google Shape;934;g3a29f53c04b_0_2002"/>
              <p:cNvPicPr preferRelativeResize="0"/>
              <p:nvPr/>
            </p:nvPicPr>
            <p:blipFill rotWithShape="1">
              <a:blip r:embed="rId3">
                <a:alphaModFix/>
              </a:blip>
              <a:srcRect b="26250" l="6769" r="53691" t="10844"/>
              <a:stretch/>
            </p:blipFill>
            <p:spPr>
              <a:xfrm rot="-5116176">
                <a:off x="1915265" y="2650367"/>
                <a:ext cx="2156839" cy="289011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5" name="Google Shape;935;g3a29f53c04b_0_2002"/>
              <p:cNvSpPr txBox="1"/>
              <p:nvPr/>
            </p:nvSpPr>
            <p:spPr>
              <a:xfrm>
                <a:off x="1793627" y="3377308"/>
                <a:ext cx="1992000" cy="147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How often your      work is cited is an 'academic metric' that is often used to decide on job opportunities and promotions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936" name="Google Shape;936;g3a29f53c04b_0_2002"/>
          <p:cNvGrpSpPr/>
          <p:nvPr/>
        </p:nvGrpSpPr>
        <p:grpSpPr>
          <a:xfrm>
            <a:off x="4364406" y="1102024"/>
            <a:ext cx="4248803" cy="4239260"/>
            <a:chOff x="4491674" y="1114768"/>
            <a:chExt cx="4248803" cy="4239260"/>
          </a:xfrm>
        </p:grpSpPr>
        <p:pic>
          <p:nvPicPr>
            <p:cNvPr id="937" name="Google Shape;937;g3a29f53c04b_0_2002"/>
            <p:cNvPicPr preferRelativeResize="0"/>
            <p:nvPr/>
          </p:nvPicPr>
          <p:blipFill rotWithShape="1">
            <a:blip r:embed="rId3">
              <a:alphaModFix/>
            </a:blip>
            <a:srcRect b="26250" l="6769" r="53691" t="10844"/>
            <a:stretch/>
          </p:blipFill>
          <p:spPr>
            <a:xfrm>
              <a:off x="4491674" y="1114768"/>
              <a:ext cx="3462298" cy="29374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" name="Google Shape;938;g3a29f53c04b_0_2002"/>
            <p:cNvSpPr txBox="1"/>
            <p:nvPr/>
          </p:nvSpPr>
          <p:spPr>
            <a:xfrm>
              <a:off x="4671919" y="1543842"/>
              <a:ext cx="2916900" cy="16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If you use open research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approaches, future prospective employers will be able to see your research outputs and processes. This can enhance your job applications, including outside research and academia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A picture containing text&#10;&#10;Description automatically generated" id="939" name="Google Shape;939;g3a29f53c04b_0_200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73965" y="2342674"/>
              <a:ext cx="1566512" cy="30113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text&#10;&#10;Description automatically generated" id="940" name="Google Shape;940;g3a29f53c04b_0_200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614480" y="4218365"/>
              <a:ext cx="916247" cy="9096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a29f53c04b_0_2023"/>
          <p:cNvSpPr txBox="1"/>
          <p:nvPr>
            <p:ph type="title"/>
          </p:nvPr>
        </p:nvSpPr>
        <p:spPr>
          <a:xfrm>
            <a:off x="254000" y="254001"/>
            <a:ext cx="75693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Activity </a:t>
            </a:r>
            <a:endParaRPr b="1" sz="2400"/>
          </a:p>
        </p:txBody>
      </p:sp>
      <p:sp>
        <p:nvSpPr>
          <p:cNvPr id="946" name="Google Shape;946;g3a29f53c04b_0_2023"/>
          <p:cNvSpPr txBox="1"/>
          <p:nvPr>
            <p:ph idx="1" type="body"/>
          </p:nvPr>
        </p:nvSpPr>
        <p:spPr>
          <a:xfrm>
            <a:off x="254000" y="2712720"/>
            <a:ext cx="62103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Complete the activity on Canvas to reflect on how your research goals and priorities align with the benefits of open research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951" name="Google Shape;951;g3a29f53c04b_0_20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952" name="Google Shape;952;g3a29f53c04b_0_20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_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_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2021-03-16T17:05:21Z</dcterms:created>
  <dc:creator>Orlagh O'Brien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0x010100AA7A9ED9D3E8CD4BAE96912ACCE469BD</vt:lpwstr>
  </property>
</Properties>
</file>