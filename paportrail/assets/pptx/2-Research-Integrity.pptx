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9" r:id="rId5"/>
    <p:sldMasterId id="2147483669" r:id="rId6"/>
    <p:sldMasterId id="2147483682" r:id="rId7"/>
    <p:sldMasterId id="2147483693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</p:sldIdLst>
  <p:sldSz cy="6858000" cx="9144000"/>
  <p:notesSz cx="6858000" cy="9144000"/>
  <p:embeddedFontLst>
    <p:embeddedFont>
      <p:font typeface="Roboto"/>
      <p:regular r:id="rId68"/>
      <p:bold r:id="rId69"/>
      <p:italic r:id="rId70"/>
      <p:boldItalic r:id="rId71"/>
    </p:embeddedFont>
    <p:embeddedFont>
      <p:font typeface="Roboto Medium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84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76" roundtripDataSignature="AMtx7miA16iu0nPd4+ZF9X0Tsd3SzkCy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84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1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9" Type="http://schemas.openxmlformats.org/officeDocument/2006/relationships/slide" Target="slides/slide4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73" Type="http://schemas.openxmlformats.org/officeDocument/2006/relationships/font" Target="fonts/RobotoMedium-bold.fntdata"/><Relationship Id="rId72" Type="http://schemas.openxmlformats.org/officeDocument/2006/relationships/font" Target="fonts/RobotoMedium-regular.fntdata"/><Relationship Id="rId31" Type="http://schemas.openxmlformats.org/officeDocument/2006/relationships/slide" Target="slides/slide22.xml"/><Relationship Id="rId75" Type="http://schemas.openxmlformats.org/officeDocument/2006/relationships/font" Target="fonts/RobotoMedium-boldItalic.fntdata"/><Relationship Id="rId30" Type="http://schemas.openxmlformats.org/officeDocument/2006/relationships/slide" Target="slides/slide21.xml"/><Relationship Id="rId74" Type="http://schemas.openxmlformats.org/officeDocument/2006/relationships/font" Target="fonts/RobotoMedium-italic.fntdata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76" Type="http://customschemas.google.com/relationships/presentationmetadata" Target="metadata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71" Type="http://schemas.openxmlformats.org/officeDocument/2006/relationships/font" Target="fonts/Roboto-boldItalic.fntdata"/><Relationship Id="rId70" Type="http://schemas.openxmlformats.org/officeDocument/2006/relationships/font" Target="fonts/Roboto-italic.fntdata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62" Type="http://schemas.openxmlformats.org/officeDocument/2006/relationships/slide" Target="slides/slide53.xml"/><Relationship Id="rId61" Type="http://schemas.openxmlformats.org/officeDocument/2006/relationships/slide" Target="slides/slide52.xml"/><Relationship Id="rId20" Type="http://schemas.openxmlformats.org/officeDocument/2006/relationships/slide" Target="slides/slide11.xml"/><Relationship Id="rId64" Type="http://schemas.openxmlformats.org/officeDocument/2006/relationships/slide" Target="slides/slide55.xml"/><Relationship Id="rId63" Type="http://schemas.openxmlformats.org/officeDocument/2006/relationships/slide" Target="slides/slide54.xml"/><Relationship Id="rId22" Type="http://schemas.openxmlformats.org/officeDocument/2006/relationships/slide" Target="slides/slide13.xml"/><Relationship Id="rId66" Type="http://schemas.openxmlformats.org/officeDocument/2006/relationships/slide" Target="slides/slide57.xml"/><Relationship Id="rId21" Type="http://schemas.openxmlformats.org/officeDocument/2006/relationships/slide" Target="slides/slide12.xml"/><Relationship Id="rId65" Type="http://schemas.openxmlformats.org/officeDocument/2006/relationships/slide" Target="slides/slide56.xml"/><Relationship Id="rId24" Type="http://schemas.openxmlformats.org/officeDocument/2006/relationships/slide" Target="slides/slide15.xml"/><Relationship Id="rId68" Type="http://schemas.openxmlformats.org/officeDocument/2006/relationships/font" Target="fonts/Roboto-regular.fntdata"/><Relationship Id="rId23" Type="http://schemas.openxmlformats.org/officeDocument/2006/relationships/slide" Target="slides/slide14.xml"/><Relationship Id="rId67" Type="http://schemas.openxmlformats.org/officeDocument/2006/relationships/slide" Target="slides/slide58.xml"/><Relationship Id="rId60" Type="http://schemas.openxmlformats.org/officeDocument/2006/relationships/slide" Target="slides/slide51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69" Type="http://schemas.openxmlformats.org/officeDocument/2006/relationships/font" Target="fonts/Roboto-bold.fntdata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11" Type="http://schemas.openxmlformats.org/officeDocument/2006/relationships/slide" Target="slides/slide2.xml"/><Relationship Id="rId55" Type="http://schemas.openxmlformats.org/officeDocument/2006/relationships/slide" Target="slides/slide46.xml"/><Relationship Id="rId10" Type="http://schemas.openxmlformats.org/officeDocument/2006/relationships/slide" Target="slides/slide1.xml"/><Relationship Id="rId54" Type="http://schemas.openxmlformats.org/officeDocument/2006/relationships/slide" Target="slides/slide45.xml"/><Relationship Id="rId13" Type="http://schemas.openxmlformats.org/officeDocument/2006/relationships/slide" Target="slides/slide4.xml"/><Relationship Id="rId57" Type="http://schemas.openxmlformats.org/officeDocument/2006/relationships/slide" Target="slides/slide48.xml"/><Relationship Id="rId12" Type="http://schemas.openxmlformats.org/officeDocument/2006/relationships/slide" Target="slides/slide3.xml"/><Relationship Id="rId56" Type="http://schemas.openxmlformats.org/officeDocument/2006/relationships/slide" Target="slides/slide47.xml"/><Relationship Id="rId15" Type="http://schemas.openxmlformats.org/officeDocument/2006/relationships/slide" Target="slides/slide6.xml"/><Relationship Id="rId59" Type="http://schemas.openxmlformats.org/officeDocument/2006/relationships/slide" Target="slides/slide50.xml"/><Relationship Id="rId14" Type="http://schemas.openxmlformats.org/officeDocument/2006/relationships/slide" Target="slides/slide5.xml"/><Relationship Id="rId58" Type="http://schemas.openxmlformats.org/officeDocument/2006/relationships/slide" Target="slides/slide4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llea.org/wp-content/uploads/2017/05/ALLEA-European-Code-of-Conduct-for-Research-Integrity-2017.pdf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0" name="Google Shape;38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7b0fc454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1400"/>
              <a:buFont typeface="Arial"/>
              <a:buNone/>
            </a:pPr>
            <a:r>
              <a:rPr lang="en-US">
                <a:solidFill>
                  <a:srgbClr val="252244"/>
                </a:solidFill>
                <a:latin typeface="Calibri"/>
                <a:ea typeface="Calibri"/>
                <a:cs typeface="Calibri"/>
                <a:sym typeface="Calibri"/>
              </a:rPr>
              <a:t>The European Code of Conduct for Research Integrity</a:t>
            </a:r>
            <a:r>
              <a:rPr lang="en-US" sz="1200" u="none">
                <a:solidFill>
                  <a:srgbClr val="252244"/>
                </a:solidFill>
                <a:latin typeface="Calibri"/>
                <a:ea typeface="Calibri"/>
                <a:cs typeface="Calibri"/>
                <a:sym typeface="Calibri"/>
              </a:rPr>
              <a:t> can be accessed at </a:t>
            </a:r>
            <a:r>
              <a:rPr lang="en-US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https://allea.org/wp-content/uploads/2017/05/ALLEA-European-Code-of-Conduct-for-Research-Integrity-2017.pdf</a:t>
            </a:r>
            <a:r>
              <a:rPr lang="en-US">
                <a:solidFill>
                  <a:srgbClr val="2522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87" name="Google Shape;387;g7b0fc454cf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d409340aa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2522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d409340aa3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8" name="Google Shape;41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a2a2b3daf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4" name="Google Shape;424;g3a2a2b3daf0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a2a2b3daf0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2" name="Google Shape;432;g3a2a2b3daf0_1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a2a2b3daf0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2522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a2a2b3daf0_1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a2a2b3daf0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a2a2b3daf0_1_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a2a2b3daf0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a2a2b3daf0_1_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a2a2b3daf0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3a2a2b3daf0_1_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a2a2b3daf0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2" name="Google Shape;532;g3a2a2b3daf0_1_1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a2a2b3daf0_1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8" name="Google Shape;538;g3a2a2b3daf0_1_3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a2a2b3daf0_1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6" name="Google Shape;546;g3a2a2b3daf0_1_3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a2a2b3daf0_1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g3a2a2b3daf0_1_3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a2a2b3daf0_1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3a2a2b3daf0_1_3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a2a2b3daf0_1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g3a2a2b3daf0_1_3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a2a2b3daf0_1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g3a2a2b3daf0_1_4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a2a2b3daf0_1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g3a2a2b3daf0_1_4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a2a2b3daf0_1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g3a2a2b3daf0_1_4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a2a2b3daf0_1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g3a2a2b3daf0_1_4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a2a2b3daf0_1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g3a2a2b3daf0_1_4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a2a2b3daf0_1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2522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g3a2a2b3daf0_1_5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a2a2b3daf0_1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2522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g3a2a2b3daf0_1_5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a2a2b3daf0_1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1100"/>
              <a:buNone/>
            </a:pPr>
            <a:r>
              <a:t/>
            </a:r>
            <a:endParaRPr sz="1200">
              <a:solidFill>
                <a:srgbClr val="2522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g3a2a2b3daf0_1_5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a2a2b3daf0_1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2522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g3a2a2b3daf0_1_5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a2a2b3daf0_1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g3a2a2b3daf0_1_5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a2a2b3daf0_1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g3a2a2b3daf0_1_5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a2a2b3daf0_1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3" name="Google Shape;803;g3a2a2b3daf0_1_5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a2a2b3daf0_1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8" name="Google Shape;818;g3a2a2b3daf0_1_5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a2a2b3daf0_1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g3a2a2b3daf0_1_6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a2a2b3daf0_1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5" name="Google Shape;865;g3a2a2b3daf0_1_6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a2a2b3daf0_1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1" name="Google Shape;871;g3a2a2b3daf0_1_8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a2a2b3daf0_1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9" name="Google Shape;879;g3a2a2b3daf0_1_8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a2a2b3daf0_1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g3a2a2b3daf0_1_8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a2a2b3daf0_1_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g3a2a2b3daf0_1_8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a2a2b3daf0_1_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g3a2a2b3daf0_1_8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a2a2b3daf0_1_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g3a2a2b3daf0_1_9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a2a2b3daf0_1_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g3a2a2b3daf0_1_9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a2a2b3daf0_1_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g3a2a2b3daf0_1_9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a2a2b3daf0_1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g3a2a2b3daf0_1_9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a2a2b3daf0_1_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Leaderboard correct as of February 2021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g3a2a2b3daf0_1_9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a2a2b3daf0_1_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g3a2a2b3daf0_1_9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a2a2b3daf0_1_1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2" name="Google Shape;1042;g3a2a2b3daf0_1_10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a2a2b3daf0_1_1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8" name="Google Shape;1048;g3a2a2b3daf0_1_12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a2a2b3daf0_1_1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6" name="Google Shape;1056;g3a2a2b3daf0_1_12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3a2a2b3daf0_1_1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g3a2a2b3daf0_1_12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a2a2b3daf0_1_1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g3a2a2b3daf0_1_12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a2a2b3daf0_1_1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g3a2a2b3daf0_1_12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3a2a2b3daf0_1_12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4" name="Google Shape;1084;g3a2a2b3daf0_1_1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3a2a2b3daf0_1_1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0" name="Google Shape;1090;g3a2a2b3daf0_1_12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3a2a2b3daf0_1_1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6" name="Google Shape;1096;g3a2a2b3daf0_1_16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a2a2b3daf0_1_1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4" name="Google Shape;1104;g3a2a2b3daf0_1_16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3a2a2b3daf0_1_1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0" name="Google Shape;1110;g3a2a2b3daf0_1_16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a2a2b3daf0_1_1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6" name="Google Shape;1116;g3a2a2b3daf0_1_16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3a2a2b3daf0_1_1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g3a2a2b3daf0_1_16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3a2a2b3daf0_1_1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g3a2a2b3daf0_1_16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a2a2b3daf0_1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4" name="Google Shape;1134;g3a2a2b3daf0_1_16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0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0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" type="body"/>
          </p:nvPr>
        </p:nvSpPr>
        <p:spPr>
          <a:xfrm>
            <a:off x="623888" y="4589465"/>
            <a:ext cx="7886700" cy="1181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29" name="Google Shape;29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" type="body"/>
          </p:nvPr>
        </p:nvSpPr>
        <p:spPr>
          <a:xfrm>
            <a:off x="254000" y="1239521"/>
            <a:ext cx="40741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2" type="body"/>
          </p:nvPr>
        </p:nvSpPr>
        <p:spPr>
          <a:xfrm>
            <a:off x="4572000" y="1239521"/>
            <a:ext cx="43180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7"/>
          <p:cNvSpPr txBox="1"/>
          <p:nvPr>
            <p:ph idx="2" type="body"/>
          </p:nvPr>
        </p:nvSpPr>
        <p:spPr>
          <a:xfrm>
            <a:off x="629842" y="2505075"/>
            <a:ext cx="3868340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7"/>
          <p:cNvSpPr txBox="1"/>
          <p:nvPr>
            <p:ph idx="4" type="body"/>
          </p:nvPr>
        </p:nvSpPr>
        <p:spPr>
          <a:xfrm>
            <a:off x="4629150" y="2505075"/>
            <a:ext cx="3887391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8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21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2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2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" type="body"/>
          </p:nvPr>
        </p:nvSpPr>
        <p:spPr>
          <a:xfrm rot="5400000">
            <a:off x="2634932" y="-180658"/>
            <a:ext cx="3874135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 rot="5400000">
            <a:off x="4867275" y="2041525"/>
            <a:ext cx="5324475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866775" y="127000"/>
            <a:ext cx="5324475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5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" type="body"/>
          </p:nvPr>
        </p:nvSpPr>
        <p:spPr>
          <a:xfrm>
            <a:off x="254000" y="1209040"/>
            <a:ext cx="8625840" cy="4561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3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6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0" name="Google Shape;90;p7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7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77"/>
          <p:cNvSpPr txBox="1"/>
          <p:nvPr>
            <p:ph idx="1" type="body"/>
          </p:nvPr>
        </p:nvSpPr>
        <p:spPr>
          <a:xfrm>
            <a:off x="623888" y="4589465"/>
            <a:ext cx="7886700" cy="1181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96" name="Google Shape;96;p7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7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8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78"/>
          <p:cNvSpPr txBox="1"/>
          <p:nvPr>
            <p:ph idx="1" type="body"/>
          </p:nvPr>
        </p:nvSpPr>
        <p:spPr>
          <a:xfrm>
            <a:off x="254000" y="1239521"/>
            <a:ext cx="40741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78"/>
          <p:cNvSpPr txBox="1"/>
          <p:nvPr>
            <p:ph idx="2" type="body"/>
          </p:nvPr>
        </p:nvSpPr>
        <p:spPr>
          <a:xfrm>
            <a:off x="4572000" y="1239521"/>
            <a:ext cx="43180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7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7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7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7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9" name="Google Shape;109;p79"/>
          <p:cNvSpPr txBox="1"/>
          <p:nvPr>
            <p:ph idx="2" type="body"/>
          </p:nvPr>
        </p:nvSpPr>
        <p:spPr>
          <a:xfrm>
            <a:off x="629842" y="2505075"/>
            <a:ext cx="3868340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7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1" name="Google Shape;111;p79"/>
          <p:cNvSpPr txBox="1"/>
          <p:nvPr>
            <p:ph idx="4" type="body"/>
          </p:nvPr>
        </p:nvSpPr>
        <p:spPr>
          <a:xfrm>
            <a:off x="4629150" y="2505075"/>
            <a:ext cx="3887391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7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7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7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8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8" name="Google Shape;118;p8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9" name="Google Shape;119;p8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8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8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8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8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6" name="Google Shape;126;p8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8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8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3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83"/>
          <p:cNvSpPr txBox="1"/>
          <p:nvPr>
            <p:ph idx="1" type="body"/>
          </p:nvPr>
        </p:nvSpPr>
        <p:spPr>
          <a:xfrm rot="5400000">
            <a:off x="2634932" y="-180658"/>
            <a:ext cx="3874135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8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8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8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4"/>
          <p:cNvSpPr txBox="1"/>
          <p:nvPr>
            <p:ph type="title"/>
          </p:nvPr>
        </p:nvSpPr>
        <p:spPr>
          <a:xfrm rot="5400000">
            <a:off x="4867275" y="2041525"/>
            <a:ext cx="5324475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84"/>
          <p:cNvSpPr txBox="1"/>
          <p:nvPr>
            <p:ph idx="1" type="body"/>
          </p:nvPr>
        </p:nvSpPr>
        <p:spPr>
          <a:xfrm rot="5400000">
            <a:off x="866775" y="127000"/>
            <a:ext cx="5324475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8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8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8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2"/>
          <p:cNvSpPr txBox="1"/>
          <p:nvPr>
            <p:ph idx="1" type="body"/>
          </p:nvPr>
        </p:nvSpPr>
        <p:spPr>
          <a:xfrm>
            <a:off x="254000" y="1209040"/>
            <a:ext cx="8625840" cy="4561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3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9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59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0" name="Google Shape;160;p5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5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5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0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60"/>
          <p:cNvSpPr txBox="1"/>
          <p:nvPr>
            <p:ph idx="1" type="body"/>
          </p:nvPr>
        </p:nvSpPr>
        <p:spPr>
          <a:xfrm>
            <a:off x="623888" y="4589465"/>
            <a:ext cx="7886700" cy="1181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166" name="Google Shape;166;p6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6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6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1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61"/>
          <p:cNvSpPr txBox="1"/>
          <p:nvPr>
            <p:ph idx="1" type="body"/>
          </p:nvPr>
        </p:nvSpPr>
        <p:spPr>
          <a:xfrm>
            <a:off x="254000" y="1239521"/>
            <a:ext cx="40741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61"/>
          <p:cNvSpPr txBox="1"/>
          <p:nvPr>
            <p:ph idx="2" type="body"/>
          </p:nvPr>
        </p:nvSpPr>
        <p:spPr>
          <a:xfrm>
            <a:off x="4572000" y="1239521"/>
            <a:ext cx="43180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6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6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6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2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62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9" name="Google Shape;179;p62"/>
          <p:cNvSpPr txBox="1"/>
          <p:nvPr>
            <p:ph idx="2" type="body"/>
          </p:nvPr>
        </p:nvSpPr>
        <p:spPr>
          <a:xfrm>
            <a:off x="629842" y="2505075"/>
            <a:ext cx="3868340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62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1" name="Google Shape;181;p62"/>
          <p:cNvSpPr txBox="1"/>
          <p:nvPr>
            <p:ph idx="4" type="body"/>
          </p:nvPr>
        </p:nvSpPr>
        <p:spPr>
          <a:xfrm>
            <a:off x="4629150" y="2505075"/>
            <a:ext cx="3887391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p6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6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6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63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88" name="Google Shape;188;p63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89" name="Google Shape;189;p6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6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6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64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64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6" name="Google Shape;196;p6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6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6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5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65"/>
          <p:cNvSpPr txBox="1"/>
          <p:nvPr>
            <p:ph idx="1" type="body"/>
          </p:nvPr>
        </p:nvSpPr>
        <p:spPr>
          <a:xfrm rot="5400000">
            <a:off x="2634932" y="-180658"/>
            <a:ext cx="3874135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" name="Google Shape;202;p6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6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6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6"/>
          <p:cNvSpPr txBox="1"/>
          <p:nvPr>
            <p:ph type="title"/>
          </p:nvPr>
        </p:nvSpPr>
        <p:spPr>
          <a:xfrm rot="5400000">
            <a:off x="4867275" y="2041525"/>
            <a:ext cx="5324475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66"/>
          <p:cNvSpPr txBox="1"/>
          <p:nvPr>
            <p:ph idx="1" type="body"/>
          </p:nvPr>
        </p:nvSpPr>
        <p:spPr>
          <a:xfrm rot="5400000">
            <a:off x="866775" y="127000"/>
            <a:ext cx="5324475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6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6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6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2a2b3daf0_1_31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g3a2a2b3daf0_1_313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g3a2a2b3daf0_1_313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g3a2a2b3daf0_1_31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2a2b3daf0_1_31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g3a2a2b3daf0_1_318"/>
          <p:cNvSpPr txBox="1"/>
          <p:nvPr>
            <p:ph idx="1" type="body"/>
          </p:nvPr>
        </p:nvSpPr>
        <p:spPr>
          <a:xfrm>
            <a:off x="254000" y="1209040"/>
            <a:ext cx="86259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" name="Google Shape;219;g3a2a2b3daf0_1_318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g3a2a2b3daf0_1_318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g3a2a2b3daf0_1_318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2a2b3daf0_1_1695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g3a2a2b3daf0_1_1695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g3a2a2b3daf0_1_1695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2a2b3daf0_1_169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g3a2a2b3daf0_1_1699"/>
          <p:cNvSpPr txBox="1"/>
          <p:nvPr>
            <p:ph idx="1" type="body"/>
          </p:nvPr>
        </p:nvSpPr>
        <p:spPr>
          <a:xfrm>
            <a:off x="254000" y="1209040"/>
            <a:ext cx="86259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g3a2a2b3daf0_1_1699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g3a2a2b3daf0_1_1699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g3a2a2b3daf0_1_1699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g3a2a2b3daf0_1_1699"/>
          <p:cNvSpPr txBox="1"/>
          <p:nvPr/>
        </p:nvSpPr>
        <p:spPr>
          <a:xfrm>
            <a:off x="5779958" y="6344082"/>
            <a:ext cx="32202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1400" u="none" cap="none" strike="noStrike">
                <a:solidFill>
                  <a:srgbClr val="757070"/>
                </a:solidFill>
                <a:latin typeface="Roboto"/>
                <a:ea typeface="Roboto"/>
                <a:cs typeface="Roboto"/>
                <a:sym typeface="Roboto"/>
              </a:rPr>
              <a:t>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2a2b3daf0_1_1706"/>
          <p:cNvSpPr txBox="1"/>
          <p:nvPr>
            <p:ph type="ctrTitle"/>
          </p:nvPr>
        </p:nvSpPr>
        <p:spPr>
          <a:xfrm>
            <a:off x="685800" y="1122363"/>
            <a:ext cx="77724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g3a2a2b3daf0_1_1706"/>
          <p:cNvSpPr txBox="1"/>
          <p:nvPr>
            <p:ph idx="1" type="subTitle"/>
          </p:nvPr>
        </p:nvSpPr>
        <p:spPr>
          <a:xfrm>
            <a:off x="1143000" y="3602038"/>
            <a:ext cx="685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2" name="Google Shape;242;g3a2a2b3daf0_1_1706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g3a2a2b3daf0_1_1706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g3a2a2b3daf0_1_1706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2a2b3daf0_1_1712"/>
          <p:cNvSpPr txBox="1"/>
          <p:nvPr>
            <p:ph type="title"/>
          </p:nvPr>
        </p:nvSpPr>
        <p:spPr>
          <a:xfrm>
            <a:off x="623888" y="1709739"/>
            <a:ext cx="78867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g3a2a2b3daf0_1_1712"/>
          <p:cNvSpPr txBox="1"/>
          <p:nvPr>
            <p:ph idx="1" type="body"/>
          </p:nvPr>
        </p:nvSpPr>
        <p:spPr>
          <a:xfrm>
            <a:off x="623888" y="4589465"/>
            <a:ext cx="78867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248" name="Google Shape;248;g3a2a2b3daf0_1_1712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g3a2a2b3daf0_1_1712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g3a2a2b3daf0_1_1712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2a2b3daf0_1_171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g3a2a2b3daf0_1_1718"/>
          <p:cNvSpPr txBox="1"/>
          <p:nvPr>
            <p:ph idx="1" type="body"/>
          </p:nvPr>
        </p:nvSpPr>
        <p:spPr>
          <a:xfrm>
            <a:off x="254000" y="1239521"/>
            <a:ext cx="40743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4" name="Google Shape;254;g3a2a2b3daf0_1_1718"/>
          <p:cNvSpPr txBox="1"/>
          <p:nvPr>
            <p:ph idx="2" type="body"/>
          </p:nvPr>
        </p:nvSpPr>
        <p:spPr>
          <a:xfrm>
            <a:off x="4572000" y="1239521"/>
            <a:ext cx="43179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5" name="Google Shape;255;g3a2a2b3daf0_1_1718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g3a2a2b3daf0_1_1718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g3a2a2b3daf0_1_1718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2a2b3daf0_1_1725"/>
          <p:cNvSpPr txBox="1"/>
          <p:nvPr>
            <p:ph type="title"/>
          </p:nvPr>
        </p:nvSpPr>
        <p:spPr>
          <a:xfrm>
            <a:off x="629841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g3a2a2b3daf0_1_1725"/>
          <p:cNvSpPr txBox="1"/>
          <p:nvPr>
            <p:ph idx="1" type="body"/>
          </p:nvPr>
        </p:nvSpPr>
        <p:spPr>
          <a:xfrm>
            <a:off x="629842" y="1681163"/>
            <a:ext cx="3868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1" name="Google Shape;261;g3a2a2b3daf0_1_1725"/>
          <p:cNvSpPr txBox="1"/>
          <p:nvPr>
            <p:ph idx="2" type="body"/>
          </p:nvPr>
        </p:nvSpPr>
        <p:spPr>
          <a:xfrm>
            <a:off x="629842" y="2505075"/>
            <a:ext cx="38682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2" name="Google Shape;262;g3a2a2b3daf0_1_1725"/>
          <p:cNvSpPr txBox="1"/>
          <p:nvPr>
            <p:ph idx="3" type="body"/>
          </p:nvPr>
        </p:nvSpPr>
        <p:spPr>
          <a:xfrm>
            <a:off x="4629150" y="1681163"/>
            <a:ext cx="38874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3" name="Google Shape;263;g3a2a2b3daf0_1_1725"/>
          <p:cNvSpPr txBox="1"/>
          <p:nvPr>
            <p:ph idx="4" type="body"/>
          </p:nvPr>
        </p:nvSpPr>
        <p:spPr>
          <a:xfrm>
            <a:off x="4629150" y="2505075"/>
            <a:ext cx="38874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4" name="Google Shape;264;g3a2a2b3daf0_1_1725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g3a2a2b3daf0_1_1725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g3a2a2b3daf0_1_1725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2a2b3daf0_1_1734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g3a2a2b3daf0_1_1734"/>
          <p:cNvSpPr txBox="1"/>
          <p:nvPr>
            <p:ph idx="1" type="body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70" name="Google Shape;270;g3a2a2b3daf0_1_1734"/>
          <p:cNvSpPr txBox="1"/>
          <p:nvPr>
            <p:ph idx="2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71" name="Google Shape;271;g3a2a2b3daf0_1_1734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g3a2a2b3daf0_1_1734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g3a2a2b3daf0_1_1734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2a2b3daf0_1_1741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g3a2a2b3daf0_1_1741"/>
          <p:cNvSpPr/>
          <p:nvPr>
            <p:ph idx="2" type="pic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g3a2a2b3daf0_1_1741"/>
          <p:cNvSpPr txBox="1"/>
          <p:nvPr>
            <p:ph idx="1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78" name="Google Shape;278;g3a2a2b3daf0_1_1741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g3a2a2b3daf0_1_1741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g3a2a2b3daf0_1_174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2a2b3daf0_1_174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g3a2a2b3daf0_1_1748"/>
          <p:cNvSpPr txBox="1"/>
          <p:nvPr>
            <p:ph idx="1" type="body"/>
          </p:nvPr>
        </p:nvSpPr>
        <p:spPr>
          <a:xfrm rot="5400000">
            <a:off x="2634899" y="-180626"/>
            <a:ext cx="38742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4" name="Google Shape;284;g3a2a2b3daf0_1_1748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g3a2a2b3daf0_1_1748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g3a2a2b3daf0_1_1748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2a2b3daf0_1_1754"/>
          <p:cNvSpPr txBox="1"/>
          <p:nvPr>
            <p:ph type="title"/>
          </p:nvPr>
        </p:nvSpPr>
        <p:spPr>
          <a:xfrm rot="5400000">
            <a:off x="4867350" y="2041525"/>
            <a:ext cx="53244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g3a2a2b3daf0_1_1754"/>
          <p:cNvSpPr txBox="1"/>
          <p:nvPr>
            <p:ph idx="1" type="body"/>
          </p:nvPr>
        </p:nvSpPr>
        <p:spPr>
          <a:xfrm rot="5400000">
            <a:off x="866775" y="126925"/>
            <a:ext cx="53244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0" name="Google Shape;290;g3a2a2b3daf0_1_1754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g3a2a2b3daf0_1_1754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g3a2a2b3daf0_1_1754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2a2b3daf0_1_176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g3a2a2b3daf0_1_1766"/>
          <p:cNvSpPr txBox="1"/>
          <p:nvPr>
            <p:ph idx="1" type="body"/>
          </p:nvPr>
        </p:nvSpPr>
        <p:spPr>
          <a:xfrm>
            <a:off x="254000" y="1209040"/>
            <a:ext cx="86259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2" name="Google Shape;302;g3a2a2b3daf0_1_1766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g3a2a2b3daf0_1_1766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g3a2a2b3daf0_1_1766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5" name="Google Shape;305;g3a2a2b3daf0_1_1766"/>
          <p:cNvSpPr txBox="1"/>
          <p:nvPr/>
        </p:nvSpPr>
        <p:spPr>
          <a:xfrm>
            <a:off x="5779958" y="6344082"/>
            <a:ext cx="32202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1400" u="none" cap="none" strike="noStrike">
                <a:solidFill>
                  <a:srgbClr val="757070"/>
                </a:solidFill>
                <a:latin typeface="Roboto"/>
                <a:ea typeface="Roboto"/>
                <a:cs typeface="Roboto"/>
                <a:sym typeface="Roboto"/>
              </a:rPr>
              <a:t>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2a2b3daf0_1_1773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g3a2a2b3daf0_1_1773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g3a2a2b3daf0_1_177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2a2b3daf0_1_177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g3a2a2b3daf0_1_1777"/>
          <p:cNvSpPr txBox="1"/>
          <p:nvPr>
            <p:ph idx="1" type="body"/>
          </p:nvPr>
        </p:nvSpPr>
        <p:spPr>
          <a:xfrm>
            <a:off x="254000" y="1209040"/>
            <a:ext cx="86259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3" name="Google Shape;313;g3a2a2b3daf0_1_1777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g3a2a2b3daf0_1_1777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g3a2a2b3daf0_1_1777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2a2b3daf0_1_1783"/>
          <p:cNvSpPr txBox="1"/>
          <p:nvPr>
            <p:ph type="ctrTitle"/>
          </p:nvPr>
        </p:nvSpPr>
        <p:spPr>
          <a:xfrm>
            <a:off x="685800" y="1122363"/>
            <a:ext cx="77724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g3a2a2b3daf0_1_1783"/>
          <p:cNvSpPr txBox="1"/>
          <p:nvPr>
            <p:ph idx="1" type="subTitle"/>
          </p:nvPr>
        </p:nvSpPr>
        <p:spPr>
          <a:xfrm>
            <a:off x="1143000" y="3602038"/>
            <a:ext cx="685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19" name="Google Shape;319;g3a2a2b3daf0_1_1783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g3a2a2b3daf0_1_1783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g3a2a2b3daf0_1_178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2a2b3daf0_1_1789"/>
          <p:cNvSpPr txBox="1"/>
          <p:nvPr>
            <p:ph type="title"/>
          </p:nvPr>
        </p:nvSpPr>
        <p:spPr>
          <a:xfrm>
            <a:off x="623888" y="1709739"/>
            <a:ext cx="78867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g3a2a2b3daf0_1_1789"/>
          <p:cNvSpPr txBox="1"/>
          <p:nvPr>
            <p:ph idx="1" type="body"/>
          </p:nvPr>
        </p:nvSpPr>
        <p:spPr>
          <a:xfrm>
            <a:off x="623888" y="4589465"/>
            <a:ext cx="78867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325" name="Google Shape;325;g3a2a2b3daf0_1_1789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g3a2a2b3daf0_1_1789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g3a2a2b3daf0_1_1789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2a2b3daf0_1_179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g3a2a2b3daf0_1_1795"/>
          <p:cNvSpPr txBox="1"/>
          <p:nvPr>
            <p:ph idx="1" type="body"/>
          </p:nvPr>
        </p:nvSpPr>
        <p:spPr>
          <a:xfrm>
            <a:off x="254000" y="1239521"/>
            <a:ext cx="40743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1" name="Google Shape;331;g3a2a2b3daf0_1_1795"/>
          <p:cNvSpPr txBox="1"/>
          <p:nvPr>
            <p:ph idx="2" type="body"/>
          </p:nvPr>
        </p:nvSpPr>
        <p:spPr>
          <a:xfrm>
            <a:off x="4572000" y="1239521"/>
            <a:ext cx="43179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2" name="Google Shape;332;g3a2a2b3daf0_1_1795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g3a2a2b3daf0_1_1795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g3a2a2b3daf0_1_1795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2a2b3daf0_1_1802"/>
          <p:cNvSpPr txBox="1"/>
          <p:nvPr>
            <p:ph type="title"/>
          </p:nvPr>
        </p:nvSpPr>
        <p:spPr>
          <a:xfrm>
            <a:off x="629841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g3a2a2b3daf0_1_1802"/>
          <p:cNvSpPr txBox="1"/>
          <p:nvPr>
            <p:ph idx="1" type="body"/>
          </p:nvPr>
        </p:nvSpPr>
        <p:spPr>
          <a:xfrm>
            <a:off x="629842" y="1681163"/>
            <a:ext cx="3868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8" name="Google Shape;338;g3a2a2b3daf0_1_1802"/>
          <p:cNvSpPr txBox="1"/>
          <p:nvPr>
            <p:ph idx="2" type="body"/>
          </p:nvPr>
        </p:nvSpPr>
        <p:spPr>
          <a:xfrm>
            <a:off x="629842" y="2505075"/>
            <a:ext cx="38682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9" name="Google Shape;339;g3a2a2b3daf0_1_1802"/>
          <p:cNvSpPr txBox="1"/>
          <p:nvPr>
            <p:ph idx="3" type="body"/>
          </p:nvPr>
        </p:nvSpPr>
        <p:spPr>
          <a:xfrm>
            <a:off x="4629150" y="1681163"/>
            <a:ext cx="38874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0" name="Google Shape;340;g3a2a2b3daf0_1_1802"/>
          <p:cNvSpPr txBox="1"/>
          <p:nvPr>
            <p:ph idx="4" type="body"/>
          </p:nvPr>
        </p:nvSpPr>
        <p:spPr>
          <a:xfrm>
            <a:off x="4629150" y="2505075"/>
            <a:ext cx="38874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1" name="Google Shape;341;g3a2a2b3daf0_1_1802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g3a2a2b3daf0_1_1802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g3a2a2b3daf0_1_1802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a2a2b3daf0_1_1811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g3a2a2b3daf0_1_1811"/>
          <p:cNvSpPr txBox="1"/>
          <p:nvPr>
            <p:ph idx="1" type="body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47" name="Google Shape;347;g3a2a2b3daf0_1_1811"/>
          <p:cNvSpPr txBox="1"/>
          <p:nvPr>
            <p:ph idx="2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48" name="Google Shape;348;g3a2a2b3daf0_1_1811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g3a2a2b3daf0_1_1811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g3a2a2b3daf0_1_181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a2a2b3daf0_1_1818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g3a2a2b3daf0_1_1818"/>
          <p:cNvSpPr/>
          <p:nvPr>
            <p:ph idx="2" type="pic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g3a2a2b3daf0_1_1818"/>
          <p:cNvSpPr txBox="1"/>
          <p:nvPr>
            <p:ph idx="1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55" name="Google Shape;355;g3a2a2b3daf0_1_1818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g3a2a2b3daf0_1_1818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g3a2a2b3daf0_1_1818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a2a2b3daf0_1_182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g3a2a2b3daf0_1_1825"/>
          <p:cNvSpPr txBox="1"/>
          <p:nvPr>
            <p:ph idx="1" type="body"/>
          </p:nvPr>
        </p:nvSpPr>
        <p:spPr>
          <a:xfrm rot="5400000">
            <a:off x="2634899" y="-180626"/>
            <a:ext cx="38742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1" name="Google Shape;361;g3a2a2b3daf0_1_1825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g3a2a2b3daf0_1_1825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g3a2a2b3daf0_1_1825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2a2b3daf0_1_1831"/>
          <p:cNvSpPr txBox="1"/>
          <p:nvPr>
            <p:ph type="title"/>
          </p:nvPr>
        </p:nvSpPr>
        <p:spPr>
          <a:xfrm rot="5400000">
            <a:off x="4867350" y="2041525"/>
            <a:ext cx="53244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g3a2a2b3daf0_1_1831"/>
          <p:cNvSpPr txBox="1"/>
          <p:nvPr>
            <p:ph idx="1" type="body"/>
          </p:nvPr>
        </p:nvSpPr>
        <p:spPr>
          <a:xfrm rot="5400000">
            <a:off x="866775" y="126925"/>
            <a:ext cx="53244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7" name="Google Shape;367;g3a2a2b3daf0_1_1831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g3a2a2b3daf0_1_1831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g3a2a2b3daf0_1_183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9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0.xml"/><Relationship Id="rId13" Type="http://schemas.openxmlformats.org/officeDocument/2006/relationships/theme" Target="../theme/theme6.xml"/><Relationship Id="rId12" Type="http://schemas.openxmlformats.org/officeDocument/2006/relationships/slideLayout" Target="../slideLayouts/slideLayout5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254000" y="1219201"/>
            <a:ext cx="8625840" cy="4582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>
            <a:off x="254000" y="1219201"/>
            <a:ext cx="8625840" cy="4582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33"/>
          <p:cNvSpPr txBox="1"/>
          <p:nvPr/>
        </p:nvSpPr>
        <p:spPr>
          <a:xfrm>
            <a:off x="5779958" y="6344082"/>
            <a:ext cx="3220344" cy="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– Research Integrity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29"/>
          <p:cNvSpPr txBox="1"/>
          <p:nvPr>
            <p:ph idx="1" type="body"/>
          </p:nvPr>
        </p:nvSpPr>
        <p:spPr>
          <a:xfrm>
            <a:off x="254000" y="1219201"/>
            <a:ext cx="8625840" cy="4582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" name="Google Shape;144;p2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2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" name="Google Shape;146;p2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2a2b3daf0_1_168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4" name="Google Shape;224;g3a2a2b3daf0_1_1689"/>
          <p:cNvSpPr txBox="1"/>
          <p:nvPr>
            <p:ph idx="1" type="body"/>
          </p:nvPr>
        </p:nvSpPr>
        <p:spPr>
          <a:xfrm>
            <a:off x="254000" y="1219201"/>
            <a:ext cx="8625900" cy="45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5" name="Google Shape;225;g3a2a2b3daf0_1_1689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6" name="Google Shape;226;g3a2a2b3daf0_1_1689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7" name="Google Shape;227;g3a2a2b3daf0_1_1689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2a2b3daf0_1_1760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5" name="Google Shape;295;g3a2a2b3daf0_1_1760"/>
          <p:cNvSpPr txBox="1"/>
          <p:nvPr>
            <p:ph idx="1" type="body"/>
          </p:nvPr>
        </p:nvSpPr>
        <p:spPr>
          <a:xfrm>
            <a:off x="254000" y="1219201"/>
            <a:ext cx="8625900" cy="45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6" name="Google Shape;296;g3a2a2b3daf0_1_1760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7" name="Google Shape;297;g3a2a2b3daf0_1_1760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8" name="Google Shape;298;g3a2a2b3daf0_1_1760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hyperlink" Target="https://allea.org/code-of-conduct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34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35.png"/><Relationship Id="rId6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32.png"/><Relationship Id="rId5" Type="http://schemas.openxmlformats.org/officeDocument/2006/relationships/image" Target="../media/image22.png"/><Relationship Id="rId6" Type="http://schemas.openxmlformats.org/officeDocument/2006/relationships/image" Target="../media/image4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2.png"/><Relationship Id="rId4" Type="http://schemas.openxmlformats.org/officeDocument/2006/relationships/image" Target="../media/image38.png"/><Relationship Id="rId5" Type="http://schemas.openxmlformats.org/officeDocument/2006/relationships/image" Target="../media/image57.png"/><Relationship Id="rId6" Type="http://schemas.openxmlformats.org/officeDocument/2006/relationships/image" Target="../media/image41.png"/><Relationship Id="rId7" Type="http://schemas.openxmlformats.org/officeDocument/2006/relationships/image" Target="../media/image61.png"/><Relationship Id="rId8" Type="http://schemas.openxmlformats.org/officeDocument/2006/relationships/image" Target="../media/image4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21.png"/><Relationship Id="rId5" Type="http://schemas.openxmlformats.org/officeDocument/2006/relationships/image" Target="../media/image35.png"/><Relationship Id="rId6" Type="http://schemas.openxmlformats.org/officeDocument/2006/relationships/image" Target="../media/image4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43.png"/><Relationship Id="rId5" Type="http://schemas.openxmlformats.org/officeDocument/2006/relationships/hyperlink" Target="https://ori.hhs.gov/28-guidelines-glance-avoiding-plagiarism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hyperlink" Target="https://ucc.instructure.com/courses/55/pages/citing-referencing-and-plagiarism-preface" TargetMode="External"/><Relationship Id="rId5" Type="http://schemas.openxmlformats.org/officeDocument/2006/relationships/image" Target="../media/image53.png"/><Relationship Id="rId6" Type="http://schemas.openxmlformats.org/officeDocument/2006/relationships/image" Target="../media/image55.png"/><Relationship Id="rId7" Type="http://schemas.openxmlformats.org/officeDocument/2006/relationships/hyperlink" Target="https://www.youtube.com/watch?v=atTRlg6iaGo" TargetMode="External"/><Relationship Id="rId8" Type="http://schemas.openxmlformats.org/officeDocument/2006/relationships/hyperlink" Target="https://www.youtube.com/watch?v=OPcqt_1Gpjk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6.png"/><Relationship Id="rId4" Type="http://schemas.openxmlformats.org/officeDocument/2006/relationships/image" Target="../media/image21.png"/><Relationship Id="rId5" Type="http://schemas.openxmlformats.org/officeDocument/2006/relationships/image" Target="../media/image48.png"/><Relationship Id="rId6" Type="http://schemas.openxmlformats.org/officeDocument/2006/relationships/hyperlink" Target="http://www.icmje.org/recommendations/browse/roles-and-responsibilities/defining-the-role-of-authors-and-contributors.html" TargetMode="External"/><Relationship Id="rId7" Type="http://schemas.openxmlformats.org/officeDocument/2006/relationships/image" Target="../media/image5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4.png"/><Relationship Id="rId4" Type="http://schemas.openxmlformats.org/officeDocument/2006/relationships/image" Target="../media/image21.png"/><Relationship Id="rId5" Type="http://schemas.openxmlformats.org/officeDocument/2006/relationships/image" Target="../media/image5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5.png"/><Relationship Id="rId4" Type="http://schemas.openxmlformats.org/officeDocument/2006/relationships/image" Target="../media/image21.png"/><Relationship Id="rId5" Type="http://schemas.openxmlformats.org/officeDocument/2006/relationships/image" Target="../media/image49.png"/><Relationship Id="rId6" Type="http://schemas.openxmlformats.org/officeDocument/2006/relationships/image" Target="../media/image19.png"/><Relationship Id="rId7" Type="http://schemas.openxmlformats.org/officeDocument/2006/relationships/image" Target="../media/image67.png"/></Relationships>
</file>

<file path=ppt/slides/_rels/slide2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3.png"/><Relationship Id="rId10" Type="http://schemas.openxmlformats.org/officeDocument/2006/relationships/image" Target="../media/image63.png"/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0.png"/><Relationship Id="rId4" Type="http://schemas.openxmlformats.org/officeDocument/2006/relationships/image" Target="../media/image21.png"/><Relationship Id="rId9" Type="http://schemas.openxmlformats.org/officeDocument/2006/relationships/image" Target="../media/image64.png"/><Relationship Id="rId5" Type="http://schemas.openxmlformats.org/officeDocument/2006/relationships/image" Target="../media/image47.png"/><Relationship Id="rId6" Type="http://schemas.openxmlformats.org/officeDocument/2006/relationships/image" Target="../media/image34.png"/><Relationship Id="rId7" Type="http://schemas.openxmlformats.org/officeDocument/2006/relationships/image" Target="../media/image66.png"/><Relationship Id="rId8" Type="http://schemas.openxmlformats.org/officeDocument/2006/relationships/image" Target="../media/image6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2.png"/><Relationship Id="rId4" Type="http://schemas.openxmlformats.org/officeDocument/2006/relationships/image" Target="../media/image6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9.png"/><Relationship Id="rId4" Type="http://schemas.openxmlformats.org/officeDocument/2006/relationships/image" Target="../media/image71.png"/><Relationship Id="rId5" Type="http://schemas.openxmlformats.org/officeDocument/2006/relationships/image" Target="../media/image6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2.png"/><Relationship Id="rId4" Type="http://schemas.openxmlformats.org/officeDocument/2006/relationships/image" Target="../media/image77.png"/><Relationship Id="rId5" Type="http://schemas.openxmlformats.org/officeDocument/2006/relationships/image" Target="../media/image4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Relationship Id="rId4" Type="http://schemas.openxmlformats.org/officeDocument/2006/relationships/image" Target="../media/image21.png"/><Relationship Id="rId5" Type="http://schemas.openxmlformats.org/officeDocument/2006/relationships/image" Target="../media/image74.png"/><Relationship Id="rId6" Type="http://schemas.openxmlformats.org/officeDocument/2006/relationships/image" Target="../media/image79.png"/><Relationship Id="rId7" Type="http://schemas.openxmlformats.org/officeDocument/2006/relationships/image" Target="../media/image8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Relationship Id="rId4" Type="http://schemas.openxmlformats.org/officeDocument/2006/relationships/image" Target="../media/image85.png"/><Relationship Id="rId5" Type="http://schemas.openxmlformats.org/officeDocument/2006/relationships/image" Target="../media/image1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Relationship Id="rId4" Type="http://schemas.openxmlformats.org/officeDocument/2006/relationships/image" Target="../media/image99.png"/><Relationship Id="rId5" Type="http://schemas.openxmlformats.org/officeDocument/2006/relationships/image" Target="../media/image5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Relationship Id="rId4" Type="http://schemas.openxmlformats.org/officeDocument/2006/relationships/image" Target="../media/image104.png"/><Relationship Id="rId5" Type="http://schemas.openxmlformats.org/officeDocument/2006/relationships/image" Target="../media/image3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4.png"/><Relationship Id="rId4" Type="http://schemas.openxmlformats.org/officeDocument/2006/relationships/image" Target="../media/image21.png"/><Relationship Id="rId9" Type="http://schemas.openxmlformats.org/officeDocument/2006/relationships/image" Target="../media/image22.png"/><Relationship Id="rId5" Type="http://schemas.openxmlformats.org/officeDocument/2006/relationships/image" Target="../media/image88.png"/><Relationship Id="rId6" Type="http://schemas.openxmlformats.org/officeDocument/2006/relationships/image" Target="../media/image53.png"/><Relationship Id="rId7" Type="http://schemas.openxmlformats.org/officeDocument/2006/relationships/image" Target="../media/image90.png"/><Relationship Id="rId8" Type="http://schemas.openxmlformats.org/officeDocument/2006/relationships/image" Target="../media/image9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jpg"/><Relationship Id="rId4" Type="http://schemas.openxmlformats.org/officeDocument/2006/relationships/image" Target="../media/image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8.png"/><Relationship Id="rId4" Type="http://schemas.openxmlformats.org/officeDocument/2006/relationships/image" Target="../media/image91.png"/><Relationship Id="rId5" Type="http://schemas.openxmlformats.org/officeDocument/2006/relationships/image" Target="../media/image89.png"/><Relationship Id="rId6" Type="http://schemas.openxmlformats.org/officeDocument/2006/relationships/image" Target="../media/image7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1.png"/><Relationship Id="rId4" Type="http://schemas.openxmlformats.org/officeDocument/2006/relationships/image" Target="../media/image29.png"/><Relationship Id="rId5" Type="http://schemas.openxmlformats.org/officeDocument/2006/relationships/image" Target="../media/image21.png"/><Relationship Id="rId6" Type="http://schemas.openxmlformats.org/officeDocument/2006/relationships/image" Target="../media/image13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Relationship Id="rId5" Type="http://schemas.openxmlformats.org/officeDocument/2006/relationships/image" Target="../media/image49.png"/><Relationship Id="rId6" Type="http://schemas.openxmlformats.org/officeDocument/2006/relationships/image" Target="../media/image29.png"/><Relationship Id="rId7" Type="http://schemas.openxmlformats.org/officeDocument/2006/relationships/image" Target="../media/image6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8.png"/><Relationship Id="rId4" Type="http://schemas.openxmlformats.org/officeDocument/2006/relationships/image" Target="../media/image21.png"/><Relationship Id="rId5" Type="http://schemas.openxmlformats.org/officeDocument/2006/relationships/image" Target="../media/image7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1.png"/><Relationship Id="rId4" Type="http://schemas.openxmlformats.org/officeDocument/2006/relationships/image" Target="../media/image21.png"/><Relationship Id="rId5" Type="http://schemas.openxmlformats.org/officeDocument/2006/relationships/image" Target="../media/image110.png"/><Relationship Id="rId6" Type="http://schemas.openxmlformats.org/officeDocument/2006/relationships/image" Target="../media/image102.png"/><Relationship Id="rId7" Type="http://schemas.openxmlformats.org/officeDocument/2006/relationships/image" Target="../media/image3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.png"/><Relationship Id="rId4" Type="http://schemas.openxmlformats.org/officeDocument/2006/relationships/image" Target="../media/image47.png"/><Relationship Id="rId5" Type="http://schemas.openxmlformats.org/officeDocument/2006/relationships/image" Target="../media/image11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9.png"/><Relationship Id="rId4" Type="http://schemas.openxmlformats.org/officeDocument/2006/relationships/image" Target="../media/image29.png"/><Relationship Id="rId5" Type="http://schemas.openxmlformats.org/officeDocument/2006/relationships/image" Target="../media/image21.png"/><Relationship Id="rId6" Type="http://schemas.openxmlformats.org/officeDocument/2006/relationships/hyperlink" Target="http://www.retractionwatch.com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8.png"/><Relationship Id="rId4" Type="http://schemas.openxmlformats.org/officeDocument/2006/relationships/hyperlink" Target="https://www.ucc.ie/en/research/support/integrity/codeguidelines/" TargetMode="External"/><Relationship Id="rId5" Type="http://schemas.openxmlformats.org/officeDocument/2006/relationships/image" Target="../media/image123.png"/><Relationship Id="rId6" Type="http://schemas.openxmlformats.org/officeDocument/2006/relationships/image" Target="../media/image13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3.jpg"/><Relationship Id="rId4" Type="http://schemas.openxmlformats.org/officeDocument/2006/relationships/image" Target="../media/image1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2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www.ucc.ie/en/research/support/integrity/" TargetMode="External"/><Relationship Id="rId4" Type="http://schemas.openxmlformats.org/officeDocument/2006/relationships/hyperlink" Target="https://www.ucc.ie/en/research/support/" TargetMode="External"/><Relationship Id="rId5" Type="http://schemas.openxmlformats.org/officeDocument/2006/relationships/image" Target="../media/image115.png"/><Relationship Id="rId6" Type="http://schemas.openxmlformats.org/officeDocument/2006/relationships/image" Target="../media/image13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www.ucc.ie/en/study/postgrad/dean/studentevents/workshop-researchintegrityethicsandopenscience/" TargetMode="External"/><Relationship Id="rId4" Type="http://schemas.openxmlformats.org/officeDocument/2006/relationships/hyperlink" Target="https://www.ucc.ie/en/research/support/integrity/onlinetraining/" TargetMode="External"/><Relationship Id="rId5" Type="http://schemas.openxmlformats.org/officeDocument/2006/relationships/image" Target="../media/image4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www.iua.ie/for-researchers/research-integrity/" TargetMode="External"/><Relationship Id="rId4" Type="http://schemas.openxmlformats.org/officeDocument/2006/relationships/hyperlink" Target="https://ukrio.org/" TargetMode="External"/><Relationship Id="rId5" Type="http://schemas.openxmlformats.org/officeDocument/2006/relationships/hyperlink" Target="https://ori.hhs.gov/updates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3.jpg"/><Relationship Id="rId4" Type="http://schemas.openxmlformats.org/officeDocument/2006/relationships/image" Target="../media/image1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allea.org/code-of-conduct/" TargetMode="External"/><Relationship Id="rId4" Type="http://schemas.openxmlformats.org/officeDocument/2006/relationships/hyperlink" Target="https://ori.hhs.gov/sites/default/files/2017-12/6_Image_Manipulation.pdf" TargetMode="External"/><Relationship Id="rId5" Type="http://schemas.openxmlformats.org/officeDocument/2006/relationships/hyperlink" Target="https://scienceintegritydigest.com/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55.xml"/><Relationship Id="rId3" Type="http://schemas.openxmlformats.org/officeDocument/2006/relationships/hyperlink" Target="https://doi.org/10.1038/453980a" TargetMode="External"/><Relationship Id="rId4" Type="http://schemas.openxmlformats.org/officeDocument/2006/relationships/hyperlink" Target="https://doi.org/10.1007/s11948-003-0014-0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s://www.youtube.com/watch?v=JSV4VZ8gdUQ" TargetMode="External"/><Relationship Id="rId4" Type="http://schemas.openxmlformats.org/officeDocument/2006/relationships/hyperlink" Target="https://time.com/5175704/andrew-wakefield-vaccine-autism/" TargetMode="External"/></Relationships>
</file>

<file path=ppt/slides/_rels/slide57.xml.rels><?xml version="1.0" encoding="UTF-8" standalone="yes"?><Relationships xmlns="http://schemas.openxmlformats.org/package/2006/relationships"><Relationship Id="rId10" Type="http://schemas.openxmlformats.org/officeDocument/2006/relationships/hyperlink" Target="https://www.theguardian.com/science/2015/feb/18/haruko-obokata-stap-cells-controversy-scientists-lie" TargetMode="External"/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s://www.youtube.com/watch?v=x_MsPvgetxw" TargetMode="External"/><Relationship Id="rId4" Type="http://schemas.openxmlformats.org/officeDocument/2006/relationships/hyperlink" Target="https://www.theguardian.com/science/2015/feb/18/haruko-obokata-stap-cells-controversy-scientists-lie" TargetMode="External"/><Relationship Id="rId9" Type="http://schemas.openxmlformats.org/officeDocument/2006/relationships/hyperlink" Target="https://www.theguardian.com/science/2015/feb/18/haruko-obokata-stap-cells-controversy-scientists-lie" TargetMode="External"/><Relationship Id="rId5" Type="http://schemas.openxmlformats.org/officeDocument/2006/relationships/hyperlink" Target="https://www.theguardian.com/science/2015/feb/18/haruko-obokata-stap-cells-controversy-scientists-lie" TargetMode="External"/><Relationship Id="rId6" Type="http://schemas.openxmlformats.org/officeDocument/2006/relationships/hyperlink" Target="https://www.theguardian.com/science/2015/feb/18/haruko-obokata-stap-cells-controversy-scientists-lie" TargetMode="External"/><Relationship Id="rId7" Type="http://schemas.openxmlformats.org/officeDocument/2006/relationships/hyperlink" Target="https://journals.sagepub.com/doi/10.1177/0956797611430953" TargetMode="External"/><Relationship Id="rId8" Type="http://schemas.openxmlformats.org/officeDocument/2006/relationships/hyperlink" Target="https://www.theguardian.com/science/2015/feb/18/haruko-obokata-stap-cells-controversy-scientists-lie" TargetMode="Externa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3.jp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374" name="Google Shape;374;p3"/>
          <p:cNvPicPr preferRelativeResize="0"/>
          <p:nvPr/>
        </p:nvPicPr>
        <p:blipFill rotWithShape="1">
          <a:blip r:embed="rId3">
            <a:alphaModFix/>
          </a:blip>
          <a:srcRect b="11539" l="33076" r="0" t="0"/>
          <a:stretch/>
        </p:blipFill>
        <p:spPr>
          <a:xfrm>
            <a:off x="2150534" y="0"/>
            <a:ext cx="6993466" cy="6933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375" name="Google Shape;37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"/>
          <p:cNvSpPr txBox="1"/>
          <p:nvPr/>
        </p:nvSpPr>
        <p:spPr>
          <a:xfrm>
            <a:off x="364243" y="1660140"/>
            <a:ext cx="3697118" cy="906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3"/>
          <p:cNvSpPr txBox="1"/>
          <p:nvPr/>
        </p:nvSpPr>
        <p:spPr>
          <a:xfrm>
            <a:off x="364243" y="2450863"/>
            <a:ext cx="4465334" cy="126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" name="Google Shape;382;p5"/>
          <p:cNvGrpSpPr/>
          <p:nvPr/>
        </p:nvGrpSpPr>
        <p:grpSpPr>
          <a:xfrm>
            <a:off x="2734200" y="1591200"/>
            <a:ext cx="3675600" cy="3675600"/>
            <a:chOff x="2734200" y="1591200"/>
            <a:chExt cx="3675600" cy="3675600"/>
          </a:xfrm>
        </p:grpSpPr>
        <p:pic>
          <p:nvPicPr>
            <p:cNvPr descr="Diagram, venn diagram&#10;&#10;Description automatically generated with medium confidence" id="383" name="Google Shape;383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34200" y="1591200"/>
              <a:ext cx="3675600" cy="367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4" name="Google Shape;384;p5"/>
            <p:cNvSpPr txBox="1"/>
            <p:nvPr/>
          </p:nvSpPr>
          <p:spPr>
            <a:xfrm>
              <a:off x="2734200" y="1591200"/>
              <a:ext cx="3631440" cy="1148877"/>
            </a:xfrm>
            <a:prstGeom prst="rect">
              <a:avLst/>
            </a:prstGeom>
            <a:noFill/>
            <a:ln>
              <a:noFill/>
            </a:ln>
            <a:effectLst>
              <a:outerShdw blurRad="165100" sx="103000" rotWithShape="0" algn="tl" dir="2700000" dist="38100" sy="103000">
                <a:srgbClr val="000000">
                  <a:alpha val="24313"/>
                </a:srgbClr>
              </a:outerShdw>
            </a:effectLst>
          </p:spPr>
          <p:txBody>
            <a:bodyPr anchorCtr="0" anchor="t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769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What is Research Integrity?</a:t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7b0fc454cf_0_0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Research Integrity</a:t>
            </a:r>
            <a:endParaRPr b="1" sz="2400"/>
          </a:p>
        </p:txBody>
      </p:sp>
      <p:grpSp>
        <p:nvGrpSpPr>
          <p:cNvPr id="390" name="Google Shape;390;g7b0fc454cf_0_0"/>
          <p:cNvGrpSpPr/>
          <p:nvPr/>
        </p:nvGrpSpPr>
        <p:grpSpPr>
          <a:xfrm>
            <a:off x="67775" y="945000"/>
            <a:ext cx="9008450" cy="4968000"/>
            <a:chOff x="0" y="945000"/>
            <a:chExt cx="9008450" cy="4968000"/>
          </a:xfrm>
        </p:grpSpPr>
        <p:grpSp>
          <p:nvGrpSpPr>
            <p:cNvPr id="391" name="Google Shape;391;g7b0fc454cf_0_0"/>
            <p:cNvGrpSpPr/>
            <p:nvPr/>
          </p:nvGrpSpPr>
          <p:grpSpPr>
            <a:xfrm>
              <a:off x="0" y="2108738"/>
              <a:ext cx="3156600" cy="2640524"/>
              <a:chOff x="0" y="2039051"/>
              <a:chExt cx="3156600" cy="2640524"/>
            </a:xfrm>
          </p:grpSpPr>
          <p:pic>
            <p:nvPicPr>
              <p:cNvPr id="392" name="Google Shape;392;g7b0fc454cf_0_0"/>
              <p:cNvPicPr preferRelativeResize="0"/>
              <p:nvPr/>
            </p:nvPicPr>
            <p:blipFill rotWithShape="1">
              <a:blip r:embed="rId3">
                <a:alphaModFix/>
              </a:blip>
              <a:srcRect b="32649" l="0" r="70475" t="23442"/>
              <a:stretch/>
            </p:blipFill>
            <p:spPr>
              <a:xfrm>
                <a:off x="0" y="2039051"/>
                <a:ext cx="3156600" cy="264052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3" name="Google Shape;393;g7b0fc454cf_0_0"/>
              <p:cNvSpPr txBox="1"/>
              <p:nvPr/>
            </p:nvSpPr>
            <p:spPr>
              <a:xfrm>
                <a:off x="211350" y="2618913"/>
                <a:ext cx="2733900" cy="129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Guiding Principles of Research Integrity</a:t>
                </a:r>
                <a:endParaRPr b="0" i="0" sz="2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394" name="Google Shape;394;g7b0fc454cf_0_0"/>
            <p:cNvGrpSpPr/>
            <p:nvPr/>
          </p:nvGrpSpPr>
          <p:grpSpPr>
            <a:xfrm>
              <a:off x="3253249" y="945000"/>
              <a:ext cx="5755201" cy="4968000"/>
              <a:chOff x="3253249" y="945000"/>
              <a:chExt cx="5755201" cy="4968000"/>
            </a:xfrm>
          </p:grpSpPr>
          <p:pic>
            <p:nvPicPr>
              <p:cNvPr id="395" name="Google Shape;395;g7b0fc454cf_0_0"/>
              <p:cNvPicPr preferRelativeResize="0"/>
              <p:nvPr/>
            </p:nvPicPr>
            <p:blipFill rotWithShape="1">
              <a:blip r:embed="rId3">
                <a:alphaModFix/>
              </a:blip>
              <a:srcRect b="0" l="29611" r="0" t="0"/>
              <a:stretch/>
            </p:blipFill>
            <p:spPr>
              <a:xfrm>
                <a:off x="3253249" y="945000"/>
                <a:ext cx="5605200" cy="4968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6" name="Google Shape;396;g7b0fc454cf_0_0"/>
              <p:cNvSpPr txBox="1"/>
              <p:nvPr/>
            </p:nvSpPr>
            <p:spPr>
              <a:xfrm>
                <a:off x="3383376" y="1818934"/>
                <a:ext cx="1818598" cy="503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Reliability</a:t>
                </a:r>
                <a:endParaRPr b="1" i="0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97" name="Google Shape;397;g7b0fc454cf_0_0"/>
              <p:cNvSpPr txBox="1"/>
              <p:nvPr/>
            </p:nvSpPr>
            <p:spPr>
              <a:xfrm>
                <a:off x="3275225" y="2768785"/>
                <a:ext cx="20349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Honesty</a:t>
                </a:r>
                <a:endParaRPr b="1" i="0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98" name="Google Shape;398;g7b0fc454cf_0_0"/>
              <p:cNvSpPr txBox="1"/>
              <p:nvPr/>
            </p:nvSpPr>
            <p:spPr>
              <a:xfrm>
                <a:off x="3307325" y="3683441"/>
                <a:ext cx="19707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Respect</a:t>
                </a:r>
                <a:endParaRPr b="1" i="0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99" name="Google Shape;399;g7b0fc454cf_0_0"/>
              <p:cNvSpPr txBox="1"/>
              <p:nvPr/>
            </p:nvSpPr>
            <p:spPr>
              <a:xfrm>
                <a:off x="3275225" y="4601036"/>
                <a:ext cx="20349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Accountability</a:t>
                </a:r>
                <a:endParaRPr b="1" i="0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00" name="Google Shape;400;g7b0fc454cf_0_0"/>
              <p:cNvSpPr txBox="1"/>
              <p:nvPr/>
            </p:nvSpPr>
            <p:spPr>
              <a:xfrm>
                <a:off x="5223950" y="1731987"/>
                <a:ext cx="3784500" cy="6770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Ensuring quality of research, in all stages of the research process</a:t>
                </a:r>
                <a:endParaRPr b="0" i="0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01" name="Google Shape;401;g7b0fc454cf_0_0"/>
              <p:cNvSpPr txBox="1"/>
              <p:nvPr/>
            </p:nvSpPr>
            <p:spPr>
              <a:xfrm>
                <a:off x="5223950" y="2538776"/>
                <a:ext cx="3405043" cy="9232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Developing, conducting, sharing and engaging with research in fair and transparent ways</a:t>
                </a:r>
                <a:endParaRPr b="0" i="0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02" name="Google Shape;402;g7b0fc454cf_0_0"/>
              <p:cNvSpPr txBox="1"/>
              <p:nvPr/>
            </p:nvSpPr>
            <p:spPr>
              <a:xfrm>
                <a:off x="5223950" y="3459834"/>
                <a:ext cx="3268409" cy="9232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For research participants, colleagues, society, culture and the environment</a:t>
                </a:r>
                <a:endParaRPr b="0" i="0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03" name="Google Shape;403;g7b0fc454cf_0_0"/>
              <p:cNvSpPr txBox="1"/>
              <p:nvPr/>
            </p:nvSpPr>
            <p:spPr>
              <a:xfrm>
                <a:off x="5260775" y="4497281"/>
                <a:ext cx="3368218" cy="6770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For the research, its management, and its wider impacts</a:t>
                </a:r>
                <a:endParaRPr b="0" i="0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404" name="Google Shape;404;g7b0fc454cf_0_0"/>
          <p:cNvSpPr/>
          <p:nvPr/>
        </p:nvSpPr>
        <p:spPr>
          <a:xfrm>
            <a:off x="2003028" y="5719371"/>
            <a:ext cx="51379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52244"/>
                </a:solidFill>
                <a:latin typeface="Calibri"/>
                <a:ea typeface="Calibri"/>
                <a:cs typeface="Calibri"/>
                <a:sym typeface="Calibri"/>
              </a:rPr>
              <a:t>Adapted from the </a:t>
            </a:r>
            <a:r>
              <a:rPr b="0" i="0" lang="en-US" sz="1400" u="sng" cap="none" strike="noStrike">
                <a:solidFill>
                  <a:srgbClr val="252244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European Code of Conduct for Research Integrity</a:t>
            </a:r>
            <a:endParaRPr b="0" i="0" sz="1600" u="none" cap="none" strike="noStrike">
              <a:solidFill>
                <a:srgbClr val="2522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d409340aa3_0_1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What is research integrity?</a:t>
            </a:r>
            <a:endParaRPr b="1" sz="2400"/>
          </a:p>
        </p:txBody>
      </p:sp>
      <p:sp>
        <p:nvSpPr>
          <p:cNvPr id="410" name="Google Shape;410;gd409340aa3_0_1"/>
          <p:cNvSpPr txBox="1"/>
          <p:nvPr>
            <p:ph idx="1" type="body"/>
          </p:nvPr>
        </p:nvSpPr>
        <p:spPr>
          <a:xfrm>
            <a:off x="254000" y="1056501"/>
            <a:ext cx="86259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solidFill>
                  <a:srgbClr val="000000"/>
                </a:solidFill>
              </a:rPr>
              <a:t>Research integrity involves making honest, responsible decisions at all stages of the research cycle</a:t>
            </a:r>
            <a:endParaRPr b="1" sz="2400">
              <a:solidFill>
                <a:srgbClr val="000000"/>
              </a:solidFill>
            </a:endParaRPr>
          </a:p>
        </p:txBody>
      </p:sp>
      <p:grpSp>
        <p:nvGrpSpPr>
          <p:cNvPr id="411" name="Google Shape;411;gd409340aa3_0_1"/>
          <p:cNvGrpSpPr/>
          <p:nvPr/>
        </p:nvGrpSpPr>
        <p:grpSpPr>
          <a:xfrm>
            <a:off x="2721028" y="2274307"/>
            <a:ext cx="3701945" cy="3500411"/>
            <a:chOff x="2826925" y="2426856"/>
            <a:chExt cx="3701945" cy="3500411"/>
          </a:xfrm>
        </p:grpSpPr>
        <p:sp>
          <p:nvSpPr>
            <p:cNvPr id="412" name="Google Shape;412;gd409340aa3_0_1"/>
            <p:cNvSpPr/>
            <p:nvPr/>
          </p:nvSpPr>
          <p:spPr>
            <a:xfrm>
              <a:off x="2905197" y="2433461"/>
              <a:ext cx="3545400" cy="3487200"/>
            </a:xfrm>
            <a:prstGeom prst="rect">
              <a:avLst/>
            </a:prstGeom>
            <a:solidFill>
              <a:srgbClr val="B3E1C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highlight>
                  <a:srgbClr val="8DD2AF"/>
                </a:highlight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highlight>
                  <a:srgbClr val="8DD2AF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3" name="Google Shape;413;gd409340aa3_0_1"/>
            <p:cNvGrpSpPr/>
            <p:nvPr/>
          </p:nvGrpSpPr>
          <p:grpSpPr>
            <a:xfrm>
              <a:off x="2826925" y="2426856"/>
              <a:ext cx="3701945" cy="3500411"/>
              <a:chOff x="5315874" y="2120900"/>
              <a:chExt cx="3332825" cy="3145600"/>
            </a:xfrm>
          </p:grpSpPr>
          <p:sp>
            <p:nvSpPr>
              <p:cNvPr id="414" name="Google Shape;414;gd409340aa3_0_1"/>
              <p:cNvSpPr/>
              <p:nvPr/>
            </p:nvSpPr>
            <p:spPr>
              <a:xfrm>
                <a:off x="5315874" y="2120900"/>
                <a:ext cx="3332825" cy="3145600"/>
              </a:xfrm>
              <a:prstGeom prst="rect">
                <a:avLst/>
              </a:prstGeom>
              <a:solidFill>
                <a:srgbClr val="8DD2A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Diagram&#10;&#10;Description automatically generated" id="415" name="Google Shape;415;gd409340aa3_0_1"/>
              <p:cNvPicPr preferRelativeResize="0"/>
              <p:nvPr/>
            </p:nvPicPr>
            <p:blipFill rotWithShape="1">
              <a:blip r:embed="rId3">
                <a:alphaModFix/>
              </a:blip>
              <a:srcRect b="12959" l="18533" r="19439" t="0"/>
              <a:stretch/>
            </p:blipFill>
            <p:spPr>
              <a:xfrm>
                <a:off x="5507937" y="2120901"/>
                <a:ext cx="2948698" cy="31455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420" name="Google Shape;4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421" name="Google Shape;42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426" name="Google Shape;426;g3a2a2b3daf0_1_0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427" name="Google Shape;427;g3a2a2b3daf0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g3a2a2b3daf0_1_0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g3a2a2b3daf0_1_0"/>
          <p:cNvSpPr txBox="1"/>
          <p:nvPr/>
        </p:nvSpPr>
        <p:spPr>
          <a:xfrm>
            <a:off x="364243" y="2450863"/>
            <a:ext cx="4465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4" name="Google Shape;434;g3a2a2b3daf0_1_7"/>
          <p:cNvGrpSpPr/>
          <p:nvPr/>
        </p:nvGrpSpPr>
        <p:grpSpPr>
          <a:xfrm>
            <a:off x="2943060" y="1591200"/>
            <a:ext cx="3675600" cy="3675600"/>
            <a:chOff x="5758542" y="1604263"/>
            <a:chExt cx="3675600" cy="3675600"/>
          </a:xfrm>
        </p:grpSpPr>
        <p:pic>
          <p:nvPicPr>
            <p:cNvPr descr="Diagram, venn diagram&#10;&#10;Description automatically generated" id="435" name="Google Shape;435;g3a2a2b3daf0_1_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58542" y="1604263"/>
              <a:ext cx="3675600" cy="367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g3a2a2b3daf0_1_7"/>
            <p:cNvSpPr txBox="1"/>
            <p:nvPr/>
          </p:nvSpPr>
          <p:spPr>
            <a:xfrm>
              <a:off x="5758542" y="1604263"/>
              <a:ext cx="3631500" cy="1113300"/>
            </a:xfrm>
            <a:prstGeom prst="rect">
              <a:avLst/>
            </a:prstGeom>
            <a:noFill/>
            <a:ln>
              <a:noFill/>
            </a:ln>
            <a:effectLst>
              <a:outerShdw blurRad="165100" sx="103000" rotWithShape="0" algn="tl" dir="2700000" dist="38100" sy="103000">
                <a:srgbClr val="000000">
                  <a:alpha val="24310"/>
                </a:srgbClr>
              </a:outerShdw>
            </a:effectLst>
          </p:spPr>
          <p:txBody>
            <a:bodyPr anchorCtr="0" anchor="t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769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Why is Research Integrity Important?</a:t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a2a2b3daf0_1_1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Why is research integrity important?</a:t>
            </a:r>
            <a:endParaRPr b="1" sz="2400"/>
          </a:p>
        </p:txBody>
      </p:sp>
      <p:grpSp>
        <p:nvGrpSpPr>
          <p:cNvPr id="442" name="Google Shape;442;g3a2a2b3daf0_1_13"/>
          <p:cNvGrpSpPr/>
          <p:nvPr/>
        </p:nvGrpSpPr>
        <p:grpSpPr>
          <a:xfrm>
            <a:off x="636970" y="1524893"/>
            <a:ext cx="7870060" cy="3808165"/>
            <a:chOff x="636970" y="1524893"/>
            <a:chExt cx="7870060" cy="3808165"/>
          </a:xfrm>
        </p:grpSpPr>
        <p:grpSp>
          <p:nvGrpSpPr>
            <p:cNvPr id="443" name="Google Shape;443;g3a2a2b3daf0_1_13"/>
            <p:cNvGrpSpPr/>
            <p:nvPr/>
          </p:nvGrpSpPr>
          <p:grpSpPr>
            <a:xfrm>
              <a:off x="636970" y="2108738"/>
              <a:ext cx="3156600" cy="2640524"/>
              <a:chOff x="67775" y="2108738"/>
              <a:chExt cx="3156600" cy="2640524"/>
            </a:xfrm>
          </p:grpSpPr>
          <p:pic>
            <p:nvPicPr>
              <p:cNvPr id="444" name="Google Shape;444;g3a2a2b3daf0_1_13"/>
              <p:cNvPicPr preferRelativeResize="0"/>
              <p:nvPr/>
            </p:nvPicPr>
            <p:blipFill rotWithShape="1">
              <a:blip r:embed="rId3">
                <a:alphaModFix/>
              </a:blip>
              <a:srcRect b="32646" l="0" r="70475" t="23443"/>
              <a:stretch/>
            </p:blipFill>
            <p:spPr>
              <a:xfrm>
                <a:off x="67775" y="2108738"/>
                <a:ext cx="3156600" cy="264052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5" name="Google Shape;445;g3a2a2b3daf0_1_13"/>
              <p:cNvSpPr txBox="1"/>
              <p:nvPr/>
            </p:nvSpPr>
            <p:spPr>
              <a:xfrm>
                <a:off x="322690" y="2641232"/>
                <a:ext cx="2595900" cy="129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Why is research integrity important?</a:t>
                </a:r>
                <a:endParaRPr b="0" i="0" sz="2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446" name="Google Shape;446;g3a2a2b3daf0_1_13"/>
            <p:cNvGrpSpPr/>
            <p:nvPr/>
          </p:nvGrpSpPr>
          <p:grpSpPr>
            <a:xfrm>
              <a:off x="4126730" y="1524893"/>
              <a:ext cx="4380300" cy="3808165"/>
              <a:chOff x="4255677" y="1693206"/>
              <a:chExt cx="4380300" cy="3808165"/>
            </a:xfrm>
          </p:grpSpPr>
          <p:grpSp>
            <p:nvGrpSpPr>
              <p:cNvPr id="447" name="Google Shape;447;g3a2a2b3daf0_1_13"/>
              <p:cNvGrpSpPr/>
              <p:nvPr/>
            </p:nvGrpSpPr>
            <p:grpSpPr>
              <a:xfrm>
                <a:off x="4255677" y="1693206"/>
                <a:ext cx="4358597" cy="749400"/>
                <a:chOff x="3845579" y="1693206"/>
                <a:chExt cx="4358597" cy="749400"/>
              </a:xfrm>
            </p:grpSpPr>
            <p:grpSp>
              <p:nvGrpSpPr>
                <p:cNvPr id="448" name="Google Shape;448;g3a2a2b3daf0_1_13"/>
                <p:cNvGrpSpPr/>
                <p:nvPr/>
              </p:nvGrpSpPr>
              <p:grpSpPr>
                <a:xfrm>
                  <a:off x="3990376" y="1693206"/>
                  <a:ext cx="4213800" cy="749400"/>
                  <a:chOff x="3990376" y="1693206"/>
                  <a:chExt cx="4213800" cy="749400"/>
                </a:xfrm>
              </p:grpSpPr>
              <p:sp>
                <p:nvSpPr>
                  <p:cNvPr id="449" name="Google Shape;449;g3a2a2b3daf0_1_13"/>
                  <p:cNvSpPr/>
                  <p:nvPr/>
                </p:nvSpPr>
                <p:spPr>
                  <a:xfrm>
                    <a:off x="3990376" y="1693206"/>
                    <a:ext cx="4213800" cy="749400"/>
                  </a:xfrm>
                  <a:prstGeom prst="rect">
                    <a:avLst/>
                  </a:prstGeom>
                  <a:solidFill>
                    <a:srgbClr val="8DD2AF"/>
                  </a:solidFill>
                  <a:ln cap="flat" cmpd="sng" w="25400">
                    <a:solidFill>
                      <a:srgbClr val="8DD2A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0" name="Google Shape;450;g3a2a2b3daf0_1_13"/>
                  <p:cNvSpPr txBox="1"/>
                  <p:nvPr/>
                </p:nvSpPr>
                <p:spPr>
                  <a:xfrm>
                    <a:off x="4575083" y="1735531"/>
                    <a:ext cx="3508200" cy="677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rPr b="0" i="0" lang="en-US" sz="16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It reduces the likelihood of research misconduct </a:t>
                    </a:r>
                    <a:endParaRPr b="0" i="0" sz="1600" u="none" cap="none" strike="noStrike">
                      <a:solidFill>
                        <a:srgbClr val="000000"/>
                      </a:solidFill>
                      <a:highlight>
                        <a:srgbClr val="CFEFFA"/>
                      </a:highlight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p:grpSp>
            <p:grpSp>
              <p:nvGrpSpPr>
                <p:cNvPr id="451" name="Google Shape;451;g3a2a2b3daf0_1_13"/>
                <p:cNvGrpSpPr/>
                <p:nvPr/>
              </p:nvGrpSpPr>
              <p:grpSpPr>
                <a:xfrm>
                  <a:off x="3845579" y="1693206"/>
                  <a:ext cx="699900" cy="749400"/>
                  <a:chOff x="3845579" y="1693206"/>
                  <a:chExt cx="699900" cy="749400"/>
                </a:xfrm>
              </p:grpSpPr>
              <p:sp>
                <p:nvSpPr>
                  <p:cNvPr id="452" name="Google Shape;452;g3a2a2b3daf0_1_13"/>
                  <p:cNvSpPr/>
                  <p:nvPr/>
                </p:nvSpPr>
                <p:spPr>
                  <a:xfrm>
                    <a:off x="3845579" y="1693206"/>
                    <a:ext cx="699900" cy="749400"/>
                  </a:xfrm>
                  <a:prstGeom prst="roundRect">
                    <a:avLst>
                      <a:gd fmla="val 16667" name="adj"/>
                    </a:avLst>
                  </a:prstGeom>
                  <a:solidFill>
                    <a:srgbClr val="47B27D"/>
                  </a:solidFill>
                  <a:ln cap="flat" cmpd="sng" w="25400">
                    <a:solidFill>
                      <a:srgbClr val="47B27D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3" name="Google Shape;453;g3a2a2b3daf0_1_13"/>
                  <p:cNvSpPr txBox="1"/>
                  <p:nvPr/>
                </p:nvSpPr>
                <p:spPr>
                  <a:xfrm>
                    <a:off x="4057729" y="1837080"/>
                    <a:ext cx="275700" cy="461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1" i="0" lang="en-US" sz="1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1</a:t>
                    </a:r>
                    <a:endParaRPr b="1" i="0" sz="1800" u="none" cap="none" strike="noStrike">
                      <a:solidFill>
                        <a:schemeClr val="lt1"/>
                      </a:solidFill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p:grpSp>
          </p:grpSp>
          <p:grpSp>
            <p:nvGrpSpPr>
              <p:cNvPr id="454" name="Google Shape;454;g3a2a2b3daf0_1_13"/>
              <p:cNvGrpSpPr/>
              <p:nvPr/>
            </p:nvGrpSpPr>
            <p:grpSpPr>
              <a:xfrm>
                <a:off x="4255677" y="2712794"/>
                <a:ext cx="4358597" cy="749400"/>
                <a:chOff x="3916746" y="2634212"/>
                <a:chExt cx="4358597" cy="749400"/>
              </a:xfrm>
            </p:grpSpPr>
            <p:sp>
              <p:nvSpPr>
                <p:cNvPr id="455" name="Google Shape;455;g3a2a2b3daf0_1_13"/>
                <p:cNvSpPr/>
                <p:nvPr/>
              </p:nvSpPr>
              <p:spPr>
                <a:xfrm>
                  <a:off x="4061543" y="2634212"/>
                  <a:ext cx="4213800" cy="749400"/>
                </a:xfrm>
                <a:prstGeom prst="rect">
                  <a:avLst/>
                </a:prstGeom>
                <a:solidFill>
                  <a:srgbClr val="8DD2AF"/>
                </a:solidFill>
                <a:ln cap="flat" cmpd="sng" w="25400">
                  <a:solidFill>
                    <a:srgbClr val="8DD2A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6" name="Google Shape;456;g3a2a2b3daf0_1_13"/>
                <p:cNvSpPr/>
                <p:nvPr/>
              </p:nvSpPr>
              <p:spPr>
                <a:xfrm>
                  <a:off x="3916746" y="2634212"/>
                  <a:ext cx="699900" cy="7494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47B27D"/>
                </a:solidFill>
                <a:ln cap="flat" cmpd="sng" w="25400">
                  <a:solidFill>
                    <a:srgbClr val="47B27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" name="Google Shape;457;g3a2a2b3daf0_1_13"/>
                <p:cNvSpPr txBox="1"/>
                <p:nvPr/>
              </p:nvSpPr>
              <p:spPr>
                <a:xfrm>
                  <a:off x="4646250" y="2680796"/>
                  <a:ext cx="3508200" cy="67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It ensures the validity of research results 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458" name="Google Shape;458;g3a2a2b3daf0_1_13"/>
                <p:cNvSpPr txBox="1"/>
                <p:nvPr/>
              </p:nvSpPr>
              <p:spPr>
                <a:xfrm>
                  <a:off x="4128896" y="2778086"/>
                  <a:ext cx="2757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1" i="0" lang="en-US" sz="1800" u="none" cap="none" strike="noStrike">
                      <a:solidFill>
                        <a:schemeClr val="lt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2</a:t>
                  </a:r>
                  <a:endParaRPr b="1" i="0" sz="1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grpSp>
            <p:nvGrpSpPr>
              <p:cNvPr id="459" name="Google Shape;459;g3a2a2b3daf0_1_13"/>
              <p:cNvGrpSpPr/>
              <p:nvPr/>
            </p:nvGrpSpPr>
            <p:grpSpPr>
              <a:xfrm>
                <a:off x="4255677" y="3732382"/>
                <a:ext cx="4358597" cy="749400"/>
                <a:chOff x="3870079" y="3689490"/>
                <a:chExt cx="4358597" cy="749400"/>
              </a:xfrm>
            </p:grpSpPr>
            <p:sp>
              <p:nvSpPr>
                <p:cNvPr id="460" name="Google Shape;460;g3a2a2b3daf0_1_13"/>
                <p:cNvSpPr/>
                <p:nvPr/>
              </p:nvSpPr>
              <p:spPr>
                <a:xfrm>
                  <a:off x="4014876" y="3689490"/>
                  <a:ext cx="4213800" cy="749400"/>
                </a:xfrm>
                <a:prstGeom prst="rect">
                  <a:avLst/>
                </a:prstGeom>
                <a:solidFill>
                  <a:srgbClr val="8DD2AF"/>
                </a:solidFill>
                <a:ln cap="flat" cmpd="sng" w="25400">
                  <a:solidFill>
                    <a:srgbClr val="8DD2A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1" name="Google Shape;461;g3a2a2b3daf0_1_13"/>
                <p:cNvSpPr/>
                <p:nvPr/>
              </p:nvSpPr>
              <p:spPr>
                <a:xfrm>
                  <a:off x="3870079" y="3689490"/>
                  <a:ext cx="699900" cy="7494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47B27D"/>
                </a:solidFill>
                <a:ln cap="flat" cmpd="sng" w="25400">
                  <a:solidFill>
                    <a:srgbClr val="47B27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" name="Google Shape;462;g3a2a2b3daf0_1_13"/>
                <p:cNvSpPr txBox="1"/>
                <p:nvPr/>
              </p:nvSpPr>
              <p:spPr>
                <a:xfrm>
                  <a:off x="4599583" y="3731815"/>
                  <a:ext cx="3508200" cy="67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It facilitates trust between researchers 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463" name="Google Shape;463;g3a2a2b3daf0_1_13"/>
                <p:cNvSpPr txBox="1"/>
                <p:nvPr/>
              </p:nvSpPr>
              <p:spPr>
                <a:xfrm>
                  <a:off x="4082229" y="3833364"/>
                  <a:ext cx="2757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1" i="0" lang="en-US" sz="1800" u="none" cap="none" strike="noStrike">
                      <a:solidFill>
                        <a:schemeClr val="lt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3</a:t>
                  </a:r>
                  <a:endParaRPr b="1" i="0" sz="1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grpSp>
            <p:nvGrpSpPr>
              <p:cNvPr id="464" name="Google Shape;464;g3a2a2b3daf0_1_13"/>
              <p:cNvGrpSpPr/>
              <p:nvPr/>
            </p:nvGrpSpPr>
            <p:grpSpPr>
              <a:xfrm>
                <a:off x="4255677" y="4751971"/>
                <a:ext cx="4380300" cy="749400"/>
                <a:chOff x="3916746" y="4751971"/>
                <a:chExt cx="4380300" cy="749400"/>
              </a:xfrm>
            </p:grpSpPr>
            <p:sp>
              <p:nvSpPr>
                <p:cNvPr id="465" name="Google Shape;465;g3a2a2b3daf0_1_13"/>
                <p:cNvSpPr/>
                <p:nvPr/>
              </p:nvSpPr>
              <p:spPr>
                <a:xfrm>
                  <a:off x="4061543" y="4751971"/>
                  <a:ext cx="4213800" cy="749400"/>
                </a:xfrm>
                <a:prstGeom prst="rect">
                  <a:avLst/>
                </a:prstGeom>
                <a:solidFill>
                  <a:srgbClr val="8DD2AF"/>
                </a:solidFill>
                <a:ln cap="flat" cmpd="sng" w="25400">
                  <a:solidFill>
                    <a:srgbClr val="8DD2A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6" name="Google Shape;466;g3a2a2b3daf0_1_13"/>
                <p:cNvSpPr/>
                <p:nvPr/>
              </p:nvSpPr>
              <p:spPr>
                <a:xfrm>
                  <a:off x="3916746" y="4751971"/>
                  <a:ext cx="699900" cy="7494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47B27D"/>
                </a:solidFill>
                <a:ln cap="flat" cmpd="sng" w="25400">
                  <a:solidFill>
                    <a:srgbClr val="47B27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7" name="Google Shape;467;g3a2a2b3daf0_1_13"/>
                <p:cNvSpPr txBox="1"/>
                <p:nvPr/>
              </p:nvSpPr>
              <p:spPr>
                <a:xfrm>
                  <a:off x="4640346" y="4788156"/>
                  <a:ext cx="3656700" cy="67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It promotes trust in data and research expertise 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468" name="Google Shape;468;g3a2a2b3daf0_1_13"/>
                <p:cNvSpPr txBox="1"/>
                <p:nvPr/>
              </p:nvSpPr>
              <p:spPr>
                <a:xfrm>
                  <a:off x="4128896" y="4895845"/>
                  <a:ext cx="2757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1" i="0" lang="en-US" sz="1800" u="none" cap="none" strike="noStrike">
                      <a:solidFill>
                        <a:schemeClr val="lt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4</a:t>
                  </a:r>
                  <a:endParaRPr b="1" i="0" sz="1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a2a2b3daf0_1_44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Why is research integrity important for you?</a:t>
            </a:r>
            <a:endParaRPr b="1" sz="2400"/>
          </a:p>
        </p:txBody>
      </p:sp>
      <p:grpSp>
        <p:nvGrpSpPr>
          <p:cNvPr id="474" name="Google Shape;474;g3a2a2b3daf0_1_44"/>
          <p:cNvGrpSpPr/>
          <p:nvPr/>
        </p:nvGrpSpPr>
        <p:grpSpPr>
          <a:xfrm>
            <a:off x="141370" y="725547"/>
            <a:ext cx="8845200" cy="2640526"/>
            <a:chOff x="141370" y="725547"/>
            <a:chExt cx="8845200" cy="2640526"/>
          </a:xfrm>
        </p:grpSpPr>
        <p:sp>
          <p:nvSpPr>
            <p:cNvPr id="475" name="Google Shape;475;g3a2a2b3daf0_1_44"/>
            <p:cNvSpPr/>
            <p:nvPr/>
          </p:nvSpPr>
          <p:spPr>
            <a:xfrm>
              <a:off x="141370" y="842884"/>
              <a:ext cx="8845200" cy="24480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76" name="Google Shape;476;g3a2a2b3daf0_1_44"/>
            <p:cNvPicPr preferRelativeResize="0"/>
            <p:nvPr/>
          </p:nvPicPr>
          <p:blipFill rotWithShape="1">
            <a:blip r:embed="rId3">
              <a:alphaModFix/>
            </a:blip>
            <a:srcRect b="32646" l="0" r="70475" t="23443"/>
            <a:stretch/>
          </p:blipFill>
          <p:spPr>
            <a:xfrm rot="10800000">
              <a:off x="1201381" y="876701"/>
              <a:ext cx="2974094" cy="2419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7" name="Google Shape;477;g3a2a2b3daf0_1_4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736812" y="725547"/>
              <a:ext cx="1650913" cy="2640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g3a2a2b3daf0_1_44"/>
            <p:cNvSpPr txBox="1"/>
            <p:nvPr/>
          </p:nvSpPr>
          <p:spPr>
            <a:xfrm>
              <a:off x="1675981" y="1475455"/>
              <a:ext cx="2216700" cy="147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 research            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        practices that you learn will influence how   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 you conduct and use research - 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now and in the future! </a:t>
              </a:r>
              <a:endParaRPr b="1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79" name="Google Shape;479;g3a2a2b3daf0_1_44"/>
          <p:cNvGrpSpPr/>
          <p:nvPr/>
        </p:nvGrpSpPr>
        <p:grpSpPr>
          <a:xfrm>
            <a:off x="5090289" y="538387"/>
            <a:ext cx="3283508" cy="2791650"/>
            <a:chOff x="5090289" y="538387"/>
            <a:chExt cx="3283508" cy="2791650"/>
          </a:xfrm>
        </p:grpSpPr>
        <p:pic>
          <p:nvPicPr>
            <p:cNvPr id="480" name="Google Shape;480;g3a2a2b3daf0_1_44"/>
            <p:cNvPicPr preferRelativeResize="0"/>
            <p:nvPr/>
          </p:nvPicPr>
          <p:blipFill rotWithShape="1">
            <a:blip r:embed="rId5">
              <a:alphaModFix/>
            </a:blip>
            <a:srcRect b="0" l="6716" r="0" t="0"/>
            <a:stretch/>
          </p:blipFill>
          <p:spPr>
            <a:xfrm flipH="1">
              <a:off x="7291508" y="837867"/>
              <a:ext cx="1082289" cy="24921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1" name="Google Shape;481;g3a2a2b3daf0_1_44"/>
            <p:cNvPicPr preferRelativeResize="0"/>
            <p:nvPr/>
          </p:nvPicPr>
          <p:blipFill rotWithShape="1">
            <a:blip r:embed="rId3">
              <a:alphaModFix/>
            </a:blip>
            <a:srcRect b="32646" l="0" r="70475" t="23443"/>
            <a:stretch/>
          </p:blipFill>
          <p:spPr>
            <a:xfrm rot="-4209789">
              <a:off x="5494932" y="728183"/>
              <a:ext cx="1988785" cy="22571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2" name="Google Shape;482;g3a2a2b3daf0_1_44"/>
            <p:cNvSpPr txBox="1"/>
            <p:nvPr/>
          </p:nvSpPr>
          <p:spPr>
            <a:xfrm>
              <a:off x="5557073" y="1223083"/>
              <a:ext cx="15684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So as a research student, you should focus on building your skills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3" name="Google Shape;483;g3a2a2b3daf0_1_44"/>
          <p:cNvGrpSpPr/>
          <p:nvPr/>
        </p:nvGrpSpPr>
        <p:grpSpPr>
          <a:xfrm>
            <a:off x="141371" y="2605244"/>
            <a:ext cx="8845200" cy="3545600"/>
            <a:chOff x="141371" y="2605244"/>
            <a:chExt cx="8845200" cy="3545600"/>
          </a:xfrm>
        </p:grpSpPr>
        <p:sp>
          <p:nvSpPr>
            <p:cNvPr id="484" name="Google Shape;484;g3a2a2b3daf0_1_44"/>
            <p:cNvSpPr/>
            <p:nvPr/>
          </p:nvSpPr>
          <p:spPr>
            <a:xfrm>
              <a:off x="141371" y="3374327"/>
              <a:ext cx="8845200" cy="24480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5" name="Google Shape;485;g3a2a2b3daf0_1_44"/>
            <p:cNvPicPr preferRelativeResize="0"/>
            <p:nvPr/>
          </p:nvPicPr>
          <p:blipFill rotWithShape="1">
            <a:blip r:embed="rId3">
              <a:alphaModFix/>
            </a:blip>
            <a:srcRect b="32646" l="0" r="71266" t="23443"/>
            <a:stretch/>
          </p:blipFill>
          <p:spPr>
            <a:xfrm rot="9143622">
              <a:off x="1013308" y="3109882"/>
              <a:ext cx="2801141" cy="25363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6" name="Google Shape;486;g3a2a2b3daf0_1_44"/>
            <p:cNvPicPr preferRelativeResize="0"/>
            <p:nvPr/>
          </p:nvPicPr>
          <p:blipFill rotWithShape="1">
            <a:blip r:embed="rId6">
              <a:alphaModFix/>
            </a:blip>
            <a:srcRect b="7244" l="5087" r="0" t="0"/>
            <a:stretch/>
          </p:blipFill>
          <p:spPr>
            <a:xfrm>
              <a:off x="156678" y="3429000"/>
              <a:ext cx="1416629" cy="24015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7" name="Google Shape;487;g3a2a2b3daf0_1_44"/>
            <p:cNvSpPr txBox="1"/>
            <p:nvPr/>
          </p:nvSpPr>
          <p:spPr>
            <a:xfrm>
              <a:off x="1298539" y="3800317"/>
              <a:ext cx="2309700" cy="16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Skills like academic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 honesty, including learning to cite sources completely and accurately, so that you can give    credit where credit               is due 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8" name="Google Shape;488;g3a2a2b3daf0_1_44"/>
          <p:cNvGrpSpPr/>
          <p:nvPr/>
        </p:nvGrpSpPr>
        <p:grpSpPr>
          <a:xfrm>
            <a:off x="3682878" y="2350628"/>
            <a:ext cx="5290610" cy="4092376"/>
            <a:chOff x="3682878" y="2350628"/>
            <a:chExt cx="5290610" cy="4092376"/>
          </a:xfrm>
        </p:grpSpPr>
        <p:pic>
          <p:nvPicPr>
            <p:cNvPr id="489" name="Google Shape;489;g3a2a2b3daf0_1_44"/>
            <p:cNvPicPr preferRelativeResize="0"/>
            <p:nvPr/>
          </p:nvPicPr>
          <p:blipFill rotWithShape="1">
            <a:blip r:embed="rId3">
              <a:alphaModFix/>
            </a:blip>
            <a:srcRect b="32646" l="0" r="70475" t="23443"/>
            <a:stretch/>
          </p:blipFill>
          <p:spPr>
            <a:xfrm flipH="1" rot="-8666988">
              <a:off x="4253346" y="2940654"/>
              <a:ext cx="2963262" cy="2912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0" name="Google Shape;490;g3a2a2b3daf0_1_44"/>
            <p:cNvSpPr txBox="1"/>
            <p:nvPr/>
          </p:nvSpPr>
          <p:spPr>
            <a:xfrm>
              <a:off x="4392170" y="3592469"/>
              <a:ext cx="2291400" cy="19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Or data              interpretation.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By learning best practices for data analysis and reporting in your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   discipline, you can be    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  sure to report your   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      findings accurately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91" name="Google Shape;491;g3a2a2b3daf0_1_4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>
              <a:off x="6876412" y="3468694"/>
              <a:ext cx="2097076" cy="24174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a2a2b3daf0_1_6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Why is research integrity important for you?</a:t>
            </a:r>
            <a:endParaRPr b="1" sz="2400"/>
          </a:p>
        </p:txBody>
      </p:sp>
      <p:sp>
        <p:nvSpPr>
          <p:cNvPr id="497" name="Google Shape;497;g3a2a2b3daf0_1_66"/>
          <p:cNvSpPr txBox="1"/>
          <p:nvPr/>
        </p:nvSpPr>
        <p:spPr>
          <a:xfrm>
            <a:off x="4487125" y="4134025"/>
            <a:ext cx="230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98" name="Google Shape;498;g3a2a2b3daf0_1_66"/>
          <p:cNvGrpSpPr/>
          <p:nvPr/>
        </p:nvGrpSpPr>
        <p:grpSpPr>
          <a:xfrm>
            <a:off x="149374" y="1472400"/>
            <a:ext cx="8845200" cy="3913200"/>
            <a:chOff x="149374" y="1472400"/>
            <a:chExt cx="8845200" cy="3913200"/>
          </a:xfrm>
        </p:grpSpPr>
        <p:sp>
          <p:nvSpPr>
            <p:cNvPr id="499" name="Google Shape;499;g3a2a2b3daf0_1_66"/>
            <p:cNvSpPr/>
            <p:nvPr/>
          </p:nvSpPr>
          <p:spPr>
            <a:xfrm>
              <a:off x="149374" y="1472400"/>
              <a:ext cx="8845200" cy="39132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00" name="Google Shape;500;g3a2a2b3daf0_1_66"/>
            <p:cNvPicPr preferRelativeResize="0"/>
            <p:nvPr/>
          </p:nvPicPr>
          <p:blipFill rotWithShape="1">
            <a:blip r:embed="rId3">
              <a:alphaModFix/>
            </a:blip>
            <a:srcRect b="32646" l="0" r="70475" t="23443"/>
            <a:stretch/>
          </p:blipFill>
          <p:spPr>
            <a:xfrm flipH="1" rot="653566">
              <a:off x="730715" y="1821562"/>
              <a:ext cx="2682006" cy="23434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g3a2a2b3daf0_1_66"/>
            <p:cNvSpPr txBox="1"/>
            <p:nvPr/>
          </p:nvSpPr>
          <p:spPr>
            <a:xfrm>
              <a:off x="1232439" y="2125084"/>
              <a:ext cx="1678500" cy="11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Research integrity can also help you to minimise research waste 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02" name="Google Shape;502;g3a2a2b3daf0_1_66"/>
            <p:cNvPicPr preferRelativeResize="0"/>
            <p:nvPr/>
          </p:nvPicPr>
          <p:blipFill rotWithShape="1">
            <a:blip r:embed="rId4">
              <a:alphaModFix/>
            </a:blip>
            <a:srcRect b="49297" l="35193" r="6" t="0"/>
            <a:stretch/>
          </p:blipFill>
          <p:spPr>
            <a:xfrm>
              <a:off x="197142" y="2729133"/>
              <a:ext cx="1890528" cy="26245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3" name="Google Shape;503;g3a2a2b3daf0_1_66"/>
          <p:cNvGrpSpPr/>
          <p:nvPr/>
        </p:nvGrpSpPr>
        <p:grpSpPr>
          <a:xfrm>
            <a:off x="3319162" y="1444602"/>
            <a:ext cx="5691173" cy="4652701"/>
            <a:chOff x="3319162" y="1444602"/>
            <a:chExt cx="5691173" cy="4652701"/>
          </a:xfrm>
        </p:grpSpPr>
        <p:pic>
          <p:nvPicPr>
            <p:cNvPr id="504" name="Google Shape;504;g3a2a2b3daf0_1_66"/>
            <p:cNvPicPr preferRelativeResize="0"/>
            <p:nvPr/>
          </p:nvPicPr>
          <p:blipFill rotWithShape="1">
            <a:blip r:embed="rId3">
              <a:alphaModFix/>
            </a:blip>
            <a:srcRect b="32646" l="0" r="70475" t="23443"/>
            <a:stretch/>
          </p:blipFill>
          <p:spPr>
            <a:xfrm flipH="1" rot="-8133827">
              <a:off x="3944838" y="2257276"/>
              <a:ext cx="3296943" cy="31340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5" name="Google Shape;505;g3a2a2b3daf0_1_66"/>
            <p:cNvSpPr txBox="1"/>
            <p:nvPr/>
          </p:nvSpPr>
          <p:spPr>
            <a:xfrm>
              <a:off x="4069359" y="2785426"/>
              <a:ext cx="2466000" cy="13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By making                 responsible decisions      about whether research should be done, and how it should be done, you can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06" name="Google Shape;506;g3a2a2b3daf0_1_66"/>
            <p:cNvPicPr preferRelativeResize="0"/>
            <p:nvPr/>
          </p:nvPicPr>
          <p:blipFill rotWithShape="1">
            <a:blip r:embed="rId5">
              <a:alphaModFix/>
            </a:blip>
            <a:srcRect b="45770" l="0" r="19067" t="0"/>
            <a:stretch/>
          </p:blipFill>
          <p:spPr>
            <a:xfrm>
              <a:off x="6233005" y="2853573"/>
              <a:ext cx="2584740" cy="25029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7" name="Google Shape;507;g3a2a2b3daf0_1_66"/>
            <p:cNvSpPr/>
            <p:nvPr/>
          </p:nvSpPr>
          <p:spPr>
            <a:xfrm>
              <a:off x="4416882" y="4229782"/>
              <a:ext cx="2150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minimise waste of time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         and resources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08" name="Google Shape;508;g3a2a2b3daf0_1_6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851751" y="1444602"/>
              <a:ext cx="1158583" cy="12010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oogle Shape;513;g3a2a2b3daf0_1_82"/>
          <p:cNvGrpSpPr/>
          <p:nvPr/>
        </p:nvGrpSpPr>
        <p:grpSpPr>
          <a:xfrm>
            <a:off x="126248" y="1500847"/>
            <a:ext cx="8868326" cy="3913200"/>
            <a:chOff x="126248" y="1500847"/>
            <a:chExt cx="8868326" cy="3913200"/>
          </a:xfrm>
        </p:grpSpPr>
        <p:sp>
          <p:nvSpPr>
            <p:cNvPr id="514" name="Google Shape;514;g3a2a2b3daf0_1_82"/>
            <p:cNvSpPr/>
            <p:nvPr/>
          </p:nvSpPr>
          <p:spPr>
            <a:xfrm>
              <a:off x="149374" y="1500847"/>
              <a:ext cx="8845200" cy="39132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5" name="Google Shape;515;g3a2a2b3daf0_1_82"/>
            <p:cNvGrpSpPr/>
            <p:nvPr/>
          </p:nvGrpSpPr>
          <p:grpSpPr>
            <a:xfrm>
              <a:off x="126248" y="1585162"/>
              <a:ext cx="2669630" cy="3828885"/>
              <a:chOff x="118245" y="3458642"/>
              <a:chExt cx="2669630" cy="3828885"/>
            </a:xfrm>
          </p:grpSpPr>
          <p:pic>
            <p:nvPicPr>
              <p:cNvPr id="516" name="Google Shape;516;g3a2a2b3daf0_1_82"/>
              <p:cNvPicPr preferRelativeResize="0"/>
              <p:nvPr/>
            </p:nvPicPr>
            <p:blipFill rotWithShape="1">
              <a:blip r:embed="rId3">
                <a:alphaModFix/>
              </a:blip>
              <a:srcRect b="32646" l="0" r="70475" t="23443"/>
              <a:stretch/>
            </p:blipFill>
            <p:spPr>
              <a:xfrm flipH="1" rot="-284537">
                <a:off x="211200" y="3557287"/>
                <a:ext cx="2483719" cy="23515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7" name="Google Shape;517;g3a2a2b3daf0_1_82"/>
              <p:cNvPicPr preferRelativeResize="0"/>
              <p:nvPr/>
            </p:nvPicPr>
            <p:blipFill rotWithShape="1">
              <a:blip r:embed="rId4">
                <a:alphaModFix/>
              </a:blip>
              <a:srcRect b="41345" l="31642" r="0" t="0"/>
              <a:stretch/>
            </p:blipFill>
            <p:spPr>
              <a:xfrm>
                <a:off x="185342" y="4973926"/>
                <a:ext cx="1591489" cy="23136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18" name="Google Shape;518;g3a2a2b3daf0_1_82"/>
            <p:cNvSpPr txBox="1"/>
            <p:nvPr/>
          </p:nvSpPr>
          <p:spPr>
            <a:xfrm>
              <a:off x="382022" y="1829301"/>
              <a:ext cx="2171400" cy="16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Wasteful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   behaviours include conducting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unnecessary research on topics that have already been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addressed</a:t>
              </a:r>
              <a:endParaRPr/>
            </a:p>
          </p:txBody>
        </p:sp>
      </p:grpSp>
      <p:sp>
        <p:nvSpPr>
          <p:cNvPr id="519" name="Google Shape;519;g3a2a2b3daf0_1_8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Why is research integrity important for you?</a:t>
            </a:r>
            <a:endParaRPr b="1" sz="2400"/>
          </a:p>
        </p:txBody>
      </p:sp>
      <p:sp>
        <p:nvSpPr>
          <p:cNvPr id="520" name="Google Shape;520;g3a2a2b3daf0_1_82"/>
          <p:cNvSpPr txBox="1"/>
          <p:nvPr/>
        </p:nvSpPr>
        <p:spPr>
          <a:xfrm>
            <a:off x="4487125" y="4134025"/>
            <a:ext cx="230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21" name="Google Shape;521;g3a2a2b3daf0_1_82"/>
          <p:cNvGrpSpPr/>
          <p:nvPr/>
        </p:nvGrpSpPr>
        <p:grpSpPr>
          <a:xfrm>
            <a:off x="6435076" y="1796279"/>
            <a:ext cx="2559550" cy="3619115"/>
            <a:chOff x="6427073" y="3669759"/>
            <a:chExt cx="2559550" cy="3619115"/>
          </a:xfrm>
        </p:grpSpPr>
        <p:pic>
          <p:nvPicPr>
            <p:cNvPr id="522" name="Google Shape;522;g3a2a2b3daf0_1_82"/>
            <p:cNvPicPr preferRelativeResize="0"/>
            <p:nvPr/>
          </p:nvPicPr>
          <p:blipFill rotWithShape="1">
            <a:blip r:embed="rId3">
              <a:alphaModFix/>
            </a:blip>
            <a:srcRect b="32646" l="0" r="70475" t="23443"/>
            <a:stretch/>
          </p:blipFill>
          <p:spPr>
            <a:xfrm rot="205074">
              <a:off x="6489542" y="3736987"/>
              <a:ext cx="2319886" cy="21648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3" name="Google Shape;523;g3a2a2b3daf0_1_82"/>
            <p:cNvSpPr txBox="1"/>
            <p:nvPr/>
          </p:nvSpPr>
          <p:spPr>
            <a:xfrm>
              <a:off x="6807476" y="3918225"/>
              <a:ext cx="1593300" cy="147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Conducting research without being transparent about what you did can also be wasteful 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24" name="Google Shape;524;g3a2a2b3daf0_1_82"/>
            <p:cNvPicPr preferRelativeResize="0"/>
            <p:nvPr/>
          </p:nvPicPr>
          <p:blipFill rotWithShape="1">
            <a:blip r:embed="rId5">
              <a:alphaModFix/>
            </a:blip>
            <a:srcRect b="49297" l="35193" r="6" t="0"/>
            <a:stretch/>
          </p:blipFill>
          <p:spPr>
            <a:xfrm flipH="1">
              <a:off x="7330864" y="4989543"/>
              <a:ext cx="1655759" cy="229933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5" name="Google Shape;525;g3a2a2b3daf0_1_82"/>
          <p:cNvGrpSpPr/>
          <p:nvPr/>
        </p:nvGrpSpPr>
        <p:grpSpPr>
          <a:xfrm>
            <a:off x="2712326" y="1968027"/>
            <a:ext cx="4099900" cy="3465226"/>
            <a:chOff x="2712326" y="1968027"/>
            <a:chExt cx="4099900" cy="3465226"/>
          </a:xfrm>
        </p:grpSpPr>
        <p:pic>
          <p:nvPicPr>
            <p:cNvPr id="526" name="Google Shape;526;g3a2a2b3daf0_1_82"/>
            <p:cNvPicPr preferRelativeResize="0"/>
            <p:nvPr/>
          </p:nvPicPr>
          <p:blipFill rotWithShape="1">
            <a:blip r:embed="rId3">
              <a:alphaModFix/>
            </a:blip>
            <a:srcRect b="32648" l="0" r="70475" t="22962"/>
            <a:stretch/>
          </p:blipFill>
          <p:spPr>
            <a:xfrm flipH="1" rot="2140846">
              <a:off x="3914009" y="2419986"/>
              <a:ext cx="2374083" cy="25613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27" name="Google Shape;527;g3a2a2b3daf0_1_82"/>
            <p:cNvGrpSpPr/>
            <p:nvPr/>
          </p:nvGrpSpPr>
          <p:grpSpPr>
            <a:xfrm>
              <a:off x="2712326" y="2732885"/>
              <a:ext cx="3403203" cy="2628696"/>
              <a:chOff x="2704323" y="4606365"/>
              <a:chExt cx="3403203" cy="2628696"/>
            </a:xfrm>
          </p:grpSpPr>
          <p:pic>
            <p:nvPicPr>
              <p:cNvPr id="528" name="Google Shape;528;g3a2a2b3daf0_1_82"/>
              <p:cNvPicPr preferRelativeResize="0"/>
              <p:nvPr/>
            </p:nvPicPr>
            <p:blipFill rotWithShape="1">
              <a:blip r:embed="rId6">
                <a:alphaModFix/>
              </a:blip>
              <a:srcRect b="52150" l="0" r="0" t="0"/>
              <a:stretch/>
            </p:blipFill>
            <p:spPr>
              <a:xfrm>
                <a:off x="2704323" y="5069828"/>
                <a:ext cx="1586321" cy="216523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9" name="Google Shape;529;g3a2a2b3daf0_1_82"/>
              <p:cNvSpPr txBox="1"/>
              <p:nvPr/>
            </p:nvSpPr>
            <p:spPr>
              <a:xfrm>
                <a:off x="4223226" y="4606365"/>
                <a:ext cx="1884300" cy="169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Not properly designing your study or being careless in your research activities are wasteful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behaviours </a:t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534" name="Google Shape;534;g3a2a2b3daf0_1_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535" name="Google Shape;535;g3a2a2b3daf0_1_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540" name="Google Shape;540;g3a2a2b3daf0_1_324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541" name="Google Shape;541;g3a2a2b3daf0_1_3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g3a2a2b3daf0_1_324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Google Shape;543;g3a2a2b3daf0_1_324"/>
          <p:cNvSpPr txBox="1"/>
          <p:nvPr/>
        </p:nvSpPr>
        <p:spPr>
          <a:xfrm>
            <a:off x="364243" y="2450863"/>
            <a:ext cx="4465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, venn diagram&#10;&#10;Description automatically generated" id="548" name="Google Shape;548;g3a2a2b3daf0_1_3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0980" y="1591200"/>
            <a:ext cx="3675600" cy="367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g3a2a2b3daf0_1_331"/>
          <p:cNvSpPr txBox="1"/>
          <p:nvPr/>
        </p:nvSpPr>
        <p:spPr>
          <a:xfrm>
            <a:off x="2943060" y="1591200"/>
            <a:ext cx="3631500" cy="1577400"/>
          </a:xfrm>
          <a:prstGeom prst="rect">
            <a:avLst/>
          </a:prstGeom>
          <a:noFill/>
          <a:ln>
            <a:noFill/>
          </a:ln>
          <a:effectLst>
            <a:outerShdw blurRad="165100" sx="103000" rotWithShape="0" algn="tl" dir="2700000" dist="38100" sy="103000">
              <a:srgbClr val="000000">
                <a:alpha val="24310"/>
              </a:srgbClr>
            </a:outerShdw>
          </a:effectLst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What practices can compromise research integrity? 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a2a2b3daf0_1_33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What practices can compromise research integrity?</a:t>
            </a:r>
            <a:endParaRPr b="1" sz="2400"/>
          </a:p>
        </p:txBody>
      </p:sp>
      <p:grpSp>
        <p:nvGrpSpPr>
          <p:cNvPr id="555" name="Google Shape;555;g3a2a2b3daf0_1_336"/>
          <p:cNvGrpSpPr/>
          <p:nvPr/>
        </p:nvGrpSpPr>
        <p:grpSpPr>
          <a:xfrm>
            <a:off x="224108" y="1466155"/>
            <a:ext cx="8695784" cy="3925690"/>
            <a:chOff x="-25" y="861895"/>
            <a:chExt cx="8695784" cy="3925690"/>
          </a:xfrm>
        </p:grpSpPr>
        <p:sp>
          <p:nvSpPr>
            <p:cNvPr id="556" name="Google Shape;556;g3a2a2b3daf0_1_336"/>
            <p:cNvSpPr txBox="1"/>
            <p:nvPr/>
          </p:nvSpPr>
          <p:spPr>
            <a:xfrm>
              <a:off x="-25" y="861895"/>
              <a:ext cx="2736000" cy="1645200"/>
            </a:xfrm>
            <a:prstGeom prst="rect">
              <a:avLst/>
            </a:prstGeom>
            <a:solidFill>
              <a:srgbClr val="47B27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Plagiarism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(including self-plagiarism)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7" name="Google Shape;557;g3a2a2b3daf0_1_336"/>
            <p:cNvSpPr txBox="1"/>
            <p:nvPr/>
          </p:nvSpPr>
          <p:spPr>
            <a:xfrm>
              <a:off x="2979867" y="861895"/>
              <a:ext cx="2736000" cy="1641600"/>
            </a:xfrm>
            <a:prstGeom prst="rect">
              <a:avLst/>
            </a:prstGeom>
            <a:solidFill>
              <a:srgbClr val="47B27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Giving or taking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credit for work inappropriately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8" name="Google Shape;558;g3a2a2b3daf0_1_336"/>
            <p:cNvSpPr txBox="1"/>
            <p:nvPr/>
          </p:nvSpPr>
          <p:spPr>
            <a:xfrm>
              <a:off x="5959759" y="861895"/>
              <a:ext cx="2736000" cy="1641600"/>
            </a:xfrm>
            <a:prstGeom prst="rect">
              <a:avLst/>
            </a:prstGeom>
            <a:solidFill>
              <a:srgbClr val="47B27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Fabricating data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9" name="Google Shape;559;g3a2a2b3daf0_1_336"/>
            <p:cNvSpPr txBox="1"/>
            <p:nvPr/>
          </p:nvSpPr>
          <p:spPr>
            <a:xfrm>
              <a:off x="-25" y="3142385"/>
              <a:ext cx="2736000" cy="1645200"/>
            </a:xfrm>
            <a:prstGeom prst="rect">
              <a:avLst/>
            </a:prstGeom>
            <a:solidFill>
              <a:srgbClr val="47B27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Misrepresenting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0" name="Google Shape;560;g3a2a2b3daf0_1_336"/>
            <p:cNvSpPr txBox="1"/>
            <p:nvPr/>
          </p:nvSpPr>
          <p:spPr>
            <a:xfrm>
              <a:off x="2979867" y="3142385"/>
              <a:ext cx="2736000" cy="1645200"/>
            </a:xfrm>
            <a:prstGeom prst="rect">
              <a:avLst/>
            </a:prstGeom>
            <a:solidFill>
              <a:srgbClr val="47B27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Manipulation of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images or other materials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1" name="Google Shape;561;g3a2a2b3daf0_1_336"/>
            <p:cNvSpPr txBox="1"/>
            <p:nvPr/>
          </p:nvSpPr>
          <p:spPr>
            <a:xfrm>
              <a:off x="5959759" y="3142385"/>
              <a:ext cx="2736000" cy="1645200"/>
            </a:xfrm>
            <a:prstGeom prst="rect">
              <a:avLst/>
            </a:prstGeom>
            <a:solidFill>
              <a:srgbClr val="47B27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Undeclared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conflicts of interest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descr="A picture containing background pattern&#10;&#10;Description automatically generated" id="562" name="Google Shape;562;g3a2a2b3daf0_1_3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6452" y="2191061"/>
            <a:ext cx="1533441" cy="9166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 credit card&#10;&#10;Description automatically generated with low confidence" id="563" name="Google Shape;563;g3a2a2b3daf0_1_3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96989" y="4422262"/>
            <a:ext cx="863120" cy="9695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, tool&#10;&#10;Description automatically generated" id="564" name="Google Shape;564;g3a2a2b3daf0_1_3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1894571" y="2085312"/>
            <a:ext cx="1312122" cy="12179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&#10;&#10;Description automatically generated" id="565" name="Google Shape;565;g3a2a2b3daf0_1_3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24457" y="4672918"/>
            <a:ext cx="1038194" cy="7189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ogo&#10;&#10;Description automatically generated" id="566" name="Google Shape;566;g3a2a2b3daf0_1_3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8263" y="4465122"/>
            <a:ext cx="751637" cy="8886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, vector graphics&#10;&#10;Description automatically generated" id="567" name="Google Shape;567;g3a2a2b3daf0_1_336"/>
          <p:cNvPicPr preferRelativeResize="0"/>
          <p:nvPr/>
        </p:nvPicPr>
        <p:blipFill rotWithShape="1">
          <a:blip r:embed="rId8">
            <a:alphaModFix/>
          </a:blip>
          <a:srcRect b="51783" l="17532" r="0" t="0"/>
          <a:stretch/>
        </p:blipFill>
        <p:spPr>
          <a:xfrm flipH="1">
            <a:off x="4440354" y="2202682"/>
            <a:ext cx="1496954" cy="905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a2a2b3daf0_1_35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rgbClr val="121122"/>
                </a:solidFill>
              </a:rPr>
              <a:t>What is plagiarism?</a:t>
            </a:r>
            <a:endParaRPr b="1" sz="2400">
              <a:solidFill>
                <a:srgbClr val="121122"/>
              </a:solidFill>
            </a:endParaRPr>
          </a:p>
        </p:txBody>
      </p:sp>
      <p:grpSp>
        <p:nvGrpSpPr>
          <p:cNvPr id="573" name="Google Shape;573;g3a2a2b3daf0_1_353"/>
          <p:cNvGrpSpPr/>
          <p:nvPr/>
        </p:nvGrpSpPr>
        <p:grpSpPr>
          <a:xfrm>
            <a:off x="150946" y="1424845"/>
            <a:ext cx="3522079" cy="3605700"/>
            <a:chOff x="195772" y="872836"/>
            <a:chExt cx="3522079" cy="3605700"/>
          </a:xfrm>
        </p:grpSpPr>
        <p:sp>
          <p:nvSpPr>
            <p:cNvPr id="574" name="Google Shape;574;g3a2a2b3daf0_1_353"/>
            <p:cNvSpPr/>
            <p:nvPr/>
          </p:nvSpPr>
          <p:spPr>
            <a:xfrm>
              <a:off x="336851" y="872836"/>
              <a:ext cx="3381000" cy="36057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5" name="Google Shape;575;g3a2a2b3daf0_1_353"/>
            <p:cNvGrpSpPr/>
            <p:nvPr/>
          </p:nvGrpSpPr>
          <p:grpSpPr>
            <a:xfrm>
              <a:off x="195772" y="1266667"/>
              <a:ext cx="3419836" cy="3180059"/>
              <a:chOff x="406913" y="1266664"/>
              <a:chExt cx="3419836" cy="3180059"/>
            </a:xfrm>
          </p:grpSpPr>
          <p:pic>
            <p:nvPicPr>
              <p:cNvPr id="576" name="Google Shape;576;g3a2a2b3daf0_1_353"/>
              <p:cNvPicPr preferRelativeResize="0"/>
              <p:nvPr/>
            </p:nvPicPr>
            <p:blipFill rotWithShape="1">
              <a:blip r:embed="rId3">
                <a:alphaModFix/>
              </a:blip>
              <a:srcRect b="36057" l="0" r="0" t="0"/>
              <a:stretch/>
            </p:blipFill>
            <p:spPr>
              <a:xfrm>
                <a:off x="406913" y="2506373"/>
                <a:ext cx="2140050" cy="19403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77" name="Google Shape;577;g3a2a2b3daf0_1_353"/>
              <p:cNvPicPr preferRelativeResize="0"/>
              <p:nvPr/>
            </p:nvPicPr>
            <p:blipFill rotWithShape="1">
              <a:blip r:embed="rId4">
                <a:alphaModFix/>
              </a:blip>
              <a:srcRect b="32646" l="0" r="70475" t="23443"/>
              <a:stretch/>
            </p:blipFill>
            <p:spPr>
              <a:xfrm flipH="1">
                <a:off x="1267178" y="1266664"/>
                <a:ext cx="2559571" cy="218984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78" name="Google Shape;578;g3a2a2b3daf0_1_353"/>
              <p:cNvSpPr txBox="1"/>
              <p:nvPr/>
            </p:nvSpPr>
            <p:spPr>
              <a:xfrm>
                <a:off x="1499875" y="1537411"/>
                <a:ext cx="2139900" cy="12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Plagiarism is the practice of misrepresenting somebody else’s words or ideas as your own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579" name="Google Shape;579;g3a2a2b3daf0_1_353"/>
          <p:cNvGrpSpPr/>
          <p:nvPr/>
        </p:nvGrpSpPr>
        <p:grpSpPr>
          <a:xfrm>
            <a:off x="3165165" y="1424845"/>
            <a:ext cx="5741168" cy="3605700"/>
            <a:chOff x="3165165" y="1424845"/>
            <a:chExt cx="5741168" cy="3605700"/>
          </a:xfrm>
        </p:grpSpPr>
        <p:sp>
          <p:nvSpPr>
            <p:cNvPr id="580" name="Google Shape;580;g3a2a2b3daf0_1_353"/>
            <p:cNvSpPr/>
            <p:nvPr/>
          </p:nvSpPr>
          <p:spPr>
            <a:xfrm>
              <a:off x="3800933" y="1424845"/>
              <a:ext cx="5105400" cy="36057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1" name="Google Shape;581;g3a2a2b3daf0_1_353"/>
            <p:cNvGrpSpPr/>
            <p:nvPr/>
          </p:nvGrpSpPr>
          <p:grpSpPr>
            <a:xfrm>
              <a:off x="3165165" y="1435818"/>
              <a:ext cx="3637022" cy="3562917"/>
              <a:chOff x="3114163" y="862822"/>
              <a:chExt cx="3637022" cy="3562917"/>
            </a:xfrm>
          </p:grpSpPr>
          <p:pic>
            <p:nvPicPr>
              <p:cNvPr id="582" name="Google Shape;582;g3a2a2b3daf0_1_353"/>
              <p:cNvPicPr preferRelativeResize="0"/>
              <p:nvPr/>
            </p:nvPicPr>
            <p:blipFill rotWithShape="1">
              <a:blip r:embed="rId4">
                <a:alphaModFix/>
              </a:blip>
              <a:srcRect b="32646" l="0" r="70475" t="23443"/>
              <a:stretch/>
            </p:blipFill>
            <p:spPr>
              <a:xfrm flipH="1">
                <a:off x="4335609" y="862822"/>
                <a:ext cx="2415576" cy="22945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3" name="Google Shape;583;g3a2a2b3daf0_1_353"/>
              <p:cNvSpPr txBox="1"/>
              <p:nvPr/>
            </p:nvSpPr>
            <p:spPr>
              <a:xfrm>
                <a:off x="4573852" y="1273070"/>
                <a:ext cx="1975800" cy="12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is also possible to self-plagiarise. This happens when an author passes off old work as new 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584" name="Google Shape;584;g3a2a2b3daf0_1_353"/>
              <p:cNvPicPr preferRelativeResize="0"/>
              <p:nvPr/>
            </p:nvPicPr>
            <p:blipFill rotWithShape="1">
              <a:blip r:embed="rId5">
                <a:alphaModFix/>
              </a:blip>
              <a:srcRect b="45770" l="0" r="0" t="0"/>
              <a:stretch/>
            </p:blipFill>
            <p:spPr>
              <a:xfrm flipH="1">
                <a:off x="3114163" y="2278688"/>
                <a:ext cx="2836299" cy="21470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585" name="Google Shape;585;g3a2a2b3daf0_1_353"/>
          <p:cNvGrpSpPr/>
          <p:nvPr/>
        </p:nvGrpSpPr>
        <p:grpSpPr>
          <a:xfrm>
            <a:off x="6650725" y="1280923"/>
            <a:ext cx="2342330" cy="3707364"/>
            <a:chOff x="6513304" y="722769"/>
            <a:chExt cx="2342330" cy="3707364"/>
          </a:xfrm>
        </p:grpSpPr>
        <p:pic>
          <p:nvPicPr>
            <p:cNvPr id="586" name="Google Shape;586;g3a2a2b3daf0_1_353"/>
            <p:cNvPicPr preferRelativeResize="0"/>
            <p:nvPr/>
          </p:nvPicPr>
          <p:blipFill rotWithShape="1">
            <a:blip r:embed="rId6">
              <a:alphaModFix/>
            </a:blip>
            <a:srcRect b="2699" l="60" r="-59" t="-2700"/>
            <a:stretch/>
          </p:blipFill>
          <p:spPr>
            <a:xfrm>
              <a:off x="7186799" y="2489783"/>
              <a:ext cx="1668834" cy="1940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7" name="Google Shape;587;g3a2a2b3daf0_1_353"/>
            <p:cNvPicPr preferRelativeResize="0"/>
            <p:nvPr/>
          </p:nvPicPr>
          <p:blipFill rotWithShape="1">
            <a:blip r:embed="rId4">
              <a:alphaModFix/>
            </a:blip>
            <a:srcRect b="32646" l="0" r="70475" t="23443"/>
            <a:stretch/>
          </p:blipFill>
          <p:spPr>
            <a:xfrm rot="481696">
              <a:off x="6655241" y="850098"/>
              <a:ext cx="1975757" cy="21712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8" name="Google Shape;588;g3a2a2b3daf0_1_353"/>
            <p:cNvSpPr/>
            <p:nvPr/>
          </p:nvSpPr>
          <p:spPr>
            <a:xfrm>
              <a:off x="6738212" y="1277917"/>
              <a:ext cx="18273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For example, by submitting one paper for credit in two separate modules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a2a2b3daf0_1_37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rgbClr val="121122"/>
                </a:solidFill>
              </a:rPr>
              <a:t>Avoiding Plagiarism</a:t>
            </a:r>
            <a:endParaRPr b="1" sz="2400">
              <a:solidFill>
                <a:srgbClr val="121122"/>
              </a:solidFill>
            </a:endParaRPr>
          </a:p>
        </p:txBody>
      </p:sp>
      <p:grpSp>
        <p:nvGrpSpPr>
          <p:cNvPr id="594" name="Google Shape;594;g3a2a2b3daf0_1_373"/>
          <p:cNvGrpSpPr/>
          <p:nvPr/>
        </p:nvGrpSpPr>
        <p:grpSpPr>
          <a:xfrm>
            <a:off x="636970" y="1265584"/>
            <a:ext cx="8072796" cy="3921764"/>
            <a:chOff x="636970" y="1524892"/>
            <a:chExt cx="8072796" cy="3921764"/>
          </a:xfrm>
        </p:grpSpPr>
        <p:grpSp>
          <p:nvGrpSpPr>
            <p:cNvPr id="595" name="Google Shape;595;g3a2a2b3daf0_1_373"/>
            <p:cNvGrpSpPr/>
            <p:nvPr/>
          </p:nvGrpSpPr>
          <p:grpSpPr>
            <a:xfrm>
              <a:off x="636970" y="2108738"/>
              <a:ext cx="3156600" cy="2640524"/>
              <a:chOff x="67775" y="2108738"/>
              <a:chExt cx="3156600" cy="2640524"/>
            </a:xfrm>
          </p:grpSpPr>
          <p:pic>
            <p:nvPicPr>
              <p:cNvPr id="596" name="Google Shape;596;g3a2a2b3daf0_1_373"/>
              <p:cNvPicPr preferRelativeResize="0"/>
              <p:nvPr/>
            </p:nvPicPr>
            <p:blipFill rotWithShape="1">
              <a:blip r:embed="rId3">
                <a:alphaModFix/>
              </a:blip>
              <a:srcRect b="32646" l="0" r="70475" t="23443"/>
              <a:stretch/>
            </p:blipFill>
            <p:spPr>
              <a:xfrm flipH="1">
                <a:off x="67775" y="2108738"/>
                <a:ext cx="3156600" cy="264052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7" name="Google Shape;597;g3a2a2b3daf0_1_373"/>
              <p:cNvSpPr txBox="1"/>
              <p:nvPr/>
            </p:nvSpPr>
            <p:spPr>
              <a:xfrm>
                <a:off x="322690" y="2641232"/>
                <a:ext cx="2595900" cy="9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How do you avoid plagiarism?</a:t>
                </a:r>
                <a:endParaRPr b="0" i="0" sz="2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598" name="Google Shape;598;g3a2a2b3daf0_1_373"/>
            <p:cNvGrpSpPr/>
            <p:nvPr/>
          </p:nvGrpSpPr>
          <p:grpSpPr>
            <a:xfrm>
              <a:off x="4107180" y="1524892"/>
              <a:ext cx="4602586" cy="3921764"/>
              <a:chOff x="4236127" y="1693205"/>
              <a:chExt cx="4602586" cy="3921764"/>
            </a:xfrm>
          </p:grpSpPr>
          <p:grpSp>
            <p:nvGrpSpPr>
              <p:cNvPr id="599" name="Google Shape;599;g3a2a2b3daf0_1_373"/>
              <p:cNvGrpSpPr/>
              <p:nvPr/>
            </p:nvGrpSpPr>
            <p:grpSpPr>
              <a:xfrm>
                <a:off x="4236127" y="1693205"/>
                <a:ext cx="4602400" cy="802501"/>
                <a:chOff x="3826029" y="1693205"/>
                <a:chExt cx="4602400" cy="802501"/>
              </a:xfrm>
            </p:grpSpPr>
            <p:grpSp>
              <p:nvGrpSpPr>
                <p:cNvPr id="600" name="Google Shape;600;g3a2a2b3daf0_1_373"/>
                <p:cNvGrpSpPr/>
                <p:nvPr/>
              </p:nvGrpSpPr>
              <p:grpSpPr>
                <a:xfrm>
                  <a:off x="4057729" y="1693205"/>
                  <a:ext cx="4370700" cy="802500"/>
                  <a:chOff x="4057729" y="1693205"/>
                  <a:chExt cx="4370700" cy="802500"/>
                </a:xfrm>
              </p:grpSpPr>
              <p:sp>
                <p:nvSpPr>
                  <p:cNvPr id="601" name="Google Shape;601;g3a2a2b3daf0_1_373"/>
                  <p:cNvSpPr/>
                  <p:nvPr/>
                </p:nvSpPr>
                <p:spPr>
                  <a:xfrm>
                    <a:off x="4057729" y="1693205"/>
                    <a:ext cx="4370700" cy="802500"/>
                  </a:xfrm>
                  <a:prstGeom prst="rect">
                    <a:avLst/>
                  </a:prstGeom>
                  <a:solidFill>
                    <a:srgbClr val="8DD2AF"/>
                  </a:solidFill>
                  <a:ln cap="flat" cmpd="sng" w="25400">
                    <a:solidFill>
                      <a:srgbClr val="8DD2A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2" name="Google Shape;602;g3a2a2b3daf0_1_373"/>
                  <p:cNvSpPr txBox="1"/>
                  <p:nvPr/>
                </p:nvSpPr>
                <p:spPr>
                  <a:xfrm>
                    <a:off x="4575083" y="1735531"/>
                    <a:ext cx="3508200" cy="677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rPr b="1" i="0" lang="en-US" sz="1600" u="sng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Always</a:t>
                    </a:r>
                    <a:r>
                      <a:rPr b="0" i="0" lang="en-US" sz="16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 acknowledge the work and contributions of other people</a:t>
                    </a:r>
                    <a:endParaRPr b="0" i="0" sz="1600" u="none" cap="none" strike="noStrike">
                      <a:solidFill>
                        <a:srgbClr val="000000"/>
                      </a:solidFill>
                      <a:highlight>
                        <a:srgbClr val="CFEFFA"/>
                      </a:highlight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p:grpSp>
            <p:grpSp>
              <p:nvGrpSpPr>
                <p:cNvPr id="603" name="Google Shape;603;g3a2a2b3daf0_1_373"/>
                <p:cNvGrpSpPr/>
                <p:nvPr/>
              </p:nvGrpSpPr>
              <p:grpSpPr>
                <a:xfrm>
                  <a:off x="3826029" y="1693206"/>
                  <a:ext cx="719700" cy="802500"/>
                  <a:chOff x="3826029" y="1693206"/>
                  <a:chExt cx="719700" cy="802500"/>
                </a:xfrm>
              </p:grpSpPr>
              <p:sp>
                <p:nvSpPr>
                  <p:cNvPr id="604" name="Google Shape;604;g3a2a2b3daf0_1_373"/>
                  <p:cNvSpPr/>
                  <p:nvPr/>
                </p:nvSpPr>
                <p:spPr>
                  <a:xfrm>
                    <a:off x="3826029" y="1693206"/>
                    <a:ext cx="719700" cy="802500"/>
                  </a:xfrm>
                  <a:prstGeom prst="roundRect">
                    <a:avLst>
                      <a:gd fmla="val 16667" name="adj"/>
                    </a:avLst>
                  </a:prstGeom>
                  <a:solidFill>
                    <a:srgbClr val="47B27D"/>
                  </a:solidFill>
                  <a:ln cap="flat" cmpd="sng" w="25400">
                    <a:solidFill>
                      <a:srgbClr val="47B27D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5" name="Google Shape;605;g3a2a2b3daf0_1_373"/>
                  <p:cNvSpPr txBox="1"/>
                  <p:nvPr/>
                </p:nvSpPr>
                <p:spPr>
                  <a:xfrm>
                    <a:off x="4057729" y="1837080"/>
                    <a:ext cx="275700" cy="461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1" i="0" lang="en-US" sz="1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1</a:t>
                    </a:r>
                    <a:endParaRPr b="1" i="0" sz="1800" u="none" cap="none" strike="noStrike">
                      <a:solidFill>
                        <a:schemeClr val="lt1"/>
                      </a:solidFill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p:grpSp>
          </p:grpSp>
          <p:grpSp>
            <p:nvGrpSpPr>
              <p:cNvPr id="606" name="Google Shape;606;g3a2a2b3daf0_1_373"/>
              <p:cNvGrpSpPr/>
              <p:nvPr/>
            </p:nvGrpSpPr>
            <p:grpSpPr>
              <a:xfrm>
                <a:off x="4236127" y="2712793"/>
                <a:ext cx="4602454" cy="802501"/>
                <a:chOff x="3897196" y="2634211"/>
                <a:chExt cx="4602454" cy="802501"/>
              </a:xfrm>
            </p:grpSpPr>
            <p:sp>
              <p:nvSpPr>
                <p:cNvPr id="607" name="Google Shape;607;g3a2a2b3daf0_1_373"/>
                <p:cNvSpPr/>
                <p:nvPr/>
              </p:nvSpPr>
              <p:spPr>
                <a:xfrm>
                  <a:off x="4022150" y="2634211"/>
                  <a:ext cx="4477500" cy="802500"/>
                </a:xfrm>
                <a:prstGeom prst="rect">
                  <a:avLst/>
                </a:prstGeom>
                <a:solidFill>
                  <a:srgbClr val="8DD2AF"/>
                </a:solidFill>
                <a:ln cap="flat" cmpd="sng" w="25400">
                  <a:solidFill>
                    <a:srgbClr val="8DD2A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8" name="Google Shape;608;g3a2a2b3daf0_1_373"/>
                <p:cNvSpPr/>
                <p:nvPr/>
              </p:nvSpPr>
              <p:spPr>
                <a:xfrm>
                  <a:off x="3897196" y="2634212"/>
                  <a:ext cx="719700" cy="8025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47B27D"/>
                </a:solidFill>
                <a:ln cap="flat" cmpd="sng" w="25400">
                  <a:solidFill>
                    <a:srgbClr val="47B27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9" name="Google Shape;609;g3a2a2b3daf0_1_373"/>
                <p:cNvSpPr txBox="1"/>
                <p:nvPr/>
              </p:nvSpPr>
              <p:spPr>
                <a:xfrm>
                  <a:off x="4646250" y="2680796"/>
                  <a:ext cx="3696600" cy="67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When paraphrasing or summarising someone elses work, include a citation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610" name="Google Shape;610;g3a2a2b3daf0_1_373"/>
                <p:cNvSpPr txBox="1"/>
                <p:nvPr/>
              </p:nvSpPr>
              <p:spPr>
                <a:xfrm>
                  <a:off x="4128896" y="2778086"/>
                  <a:ext cx="2757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1" i="0" lang="en-US" sz="1800" u="none" cap="none" strike="noStrike">
                      <a:solidFill>
                        <a:schemeClr val="lt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2</a:t>
                  </a:r>
                  <a:endParaRPr b="1" i="0" sz="1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grpSp>
            <p:nvGrpSpPr>
              <p:cNvPr id="611" name="Google Shape;611;g3a2a2b3daf0_1_373"/>
              <p:cNvGrpSpPr/>
              <p:nvPr/>
            </p:nvGrpSpPr>
            <p:grpSpPr>
              <a:xfrm>
                <a:off x="4236127" y="3695489"/>
                <a:ext cx="4602586" cy="923400"/>
                <a:chOff x="3850529" y="3652597"/>
                <a:chExt cx="4602586" cy="923400"/>
              </a:xfrm>
            </p:grpSpPr>
            <p:sp>
              <p:nvSpPr>
                <p:cNvPr id="612" name="Google Shape;612;g3a2a2b3daf0_1_373"/>
                <p:cNvSpPr/>
                <p:nvPr/>
              </p:nvSpPr>
              <p:spPr>
                <a:xfrm>
                  <a:off x="4031115" y="3689489"/>
                  <a:ext cx="4422000" cy="802500"/>
                </a:xfrm>
                <a:prstGeom prst="rect">
                  <a:avLst/>
                </a:prstGeom>
                <a:solidFill>
                  <a:srgbClr val="8DD2AF"/>
                </a:solidFill>
                <a:ln cap="flat" cmpd="sng" w="25400">
                  <a:solidFill>
                    <a:srgbClr val="8DD2A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3" name="Google Shape;613;g3a2a2b3daf0_1_373"/>
                <p:cNvSpPr/>
                <p:nvPr/>
              </p:nvSpPr>
              <p:spPr>
                <a:xfrm>
                  <a:off x="3850529" y="3689490"/>
                  <a:ext cx="719700" cy="8025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47B27D"/>
                </a:solidFill>
                <a:ln cap="flat" cmpd="sng" w="25400">
                  <a:solidFill>
                    <a:srgbClr val="47B27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4" name="Google Shape;614;g3a2a2b3daf0_1_373"/>
                <p:cNvSpPr txBox="1"/>
                <p:nvPr/>
              </p:nvSpPr>
              <p:spPr>
                <a:xfrm>
                  <a:off x="4599584" y="3652597"/>
                  <a:ext cx="3853500" cy="92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If including text from someone elses work verbatim, use quotation marks and include a citation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615" name="Google Shape;615;g3a2a2b3daf0_1_373"/>
                <p:cNvSpPr txBox="1"/>
                <p:nvPr/>
              </p:nvSpPr>
              <p:spPr>
                <a:xfrm>
                  <a:off x="4082229" y="3833364"/>
                  <a:ext cx="2757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1" i="0" lang="en-US" sz="1800" u="none" cap="none" strike="noStrike">
                      <a:solidFill>
                        <a:schemeClr val="lt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3</a:t>
                  </a:r>
                  <a:endParaRPr b="1" i="0" sz="1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grpSp>
            <p:nvGrpSpPr>
              <p:cNvPr id="616" name="Google Shape;616;g3a2a2b3daf0_1_373"/>
              <p:cNvGrpSpPr/>
              <p:nvPr/>
            </p:nvGrpSpPr>
            <p:grpSpPr>
              <a:xfrm>
                <a:off x="4236127" y="4691569"/>
                <a:ext cx="4602400" cy="923400"/>
                <a:chOff x="3897196" y="4691569"/>
                <a:chExt cx="4602400" cy="923400"/>
              </a:xfrm>
            </p:grpSpPr>
            <p:sp>
              <p:nvSpPr>
                <p:cNvPr id="617" name="Google Shape;617;g3a2a2b3daf0_1_373"/>
                <p:cNvSpPr/>
                <p:nvPr/>
              </p:nvSpPr>
              <p:spPr>
                <a:xfrm>
                  <a:off x="4128896" y="4751970"/>
                  <a:ext cx="4370700" cy="802500"/>
                </a:xfrm>
                <a:prstGeom prst="rect">
                  <a:avLst/>
                </a:prstGeom>
                <a:solidFill>
                  <a:srgbClr val="8DD2AF"/>
                </a:solidFill>
                <a:ln cap="flat" cmpd="sng" w="25400">
                  <a:solidFill>
                    <a:srgbClr val="8DD2A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8" name="Google Shape;618;g3a2a2b3daf0_1_373"/>
                <p:cNvSpPr/>
                <p:nvPr/>
              </p:nvSpPr>
              <p:spPr>
                <a:xfrm>
                  <a:off x="3897196" y="4751971"/>
                  <a:ext cx="719700" cy="8025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47B27D"/>
                </a:solidFill>
                <a:ln cap="flat" cmpd="sng" w="25400">
                  <a:solidFill>
                    <a:srgbClr val="47B27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9" name="Google Shape;619;g3a2a2b3daf0_1_373"/>
                <p:cNvSpPr txBox="1"/>
                <p:nvPr/>
              </p:nvSpPr>
              <p:spPr>
                <a:xfrm>
                  <a:off x="4646250" y="4691569"/>
                  <a:ext cx="3656700" cy="92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Cite primary sources of information, rather than secondary or tertiary sources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620" name="Google Shape;620;g3a2a2b3daf0_1_373"/>
                <p:cNvSpPr txBox="1"/>
                <p:nvPr/>
              </p:nvSpPr>
              <p:spPr>
                <a:xfrm>
                  <a:off x="4128896" y="4895845"/>
                  <a:ext cx="2757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1" i="0" lang="en-US" sz="1800" u="none" cap="none" strike="noStrike">
                      <a:solidFill>
                        <a:schemeClr val="lt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4</a:t>
                  </a:r>
                  <a:endParaRPr b="1" i="0" sz="1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</p:grpSp>
      </p:grpSp>
      <p:pic>
        <p:nvPicPr>
          <p:cNvPr descr="Logo&#10;&#10;Description automatically generated" id="621" name="Google Shape;621;g3a2a2b3daf0_1_373"/>
          <p:cNvPicPr preferRelativeResize="0"/>
          <p:nvPr/>
        </p:nvPicPr>
        <p:blipFill rotWithShape="1">
          <a:blip r:embed="rId4">
            <a:alphaModFix/>
          </a:blip>
          <a:srcRect b="32971" l="0" r="0" t="0"/>
          <a:stretch/>
        </p:blipFill>
        <p:spPr>
          <a:xfrm flipH="1">
            <a:off x="-344092" y="3684896"/>
            <a:ext cx="3063354" cy="2384627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g3a2a2b3daf0_1_373"/>
          <p:cNvSpPr txBox="1"/>
          <p:nvPr/>
        </p:nvSpPr>
        <p:spPr>
          <a:xfrm>
            <a:off x="5769819" y="5669445"/>
            <a:ext cx="3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Adapted from </a:t>
            </a:r>
            <a:r>
              <a:rPr b="0" i="0" lang="en-US" sz="14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ori.hhs.gov/plagiarism-0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a2a2b3daf0_1_40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rgbClr val="121122"/>
                </a:solidFill>
              </a:rPr>
              <a:t>Avoiding Plagiarism</a:t>
            </a:r>
            <a:endParaRPr b="1" sz="2400">
              <a:solidFill>
                <a:srgbClr val="121122"/>
              </a:solidFill>
            </a:endParaRPr>
          </a:p>
        </p:txBody>
      </p:sp>
      <p:pic>
        <p:nvPicPr>
          <p:cNvPr id="628" name="Google Shape;628;g3a2a2b3daf0_1_406"/>
          <p:cNvPicPr preferRelativeResize="0"/>
          <p:nvPr/>
        </p:nvPicPr>
        <p:blipFill rotWithShape="1">
          <a:blip r:embed="rId3">
            <a:alphaModFix/>
          </a:blip>
          <a:srcRect b="32646" l="0" r="70475" t="23443"/>
          <a:stretch/>
        </p:blipFill>
        <p:spPr>
          <a:xfrm flipH="1">
            <a:off x="940012" y="642005"/>
            <a:ext cx="3576802" cy="29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g3a2a2b3daf0_1_406"/>
          <p:cNvSpPr txBox="1"/>
          <p:nvPr>
            <p:ph idx="1" type="body"/>
          </p:nvPr>
        </p:nvSpPr>
        <p:spPr>
          <a:xfrm flipH="1">
            <a:off x="1291012" y="1039628"/>
            <a:ext cx="28191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rgbClr val="000000"/>
                </a:solidFill>
              </a:rPr>
              <a:t>Your university will have resources to help you avoid plagiarism too.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9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rgbClr val="000000"/>
                </a:solidFill>
              </a:rPr>
              <a:t>In UCC, for example, a Citing, Referencing and Plagiarism course is available </a:t>
            </a:r>
            <a:r>
              <a:rPr lang="en-US" sz="1400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630" name="Google Shape;630;g3a2a2b3daf0_1_4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9764" y="2015381"/>
            <a:ext cx="2082451" cy="42924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1" name="Google Shape;631;g3a2a2b3daf0_1_406"/>
          <p:cNvGrpSpPr/>
          <p:nvPr/>
        </p:nvGrpSpPr>
        <p:grpSpPr>
          <a:xfrm>
            <a:off x="3959136" y="1725437"/>
            <a:ext cx="5259288" cy="4292452"/>
            <a:chOff x="3959136" y="1725437"/>
            <a:chExt cx="5259288" cy="4292452"/>
          </a:xfrm>
        </p:grpSpPr>
        <p:grpSp>
          <p:nvGrpSpPr>
            <p:cNvPr id="632" name="Google Shape;632;g3a2a2b3daf0_1_406"/>
            <p:cNvGrpSpPr/>
            <p:nvPr/>
          </p:nvGrpSpPr>
          <p:grpSpPr>
            <a:xfrm>
              <a:off x="3959136" y="1725437"/>
              <a:ext cx="5259288" cy="4292452"/>
              <a:chOff x="3959136" y="1725437"/>
              <a:chExt cx="5259288" cy="4292452"/>
            </a:xfrm>
          </p:grpSpPr>
          <p:pic>
            <p:nvPicPr>
              <p:cNvPr descr="A picture containing text, vector graphics&#10;&#10;Description automatically generated" id="633" name="Google Shape;633;g3a2a2b3daf0_1_40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6487551" y="1725437"/>
                <a:ext cx="2730874" cy="429245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34" name="Google Shape;634;g3a2a2b3daf0_1_406"/>
              <p:cNvPicPr preferRelativeResize="0"/>
              <p:nvPr/>
            </p:nvPicPr>
            <p:blipFill rotWithShape="1">
              <a:blip r:embed="rId3">
                <a:alphaModFix/>
              </a:blip>
              <a:srcRect b="32646" l="0" r="70475" t="23443"/>
              <a:stretch/>
            </p:blipFill>
            <p:spPr>
              <a:xfrm flipH="1" rot="-10447381">
                <a:off x="4110112" y="2375649"/>
                <a:ext cx="3683884" cy="313804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35" name="Google Shape;635;g3a2a2b3daf0_1_406"/>
            <p:cNvSpPr txBox="1"/>
            <p:nvPr/>
          </p:nvSpPr>
          <p:spPr>
            <a:xfrm flipH="1">
              <a:off x="4627076" y="3261671"/>
              <a:ext cx="2511300" cy="7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And check out this video on </a:t>
              </a:r>
              <a:r>
                <a:rPr b="0" i="0" lang="en-US" sz="1400" u="sng" cap="none" strike="noStrike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how to cite sources</a:t>
              </a:r>
              <a:endParaRPr b="0" i="0" sz="1400" u="none" cap="none" strike="noStrik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And this one on </a:t>
              </a:r>
              <a:r>
                <a:rPr b="0" i="0" lang="en-US" sz="1400" u="sng" cap="none" strike="noStrike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  <a:hlinkClick r:id="rId8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examples of plagiarism</a:t>
              </a:r>
              <a:endParaRPr b="0" i="0" sz="1400" u="none" cap="none" strike="noStrik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They are short but very useful!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a2a2b3daf0_1_41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Giving or Taking Credit for Work Inappropriately</a:t>
            </a:r>
            <a:endParaRPr b="1" sz="2400"/>
          </a:p>
        </p:txBody>
      </p:sp>
      <p:sp>
        <p:nvSpPr>
          <p:cNvPr id="641" name="Google Shape;641;g3a2a2b3daf0_1_418"/>
          <p:cNvSpPr txBox="1"/>
          <p:nvPr/>
        </p:nvSpPr>
        <p:spPr>
          <a:xfrm>
            <a:off x="4487125" y="4134025"/>
            <a:ext cx="230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42" name="Google Shape;642;g3a2a2b3daf0_1_418"/>
          <p:cNvGrpSpPr/>
          <p:nvPr/>
        </p:nvGrpSpPr>
        <p:grpSpPr>
          <a:xfrm>
            <a:off x="-400391" y="1500847"/>
            <a:ext cx="9394965" cy="3913200"/>
            <a:chOff x="-400391" y="1500847"/>
            <a:chExt cx="9394965" cy="3913200"/>
          </a:xfrm>
        </p:grpSpPr>
        <p:sp>
          <p:nvSpPr>
            <p:cNvPr id="643" name="Google Shape;643;g3a2a2b3daf0_1_418"/>
            <p:cNvSpPr/>
            <p:nvPr/>
          </p:nvSpPr>
          <p:spPr>
            <a:xfrm>
              <a:off x="149374" y="1500847"/>
              <a:ext cx="8845200" cy="39132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44" name="Google Shape;644;g3a2a2b3daf0_1_418"/>
            <p:cNvPicPr preferRelativeResize="0"/>
            <p:nvPr/>
          </p:nvPicPr>
          <p:blipFill rotWithShape="1">
            <a:blip r:embed="rId3">
              <a:alphaModFix/>
            </a:blip>
            <a:srcRect b="43712" l="0" r="0" t="0"/>
            <a:stretch/>
          </p:blipFill>
          <p:spPr>
            <a:xfrm>
              <a:off x="-400391" y="3149539"/>
              <a:ext cx="2766600" cy="2258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5" name="Google Shape;645;g3a2a2b3daf0_1_418"/>
            <p:cNvPicPr preferRelativeResize="0"/>
            <p:nvPr/>
          </p:nvPicPr>
          <p:blipFill rotWithShape="1">
            <a:blip r:embed="rId4">
              <a:alphaModFix/>
            </a:blip>
            <a:srcRect b="32646" l="0" r="70475" t="23443"/>
            <a:stretch/>
          </p:blipFill>
          <p:spPr>
            <a:xfrm flipH="1">
              <a:off x="529156" y="1589368"/>
              <a:ext cx="2656915" cy="25446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6" name="Google Shape;646;g3a2a2b3daf0_1_418"/>
            <p:cNvSpPr txBox="1"/>
            <p:nvPr/>
          </p:nvSpPr>
          <p:spPr>
            <a:xfrm>
              <a:off x="776726" y="1963536"/>
              <a:ext cx="2242500" cy="13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If someone makes a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meaningful contribution to a research project they should receive credit for their contribution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7" name="Google Shape;647;g3a2a2b3daf0_1_418"/>
          <p:cNvGrpSpPr/>
          <p:nvPr/>
        </p:nvGrpSpPr>
        <p:grpSpPr>
          <a:xfrm>
            <a:off x="1950585" y="2479684"/>
            <a:ext cx="4601288" cy="3485727"/>
            <a:chOff x="1950585" y="2479684"/>
            <a:chExt cx="4601288" cy="3485727"/>
          </a:xfrm>
        </p:grpSpPr>
        <p:pic>
          <p:nvPicPr>
            <p:cNvPr id="648" name="Google Shape;648;g3a2a2b3daf0_1_418"/>
            <p:cNvPicPr preferRelativeResize="0"/>
            <p:nvPr/>
          </p:nvPicPr>
          <p:blipFill rotWithShape="1">
            <a:blip r:embed="rId4">
              <a:alphaModFix/>
            </a:blip>
            <a:srcRect b="32648" l="0" r="70475" t="22962"/>
            <a:stretch/>
          </p:blipFill>
          <p:spPr>
            <a:xfrm flipH="1" rot="-8442265">
              <a:off x="2493248" y="2941893"/>
              <a:ext cx="2374083" cy="25613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9" name="Google Shape;649;g3a2a2b3daf0_1_418"/>
            <p:cNvSpPr txBox="1"/>
            <p:nvPr/>
          </p:nvSpPr>
          <p:spPr>
            <a:xfrm>
              <a:off x="2609603" y="3603831"/>
              <a:ext cx="1790400" cy="147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This might mean they are an author on a final paper, or receive an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acknowledgement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on that paper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A picture containing text, vector graphics&#10;&#10;Description automatically generated" id="650" name="Google Shape;650;g3a2a2b3daf0_1_418"/>
            <p:cNvPicPr preferRelativeResize="0"/>
            <p:nvPr/>
          </p:nvPicPr>
          <p:blipFill rotWithShape="1">
            <a:blip r:embed="rId5">
              <a:alphaModFix/>
            </a:blip>
            <a:srcRect b="56466" l="0" r="21235" t="0"/>
            <a:stretch/>
          </p:blipFill>
          <p:spPr>
            <a:xfrm flipH="1">
              <a:off x="4452570" y="3186935"/>
              <a:ext cx="2099303" cy="22160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51" name="Google Shape;651;g3a2a2b3daf0_1_418"/>
          <p:cNvGrpSpPr/>
          <p:nvPr/>
        </p:nvGrpSpPr>
        <p:grpSpPr>
          <a:xfrm>
            <a:off x="5862217" y="1439551"/>
            <a:ext cx="3132410" cy="3963388"/>
            <a:chOff x="5862217" y="1439551"/>
            <a:chExt cx="3132410" cy="3963388"/>
          </a:xfrm>
        </p:grpSpPr>
        <p:grpSp>
          <p:nvGrpSpPr>
            <p:cNvPr id="652" name="Google Shape;652;g3a2a2b3daf0_1_418"/>
            <p:cNvGrpSpPr/>
            <p:nvPr/>
          </p:nvGrpSpPr>
          <p:grpSpPr>
            <a:xfrm>
              <a:off x="5862217" y="1439551"/>
              <a:ext cx="2656917" cy="2635116"/>
              <a:chOff x="5854214" y="3313031"/>
              <a:chExt cx="2656917" cy="2635116"/>
            </a:xfrm>
          </p:grpSpPr>
          <p:pic>
            <p:nvPicPr>
              <p:cNvPr id="653" name="Google Shape;653;g3a2a2b3daf0_1_418"/>
              <p:cNvPicPr preferRelativeResize="0"/>
              <p:nvPr/>
            </p:nvPicPr>
            <p:blipFill rotWithShape="1">
              <a:blip r:embed="rId4">
                <a:alphaModFix/>
              </a:blip>
              <a:srcRect b="32646" l="0" r="70475" t="23443"/>
              <a:stretch/>
            </p:blipFill>
            <p:spPr>
              <a:xfrm rot="205074">
                <a:off x="5926195" y="3385726"/>
                <a:ext cx="2512955" cy="248972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4" name="Google Shape;654;g3a2a2b3daf0_1_418"/>
              <p:cNvSpPr txBox="1"/>
              <p:nvPr/>
            </p:nvSpPr>
            <p:spPr>
              <a:xfrm>
                <a:off x="6358924" y="3701028"/>
                <a:ext cx="1593300" cy="147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There is guidance to determine if someone made a meaningful contribution, like the </a:t>
                </a:r>
                <a:r>
                  <a:rPr b="0" i="0" lang="en-US" sz="1400" u="sng" cap="none" strike="noStrike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  <a:hlinkClick r:id="rId6">
                      <a:extLst>
                        <a:ext uri="{A12FA001-AC4F-418D-AE19-62706E023703}">
                          <ahyp:hlinkClr val="tx"/>
                        </a:ext>
                      </a:extLst>
                    </a:hlinkClick>
                  </a:rPr>
                  <a:t>ICJME criteria</a:t>
                </a:r>
                <a:endParaRPr b="0" i="0" sz="1400" u="none" cap="none" strike="noStrike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descr="A picture containing text, vector graphics&#10;&#10;Description automatically generated" id="655" name="Google Shape;655;g3a2a2b3daf0_1_418"/>
            <p:cNvPicPr preferRelativeResize="0"/>
            <p:nvPr/>
          </p:nvPicPr>
          <p:blipFill rotWithShape="1">
            <a:blip r:embed="rId7">
              <a:alphaModFix/>
            </a:blip>
            <a:srcRect b="54906" l="0" r="38134" t="0"/>
            <a:stretch/>
          </p:blipFill>
          <p:spPr>
            <a:xfrm>
              <a:off x="7165161" y="3088820"/>
              <a:ext cx="1829466" cy="231411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0" name="Google Shape;660;g3a2a2b3daf0_1_437"/>
          <p:cNvGrpSpPr/>
          <p:nvPr/>
        </p:nvGrpSpPr>
        <p:grpSpPr>
          <a:xfrm>
            <a:off x="201474" y="912561"/>
            <a:ext cx="8592576" cy="4473041"/>
            <a:chOff x="201474" y="912561"/>
            <a:chExt cx="8592576" cy="4473041"/>
          </a:xfrm>
        </p:grpSpPr>
        <p:sp>
          <p:nvSpPr>
            <p:cNvPr id="661" name="Google Shape;661;g3a2a2b3daf0_1_437"/>
            <p:cNvSpPr/>
            <p:nvPr/>
          </p:nvSpPr>
          <p:spPr>
            <a:xfrm>
              <a:off x="349950" y="1472400"/>
              <a:ext cx="8444100" cy="39132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62" name="Google Shape;662;g3a2a2b3daf0_1_4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1474" y="2180493"/>
              <a:ext cx="1658283" cy="32051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3" name="Google Shape;663;g3a2a2b3daf0_1_437"/>
            <p:cNvPicPr preferRelativeResize="0"/>
            <p:nvPr/>
          </p:nvPicPr>
          <p:blipFill rotWithShape="1">
            <a:blip r:embed="rId4">
              <a:alphaModFix/>
            </a:blip>
            <a:srcRect b="32646" l="0" r="70475" t="23443"/>
            <a:stretch/>
          </p:blipFill>
          <p:spPr>
            <a:xfrm flipH="1" rot="2354632">
              <a:off x="1409777" y="1446209"/>
              <a:ext cx="2620513" cy="26181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g3a2a2b3daf0_1_437"/>
            <p:cNvSpPr txBox="1"/>
            <p:nvPr/>
          </p:nvSpPr>
          <p:spPr>
            <a:xfrm>
              <a:off x="1928243" y="1951703"/>
              <a:ext cx="1854000" cy="147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You might also ask yourself: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Did they contribute to the study idea/design? 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65" name="Google Shape;665;g3a2a2b3daf0_1_43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rgbClr val="121122"/>
                </a:solidFill>
              </a:rPr>
              <a:t>Giving or Taking Credit for Work Inappropriately</a:t>
            </a:r>
            <a:endParaRPr b="1" sz="2400">
              <a:solidFill>
                <a:srgbClr val="121122"/>
              </a:solidFill>
            </a:endParaRPr>
          </a:p>
        </p:txBody>
      </p:sp>
      <p:grpSp>
        <p:nvGrpSpPr>
          <p:cNvPr id="666" name="Google Shape;666;g3a2a2b3daf0_1_437"/>
          <p:cNvGrpSpPr/>
          <p:nvPr/>
        </p:nvGrpSpPr>
        <p:grpSpPr>
          <a:xfrm>
            <a:off x="4430552" y="2011395"/>
            <a:ext cx="4449348" cy="3410605"/>
            <a:chOff x="4430552" y="2011395"/>
            <a:chExt cx="4449348" cy="3410605"/>
          </a:xfrm>
        </p:grpSpPr>
        <p:pic>
          <p:nvPicPr>
            <p:cNvPr id="667" name="Google Shape;667;g3a2a2b3daf0_1_43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7351073" y="2180493"/>
              <a:ext cx="1528827" cy="32051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8" name="Google Shape;668;g3a2a2b3daf0_1_437"/>
            <p:cNvPicPr preferRelativeResize="0"/>
            <p:nvPr/>
          </p:nvPicPr>
          <p:blipFill rotWithShape="1">
            <a:blip r:embed="rId4">
              <a:alphaModFix/>
            </a:blip>
            <a:srcRect b="32646" l="0" r="70475" t="23443"/>
            <a:stretch/>
          </p:blipFill>
          <p:spPr>
            <a:xfrm flipH="1" rot="-10233437">
              <a:off x="4651356" y="2243800"/>
              <a:ext cx="3076437" cy="29457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9" name="Google Shape;669;g3a2a2b3daf0_1_437"/>
            <p:cNvSpPr txBox="1"/>
            <p:nvPr/>
          </p:nvSpPr>
          <p:spPr>
            <a:xfrm>
              <a:off x="4969812" y="3118627"/>
              <a:ext cx="2221200" cy="16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Did they conduct analyses or contribute to interpreting findings?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Did they assist with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writing up the final report/paper?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4" name="Google Shape;674;g3a2a2b3daf0_1_450"/>
          <p:cNvGrpSpPr/>
          <p:nvPr/>
        </p:nvGrpSpPr>
        <p:grpSpPr>
          <a:xfrm>
            <a:off x="-506665" y="991325"/>
            <a:ext cx="9257497" cy="4875300"/>
            <a:chOff x="-506665" y="991325"/>
            <a:chExt cx="9257497" cy="4875300"/>
          </a:xfrm>
        </p:grpSpPr>
        <p:sp>
          <p:nvSpPr>
            <p:cNvPr id="675" name="Google Shape;675;g3a2a2b3daf0_1_450"/>
            <p:cNvSpPr/>
            <p:nvPr/>
          </p:nvSpPr>
          <p:spPr>
            <a:xfrm>
              <a:off x="393132" y="991325"/>
              <a:ext cx="8357700" cy="48753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6" name="Google Shape;676;g3a2a2b3daf0_1_450"/>
            <p:cNvGrpSpPr/>
            <p:nvPr/>
          </p:nvGrpSpPr>
          <p:grpSpPr>
            <a:xfrm>
              <a:off x="-506665" y="1930411"/>
              <a:ext cx="4206274" cy="3912035"/>
              <a:chOff x="-506665" y="1930411"/>
              <a:chExt cx="4206274" cy="3912035"/>
            </a:xfrm>
          </p:grpSpPr>
          <p:pic>
            <p:nvPicPr>
              <p:cNvPr id="677" name="Google Shape;677;g3a2a2b3daf0_1_450"/>
              <p:cNvPicPr preferRelativeResize="0"/>
              <p:nvPr/>
            </p:nvPicPr>
            <p:blipFill rotWithShape="1">
              <a:blip r:embed="rId3">
                <a:alphaModFix/>
              </a:blip>
              <a:srcRect b="48041" l="0" r="0" t="0"/>
              <a:stretch/>
            </p:blipFill>
            <p:spPr>
              <a:xfrm flipH="1">
                <a:off x="-506665" y="3266247"/>
                <a:ext cx="3552026" cy="25761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78" name="Google Shape;678;g3a2a2b3daf0_1_450"/>
              <p:cNvPicPr preferRelativeResize="0"/>
              <p:nvPr/>
            </p:nvPicPr>
            <p:blipFill rotWithShape="1">
              <a:blip r:embed="rId4">
                <a:alphaModFix/>
              </a:blip>
              <a:srcRect b="32646" l="0" r="70475" t="23443"/>
              <a:stretch/>
            </p:blipFill>
            <p:spPr>
              <a:xfrm flipH="1">
                <a:off x="1099535" y="1930411"/>
                <a:ext cx="2600074" cy="21750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79" name="Google Shape;679;g3a2a2b3daf0_1_450"/>
              <p:cNvSpPr txBox="1"/>
              <p:nvPr/>
            </p:nvSpPr>
            <p:spPr>
              <a:xfrm>
                <a:off x="1340871" y="2219611"/>
                <a:ext cx="2117400" cy="139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If someone doesn’t make a meaningful contribution, they shouldn’t be given 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credit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680" name="Google Shape;680;g3a2a2b3daf0_1_450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rgbClr val="121122"/>
                </a:solidFill>
              </a:rPr>
              <a:t>Giving or Taking Credit for Work Inappropriately</a:t>
            </a:r>
            <a:endParaRPr b="1" sz="2400">
              <a:solidFill>
                <a:srgbClr val="121122"/>
              </a:solidFill>
            </a:endParaRPr>
          </a:p>
        </p:txBody>
      </p:sp>
      <p:sp>
        <p:nvSpPr>
          <p:cNvPr id="681" name="Google Shape;681;g3a2a2b3daf0_1_450"/>
          <p:cNvSpPr txBox="1"/>
          <p:nvPr>
            <p:ph idx="1" type="body"/>
          </p:nvPr>
        </p:nvSpPr>
        <p:spPr>
          <a:xfrm>
            <a:off x="254000" y="1209050"/>
            <a:ext cx="86259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lang="en-US" sz="259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</p:txBody>
      </p:sp>
      <p:grpSp>
        <p:nvGrpSpPr>
          <p:cNvPr id="682" name="Google Shape;682;g3a2a2b3daf0_1_450"/>
          <p:cNvGrpSpPr/>
          <p:nvPr/>
        </p:nvGrpSpPr>
        <p:grpSpPr>
          <a:xfrm>
            <a:off x="6583242" y="2074274"/>
            <a:ext cx="2210256" cy="1976125"/>
            <a:chOff x="6583242" y="2074274"/>
            <a:chExt cx="2210256" cy="1976125"/>
          </a:xfrm>
        </p:grpSpPr>
        <p:pic>
          <p:nvPicPr>
            <p:cNvPr id="683" name="Google Shape;683;g3a2a2b3daf0_1_450"/>
            <p:cNvPicPr preferRelativeResize="0"/>
            <p:nvPr/>
          </p:nvPicPr>
          <p:blipFill rotWithShape="1">
            <a:blip r:embed="rId4">
              <a:alphaModFix/>
            </a:blip>
            <a:srcRect b="32646" l="0" r="70475" t="23443"/>
            <a:stretch/>
          </p:blipFill>
          <p:spPr>
            <a:xfrm flipH="1">
              <a:off x="6583242" y="2074274"/>
              <a:ext cx="2210256" cy="197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4" name="Google Shape;684;g3a2a2b3daf0_1_450"/>
            <p:cNvSpPr txBox="1"/>
            <p:nvPr/>
          </p:nvSpPr>
          <p:spPr>
            <a:xfrm>
              <a:off x="6839346" y="2327473"/>
              <a:ext cx="1798800" cy="11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These kinds of authors are sometimes called ‘ghost authors’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5" name="Google Shape;685;g3a2a2b3daf0_1_450"/>
          <p:cNvGrpSpPr/>
          <p:nvPr/>
        </p:nvGrpSpPr>
        <p:grpSpPr>
          <a:xfrm>
            <a:off x="2715067" y="1012281"/>
            <a:ext cx="5333770" cy="5506348"/>
            <a:chOff x="2715067" y="1012281"/>
            <a:chExt cx="5333770" cy="5506348"/>
          </a:xfrm>
        </p:grpSpPr>
        <p:pic>
          <p:nvPicPr>
            <p:cNvPr id="686" name="Google Shape;686;g3a2a2b3daf0_1_45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5070325" y="1012281"/>
              <a:ext cx="929250" cy="22522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7" name="Google Shape;687;g3a2a2b3daf0_1_45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37625" y="1172931"/>
              <a:ext cx="1799681" cy="2074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88" name="Google Shape;688;g3a2a2b3daf0_1_450"/>
            <p:cNvGrpSpPr/>
            <p:nvPr/>
          </p:nvGrpSpPr>
          <p:grpSpPr>
            <a:xfrm>
              <a:off x="2715067" y="2404000"/>
              <a:ext cx="5333770" cy="4114629"/>
              <a:chOff x="2715067" y="2404000"/>
              <a:chExt cx="5333770" cy="4114629"/>
            </a:xfrm>
          </p:grpSpPr>
          <p:pic>
            <p:nvPicPr>
              <p:cNvPr id="689" name="Google Shape;689;g3a2a2b3daf0_1_450"/>
              <p:cNvPicPr preferRelativeResize="0"/>
              <p:nvPr/>
            </p:nvPicPr>
            <p:blipFill rotWithShape="1">
              <a:blip r:embed="rId7">
                <a:alphaModFix/>
              </a:blip>
              <a:srcRect b="52577" l="0" r="0" t="0"/>
              <a:stretch/>
            </p:blipFill>
            <p:spPr>
              <a:xfrm flipH="1">
                <a:off x="5337307" y="3314106"/>
                <a:ext cx="2711530" cy="25283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0" name="Google Shape;690;g3a2a2b3daf0_1_450"/>
              <p:cNvPicPr preferRelativeResize="0"/>
              <p:nvPr/>
            </p:nvPicPr>
            <p:blipFill rotWithShape="1">
              <a:blip r:embed="rId4">
                <a:alphaModFix/>
              </a:blip>
              <a:srcRect b="32646" l="0" r="70475" t="23443"/>
              <a:stretch/>
            </p:blipFill>
            <p:spPr>
              <a:xfrm flipH="1" rot="-8429320">
                <a:off x="3341452" y="2966464"/>
                <a:ext cx="2841859" cy="29897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1" name="Google Shape;691;g3a2a2b3daf0_1_450"/>
              <p:cNvSpPr txBox="1"/>
              <p:nvPr/>
            </p:nvSpPr>
            <p:spPr>
              <a:xfrm>
                <a:off x="3605283" y="3729993"/>
                <a:ext cx="1826700" cy="188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For instance, listing uninvolved members of a research group, or more senior academics who only looked at the final paper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6" name="Google Shape;696;g3a2a2b3daf0_1_471"/>
          <p:cNvGrpSpPr/>
          <p:nvPr/>
        </p:nvGrpSpPr>
        <p:grpSpPr>
          <a:xfrm>
            <a:off x="352800" y="2911153"/>
            <a:ext cx="8609400" cy="3063681"/>
            <a:chOff x="352800" y="2911153"/>
            <a:chExt cx="8609400" cy="3063681"/>
          </a:xfrm>
        </p:grpSpPr>
        <p:sp>
          <p:nvSpPr>
            <p:cNvPr id="697" name="Google Shape;697;g3a2a2b3daf0_1_471"/>
            <p:cNvSpPr/>
            <p:nvPr/>
          </p:nvSpPr>
          <p:spPr>
            <a:xfrm>
              <a:off x="352800" y="3347304"/>
              <a:ext cx="8609400" cy="24516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&#10;&#10;Description automatically generated with medium confidence" id="698" name="Google Shape;698;g3a2a2b3daf0_1_471"/>
            <p:cNvPicPr preferRelativeResize="0"/>
            <p:nvPr/>
          </p:nvPicPr>
          <p:blipFill rotWithShape="1">
            <a:blip r:embed="rId3">
              <a:alphaModFix/>
            </a:blip>
            <a:srcRect b="41083" l="19852" r="0" t="9281"/>
            <a:stretch/>
          </p:blipFill>
          <p:spPr>
            <a:xfrm>
              <a:off x="381250" y="3930601"/>
              <a:ext cx="2619649" cy="18683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9" name="Google Shape;699;g3a2a2b3daf0_1_471"/>
            <p:cNvPicPr preferRelativeResize="0"/>
            <p:nvPr/>
          </p:nvPicPr>
          <p:blipFill rotWithShape="1">
            <a:blip r:embed="rId4">
              <a:alphaModFix/>
            </a:blip>
            <a:srcRect b="32646" l="0" r="70475" t="23443"/>
            <a:stretch/>
          </p:blipFill>
          <p:spPr>
            <a:xfrm flipH="1" rot="1412854">
              <a:off x="2300120" y="3300130"/>
              <a:ext cx="2423691" cy="22857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0" name="Google Shape;700;g3a2a2b3daf0_1_471"/>
            <p:cNvSpPr txBox="1"/>
            <p:nvPr/>
          </p:nvSpPr>
          <p:spPr>
            <a:xfrm>
              <a:off x="2510565" y="3715742"/>
              <a:ext cx="2085900" cy="11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These transcripts - false data - might become part of the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research record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1" name="Google Shape;701;g3a2a2b3daf0_1_471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rgbClr val="121122"/>
                </a:solidFill>
              </a:rPr>
              <a:t>Data Fabrication</a:t>
            </a:r>
            <a:endParaRPr b="1" sz="2400">
              <a:solidFill>
                <a:srgbClr val="121122"/>
              </a:solidFill>
            </a:endParaRPr>
          </a:p>
        </p:txBody>
      </p:sp>
      <p:sp>
        <p:nvSpPr>
          <p:cNvPr id="702" name="Google Shape;702;g3a2a2b3daf0_1_471"/>
          <p:cNvSpPr txBox="1"/>
          <p:nvPr>
            <p:ph idx="1" type="body"/>
          </p:nvPr>
        </p:nvSpPr>
        <p:spPr>
          <a:xfrm>
            <a:off x="253999" y="1209040"/>
            <a:ext cx="74106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endParaRPr b="1">
              <a:solidFill>
                <a:srgbClr val="000000"/>
              </a:solidFill>
            </a:endParaRPr>
          </a:p>
        </p:txBody>
      </p:sp>
      <p:grpSp>
        <p:nvGrpSpPr>
          <p:cNvPr id="703" name="Google Shape;703;g3a2a2b3daf0_1_471"/>
          <p:cNvGrpSpPr/>
          <p:nvPr/>
        </p:nvGrpSpPr>
        <p:grpSpPr>
          <a:xfrm>
            <a:off x="4118258" y="340170"/>
            <a:ext cx="5132800" cy="3574602"/>
            <a:chOff x="4101055" y="357586"/>
            <a:chExt cx="5132800" cy="3574602"/>
          </a:xfrm>
        </p:grpSpPr>
        <p:sp>
          <p:nvSpPr>
            <p:cNvPr id="704" name="Google Shape;704;g3a2a2b3daf0_1_471"/>
            <p:cNvSpPr/>
            <p:nvPr/>
          </p:nvSpPr>
          <p:spPr>
            <a:xfrm>
              <a:off x="4144684" y="812272"/>
              <a:ext cx="4832100" cy="24516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05" name="Google Shape;705;g3a2a2b3daf0_1_47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4101055" y="1261963"/>
              <a:ext cx="1253200" cy="1457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6" name="Google Shape;706;g3a2a2b3daf0_1_471"/>
            <p:cNvPicPr preferRelativeResize="0"/>
            <p:nvPr/>
          </p:nvPicPr>
          <p:blipFill rotWithShape="1">
            <a:blip r:embed="rId6">
              <a:alphaModFix/>
            </a:blip>
            <a:srcRect b="46720" l="12922" r="0" t="0"/>
            <a:stretch/>
          </p:blipFill>
          <p:spPr>
            <a:xfrm>
              <a:off x="6670463" y="1041615"/>
              <a:ext cx="2563391" cy="221519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7" name="Google Shape;707;g3a2a2b3daf0_1_471"/>
            <p:cNvGrpSpPr/>
            <p:nvPr/>
          </p:nvGrpSpPr>
          <p:grpSpPr>
            <a:xfrm flipH="1">
              <a:off x="4417908" y="621618"/>
              <a:ext cx="1047152" cy="1071996"/>
              <a:chOff x="4122563" y="638120"/>
              <a:chExt cx="1047152" cy="1071996"/>
            </a:xfrm>
          </p:grpSpPr>
          <p:pic>
            <p:nvPicPr>
              <p:cNvPr id="708" name="Google Shape;708;g3a2a2b3daf0_1_471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 flipH="1" rot="-932767">
                <a:off x="4224849" y="734965"/>
                <a:ext cx="842579" cy="87830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09" name="Google Shape;709;g3a2a2b3daf0_1_471"/>
              <p:cNvPicPr preferRelativeResize="0"/>
              <p:nvPr/>
            </p:nvPicPr>
            <p:blipFill rotWithShape="1">
              <a:blip r:embed="rId8">
                <a:alphaModFix amt="50000"/>
              </a:blip>
              <a:srcRect b="0" l="0" r="0" t="0"/>
              <a:stretch/>
            </p:blipFill>
            <p:spPr>
              <a:xfrm>
                <a:off x="4405232" y="964487"/>
                <a:ext cx="183699" cy="27467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0" name="Google Shape;710;g3a2a2b3daf0_1_471"/>
              <p:cNvPicPr preferRelativeResize="0"/>
              <p:nvPr/>
            </p:nvPicPr>
            <p:blipFill rotWithShape="1">
              <a:blip r:embed="rId9">
                <a:alphaModFix amt="50000"/>
              </a:blip>
              <a:srcRect b="0" l="0" r="0" t="0"/>
              <a:stretch/>
            </p:blipFill>
            <p:spPr>
              <a:xfrm>
                <a:off x="4588934" y="969312"/>
                <a:ext cx="183700" cy="26985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711" name="Google Shape;711;g3a2a2b3daf0_1_471"/>
            <p:cNvPicPr preferRelativeResize="0"/>
            <p:nvPr/>
          </p:nvPicPr>
          <p:blipFill rotWithShape="1">
            <a:blip r:embed="rId4">
              <a:alphaModFix/>
            </a:blip>
            <a:srcRect b="32646" l="0" r="70475" t="23443"/>
            <a:stretch/>
          </p:blipFill>
          <p:spPr>
            <a:xfrm rot="-1961149">
              <a:off x="5280882" y="852284"/>
              <a:ext cx="2590175" cy="25852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2" name="Google Shape;712;g3a2a2b3daf0_1_471"/>
            <p:cNvSpPr txBox="1"/>
            <p:nvPr/>
          </p:nvSpPr>
          <p:spPr>
            <a:xfrm>
              <a:off x="5448832" y="1270172"/>
              <a:ext cx="2115300" cy="13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For example, an anthropologist might write transcripts of interviews they never conducted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3" name="Google Shape;713;g3a2a2b3daf0_1_471"/>
          <p:cNvGrpSpPr/>
          <p:nvPr/>
        </p:nvGrpSpPr>
        <p:grpSpPr>
          <a:xfrm>
            <a:off x="352800" y="382576"/>
            <a:ext cx="4048490" cy="3311767"/>
            <a:chOff x="350779" y="399992"/>
            <a:chExt cx="4048490" cy="3311767"/>
          </a:xfrm>
        </p:grpSpPr>
        <p:sp>
          <p:nvSpPr>
            <p:cNvPr id="714" name="Google Shape;714;g3a2a2b3daf0_1_471"/>
            <p:cNvSpPr/>
            <p:nvPr/>
          </p:nvSpPr>
          <p:spPr>
            <a:xfrm>
              <a:off x="350779" y="812272"/>
              <a:ext cx="3697200" cy="24516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15" name="Google Shape;715;g3a2a2b3daf0_1_471"/>
            <p:cNvPicPr preferRelativeResize="0"/>
            <p:nvPr/>
          </p:nvPicPr>
          <p:blipFill rotWithShape="1">
            <a:blip r:embed="rId4">
              <a:alphaModFix/>
            </a:blip>
            <a:srcRect b="32646" l="0" r="70475" t="23443"/>
            <a:stretch/>
          </p:blipFill>
          <p:spPr>
            <a:xfrm rot="8373571">
              <a:off x="1523786" y="913011"/>
              <a:ext cx="2423688" cy="22857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6" name="Google Shape;716;g3a2a2b3daf0_1_471"/>
            <p:cNvSpPr txBox="1"/>
            <p:nvPr/>
          </p:nvSpPr>
          <p:spPr>
            <a:xfrm>
              <a:off x="1932471" y="1666035"/>
              <a:ext cx="17478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Data fabrication is the process of manufacturing, or “making up,” data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17" name="Google Shape;717;g3a2a2b3daf0_1_471"/>
            <p:cNvPicPr preferRelativeResize="0"/>
            <p:nvPr/>
          </p:nvPicPr>
          <p:blipFill rotWithShape="1">
            <a:blip r:embed="rId10">
              <a:alphaModFix/>
            </a:blip>
            <a:srcRect b="47558" l="22691" r="14153" t="0"/>
            <a:stretch/>
          </p:blipFill>
          <p:spPr>
            <a:xfrm>
              <a:off x="367315" y="1212915"/>
              <a:ext cx="1479684" cy="20509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18" name="Google Shape;718;g3a2a2b3daf0_1_471"/>
          <p:cNvGrpSpPr/>
          <p:nvPr/>
        </p:nvGrpSpPr>
        <p:grpSpPr>
          <a:xfrm>
            <a:off x="4496715" y="2919733"/>
            <a:ext cx="4721127" cy="3311771"/>
            <a:chOff x="4496715" y="2919733"/>
            <a:chExt cx="4721127" cy="3311771"/>
          </a:xfrm>
        </p:grpSpPr>
        <p:pic>
          <p:nvPicPr>
            <p:cNvPr id="719" name="Google Shape;719;g3a2a2b3daf0_1_471"/>
            <p:cNvPicPr preferRelativeResize="0"/>
            <p:nvPr/>
          </p:nvPicPr>
          <p:blipFill rotWithShape="1">
            <a:blip r:embed="rId11">
              <a:alphaModFix/>
            </a:blip>
            <a:srcRect b="50308" l="0" r="0" t="0"/>
            <a:stretch/>
          </p:blipFill>
          <p:spPr>
            <a:xfrm flipH="1">
              <a:off x="7023405" y="3568119"/>
              <a:ext cx="2194437" cy="2230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0" name="Google Shape;720;g3a2a2b3daf0_1_471"/>
            <p:cNvPicPr preferRelativeResize="0"/>
            <p:nvPr/>
          </p:nvPicPr>
          <p:blipFill rotWithShape="1">
            <a:blip r:embed="rId4">
              <a:alphaModFix/>
            </a:blip>
            <a:srcRect b="32646" l="0" r="70475" t="23443"/>
            <a:stretch/>
          </p:blipFill>
          <p:spPr>
            <a:xfrm flipH="1" rot="-9293490">
              <a:off x="4910992" y="3324740"/>
              <a:ext cx="2466018" cy="25017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1" name="Google Shape;721;g3a2a2b3daf0_1_471"/>
            <p:cNvSpPr txBox="1"/>
            <p:nvPr/>
          </p:nvSpPr>
          <p:spPr>
            <a:xfrm>
              <a:off x="5103047" y="4021434"/>
              <a:ext cx="1900800" cy="154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This can result in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unreliable data and waste research resources through attempted replications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a2a2b3daf0_1_500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rgbClr val="121122"/>
                </a:solidFill>
              </a:rPr>
              <a:t>Data Fabrication</a:t>
            </a:r>
            <a:endParaRPr b="1" sz="2400">
              <a:solidFill>
                <a:srgbClr val="121122"/>
              </a:solidFill>
            </a:endParaRPr>
          </a:p>
        </p:txBody>
      </p:sp>
      <p:sp>
        <p:nvSpPr>
          <p:cNvPr id="727" name="Google Shape;727;g3a2a2b3daf0_1_500"/>
          <p:cNvSpPr txBox="1"/>
          <p:nvPr>
            <p:ph idx="1" type="body"/>
          </p:nvPr>
        </p:nvSpPr>
        <p:spPr>
          <a:xfrm>
            <a:off x="254000" y="1209050"/>
            <a:ext cx="86259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/>
              <a:t>COVID-19 Example </a:t>
            </a:r>
            <a:endParaRPr/>
          </a:p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000">
                <a:solidFill>
                  <a:srgbClr val="000000"/>
                </a:solidFill>
              </a:rPr>
              <a:t>A paper published in 2020 reported increased risk of death for people hospitalised with COVID-19 if they had underlying cardiovascular disease</a:t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descr="Icon&#10;&#10;Description automatically generated" id="728" name="Google Shape;728;g3a2a2b3daf0_1_500"/>
          <p:cNvPicPr preferRelativeResize="0"/>
          <p:nvPr/>
        </p:nvPicPr>
        <p:blipFill rotWithShape="1">
          <a:blip r:embed="rId3">
            <a:alphaModFix/>
          </a:blip>
          <a:srcRect b="43862" l="4950" r="66151" t="12977"/>
          <a:stretch/>
        </p:blipFill>
        <p:spPr>
          <a:xfrm>
            <a:off x="1044497" y="4754852"/>
            <a:ext cx="1207238" cy="1014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&#10;&#10;Description automatically generated" id="729" name="Google Shape;729;g3a2a2b3daf0_1_500"/>
          <p:cNvPicPr preferRelativeResize="0"/>
          <p:nvPr/>
        </p:nvPicPr>
        <p:blipFill rotWithShape="1">
          <a:blip r:embed="rId3">
            <a:alphaModFix/>
          </a:blip>
          <a:srcRect b="25297" l="35256" r="35846" t="22466"/>
          <a:stretch/>
        </p:blipFill>
        <p:spPr>
          <a:xfrm>
            <a:off x="6665750" y="3118758"/>
            <a:ext cx="1169726" cy="1189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0" name="Google Shape;730;g3a2a2b3daf0_1_500"/>
          <p:cNvCxnSpPr/>
          <p:nvPr/>
        </p:nvCxnSpPr>
        <p:spPr>
          <a:xfrm flipH="1" rot="10800000">
            <a:off x="2251736" y="4137031"/>
            <a:ext cx="4413900" cy="1176600"/>
          </a:xfrm>
          <a:prstGeom prst="straightConnector1">
            <a:avLst/>
          </a:prstGeom>
          <a:noFill/>
          <a:ln cap="flat" cmpd="sng" w="38100">
            <a:solidFill>
              <a:srgbClr val="74B594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A picture containing background pattern&#10;&#10;Description automatically generated" id="731" name="Google Shape;731;g3a2a2b3daf0_1_500"/>
          <p:cNvPicPr preferRelativeResize="0"/>
          <p:nvPr/>
        </p:nvPicPr>
        <p:blipFill rotWithShape="1">
          <a:blip r:embed="rId4">
            <a:alphaModFix/>
          </a:blip>
          <a:srcRect b="61599" l="21600" r="27599" t="12534"/>
          <a:stretch/>
        </p:blipFill>
        <p:spPr>
          <a:xfrm rot="-1093649">
            <a:off x="3340028" y="3676439"/>
            <a:ext cx="1507150" cy="1151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a2a2b3daf0_1_50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rgbClr val="121122"/>
                </a:solidFill>
              </a:rPr>
              <a:t>Data Fabrication</a:t>
            </a:r>
            <a:endParaRPr b="1" sz="2400">
              <a:solidFill>
                <a:srgbClr val="121122"/>
              </a:solidFill>
            </a:endParaRPr>
          </a:p>
        </p:txBody>
      </p:sp>
      <p:sp>
        <p:nvSpPr>
          <p:cNvPr id="737" name="Google Shape;737;g3a2a2b3daf0_1_509"/>
          <p:cNvSpPr txBox="1"/>
          <p:nvPr>
            <p:ph idx="1" type="body"/>
          </p:nvPr>
        </p:nvSpPr>
        <p:spPr>
          <a:xfrm>
            <a:off x="254000" y="1209050"/>
            <a:ext cx="86259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/>
              <a:t>COVID-19 Example </a:t>
            </a:r>
            <a:endParaRPr/>
          </a:p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000">
                <a:solidFill>
                  <a:srgbClr val="000000"/>
                </a:solidFill>
              </a:rPr>
              <a:t>Findings were based on data supposedly collected by the company of one of the study authors</a:t>
            </a:r>
            <a:endParaRPr/>
          </a:p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342900" lvl="0" marL="419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000">
                <a:solidFill>
                  <a:srgbClr val="000000"/>
                </a:solidFill>
              </a:rPr>
              <a:t>It quickly became apparent that the data was fraudulent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descr="A picture containing background pattern&#10;&#10;Description automatically generated" id="738" name="Google Shape;738;g3a2a2b3daf0_1_509"/>
          <p:cNvPicPr preferRelativeResize="0"/>
          <p:nvPr/>
        </p:nvPicPr>
        <p:blipFill rotWithShape="1">
          <a:blip r:embed="rId3">
            <a:alphaModFix/>
          </a:blip>
          <a:srcRect b="61599" l="21600" r="27599" t="12534"/>
          <a:stretch/>
        </p:blipFill>
        <p:spPr>
          <a:xfrm rot="-8189107">
            <a:off x="7035016" y="431686"/>
            <a:ext cx="2322577" cy="1773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, sign&#10;&#10;Description automatically generated" id="739" name="Google Shape;739;g3a2a2b3daf0_1_509"/>
          <p:cNvPicPr preferRelativeResize="0"/>
          <p:nvPr/>
        </p:nvPicPr>
        <p:blipFill rotWithShape="1">
          <a:blip r:embed="rId4">
            <a:alphaModFix/>
          </a:blip>
          <a:srcRect b="42223" l="0" r="0" t="0"/>
          <a:stretch/>
        </p:blipFill>
        <p:spPr>
          <a:xfrm flipH="1">
            <a:off x="7287491" y="3618145"/>
            <a:ext cx="1740285" cy="244005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g3a2a2b3daf0_1_509"/>
          <p:cNvSpPr/>
          <p:nvPr/>
        </p:nvSpPr>
        <p:spPr>
          <a:xfrm>
            <a:off x="253999" y="3808652"/>
            <a:ext cx="70335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9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paper was retracted but such questionable practices can undermine trust in research</a:t>
            </a:r>
            <a:endParaRPr/>
          </a:p>
        </p:txBody>
      </p:sp>
      <p:pic>
        <p:nvPicPr>
          <p:cNvPr descr="A picture containing logo&#10;&#10;Description automatically generated" id="741" name="Google Shape;741;g3a2a2b3daf0_1_50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6304" y="3087246"/>
            <a:ext cx="898086" cy="1061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a2a2b3daf0_1_51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Data Misrepresentation</a:t>
            </a:r>
            <a:endParaRPr b="1" sz="2400"/>
          </a:p>
        </p:txBody>
      </p:sp>
      <p:sp>
        <p:nvSpPr>
          <p:cNvPr id="747" name="Google Shape;747;g3a2a2b3daf0_1_518"/>
          <p:cNvSpPr txBox="1"/>
          <p:nvPr>
            <p:ph idx="1" type="body"/>
          </p:nvPr>
        </p:nvSpPr>
        <p:spPr>
          <a:xfrm>
            <a:off x="1133555" y="1242385"/>
            <a:ext cx="68697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000">
                <a:solidFill>
                  <a:srgbClr val="000000"/>
                </a:solidFill>
              </a:rPr>
              <a:t>Data misrepresentation is the practice of presenting “real” data in a misleading way</a:t>
            </a:r>
            <a:endParaRPr sz="2000">
              <a:solidFill>
                <a:srgbClr val="000000"/>
              </a:solidFill>
            </a:endParaRPr>
          </a:p>
        </p:txBody>
      </p:sp>
      <p:grpSp>
        <p:nvGrpSpPr>
          <p:cNvPr id="748" name="Google Shape;748;g3a2a2b3daf0_1_518"/>
          <p:cNvGrpSpPr/>
          <p:nvPr/>
        </p:nvGrpSpPr>
        <p:grpSpPr>
          <a:xfrm>
            <a:off x="6604134" y="2339292"/>
            <a:ext cx="2272200" cy="2922886"/>
            <a:chOff x="6607754" y="2126739"/>
            <a:chExt cx="2272200" cy="2922886"/>
          </a:xfrm>
        </p:grpSpPr>
        <p:sp>
          <p:nvSpPr>
            <p:cNvPr id="749" name="Google Shape;749;g3a2a2b3daf0_1_518"/>
            <p:cNvSpPr/>
            <p:nvPr/>
          </p:nvSpPr>
          <p:spPr>
            <a:xfrm>
              <a:off x="6980769" y="2126739"/>
              <a:ext cx="1526100" cy="1526100"/>
            </a:xfrm>
            <a:prstGeom prst="ellipse">
              <a:avLst/>
            </a:prstGeom>
            <a:solidFill>
              <a:srgbClr val="47B27D"/>
            </a:solidFill>
            <a:ln cap="flat" cmpd="sng" w="9525">
              <a:solidFill>
                <a:srgbClr val="47B2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50" name="Google Shape;750;g3a2a2b3daf0_1_518"/>
            <p:cNvGrpSpPr/>
            <p:nvPr/>
          </p:nvGrpSpPr>
          <p:grpSpPr>
            <a:xfrm>
              <a:off x="6607754" y="2420598"/>
              <a:ext cx="2272200" cy="2629027"/>
              <a:chOff x="6604134" y="2649432"/>
              <a:chExt cx="2272200" cy="2629027"/>
            </a:xfrm>
          </p:grpSpPr>
          <p:sp>
            <p:nvSpPr>
              <p:cNvPr id="751" name="Google Shape;751;g3a2a2b3daf0_1_518"/>
              <p:cNvSpPr/>
              <p:nvPr/>
            </p:nvSpPr>
            <p:spPr>
              <a:xfrm>
                <a:off x="6604134" y="3955159"/>
                <a:ext cx="2272200" cy="132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Some researchers even magnified or reversed their images to try and avoid detection!</a:t>
                </a:r>
                <a:endParaRPr/>
              </a:p>
            </p:txBody>
          </p:sp>
          <p:grpSp>
            <p:nvGrpSpPr>
              <p:cNvPr id="752" name="Google Shape;752;g3a2a2b3daf0_1_518"/>
              <p:cNvGrpSpPr/>
              <p:nvPr/>
            </p:nvGrpSpPr>
            <p:grpSpPr>
              <a:xfrm>
                <a:off x="6882592" y="2649432"/>
                <a:ext cx="1734003" cy="1086369"/>
                <a:chOff x="6882592" y="2649433"/>
                <a:chExt cx="1734003" cy="1086369"/>
              </a:xfrm>
            </p:grpSpPr>
            <p:pic>
              <p:nvPicPr>
                <p:cNvPr descr="Icon&#10;&#10;Description automatically generated" id="753" name="Google Shape;753;g3a2a2b3daf0_1_51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6882592" y="2649434"/>
                  <a:ext cx="979587" cy="108636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Icon&#10;&#10;Description automatically generated" id="754" name="Google Shape;754;g3a2a2b3daf0_1_51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7637008" y="2649433"/>
                  <a:ext cx="979587" cy="108636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755" name="Google Shape;755;g3a2a2b3daf0_1_518"/>
          <p:cNvGrpSpPr/>
          <p:nvPr/>
        </p:nvGrpSpPr>
        <p:grpSpPr>
          <a:xfrm>
            <a:off x="254000" y="2390120"/>
            <a:ext cx="2272200" cy="2354852"/>
            <a:chOff x="254000" y="2406401"/>
            <a:chExt cx="2272200" cy="2354852"/>
          </a:xfrm>
        </p:grpSpPr>
        <p:sp>
          <p:nvSpPr>
            <p:cNvPr id="756" name="Google Shape;756;g3a2a2b3daf0_1_518"/>
            <p:cNvSpPr/>
            <p:nvPr/>
          </p:nvSpPr>
          <p:spPr>
            <a:xfrm>
              <a:off x="640735" y="2406401"/>
              <a:ext cx="1526100" cy="1526100"/>
            </a:xfrm>
            <a:prstGeom prst="ellipse">
              <a:avLst/>
            </a:prstGeom>
            <a:solidFill>
              <a:srgbClr val="47B27D"/>
            </a:solidFill>
            <a:ln cap="flat" cmpd="sng" w="9525">
              <a:solidFill>
                <a:srgbClr val="47B2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g3a2a2b3daf0_1_518"/>
            <p:cNvSpPr/>
            <p:nvPr/>
          </p:nvSpPr>
          <p:spPr>
            <a:xfrm>
              <a:off x="254000" y="3930253"/>
              <a:ext cx="2272200" cy="8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Researchers might emphasise exciting or novel findings only</a:t>
              </a:r>
              <a:endParaRPr/>
            </a:p>
          </p:txBody>
        </p:sp>
        <p:pic>
          <p:nvPicPr>
            <p:cNvPr descr="Logo&#10;&#10;Description automatically generated with medium confidence" id="758" name="Google Shape;758;g3a2a2b3daf0_1_5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5172" y="2501462"/>
              <a:ext cx="1234339" cy="12343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59" name="Google Shape;759;g3a2a2b3daf0_1_518"/>
          <p:cNvGrpSpPr/>
          <p:nvPr/>
        </p:nvGrpSpPr>
        <p:grpSpPr>
          <a:xfrm>
            <a:off x="3429067" y="2390120"/>
            <a:ext cx="2272200" cy="2626058"/>
            <a:chOff x="3429067" y="2406401"/>
            <a:chExt cx="2272200" cy="2626058"/>
          </a:xfrm>
        </p:grpSpPr>
        <p:sp>
          <p:nvSpPr>
            <p:cNvPr id="760" name="Google Shape;760;g3a2a2b3daf0_1_518"/>
            <p:cNvSpPr/>
            <p:nvPr/>
          </p:nvSpPr>
          <p:spPr>
            <a:xfrm>
              <a:off x="3808942" y="2406401"/>
              <a:ext cx="1526100" cy="1526100"/>
            </a:xfrm>
            <a:prstGeom prst="ellipse">
              <a:avLst/>
            </a:prstGeom>
            <a:solidFill>
              <a:srgbClr val="47B27D"/>
            </a:solidFill>
            <a:ln cap="flat" cmpd="sng" w="9525">
              <a:solidFill>
                <a:srgbClr val="47B2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g3a2a2b3daf0_1_518"/>
            <p:cNvSpPr/>
            <p:nvPr/>
          </p:nvSpPr>
          <p:spPr>
            <a:xfrm>
              <a:off x="3429067" y="3955159"/>
              <a:ext cx="2272200" cy="107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Researchers might also distort or duplicate images of their findings</a:t>
              </a:r>
              <a:endParaRPr/>
            </a:p>
          </p:txBody>
        </p:sp>
        <p:pic>
          <p:nvPicPr>
            <p:cNvPr descr="Diagram&#10;&#10;Description automatically generated" id="762" name="Google Shape;762;g3a2a2b3daf0_1_5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922806" y="2723416"/>
              <a:ext cx="1355135" cy="938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a2a2b3daf0_1_53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rgbClr val="121122"/>
                </a:solidFill>
              </a:rPr>
              <a:t>Data Misrepresentation</a:t>
            </a:r>
            <a:endParaRPr b="1" sz="2400">
              <a:solidFill>
                <a:srgbClr val="121122"/>
              </a:solidFill>
            </a:endParaRPr>
          </a:p>
        </p:txBody>
      </p:sp>
      <p:sp>
        <p:nvSpPr>
          <p:cNvPr id="768" name="Google Shape;768;g3a2a2b3daf0_1_538"/>
          <p:cNvSpPr txBox="1"/>
          <p:nvPr>
            <p:ph idx="1" type="body"/>
          </p:nvPr>
        </p:nvSpPr>
        <p:spPr>
          <a:xfrm>
            <a:off x="254000" y="1209050"/>
            <a:ext cx="86259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solidFill>
                  <a:srgbClr val="000000"/>
                </a:solidFill>
              </a:rPr>
              <a:t>Data misrepresentation gives an incomplete picture of the research findings</a:t>
            </a:r>
            <a:endParaRPr/>
          </a:p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solidFill>
                  <a:srgbClr val="000000"/>
                </a:solidFill>
              </a:rPr>
              <a:t>Like other questionable research practices, it can result in unreliable data 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solidFill>
                  <a:srgbClr val="000000"/>
                </a:solidFill>
              </a:rPr>
              <a:t>It can also waste research resources through attempted replications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a2a2b3daf0_1_54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rgbClr val="121122"/>
                </a:solidFill>
              </a:rPr>
              <a:t>Piracy and Manipulation of Images/Other Materials</a:t>
            </a:r>
            <a:endParaRPr b="1" sz="2400">
              <a:solidFill>
                <a:srgbClr val="12112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 b="1" sz="2000"/>
          </a:p>
        </p:txBody>
      </p:sp>
      <p:sp>
        <p:nvSpPr>
          <p:cNvPr id="774" name="Google Shape;774;g3a2a2b3daf0_1_543"/>
          <p:cNvSpPr txBox="1"/>
          <p:nvPr>
            <p:ph idx="1" type="body"/>
          </p:nvPr>
        </p:nvSpPr>
        <p:spPr>
          <a:xfrm>
            <a:off x="253999" y="1209040"/>
            <a:ext cx="74106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endParaRPr b="1">
              <a:solidFill>
                <a:srgbClr val="000000"/>
              </a:solidFill>
            </a:endParaRPr>
          </a:p>
        </p:txBody>
      </p:sp>
      <p:grpSp>
        <p:nvGrpSpPr>
          <p:cNvPr id="775" name="Google Shape;775;g3a2a2b3daf0_1_543"/>
          <p:cNvGrpSpPr/>
          <p:nvPr/>
        </p:nvGrpSpPr>
        <p:grpSpPr>
          <a:xfrm>
            <a:off x="191088" y="1399516"/>
            <a:ext cx="8602962" cy="3986084"/>
            <a:chOff x="191088" y="1399516"/>
            <a:chExt cx="8602962" cy="3986084"/>
          </a:xfrm>
        </p:grpSpPr>
        <p:sp>
          <p:nvSpPr>
            <p:cNvPr id="776" name="Google Shape;776;g3a2a2b3daf0_1_543"/>
            <p:cNvSpPr/>
            <p:nvPr/>
          </p:nvSpPr>
          <p:spPr>
            <a:xfrm>
              <a:off x="349950" y="1472400"/>
              <a:ext cx="8444100" cy="39132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77" name="Google Shape;777;g3a2a2b3daf0_1_543"/>
            <p:cNvPicPr preferRelativeResize="0"/>
            <p:nvPr/>
          </p:nvPicPr>
          <p:blipFill rotWithShape="1">
            <a:blip r:embed="rId3">
              <a:alphaModFix/>
            </a:blip>
            <a:srcRect b="1506" l="0" r="0" t="0"/>
            <a:stretch/>
          </p:blipFill>
          <p:spPr>
            <a:xfrm>
              <a:off x="191088" y="2086619"/>
              <a:ext cx="1501550" cy="3275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8" name="Google Shape;778;g3a2a2b3daf0_1_543"/>
            <p:cNvPicPr preferRelativeResize="0"/>
            <p:nvPr/>
          </p:nvPicPr>
          <p:blipFill rotWithShape="1">
            <a:blip r:embed="rId4">
              <a:alphaModFix/>
            </a:blip>
            <a:srcRect b="32646" l="0" r="70475" t="23443"/>
            <a:stretch/>
          </p:blipFill>
          <p:spPr>
            <a:xfrm flipH="1">
              <a:off x="1249317" y="1399516"/>
              <a:ext cx="2884675" cy="24130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9" name="Google Shape;779;g3a2a2b3daf0_1_543"/>
            <p:cNvSpPr txBox="1"/>
            <p:nvPr/>
          </p:nvSpPr>
          <p:spPr>
            <a:xfrm>
              <a:off x="1375180" y="1670720"/>
              <a:ext cx="2715000" cy="163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Sometimes researchers manipulate figures, images or other resources to include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them in multiple research papers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80" name="Google Shape;780;g3a2a2b3daf0_1_543"/>
          <p:cNvGrpSpPr/>
          <p:nvPr/>
        </p:nvGrpSpPr>
        <p:grpSpPr>
          <a:xfrm>
            <a:off x="4810601" y="1566742"/>
            <a:ext cx="4142312" cy="3891742"/>
            <a:chOff x="4810601" y="1566742"/>
            <a:chExt cx="4142312" cy="3891742"/>
          </a:xfrm>
        </p:grpSpPr>
        <p:pic>
          <p:nvPicPr>
            <p:cNvPr id="781" name="Google Shape;781;g3a2a2b3daf0_1_54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6575348" y="2623301"/>
              <a:ext cx="2377565" cy="28351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2" name="Google Shape;782;g3a2a2b3daf0_1_54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38677" y="3828967"/>
              <a:ext cx="1150649" cy="1140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3" name="Google Shape;783;g3a2a2b3daf0_1_54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710202" y="4338792"/>
              <a:ext cx="1201010" cy="998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4" name="Google Shape;784;g3a2a2b3daf0_1_543"/>
            <p:cNvPicPr preferRelativeResize="0"/>
            <p:nvPr/>
          </p:nvPicPr>
          <p:blipFill rotWithShape="1">
            <a:blip r:embed="rId4">
              <a:alphaModFix/>
            </a:blip>
            <a:srcRect b="32646" l="0" r="70475" t="23443"/>
            <a:stretch/>
          </p:blipFill>
          <p:spPr>
            <a:xfrm>
              <a:off x="4810601" y="1566742"/>
              <a:ext cx="2622667" cy="20542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5" name="Google Shape;785;g3a2a2b3daf0_1_543"/>
            <p:cNvSpPr txBox="1"/>
            <p:nvPr/>
          </p:nvSpPr>
          <p:spPr>
            <a:xfrm>
              <a:off x="4875584" y="1695702"/>
              <a:ext cx="2492700" cy="11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Often these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manipulated materials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come from organisations known as ‘paper mills.’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0" name="Google Shape;790;g3a2a2b3daf0_1_559"/>
          <p:cNvGrpSpPr/>
          <p:nvPr/>
        </p:nvGrpSpPr>
        <p:grpSpPr>
          <a:xfrm>
            <a:off x="349950" y="1472400"/>
            <a:ext cx="8444100" cy="3913200"/>
            <a:chOff x="349950" y="1472400"/>
            <a:chExt cx="8444100" cy="3913200"/>
          </a:xfrm>
        </p:grpSpPr>
        <p:sp>
          <p:nvSpPr>
            <p:cNvPr id="791" name="Google Shape;791;g3a2a2b3daf0_1_559"/>
            <p:cNvSpPr/>
            <p:nvPr/>
          </p:nvSpPr>
          <p:spPr>
            <a:xfrm>
              <a:off x="349950" y="1472400"/>
              <a:ext cx="8444100" cy="39132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2" name="Google Shape;792;g3a2a2b3daf0_1_559"/>
            <p:cNvPicPr preferRelativeResize="0"/>
            <p:nvPr/>
          </p:nvPicPr>
          <p:blipFill rotWithShape="1">
            <a:blip r:embed="rId3">
              <a:alphaModFix/>
            </a:blip>
            <a:srcRect b="32646" l="0" r="70475" t="23443"/>
            <a:stretch/>
          </p:blipFill>
          <p:spPr>
            <a:xfrm flipH="1">
              <a:off x="1008801" y="1583299"/>
              <a:ext cx="2995162" cy="25773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3" name="Google Shape;793;g3a2a2b3daf0_1_559"/>
            <p:cNvPicPr preferRelativeResize="0"/>
            <p:nvPr/>
          </p:nvPicPr>
          <p:blipFill rotWithShape="1">
            <a:blip r:embed="rId4">
              <a:alphaModFix/>
            </a:blip>
            <a:srcRect b="47558" l="20185" r="0" t="0"/>
            <a:stretch/>
          </p:blipFill>
          <p:spPr>
            <a:xfrm>
              <a:off x="349950" y="3014308"/>
              <a:ext cx="3408906" cy="23462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4" name="Google Shape;794;g3a2a2b3daf0_1_559"/>
            <p:cNvSpPr txBox="1"/>
            <p:nvPr/>
          </p:nvSpPr>
          <p:spPr>
            <a:xfrm>
              <a:off x="1259450" y="2214225"/>
              <a:ext cx="2462400" cy="10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Paper mills churn out fake data, images, and whole papers to meet demand from researchers</a:t>
              </a:r>
              <a:endParaRPr b="1" i="0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95" name="Google Shape;795;g3a2a2b3daf0_1_55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rgbClr val="121122"/>
                </a:solidFill>
              </a:rPr>
              <a:t>Piracy and Manipulation of Images/Other Materials</a:t>
            </a:r>
            <a:endParaRPr b="1" sz="2400">
              <a:solidFill>
                <a:srgbClr val="12112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 b="1" sz="2000"/>
          </a:p>
        </p:txBody>
      </p:sp>
      <p:sp>
        <p:nvSpPr>
          <p:cNvPr id="796" name="Google Shape;796;g3a2a2b3daf0_1_559"/>
          <p:cNvSpPr txBox="1"/>
          <p:nvPr>
            <p:ph idx="1" type="body"/>
          </p:nvPr>
        </p:nvSpPr>
        <p:spPr>
          <a:xfrm>
            <a:off x="253999" y="1209040"/>
            <a:ext cx="74106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endParaRPr b="1">
              <a:solidFill>
                <a:srgbClr val="000000"/>
              </a:solidFill>
            </a:endParaRPr>
          </a:p>
        </p:txBody>
      </p:sp>
      <p:grpSp>
        <p:nvGrpSpPr>
          <p:cNvPr id="797" name="Google Shape;797;g3a2a2b3daf0_1_559"/>
          <p:cNvGrpSpPr/>
          <p:nvPr/>
        </p:nvGrpSpPr>
        <p:grpSpPr>
          <a:xfrm>
            <a:off x="4762993" y="1440202"/>
            <a:ext cx="4031057" cy="3920382"/>
            <a:chOff x="4762993" y="1440202"/>
            <a:chExt cx="4031057" cy="3920382"/>
          </a:xfrm>
        </p:grpSpPr>
        <p:pic>
          <p:nvPicPr>
            <p:cNvPr id="798" name="Google Shape;798;g3a2a2b3daf0_1_559"/>
            <p:cNvPicPr preferRelativeResize="0"/>
            <p:nvPr/>
          </p:nvPicPr>
          <p:blipFill rotWithShape="1">
            <a:blip r:embed="rId3">
              <a:alphaModFix/>
            </a:blip>
            <a:srcRect b="32646" l="0" r="70475" t="23443"/>
            <a:stretch/>
          </p:blipFill>
          <p:spPr>
            <a:xfrm>
              <a:off x="4762993" y="1440202"/>
              <a:ext cx="2995162" cy="25773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g3a2a2b3daf0_1_559"/>
            <p:cNvSpPr txBox="1"/>
            <p:nvPr/>
          </p:nvSpPr>
          <p:spPr>
            <a:xfrm>
              <a:off x="5143430" y="1973378"/>
              <a:ext cx="21969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But there are also researchers working to identity this manipulated content so it can be retracted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A picture containing text, vector graphics&#10;&#10;Description automatically generated" id="800" name="Google Shape;800;g3a2a2b3daf0_1_559"/>
            <p:cNvPicPr preferRelativeResize="0"/>
            <p:nvPr/>
          </p:nvPicPr>
          <p:blipFill rotWithShape="1">
            <a:blip r:embed="rId5">
              <a:alphaModFix/>
            </a:blip>
            <a:srcRect b="49264" l="0" r="32482" t="0"/>
            <a:stretch/>
          </p:blipFill>
          <p:spPr>
            <a:xfrm>
              <a:off x="6830291" y="2531141"/>
              <a:ext cx="1963759" cy="28294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5" name="Google Shape;805;g3a2a2b3daf0_1_573"/>
          <p:cNvGrpSpPr/>
          <p:nvPr/>
        </p:nvGrpSpPr>
        <p:grpSpPr>
          <a:xfrm>
            <a:off x="189538" y="1472400"/>
            <a:ext cx="8604512" cy="3913200"/>
            <a:chOff x="189538" y="1472400"/>
            <a:chExt cx="8604512" cy="3913200"/>
          </a:xfrm>
        </p:grpSpPr>
        <p:sp>
          <p:nvSpPr>
            <p:cNvPr id="806" name="Google Shape;806;g3a2a2b3daf0_1_573"/>
            <p:cNvSpPr/>
            <p:nvPr/>
          </p:nvSpPr>
          <p:spPr>
            <a:xfrm>
              <a:off x="349950" y="1472400"/>
              <a:ext cx="8444100" cy="39132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07" name="Google Shape;807;g3a2a2b3daf0_1_573"/>
            <p:cNvPicPr preferRelativeResize="0"/>
            <p:nvPr/>
          </p:nvPicPr>
          <p:blipFill rotWithShape="1">
            <a:blip r:embed="rId3">
              <a:alphaModFix/>
            </a:blip>
            <a:srcRect b="32646" l="0" r="70475" t="23443"/>
            <a:stretch/>
          </p:blipFill>
          <p:spPr>
            <a:xfrm flipH="1">
              <a:off x="1218552" y="1656049"/>
              <a:ext cx="3112814" cy="2474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8" name="Google Shape;808;g3a2a2b3daf0_1_573"/>
            <p:cNvSpPr txBox="1"/>
            <p:nvPr/>
          </p:nvSpPr>
          <p:spPr>
            <a:xfrm>
              <a:off x="1539888" y="2155913"/>
              <a:ext cx="2549700" cy="13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 conflict of interest is when a researchers’ other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interests lead to intentional or unintentional biases in research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09" name="Google Shape;809;g3a2a2b3daf0_1_573"/>
            <p:cNvPicPr preferRelativeResize="0"/>
            <p:nvPr/>
          </p:nvPicPr>
          <p:blipFill rotWithShape="1">
            <a:blip r:embed="rId4">
              <a:alphaModFix/>
            </a:blip>
            <a:srcRect b="53609" l="0" r="0" t="0"/>
            <a:stretch/>
          </p:blipFill>
          <p:spPr>
            <a:xfrm>
              <a:off x="189538" y="2893324"/>
              <a:ext cx="3119999" cy="24745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0" name="Google Shape;810;g3a2a2b3daf0_1_57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rgbClr val="121122"/>
                </a:solidFill>
              </a:rPr>
              <a:t>Undeclared Conflicts of Interest</a:t>
            </a:r>
            <a:endParaRPr b="1" sz="2400">
              <a:solidFill>
                <a:srgbClr val="121122"/>
              </a:solidFill>
            </a:endParaRPr>
          </a:p>
        </p:txBody>
      </p:sp>
      <p:sp>
        <p:nvSpPr>
          <p:cNvPr id="811" name="Google Shape;811;g3a2a2b3daf0_1_573"/>
          <p:cNvSpPr txBox="1"/>
          <p:nvPr>
            <p:ph idx="1" type="body"/>
          </p:nvPr>
        </p:nvSpPr>
        <p:spPr>
          <a:xfrm>
            <a:off x="254000" y="1209050"/>
            <a:ext cx="86259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lang="en-US" sz="259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</p:txBody>
      </p:sp>
      <p:grpSp>
        <p:nvGrpSpPr>
          <p:cNvPr id="812" name="Google Shape;812;g3a2a2b3daf0_1_573"/>
          <p:cNvGrpSpPr/>
          <p:nvPr/>
        </p:nvGrpSpPr>
        <p:grpSpPr>
          <a:xfrm>
            <a:off x="4379341" y="2701388"/>
            <a:ext cx="4638748" cy="2891937"/>
            <a:chOff x="4379341" y="2701388"/>
            <a:chExt cx="4638748" cy="2891937"/>
          </a:xfrm>
        </p:grpSpPr>
        <p:pic>
          <p:nvPicPr>
            <p:cNvPr id="813" name="Google Shape;813;g3a2a2b3daf0_1_573"/>
            <p:cNvPicPr preferRelativeResize="0"/>
            <p:nvPr/>
          </p:nvPicPr>
          <p:blipFill rotWithShape="1">
            <a:blip r:embed="rId5">
              <a:alphaModFix/>
            </a:blip>
            <a:srcRect b="49408" l="0" r="0" t="0"/>
            <a:stretch/>
          </p:blipFill>
          <p:spPr>
            <a:xfrm flipH="1">
              <a:off x="6468538" y="2701388"/>
              <a:ext cx="2549551" cy="2658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4" name="Google Shape;814;g3a2a2b3daf0_1_573"/>
            <p:cNvPicPr preferRelativeResize="0"/>
            <p:nvPr/>
          </p:nvPicPr>
          <p:blipFill rotWithShape="1">
            <a:blip r:embed="rId3">
              <a:alphaModFix/>
            </a:blip>
            <a:srcRect b="32646" l="0" r="70475" t="23443"/>
            <a:stretch/>
          </p:blipFill>
          <p:spPr>
            <a:xfrm flipH="1" rot="-10151898">
              <a:off x="4556978" y="3235594"/>
              <a:ext cx="2554974" cy="21372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5" name="Google Shape;815;g3a2a2b3daf0_1_573"/>
            <p:cNvSpPr txBox="1"/>
            <p:nvPr/>
          </p:nvSpPr>
          <p:spPr>
            <a:xfrm>
              <a:off x="4758052" y="3910705"/>
              <a:ext cx="2106900" cy="11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Conflicts of interest may, in turn, compromise the validity of the results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" name="Google Shape;820;g3a2a2b3daf0_1_587"/>
          <p:cNvGrpSpPr/>
          <p:nvPr/>
        </p:nvGrpSpPr>
        <p:grpSpPr>
          <a:xfrm>
            <a:off x="0" y="1472400"/>
            <a:ext cx="8794050" cy="3913200"/>
            <a:chOff x="0" y="1472400"/>
            <a:chExt cx="8794050" cy="3913200"/>
          </a:xfrm>
        </p:grpSpPr>
        <p:sp>
          <p:nvSpPr>
            <p:cNvPr id="821" name="Google Shape;821;g3a2a2b3daf0_1_587"/>
            <p:cNvSpPr/>
            <p:nvPr/>
          </p:nvSpPr>
          <p:spPr>
            <a:xfrm>
              <a:off x="349950" y="1472400"/>
              <a:ext cx="8444100" cy="39132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22" name="Google Shape;822;g3a2a2b3daf0_1_587"/>
            <p:cNvPicPr preferRelativeResize="0"/>
            <p:nvPr/>
          </p:nvPicPr>
          <p:blipFill rotWithShape="1">
            <a:blip r:embed="rId3">
              <a:alphaModFix/>
            </a:blip>
            <a:srcRect b="32646" l="0" r="70475" t="23443"/>
            <a:stretch/>
          </p:blipFill>
          <p:spPr>
            <a:xfrm flipH="1">
              <a:off x="1398018" y="1472400"/>
              <a:ext cx="3704530" cy="24622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3" name="Google Shape;823;g3a2a2b3daf0_1_587"/>
            <p:cNvSpPr txBox="1"/>
            <p:nvPr/>
          </p:nvSpPr>
          <p:spPr>
            <a:xfrm>
              <a:off x="1689036" y="1583683"/>
              <a:ext cx="3122400" cy="163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For example, a researcher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receiving funding for pharmaceutical development may be incentivised to demonstrate that competitors’ drugs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are unsafe or inferior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text, sign&#10;&#10;Description automatically generated" id="824" name="Google Shape;824;g3a2a2b3daf0_1_587"/>
            <p:cNvPicPr preferRelativeResize="0"/>
            <p:nvPr/>
          </p:nvPicPr>
          <p:blipFill rotWithShape="1">
            <a:blip r:embed="rId4">
              <a:alphaModFix/>
            </a:blip>
            <a:srcRect b="40202" l="0" r="0" t="0"/>
            <a:stretch/>
          </p:blipFill>
          <p:spPr>
            <a:xfrm>
              <a:off x="0" y="2588817"/>
              <a:ext cx="2697848" cy="27331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5" name="Google Shape;825;g3a2a2b3daf0_1_58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rgbClr val="121122"/>
                </a:solidFill>
              </a:rPr>
              <a:t>Undeclared Conflicts of Interest</a:t>
            </a:r>
            <a:endParaRPr b="1" sz="2400">
              <a:solidFill>
                <a:srgbClr val="121122"/>
              </a:solidFill>
            </a:endParaRPr>
          </a:p>
        </p:txBody>
      </p:sp>
      <p:grpSp>
        <p:nvGrpSpPr>
          <p:cNvPr id="826" name="Google Shape;826;g3a2a2b3daf0_1_587"/>
          <p:cNvGrpSpPr/>
          <p:nvPr/>
        </p:nvGrpSpPr>
        <p:grpSpPr>
          <a:xfrm>
            <a:off x="4660366" y="1221248"/>
            <a:ext cx="4819107" cy="4164352"/>
            <a:chOff x="4660366" y="1221248"/>
            <a:chExt cx="4819107" cy="4164352"/>
          </a:xfrm>
        </p:grpSpPr>
        <p:pic>
          <p:nvPicPr>
            <p:cNvPr id="827" name="Google Shape;827;g3a2a2b3daf0_1_587"/>
            <p:cNvPicPr preferRelativeResize="0"/>
            <p:nvPr/>
          </p:nvPicPr>
          <p:blipFill rotWithShape="1">
            <a:blip r:embed="rId3">
              <a:alphaModFix/>
            </a:blip>
            <a:srcRect b="32646" l="0" r="70475" t="23443"/>
            <a:stretch/>
          </p:blipFill>
          <p:spPr>
            <a:xfrm rot="-1066231">
              <a:off x="5050402" y="1575852"/>
              <a:ext cx="2791499" cy="29922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8" name="Google Shape;828;g3a2a2b3daf0_1_587"/>
            <p:cNvPicPr preferRelativeResize="0"/>
            <p:nvPr/>
          </p:nvPicPr>
          <p:blipFill rotWithShape="1">
            <a:blip r:embed="rId5">
              <a:alphaModFix/>
            </a:blip>
            <a:srcRect b="48041" l="0" r="0" t="0"/>
            <a:stretch/>
          </p:blipFill>
          <p:spPr>
            <a:xfrm>
              <a:off x="6289499" y="3072000"/>
              <a:ext cx="3189974" cy="231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9" name="Google Shape;829;g3a2a2b3daf0_1_587"/>
            <p:cNvSpPr txBox="1"/>
            <p:nvPr/>
          </p:nvSpPr>
          <p:spPr>
            <a:xfrm>
              <a:off x="5356548" y="2037541"/>
              <a:ext cx="2063100" cy="179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This may shape how they conduct their research and impact the findings, which will influence people’s health and care in the future </a:t>
              </a:r>
              <a:endParaRPr b="1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a2a2b3daf0_1_600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rgbClr val="121122"/>
                </a:solidFill>
              </a:rPr>
              <a:t>Why do people engage in research misconduct?</a:t>
            </a:r>
            <a:endParaRPr b="1" sz="2400">
              <a:solidFill>
                <a:srgbClr val="12112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 b="1" sz="2000"/>
          </a:p>
        </p:txBody>
      </p:sp>
      <p:sp>
        <p:nvSpPr>
          <p:cNvPr id="835" name="Google Shape;835;g3a2a2b3daf0_1_600"/>
          <p:cNvSpPr txBox="1"/>
          <p:nvPr>
            <p:ph idx="1" type="body"/>
          </p:nvPr>
        </p:nvSpPr>
        <p:spPr>
          <a:xfrm>
            <a:off x="253999" y="1209040"/>
            <a:ext cx="74106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endParaRPr b="1">
              <a:solidFill>
                <a:srgbClr val="000000"/>
              </a:solidFill>
            </a:endParaRPr>
          </a:p>
        </p:txBody>
      </p:sp>
      <p:grpSp>
        <p:nvGrpSpPr>
          <p:cNvPr id="836" name="Google Shape;836;g3a2a2b3daf0_1_600"/>
          <p:cNvGrpSpPr/>
          <p:nvPr/>
        </p:nvGrpSpPr>
        <p:grpSpPr>
          <a:xfrm>
            <a:off x="203825" y="697779"/>
            <a:ext cx="4320300" cy="2694149"/>
            <a:chOff x="203825" y="697779"/>
            <a:chExt cx="4320300" cy="2694149"/>
          </a:xfrm>
        </p:grpSpPr>
        <p:sp>
          <p:nvSpPr>
            <p:cNvPr id="837" name="Google Shape;837;g3a2a2b3daf0_1_600"/>
            <p:cNvSpPr/>
            <p:nvPr/>
          </p:nvSpPr>
          <p:spPr>
            <a:xfrm>
              <a:off x="203825" y="940328"/>
              <a:ext cx="4320300" cy="24516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38" name="Google Shape;838;g3a2a2b3daf0_1_600"/>
            <p:cNvPicPr preferRelativeResize="0"/>
            <p:nvPr/>
          </p:nvPicPr>
          <p:blipFill rotWithShape="1">
            <a:blip r:embed="rId3">
              <a:alphaModFix/>
            </a:blip>
            <a:srcRect b="34348" l="31105" r="0" t="0"/>
            <a:stretch/>
          </p:blipFill>
          <p:spPr>
            <a:xfrm>
              <a:off x="236571" y="1594731"/>
              <a:ext cx="1441925" cy="17653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9" name="Google Shape;839;g3a2a2b3daf0_1_600"/>
            <p:cNvPicPr preferRelativeResize="0"/>
            <p:nvPr/>
          </p:nvPicPr>
          <p:blipFill rotWithShape="1">
            <a:blip r:embed="rId4">
              <a:alphaModFix/>
            </a:blip>
            <a:srcRect b="32646" l="0" r="70475" t="23443"/>
            <a:stretch/>
          </p:blipFill>
          <p:spPr>
            <a:xfrm flipH="1" rot="717848">
              <a:off x="771897" y="879749"/>
              <a:ext cx="1944435" cy="18017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0" name="Google Shape;840;g3a2a2b3daf0_1_600"/>
            <p:cNvSpPr txBox="1"/>
            <p:nvPr/>
          </p:nvSpPr>
          <p:spPr>
            <a:xfrm>
              <a:off x="840295" y="1178973"/>
              <a:ext cx="18225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There are several factors that can motivate research misconduct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41" name="Google Shape;841;g3a2a2b3daf0_1_600"/>
          <p:cNvGrpSpPr/>
          <p:nvPr/>
        </p:nvGrpSpPr>
        <p:grpSpPr>
          <a:xfrm>
            <a:off x="1795992" y="1623195"/>
            <a:ext cx="2884044" cy="2044133"/>
            <a:chOff x="1795992" y="1623195"/>
            <a:chExt cx="2884044" cy="2044133"/>
          </a:xfrm>
        </p:grpSpPr>
        <p:pic>
          <p:nvPicPr>
            <p:cNvPr id="842" name="Google Shape;842;g3a2a2b3daf0_1_600"/>
            <p:cNvPicPr preferRelativeResize="0"/>
            <p:nvPr/>
          </p:nvPicPr>
          <p:blipFill rotWithShape="1">
            <a:blip r:embed="rId5">
              <a:alphaModFix/>
            </a:blip>
            <a:srcRect b="34434" l="0" r="0" t="0"/>
            <a:stretch/>
          </p:blipFill>
          <p:spPr>
            <a:xfrm flipH="1">
              <a:off x="2841813" y="1623195"/>
              <a:ext cx="1838223" cy="17368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3" name="Google Shape;843;g3a2a2b3daf0_1_600"/>
            <p:cNvPicPr preferRelativeResize="0"/>
            <p:nvPr/>
          </p:nvPicPr>
          <p:blipFill rotWithShape="1">
            <a:blip r:embed="rId4">
              <a:alphaModFix/>
            </a:blip>
            <a:srcRect b="32646" l="0" r="70475" t="23443"/>
            <a:stretch/>
          </p:blipFill>
          <p:spPr>
            <a:xfrm flipH="1" rot="-9590257">
              <a:off x="1987937" y="2017280"/>
              <a:ext cx="1654910" cy="14079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4" name="Google Shape;844;g3a2a2b3daf0_1_600"/>
            <p:cNvSpPr txBox="1"/>
            <p:nvPr/>
          </p:nvSpPr>
          <p:spPr>
            <a:xfrm>
              <a:off x="1980364" y="2353124"/>
              <a:ext cx="16404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Some are emotional, like fear of failure 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45" name="Google Shape;845;g3a2a2b3daf0_1_600"/>
          <p:cNvGrpSpPr/>
          <p:nvPr/>
        </p:nvGrpSpPr>
        <p:grpSpPr>
          <a:xfrm>
            <a:off x="4439072" y="928302"/>
            <a:ext cx="4501103" cy="2463626"/>
            <a:chOff x="4412743" y="822399"/>
            <a:chExt cx="4501103" cy="2463626"/>
          </a:xfrm>
        </p:grpSpPr>
        <p:sp>
          <p:nvSpPr>
            <p:cNvPr id="846" name="Google Shape;846;g3a2a2b3daf0_1_600"/>
            <p:cNvSpPr/>
            <p:nvPr/>
          </p:nvSpPr>
          <p:spPr>
            <a:xfrm>
              <a:off x="4590246" y="834425"/>
              <a:ext cx="4323600" cy="24516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47" name="Google Shape;847;g3a2a2b3daf0_1_600"/>
            <p:cNvPicPr preferRelativeResize="0"/>
            <p:nvPr/>
          </p:nvPicPr>
          <p:blipFill rotWithShape="1">
            <a:blip r:embed="rId6">
              <a:alphaModFix/>
            </a:blip>
            <a:srcRect b="51133" l="0" r="0" t="0"/>
            <a:stretch/>
          </p:blipFill>
          <p:spPr>
            <a:xfrm>
              <a:off x="4412743" y="1366158"/>
              <a:ext cx="1702365" cy="18921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8" name="Google Shape;848;g3a2a2b3daf0_1_600"/>
            <p:cNvPicPr preferRelativeResize="0"/>
            <p:nvPr/>
          </p:nvPicPr>
          <p:blipFill rotWithShape="1">
            <a:blip r:embed="rId4">
              <a:alphaModFix/>
            </a:blip>
            <a:srcRect b="32646" l="0" r="70475" t="23443"/>
            <a:stretch/>
          </p:blipFill>
          <p:spPr>
            <a:xfrm flipH="1">
              <a:off x="5726415" y="822399"/>
              <a:ext cx="2999016" cy="22557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9" name="Google Shape;849;g3a2a2b3daf0_1_600"/>
            <p:cNvSpPr txBox="1"/>
            <p:nvPr/>
          </p:nvSpPr>
          <p:spPr>
            <a:xfrm>
              <a:off x="5781376" y="1231435"/>
              <a:ext cx="28422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Misconduct may also be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motivated by external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pressures, like pressure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from supervisors to achieve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 certain result 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50" name="Google Shape;850;g3a2a2b3daf0_1_600"/>
          <p:cNvGrpSpPr/>
          <p:nvPr/>
        </p:nvGrpSpPr>
        <p:grpSpPr>
          <a:xfrm>
            <a:off x="191277" y="3526651"/>
            <a:ext cx="4320351" cy="2451600"/>
            <a:chOff x="152400" y="3420748"/>
            <a:chExt cx="4320351" cy="2451600"/>
          </a:xfrm>
        </p:grpSpPr>
        <p:sp>
          <p:nvSpPr>
            <p:cNvPr id="851" name="Google Shape;851;g3a2a2b3daf0_1_600"/>
            <p:cNvSpPr/>
            <p:nvPr/>
          </p:nvSpPr>
          <p:spPr>
            <a:xfrm>
              <a:off x="152400" y="3420748"/>
              <a:ext cx="4320300" cy="24516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52" name="Google Shape;852;g3a2a2b3daf0_1_60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10242" y="3489488"/>
              <a:ext cx="1175575" cy="1046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3" name="Google Shape;853;g3a2a2b3daf0_1_60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15435" y="3699381"/>
              <a:ext cx="1175575" cy="1046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4" name="Google Shape;854;g3a2a2b3daf0_1_60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499467" y="3421938"/>
              <a:ext cx="1175575" cy="1046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5" name="Google Shape;855;g3a2a2b3daf0_1_600"/>
            <p:cNvPicPr preferRelativeResize="0"/>
            <p:nvPr/>
          </p:nvPicPr>
          <p:blipFill rotWithShape="1">
            <a:blip r:embed="rId8">
              <a:alphaModFix/>
            </a:blip>
            <a:srcRect b="46541" l="0" r="15661" t="0"/>
            <a:stretch/>
          </p:blipFill>
          <p:spPr>
            <a:xfrm>
              <a:off x="2277315" y="3667302"/>
              <a:ext cx="2195436" cy="2191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6" name="Google Shape;856;g3a2a2b3daf0_1_600"/>
            <p:cNvPicPr preferRelativeResize="0"/>
            <p:nvPr/>
          </p:nvPicPr>
          <p:blipFill rotWithShape="1">
            <a:blip r:embed="rId4">
              <a:alphaModFix/>
            </a:blip>
            <a:srcRect b="32646" l="0" r="70475" t="23443"/>
            <a:stretch/>
          </p:blipFill>
          <p:spPr>
            <a:xfrm flipH="1" rot="10800000">
              <a:off x="904457" y="3935892"/>
              <a:ext cx="2565826" cy="19196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7" name="Google Shape;857;g3a2a2b3daf0_1_600"/>
            <p:cNvSpPr txBox="1"/>
            <p:nvPr/>
          </p:nvSpPr>
          <p:spPr>
            <a:xfrm>
              <a:off x="961477" y="4500175"/>
              <a:ext cx="24516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Researchers may also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feel pressured to perform due to the competitiveness of academic culture 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58" name="Google Shape;858;g3a2a2b3daf0_1_600"/>
          <p:cNvGrpSpPr/>
          <p:nvPr/>
        </p:nvGrpSpPr>
        <p:grpSpPr>
          <a:xfrm>
            <a:off x="4629123" y="3521294"/>
            <a:ext cx="4323600" cy="2456957"/>
            <a:chOff x="4590246" y="3415391"/>
            <a:chExt cx="4323600" cy="2456957"/>
          </a:xfrm>
        </p:grpSpPr>
        <p:sp>
          <p:nvSpPr>
            <p:cNvPr id="859" name="Google Shape;859;g3a2a2b3daf0_1_600"/>
            <p:cNvSpPr/>
            <p:nvPr/>
          </p:nvSpPr>
          <p:spPr>
            <a:xfrm>
              <a:off x="4590246" y="3420748"/>
              <a:ext cx="4323600" cy="24516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60" name="Google Shape;860;g3a2a2b3daf0_1_600"/>
            <p:cNvPicPr preferRelativeResize="0"/>
            <p:nvPr/>
          </p:nvPicPr>
          <p:blipFill rotWithShape="1">
            <a:blip r:embed="rId9">
              <a:alphaModFix/>
            </a:blip>
            <a:srcRect b="48691" l="14937" r="0" t="0"/>
            <a:stretch/>
          </p:blipFill>
          <p:spPr>
            <a:xfrm flipH="1">
              <a:off x="6852896" y="3506890"/>
              <a:ext cx="2027004" cy="2348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1" name="Google Shape;861;g3a2a2b3daf0_1_600"/>
            <p:cNvPicPr preferRelativeResize="0"/>
            <p:nvPr/>
          </p:nvPicPr>
          <p:blipFill rotWithShape="1">
            <a:blip r:embed="rId4">
              <a:alphaModFix/>
            </a:blip>
            <a:srcRect b="32646" l="0" r="70475" t="23443"/>
            <a:stretch/>
          </p:blipFill>
          <p:spPr>
            <a:xfrm>
              <a:off x="4966320" y="3415391"/>
              <a:ext cx="2644531" cy="20021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2" name="Google Shape;862;g3a2a2b3daf0_1_600"/>
            <p:cNvSpPr txBox="1"/>
            <p:nvPr/>
          </p:nvSpPr>
          <p:spPr>
            <a:xfrm>
              <a:off x="5209704" y="3649412"/>
              <a:ext cx="21438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Worries about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personal circumstances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like employment status might also motivate misconduct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867" name="Google Shape;867;g3a2a2b3daf0_1_6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868" name="Google Shape;868;g3a2a2b3daf0_1_6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873" name="Google Shape;873;g3a2a2b3daf0_1_843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874" name="Google Shape;874;g3a2a2b3daf0_1_8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g3a2a2b3daf0_1_843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6" name="Google Shape;876;g3a2a2b3daf0_1_843"/>
          <p:cNvSpPr txBox="1"/>
          <p:nvPr/>
        </p:nvSpPr>
        <p:spPr>
          <a:xfrm>
            <a:off x="364243" y="2450863"/>
            <a:ext cx="4465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, venn diagram&#10;&#10;Description automatically generated" id="881" name="Google Shape;881;g3a2a2b3daf0_1_8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0980" y="1591200"/>
            <a:ext cx="3675600" cy="3675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g3a2a2b3daf0_1_850"/>
          <p:cNvSpPr txBox="1"/>
          <p:nvPr/>
        </p:nvSpPr>
        <p:spPr>
          <a:xfrm>
            <a:off x="2943060" y="1591200"/>
            <a:ext cx="3631500" cy="1577400"/>
          </a:xfrm>
          <a:prstGeom prst="rect">
            <a:avLst/>
          </a:prstGeom>
          <a:noFill/>
          <a:ln>
            <a:noFill/>
          </a:ln>
          <a:effectLst>
            <a:outerShdw blurRad="165100" sx="103000" rotWithShape="0" algn="tl" dir="2700000" dist="38100" sy="103000">
              <a:srgbClr val="000000">
                <a:alpha val="24310"/>
              </a:srgbClr>
            </a:outerShdw>
          </a:effectLst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How can you maintain high levels of research integrity?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a2a2b3daf0_1_85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rgbClr val="121122"/>
                </a:solidFill>
              </a:rPr>
              <a:t>How can I help reduce the effects of research misconduct?</a:t>
            </a:r>
            <a:endParaRPr b="1" sz="2400">
              <a:solidFill>
                <a:srgbClr val="121122"/>
              </a:solidFill>
            </a:endParaRPr>
          </a:p>
        </p:txBody>
      </p:sp>
      <p:grpSp>
        <p:nvGrpSpPr>
          <p:cNvPr id="888" name="Google Shape;888;g3a2a2b3daf0_1_855"/>
          <p:cNvGrpSpPr/>
          <p:nvPr/>
        </p:nvGrpSpPr>
        <p:grpSpPr>
          <a:xfrm>
            <a:off x="555284" y="947246"/>
            <a:ext cx="4602586" cy="3903220"/>
            <a:chOff x="4107180" y="1223630"/>
            <a:chExt cx="4602586" cy="3903220"/>
          </a:xfrm>
        </p:grpSpPr>
        <p:sp>
          <p:nvSpPr>
            <p:cNvPr id="889" name="Google Shape;889;g3a2a2b3daf0_1_855"/>
            <p:cNvSpPr/>
            <p:nvPr/>
          </p:nvSpPr>
          <p:spPr>
            <a:xfrm>
              <a:off x="4338880" y="1265584"/>
              <a:ext cx="4370700" cy="802500"/>
            </a:xfrm>
            <a:prstGeom prst="rect">
              <a:avLst/>
            </a:prstGeom>
            <a:solidFill>
              <a:srgbClr val="8DD2AF"/>
            </a:solidFill>
            <a:ln cap="flat" cmpd="sng" w="25400">
              <a:solidFill>
                <a:srgbClr val="8DD2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g3a2a2b3daf0_1_855"/>
            <p:cNvSpPr txBox="1"/>
            <p:nvPr/>
          </p:nvSpPr>
          <p:spPr>
            <a:xfrm>
              <a:off x="4841483" y="1223630"/>
              <a:ext cx="38535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Follow best practices in research integrity and open research at all stages of the research process </a:t>
              </a:r>
              <a:endParaRPr/>
            </a:p>
          </p:txBody>
        </p:sp>
        <p:sp>
          <p:nvSpPr>
            <p:cNvPr id="891" name="Google Shape;891;g3a2a2b3daf0_1_855"/>
            <p:cNvSpPr/>
            <p:nvPr/>
          </p:nvSpPr>
          <p:spPr>
            <a:xfrm>
              <a:off x="4107180" y="1265585"/>
              <a:ext cx="719700" cy="802500"/>
            </a:xfrm>
            <a:prstGeom prst="roundRect">
              <a:avLst>
                <a:gd fmla="val 16667" name="adj"/>
              </a:avLst>
            </a:prstGeom>
            <a:solidFill>
              <a:srgbClr val="47B27D"/>
            </a:solidFill>
            <a:ln cap="flat" cmpd="sng" w="25400">
              <a:solidFill>
                <a:srgbClr val="47B2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g3a2a2b3daf0_1_855"/>
            <p:cNvSpPr txBox="1"/>
            <p:nvPr/>
          </p:nvSpPr>
          <p:spPr>
            <a:xfrm>
              <a:off x="4338880" y="1409459"/>
              <a:ext cx="27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3" name="Google Shape;893;g3a2a2b3daf0_1_855"/>
            <p:cNvSpPr/>
            <p:nvPr/>
          </p:nvSpPr>
          <p:spPr>
            <a:xfrm>
              <a:off x="4232134" y="2285172"/>
              <a:ext cx="4477500" cy="802500"/>
            </a:xfrm>
            <a:prstGeom prst="rect">
              <a:avLst/>
            </a:prstGeom>
            <a:solidFill>
              <a:srgbClr val="8DD2AF"/>
            </a:solidFill>
            <a:ln cap="flat" cmpd="sng" w="25400">
              <a:solidFill>
                <a:srgbClr val="8DD2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g3a2a2b3daf0_1_855"/>
            <p:cNvSpPr/>
            <p:nvPr/>
          </p:nvSpPr>
          <p:spPr>
            <a:xfrm>
              <a:off x="4107180" y="2285173"/>
              <a:ext cx="719700" cy="802500"/>
            </a:xfrm>
            <a:prstGeom prst="roundRect">
              <a:avLst>
                <a:gd fmla="val 16667" name="adj"/>
              </a:avLst>
            </a:prstGeom>
            <a:solidFill>
              <a:srgbClr val="47B27D"/>
            </a:solidFill>
            <a:ln cap="flat" cmpd="sng" w="25400">
              <a:solidFill>
                <a:srgbClr val="47B2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g3a2a2b3daf0_1_855"/>
            <p:cNvSpPr txBox="1"/>
            <p:nvPr/>
          </p:nvSpPr>
          <p:spPr>
            <a:xfrm>
              <a:off x="4841483" y="2470992"/>
              <a:ext cx="3696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Avoid plagiarism 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6" name="Google Shape;896;g3a2a2b3daf0_1_855"/>
            <p:cNvSpPr txBox="1"/>
            <p:nvPr/>
          </p:nvSpPr>
          <p:spPr>
            <a:xfrm>
              <a:off x="4338880" y="2429047"/>
              <a:ext cx="27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7" name="Google Shape;897;g3a2a2b3daf0_1_855"/>
            <p:cNvSpPr/>
            <p:nvPr/>
          </p:nvSpPr>
          <p:spPr>
            <a:xfrm>
              <a:off x="4287766" y="3304760"/>
              <a:ext cx="4422000" cy="802500"/>
            </a:xfrm>
            <a:prstGeom prst="rect">
              <a:avLst/>
            </a:prstGeom>
            <a:solidFill>
              <a:srgbClr val="8DD2AF"/>
            </a:solidFill>
            <a:ln cap="flat" cmpd="sng" w="25400">
              <a:solidFill>
                <a:srgbClr val="8DD2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g3a2a2b3daf0_1_855"/>
            <p:cNvSpPr/>
            <p:nvPr/>
          </p:nvSpPr>
          <p:spPr>
            <a:xfrm>
              <a:off x="4107180" y="3304761"/>
              <a:ext cx="719700" cy="802500"/>
            </a:xfrm>
            <a:prstGeom prst="roundRect">
              <a:avLst>
                <a:gd fmla="val 16667" name="adj"/>
              </a:avLst>
            </a:prstGeom>
            <a:solidFill>
              <a:srgbClr val="47B27D"/>
            </a:solidFill>
            <a:ln cap="flat" cmpd="sng" w="25400">
              <a:solidFill>
                <a:srgbClr val="47B2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g3a2a2b3daf0_1_855"/>
            <p:cNvSpPr txBox="1"/>
            <p:nvPr/>
          </p:nvSpPr>
          <p:spPr>
            <a:xfrm>
              <a:off x="4841483" y="3380477"/>
              <a:ext cx="38535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Accurately and honestly represent your data </a:t>
              </a:r>
              <a:endParaRPr/>
            </a:p>
          </p:txBody>
        </p:sp>
        <p:sp>
          <p:nvSpPr>
            <p:cNvPr id="900" name="Google Shape;900;g3a2a2b3daf0_1_855"/>
            <p:cNvSpPr txBox="1"/>
            <p:nvPr/>
          </p:nvSpPr>
          <p:spPr>
            <a:xfrm>
              <a:off x="4338880" y="3448635"/>
              <a:ext cx="27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1" name="Google Shape;901;g3a2a2b3daf0_1_855"/>
            <p:cNvSpPr/>
            <p:nvPr/>
          </p:nvSpPr>
          <p:spPr>
            <a:xfrm>
              <a:off x="4338880" y="4324349"/>
              <a:ext cx="4370700" cy="802500"/>
            </a:xfrm>
            <a:prstGeom prst="rect">
              <a:avLst/>
            </a:prstGeom>
            <a:solidFill>
              <a:srgbClr val="8DD2AF"/>
            </a:solidFill>
            <a:ln cap="flat" cmpd="sng" w="25400">
              <a:solidFill>
                <a:srgbClr val="8DD2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g3a2a2b3daf0_1_855"/>
            <p:cNvSpPr/>
            <p:nvPr/>
          </p:nvSpPr>
          <p:spPr>
            <a:xfrm>
              <a:off x="4107180" y="4324350"/>
              <a:ext cx="719700" cy="802500"/>
            </a:xfrm>
            <a:prstGeom prst="roundRect">
              <a:avLst>
                <a:gd fmla="val 16667" name="adj"/>
              </a:avLst>
            </a:prstGeom>
            <a:solidFill>
              <a:srgbClr val="47B27D"/>
            </a:solidFill>
            <a:ln cap="flat" cmpd="sng" w="25400">
              <a:solidFill>
                <a:srgbClr val="47B2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g3a2a2b3daf0_1_855"/>
            <p:cNvSpPr txBox="1"/>
            <p:nvPr/>
          </p:nvSpPr>
          <p:spPr>
            <a:xfrm>
              <a:off x="4861368" y="4499067"/>
              <a:ext cx="3656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Give credit where it is due</a:t>
              </a:r>
              <a:endParaRPr b="0"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4" name="Google Shape;904;g3a2a2b3daf0_1_855"/>
            <p:cNvSpPr txBox="1"/>
            <p:nvPr/>
          </p:nvSpPr>
          <p:spPr>
            <a:xfrm>
              <a:off x="4338880" y="4468224"/>
              <a:ext cx="27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05" name="Google Shape;905;g3a2a2b3daf0_1_855"/>
          <p:cNvGrpSpPr/>
          <p:nvPr/>
        </p:nvGrpSpPr>
        <p:grpSpPr>
          <a:xfrm>
            <a:off x="540532" y="5002104"/>
            <a:ext cx="4602400" cy="923400"/>
            <a:chOff x="4780022" y="4960540"/>
            <a:chExt cx="4602400" cy="923400"/>
          </a:xfrm>
        </p:grpSpPr>
        <p:sp>
          <p:nvSpPr>
            <p:cNvPr id="906" name="Google Shape;906;g3a2a2b3daf0_1_855"/>
            <p:cNvSpPr/>
            <p:nvPr/>
          </p:nvSpPr>
          <p:spPr>
            <a:xfrm>
              <a:off x="5011722" y="4988682"/>
              <a:ext cx="4370700" cy="802500"/>
            </a:xfrm>
            <a:prstGeom prst="rect">
              <a:avLst/>
            </a:prstGeom>
            <a:solidFill>
              <a:srgbClr val="8DD2AF"/>
            </a:solidFill>
            <a:ln cap="flat" cmpd="sng" w="25400">
              <a:solidFill>
                <a:srgbClr val="8DD2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g3a2a2b3daf0_1_855"/>
            <p:cNvSpPr/>
            <p:nvPr/>
          </p:nvSpPr>
          <p:spPr>
            <a:xfrm>
              <a:off x="4780022" y="4988683"/>
              <a:ext cx="719700" cy="802500"/>
            </a:xfrm>
            <a:prstGeom prst="roundRect">
              <a:avLst>
                <a:gd fmla="val 16667" name="adj"/>
              </a:avLst>
            </a:prstGeom>
            <a:solidFill>
              <a:srgbClr val="47B27D"/>
            </a:solidFill>
            <a:ln cap="flat" cmpd="sng" w="25400">
              <a:solidFill>
                <a:srgbClr val="47B2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g3a2a2b3daf0_1_855"/>
            <p:cNvSpPr txBox="1"/>
            <p:nvPr/>
          </p:nvSpPr>
          <p:spPr>
            <a:xfrm>
              <a:off x="5548962" y="4960540"/>
              <a:ext cx="36567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Be transparent and responsible in all aspects of, and decisions about,  your research</a:t>
              </a:r>
              <a:endParaRPr/>
            </a:p>
          </p:txBody>
        </p:sp>
        <p:sp>
          <p:nvSpPr>
            <p:cNvPr id="909" name="Google Shape;909;g3a2a2b3daf0_1_855"/>
            <p:cNvSpPr txBox="1"/>
            <p:nvPr/>
          </p:nvSpPr>
          <p:spPr>
            <a:xfrm>
              <a:off x="5011722" y="5132557"/>
              <a:ext cx="27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descr="A close-up of a credit card&#10;&#10;Description automatically generated with low confidence" id="910" name="Google Shape;910;g3a2a2b3daf0_1_8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7681" y="799583"/>
            <a:ext cx="1906732" cy="2141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, window&#10;&#10;Description automatically generated" id="911" name="Google Shape;911;g3a2a2b3daf0_1_8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7030" y="4222683"/>
            <a:ext cx="1906733" cy="1710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&#10;&#10;Description automatically generated" id="912" name="Google Shape;912;g3a2a2b3daf0_1_8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291395">
            <a:off x="5254418" y="2746814"/>
            <a:ext cx="1854132" cy="2146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&#10;&#10;Description automatically generated" id="913" name="Google Shape;913;g3a2a2b3daf0_1_8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06913" y="2094695"/>
            <a:ext cx="1906733" cy="211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a2a2b3daf0_1_88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rgbClr val="121122"/>
                </a:solidFill>
              </a:rPr>
              <a:t>How can I help reduce the effects of research misconduct?</a:t>
            </a:r>
            <a:endParaRPr b="1" sz="2400">
              <a:solidFill>
                <a:srgbClr val="121122"/>
              </a:solidFill>
            </a:endParaRPr>
          </a:p>
        </p:txBody>
      </p:sp>
      <p:pic>
        <p:nvPicPr>
          <p:cNvPr id="919" name="Google Shape;919;g3a2a2b3daf0_1_8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9175" y="971871"/>
            <a:ext cx="3195550" cy="47137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020000" dist="19050">
              <a:srgbClr val="000000">
                <a:alpha val="49800"/>
              </a:srgbClr>
            </a:outerShdw>
          </a:effectLst>
        </p:spPr>
      </p:pic>
      <p:pic>
        <p:nvPicPr>
          <p:cNvPr id="920" name="Google Shape;920;g3a2a2b3daf0_1_8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95" y="2903914"/>
            <a:ext cx="2059500" cy="302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g3a2a2b3daf0_1_885"/>
          <p:cNvPicPr preferRelativeResize="0"/>
          <p:nvPr/>
        </p:nvPicPr>
        <p:blipFill rotWithShape="1">
          <a:blip r:embed="rId5">
            <a:alphaModFix/>
          </a:blip>
          <a:srcRect b="32646" l="0" r="70475" t="23443"/>
          <a:stretch/>
        </p:blipFill>
        <p:spPr>
          <a:xfrm flipH="1" rot="332401">
            <a:off x="805079" y="1548575"/>
            <a:ext cx="2557834" cy="2365232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g3a2a2b3daf0_1_885"/>
          <p:cNvSpPr txBox="1"/>
          <p:nvPr>
            <p:ph idx="1" type="body"/>
          </p:nvPr>
        </p:nvSpPr>
        <p:spPr>
          <a:xfrm>
            <a:off x="1110701" y="1776143"/>
            <a:ext cx="19308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rgbClr val="000000"/>
                </a:solidFill>
              </a:rPr>
              <a:t>You can also comment on and review already published papers using platforms like </a:t>
            </a:r>
            <a:br>
              <a:rPr lang="en-US" sz="1400">
                <a:solidFill>
                  <a:srgbClr val="000000"/>
                </a:solidFill>
              </a:rPr>
            </a:br>
            <a:r>
              <a:rPr lang="en-US" sz="1400">
                <a:solidFill>
                  <a:srgbClr val="000000"/>
                </a:solidFill>
              </a:rPr>
              <a:t>PubPeer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35855C"/>
              </a:solidFill>
            </a:endParaRPr>
          </a:p>
        </p:txBody>
      </p:sp>
      <p:pic>
        <p:nvPicPr>
          <p:cNvPr descr="A person sitting in a chair&#10;&#10;Description automatically generated with low confidence" id="923" name="Google Shape;923;g3a2a2b3daf0_1_88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49905" y="3418469"/>
            <a:ext cx="2090952" cy="2344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g3a2a2b3daf0_1_885"/>
          <p:cNvPicPr preferRelativeResize="0"/>
          <p:nvPr/>
        </p:nvPicPr>
        <p:blipFill rotWithShape="1">
          <a:blip r:embed="rId5">
            <a:alphaModFix/>
          </a:blip>
          <a:srcRect b="32646" l="0" r="70475" t="23443"/>
          <a:stretch/>
        </p:blipFill>
        <p:spPr>
          <a:xfrm rot="-332401">
            <a:off x="5329969" y="1892314"/>
            <a:ext cx="2557834" cy="2365232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g3a2a2b3daf0_1_885"/>
          <p:cNvSpPr/>
          <p:nvPr/>
        </p:nvSpPr>
        <p:spPr>
          <a:xfrm>
            <a:off x="5563411" y="2421226"/>
            <a:ext cx="20910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This helps flag issues in research that are already in the public domain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a2a2b3daf0_1_89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121122"/>
                </a:solidFill>
              </a:rPr>
              <a:t>How can I help reduce the effects of research misconduct?</a:t>
            </a:r>
            <a:endParaRPr b="1" sz="2400">
              <a:solidFill>
                <a:srgbClr val="121122"/>
              </a:solidFill>
            </a:endParaRPr>
          </a:p>
        </p:txBody>
      </p:sp>
      <p:sp>
        <p:nvSpPr>
          <p:cNvPr id="931" name="Google Shape;931;g3a2a2b3daf0_1_896"/>
          <p:cNvSpPr txBox="1"/>
          <p:nvPr>
            <p:ph idx="1" type="body"/>
          </p:nvPr>
        </p:nvSpPr>
        <p:spPr>
          <a:xfrm>
            <a:off x="253999" y="1209040"/>
            <a:ext cx="74106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endParaRPr b="1">
              <a:solidFill>
                <a:srgbClr val="000000"/>
              </a:solidFill>
            </a:endParaRPr>
          </a:p>
        </p:txBody>
      </p:sp>
      <p:grpSp>
        <p:nvGrpSpPr>
          <p:cNvPr id="932" name="Google Shape;932;g3a2a2b3daf0_1_896"/>
          <p:cNvGrpSpPr/>
          <p:nvPr/>
        </p:nvGrpSpPr>
        <p:grpSpPr>
          <a:xfrm>
            <a:off x="228071" y="830576"/>
            <a:ext cx="3583542" cy="2508299"/>
            <a:chOff x="228071" y="830576"/>
            <a:chExt cx="3583542" cy="2508299"/>
          </a:xfrm>
        </p:grpSpPr>
        <p:sp>
          <p:nvSpPr>
            <p:cNvPr id="933" name="Google Shape;933;g3a2a2b3daf0_1_896"/>
            <p:cNvSpPr/>
            <p:nvPr/>
          </p:nvSpPr>
          <p:spPr>
            <a:xfrm>
              <a:off x="228071" y="887275"/>
              <a:ext cx="3583500" cy="24516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34" name="Google Shape;934;g3a2a2b3daf0_1_896"/>
            <p:cNvPicPr preferRelativeResize="0"/>
            <p:nvPr/>
          </p:nvPicPr>
          <p:blipFill rotWithShape="1">
            <a:blip r:embed="rId3">
              <a:alphaModFix/>
            </a:blip>
            <a:srcRect b="32646" l="0" r="70475" t="23443"/>
            <a:stretch/>
          </p:blipFill>
          <p:spPr>
            <a:xfrm flipH="1">
              <a:off x="1391487" y="830576"/>
              <a:ext cx="2420126" cy="20244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5" name="Google Shape;935;g3a2a2b3daf0_1_896"/>
            <p:cNvPicPr preferRelativeResize="0"/>
            <p:nvPr/>
          </p:nvPicPr>
          <p:blipFill rotWithShape="1">
            <a:blip r:embed="rId4">
              <a:alphaModFix/>
            </a:blip>
            <a:srcRect b="48688" l="10870" r="-10869" t="4875"/>
            <a:stretch/>
          </p:blipFill>
          <p:spPr>
            <a:xfrm>
              <a:off x="276140" y="1493485"/>
              <a:ext cx="1806970" cy="18226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6" name="Google Shape;936;g3a2a2b3daf0_1_896"/>
            <p:cNvSpPr txBox="1"/>
            <p:nvPr/>
          </p:nvSpPr>
          <p:spPr>
            <a:xfrm>
              <a:off x="1539988" y="1174651"/>
              <a:ext cx="2123100" cy="11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PubPeer is an “online journal club” that exists as an app on the Chrome browser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7" name="Google Shape;937;g3a2a2b3daf0_1_896"/>
          <p:cNvGrpSpPr/>
          <p:nvPr/>
        </p:nvGrpSpPr>
        <p:grpSpPr>
          <a:xfrm>
            <a:off x="4478381" y="3449634"/>
            <a:ext cx="4541400" cy="2473116"/>
            <a:chOff x="4478381" y="3449634"/>
            <a:chExt cx="4541400" cy="2473116"/>
          </a:xfrm>
        </p:grpSpPr>
        <p:sp>
          <p:nvSpPr>
            <p:cNvPr id="938" name="Google Shape;938;g3a2a2b3daf0_1_896"/>
            <p:cNvSpPr/>
            <p:nvPr/>
          </p:nvSpPr>
          <p:spPr>
            <a:xfrm>
              <a:off x="4478381" y="3471150"/>
              <a:ext cx="4541400" cy="24516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39" name="Google Shape;939;g3a2a2b3daf0_1_896"/>
            <p:cNvPicPr preferRelativeResize="0"/>
            <p:nvPr/>
          </p:nvPicPr>
          <p:blipFill rotWithShape="1">
            <a:blip r:embed="rId3">
              <a:alphaModFix/>
            </a:blip>
            <a:srcRect b="32646" l="0" r="70475" t="23443"/>
            <a:stretch/>
          </p:blipFill>
          <p:spPr>
            <a:xfrm>
              <a:off x="4627759" y="3449634"/>
              <a:ext cx="2565826" cy="21463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0" name="Google Shape;940;g3a2a2b3daf0_1_896"/>
            <p:cNvSpPr txBox="1"/>
            <p:nvPr/>
          </p:nvSpPr>
          <p:spPr>
            <a:xfrm>
              <a:off x="4529909" y="3738833"/>
              <a:ext cx="2761500" cy="11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PubPeer has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contributed to many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corrections and retractions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of published articles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941" name="Google Shape;941;g3a2a2b3daf0_1_896"/>
            <p:cNvPicPr preferRelativeResize="0"/>
            <p:nvPr/>
          </p:nvPicPr>
          <p:blipFill rotWithShape="1">
            <a:blip r:embed="rId5">
              <a:alphaModFix/>
            </a:blip>
            <a:srcRect b="51774" l="12861" r="0" t="0"/>
            <a:stretch/>
          </p:blipFill>
          <p:spPr>
            <a:xfrm flipH="1">
              <a:off x="7355974" y="3498964"/>
              <a:ext cx="1663727" cy="23923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42" name="Google Shape;942;g3a2a2b3daf0_1_896"/>
          <p:cNvGrpSpPr/>
          <p:nvPr/>
        </p:nvGrpSpPr>
        <p:grpSpPr>
          <a:xfrm>
            <a:off x="3881659" y="887274"/>
            <a:ext cx="5146781" cy="2428800"/>
            <a:chOff x="3881659" y="887274"/>
            <a:chExt cx="5146781" cy="2428800"/>
          </a:xfrm>
        </p:grpSpPr>
        <p:sp>
          <p:nvSpPr>
            <p:cNvPr id="943" name="Google Shape;943;g3a2a2b3daf0_1_896"/>
            <p:cNvSpPr/>
            <p:nvPr/>
          </p:nvSpPr>
          <p:spPr>
            <a:xfrm>
              <a:off x="3949140" y="887274"/>
              <a:ext cx="5079300" cy="24288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44" name="Google Shape;944;g3a2a2b3daf0_1_896"/>
            <p:cNvPicPr preferRelativeResize="0"/>
            <p:nvPr/>
          </p:nvPicPr>
          <p:blipFill rotWithShape="1">
            <a:blip r:embed="rId6">
              <a:alphaModFix/>
            </a:blip>
            <a:srcRect b="40624" l="7740" r="0" t="0"/>
            <a:stretch/>
          </p:blipFill>
          <p:spPr>
            <a:xfrm flipH="1">
              <a:off x="6880544" y="1358021"/>
              <a:ext cx="2139159" cy="19426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5" name="Google Shape;945;g3a2a2b3daf0_1_896"/>
            <p:cNvPicPr preferRelativeResize="0"/>
            <p:nvPr/>
          </p:nvPicPr>
          <p:blipFill rotWithShape="1">
            <a:blip r:embed="rId3">
              <a:alphaModFix/>
            </a:blip>
            <a:srcRect b="32646" l="0" r="70475" t="23443"/>
            <a:stretch/>
          </p:blipFill>
          <p:spPr>
            <a:xfrm>
              <a:off x="3881659" y="917136"/>
              <a:ext cx="3722352" cy="2252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6" name="Google Shape;946;g3a2a2b3daf0_1_896"/>
            <p:cNvSpPr txBox="1"/>
            <p:nvPr/>
          </p:nvSpPr>
          <p:spPr>
            <a:xfrm>
              <a:off x="4394171" y="1168294"/>
              <a:ext cx="2739900" cy="13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allows researchers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to comment on published journal articles.</a:t>
              </a:r>
              <a:endParaRPr/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This is called post-publication peer review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47" name="Google Shape;947;g3a2a2b3daf0_1_896"/>
          <p:cNvGrpSpPr/>
          <p:nvPr/>
        </p:nvGrpSpPr>
        <p:grpSpPr>
          <a:xfrm>
            <a:off x="228071" y="3476222"/>
            <a:ext cx="4166100" cy="2872559"/>
            <a:chOff x="228071" y="3476222"/>
            <a:chExt cx="4166100" cy="2872559"/>
          </a:xfrm>
        </p:grpSpPr>
        <p:sp>
          <p:nvSpPr>
            <p:cNvPr id="948" name="Google Shape;948;g3a2a2b3daf0_1_896"/>
            <p:cNvSpPr/>
            <p:nvPr/>
          </p:nvSpPr>
          <p:spPr>
            <a:xfrm>
              <a:off x="228071" y="3476222"/>
              <a:ext cx="4166100" cy="24516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49" name="Google Shape;949;g3a2a2b3daf0_1_896"/>
            <p:cNvPicPr preferRelativeResize="0"/>
            <p:nvPr/>
          </p:nvPicPr>
          <p:blipFill rotWithShape="1">
            <a:blip r:embed="rId7">
              <a:alphaModFix/>
            </a:blip>
            <a:srcRect b="47558" l="0" r="27341" t="0"/>
            <a:stretch/>
          </p:blipFill>
          <p:spPr>
            <a:xfrm>
              <a:off x="2529876" y="3784930"/>
              <a:ext cx="1864295" cy="213171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50" name="Google Shape;950;g3a2a2b3daf0_1_896"/>
            <p:cNvGrpSpPr/>
            <p:nvPr/>
          </p:nvGrpSpPr>
          <p:grpSpPr>
            <a:xfrm rot="951671">
              <a:off x="541530" y="3806996"/>
              <a:ext cx="2565754" cy="2233686"/>
              <a:chOff x="150371" y="3526912"/>
              <a:chExt cx="2565826" cy="2233748"/>
            </a:xfrm>
          </p:grpSpPr>
          <p:pic>
            <p:nvPicPr>
              <p:cNvPr id="951" name="Google Shape;951;g3a2a2b3daf0_1_896"/>
              <p:cNvPicPr preferRelativeResize="0"/>
              <p:nvPr/>
            </p:nvPicPr>
            <p:blipFill rotWithShape="1">
              <a:blip r:embed="rId3">
                <a:alphaModFix/>
              </a:blip>
              <a:srcRect b="32646" l="0" r="70475" t="23443"/>
              <a:stretch/>
            </p:blipFill>
            <p:spPr>
              <a:xfrm flipH="1" rot="10800000">
                <a:off x="150371" y="3526912"/>
                <a:ext cx="2565826" cy="213171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2" name="Google Shape;952;g3a2a2b3daf0_1_896"/>
              <p:cNvSpPr txBox="1"/>
              <p:nvPr/>
            </p:nvSpPr>
            <p:spPr>
              <a:xfrm rot="-951986">
                <a:off x="342570" y="4097209"/>
                <a:ext cx="2182552" cy="13916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Researchers can highlight problems in analysis, interpretation and/or reporting of results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a2a2b3daf0_1_92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rgbClr val="121122"/>
                </a:solidFill>
              </a:rPr>
              <a:t>How can I help reduce the effects of research misconduct?</a:t>
            </a:r>
            <a:endParaRPr b="1" sz="2400">
              <a:solidFill>
                <a:srgbClr val="121122"/>
              </a:solidFill>
            </a:endParaRPr>
          </a:p>
        </p:txBody>
      </p:sp>
      <p:grpSp>
        <p:nvGrpSpPr>
          <p:cNvPr id="958" name="Google Shape;958;g3a2a2b3daf0_1_922"/>
          <p:cNvGrpSpPr/>
          <p:nvPr/>
        </p:nvGrpSpPr>
        <p:grpSpPr>
          <a:xfrm>
            <a:off x="349950" y="1472400"/>
            <a:ext cx="8444100" cy="4039220"/>
            <a:chOff x="349950" y="1472400"/>
            <a:chExt cx="8444100" cy="4039220"/>
          </a:xfrm>
        </p:grpSpPr>
        <p:grpSp>
          <p:nvGrpSpPr>
            <p:cNvPr id="959" name="Google Shape;959;g3a2a2b3daf0_1_922"/>
            <p:cNvGrpSpPr/>
            <p:nvPr/>
          </p:nvGrpSpPr>
          <p:grpSpPr>
            <a:xfrm>
              <a:off x="349950" y="1472400"/>
              <a:ext cx="8444100" cy="4039220"/>
              <a:chOff x="349950" y="1472400"/>
              <a:chExt cx="8444100" cy="4039220"/>
            </a:xfrm>
          </p:grpSpPr>
          <p:sp>
            <p:nvSpPr>
              <p:cNvPr id="960" name="Google Shape;960;g3a2a2b3daf0_1_922"/>
              <p:cNvSpPr/>
              <p:nvPr/>
            </p:nvSpPr>
            <p:spPr>
              <a:xfrm>
                <a:off x="349950" y="1472400"/>
                <a:ext cx="8444100" cy="3913200"/>
              </a:xfrm>
              <a:prstGeom prst="rect">
                <a:avLst/>
              </a:prstGeom>
              <a:solidFill>
                <a:srgbClr val="D9EFE3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961" name="Google Shape;961;g3a2a2b3daf0_1_92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78077" y="2980995"/>
                <a:ext cx="2005050" cy="25306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62" name="Google Shape;962;g3a2a2b3daf0_1_922"/>
              <p:cNvPicPr preferRelativeResize="0"/>
              <p:nvPr/>
            </p:nvPicPr>
            <p:blipFill rotWithShape="1">
              <a:blip r:embed="rId4">
                <a:alphaModFix/>
              </a:blip>
              <a:srcRect b="32646" l="0" r="70475" t="23443"/>
              <a:stretch/>
            </p:blipFill>
            <p:spPr>
              <a:xfrm flipH="1">
                <a:off x="1147573" y="1472400"/>
                <a:ext cx="3166099" cy="25306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63" name="Google Shape;963;g3a2a2b3daf0_1_922"/>
            <p:cNvSpPr txBox="1"/>
            <p:nvPr/>
          </p:nvSpPr>
          <p:spPr>
            <a:xfrm>
              <a:off x="1379202" y="1902836"/>
              <a:ext cx="2717100" cy="13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Most universities have a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Research Code of Conduct that outlines what to do if you suspect research misconduct in your university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4" name="Google Shape;964;g3a2a2b3daf0_1_922"/>
          <p:cNvGrpSpPr/>
          <p:nvPr/>
        </p:nvGrpSpPr>
        <p:grpSpPr>
          <a:xfrm>
            <a:off x="3736212" y="1565680"/>
            <a:ext cx="5283857" cy="3819920"/>
            <a:chOff x="3736212" y="1565680"/>
            <a:chExt cx="5283857" cy="3819920"/>
          </a:xfrm>
        </p:grpSpPr>
        <p:pic>
          <p:nvPicPr>
            <p:cNvPr id="965" name="Google Shape;965;g3a2a2b3daf0_1_922"/>
            <p:cNvPicPr preferRelativeResize="0"/>
            <p:nvPr/>
          </p:nvPicPr>
          <p:blipFill rotWithShape="1">
            <a:blip r:embed="rId4">
              <a:alphaModFix/>
            </a:blip>
            <a:srcRect b="32646" l="0" r="70475" t="23443"/>
            <a:stretch/>
          </p:blipFill>
          <p:spPr>
            <a:xfrm flipH="1" rot="10800000">
              <a:off x="3736212" y="1959413"/>
              <a:ext cx="4028587" cy="3426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6" name="Google Shape;966;g3a2a2b3daf0_1_9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6788313" y="1565680"/>
              <a:ext cx="2231756" cy="25587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7" name="Google Shape;967;g3a2a2b3daf0_1_922"/>
            <p:cNvSpPr txBox="1"/>
            <p:nvPr/>
          </p:nvSpPr>
          <p:spPr>
            <a:xfrm>
              <a:off x="4176211" y="3135233"/>
              <a:ext cx="2981100" cy="21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Research misconduct can usually be reported in writing to an established Research Integrity Officer in your institution.</a:t>
              </a:r>
              <a:endParaRPr/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This is someone trained to follow up and investigate suspected misconduct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35855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a2a2b3daf0_1_936"/>
          <p:cNvSpPr/>
          <p:nvPr/>
        </p:nvSpPr>
        <p:spPr>
          <a:xfrm>
            <a:off x="349950" y="1472400"/>
            <a:ext cx="8444100" cy="3913200"/>
          </a:xfrm>
          <a:prstGeom prst="rect">
            <a:avLst/>
          </a:prstGeom>
          <a:solidFill>
            <a:srgbClr val="D9EFE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g3a2a2b3daf0_1_93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rgbClr val="121122"/>
                </a:solidFill>
              </a:rPr>
              <a:t>How can I help reduce the effects of research misconduct?</a:t>
            </a:r>
            <a:endParaRPr sz="2000">
              <a:solidFill>
                <a:srgbClr val="12112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 b="1" sz="2000"/>
          </a:p>
        </p:txBody>
      </p:sp>
      <p:pic>
        <p:nvPicPr>
          <p:cNvPr id="974" name="Google Shape;974;g3a2a2b3daf0_1_936"/>
          <p:cNvPicPr preferRelativeResize="0"/>
          <p:nvPr/>
        </p:nvPicPr>
        <p:blipFill rotWithShape="1">
          <a:blip r:embed="rId3">
            <a:alphaModFix/>
          </a:blip>
          <a:srcRect b="32646" l="0" r="70475" t="23443"/>
          <a:stretch/>
        </p:blipFill>
        <p:spPr>
          <a:xfrm>
            <a:off x="3389123" y="1472400"/>
            <a:ext cx="3219048" cy="2692750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g3a2a2b3daf0_1_936"/>
          <p:cNvSpPr txBox="1"/>
          <p:nvPr>
            <p:ph idx="1" type="body"/>
          </p:nvPr>
        </p:nvSpPr>
        <p:spPr>
          <a:xfrm>
            <a:off x="3513646" y="1885400"/>
            <a:ext cx="29700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rgbClr val="000000"/>
                </a:solidFill>
              </a:rPr>
              <a:t>If you suspect research misconduct outside of your university, you can contact the editors or administrators of the journal/website where the </a:t>
            </a:r>
            <a:br>
              <a:rPr lang="en-US" sz="1400">
                <a:solidFill>
                  <a:srgbClr val="000000"/>
                </a:solidFill>
              </a:rPr>
            </a:br>
            <a:r>
              <a:rPr lang="en-US" sz="1400">
                <a:solidFill>
                  <a:srgbClr val="000000"/>
                </a:solidFill>
              </a:rPr>
              <a:t>work appears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35855C"/>
              </a:solidFill>
            </a:endParaRPr>
          </a:p>
        </p:txBody>
      </p:sp>
      <p:pic>
        <p:nvPicPr>
          <p:cNvPr id="976" name="Google Shape;976;g3a2a2b3daf0_1_936"/>
          <p:cNvPicPr preferRelativeResize="0"/>
          <p:nvPr/>
        </p:nvPicPr>
        <p:blipFill rotWithShape="1">
          <a:blip r:embed="rId4">
            <a:alphaModFix/>
          </a:blip>
          <a:srcRect b="49484" l="0" r="0" t="0"/>
          <a:stretch/>
        </p:blipFill>
        <p:spPr>
          <a:xfrm flipH="1">
            <a:off x="5683353" y="2253650"/>
            <a:ext cx="3596225" cy="313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, vector graphics&#10;&#10;Description automatically generated" id="977" name="Google Shape;977;g3a2a2b3daf0_1_936"/>
          <p:cNvPicPr preferRelativeResize="0"/>
          <p:nvPr/>
        </p:nvPicPr>
        <p:blipFill rotWithShape="1">
          <a:blip r:embed="rId5">
            <a:alphaModFix/>
          </a:blip>
          <a:srcRect b="48022" l="0" r="20407" t="0"/>
          <a:stretch/>
        </p:blipFill>
        <p:spPr>
          <a:xfrm flipH="1">
            <a:off x="328473" y="1846928"/>
            <a:ext cx="2825970" cy="3538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2" name="Google Shape;982;g3a2a2b3daf0_1_945"/>
          <p:cNvGrpSpPr/>
          <p:nvPr/>
        </p:nvGrpSpPr>
        <p:grpSpPr>
          <a:xfrm>
            <a:off x="344900" y="965571"/>
            <a:ext cx="8444100" cy="2451600"/>
            <a:chOff x="344900" y="965571"/>
            <a:chExt cx="8444100" cy="2451600"/>
          </a:xfrm>
        </p:grpSpPr>
        <p:sp>
          <p:nvSpPr>
            <p:cNvPr id="983" name="Google Shape;983;g3a2a2b3daf0_1_945"/>
            <p:cNvSpPr/>
            <p:nvPr/>
          </p:nvSpPr>
          <p:spPr>
            <a:xfrm>
              <a:off x="344900" y="965571"/>
              <a:ext cx="8444100" cy="24516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vector graphics&#10;&#10;Description automatically generated" id="984" name="Google Shape;984;g3a2a2b3daf0_1_945"/>
            <p:cNvPicPr preferRelativeResize="0"/>
            <p:nvPr/>
          </p:nvPicPr>
          <p:blipFill rotWithShape="1">
            <a:blip r:embed="rId3">
              <a:alphaModFix/>
            </a:blip>
            <a:srcRect b="50000" l="28708" r="0" t="0"/>
            <a:stretch/>
          </p:blipFill>
          <p:spPr>
            <a:xfrm>
              <a:off x="388249" y="1251962"/>
              <a:ext cx="1460891" cy="2142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5" name="Google Shape;985;g3a2a2b3daf0_1_945"/>
            <p:cNvPicPr preferRelativeResize="0"/>
            <p:nvPr/>
          </p:nvPicPr>
          <p:blipFill rotWithShape="1">
            <a:blip r:embed="rId4">
              <a:alphaModFix/>
            </a:blip>
            <a:srcRect b="32646" l="0" r="70475" t="23443"/>
            <a:stretch/>
          </p:blipFill>
          <p:spPr>
            <a:xfrm flipH="1">
              <a:off x="1294900" y="983686"/>
              <a:ext cx="1507051" cy="13677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g3a2a2b3daf0_1_945"/>
            <p:cNvSpPr txBox="1"/>
            <p:nvPr/>
          </p:nvSpPr>
          <p:spPr>
            <a:xfrm>
              <a:off x="1389493" y="1156382"/>
              <a:ext cx="1254300" cy="9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What happens then?</a:t>
              </a:r>
              <a:endParaRPr/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35855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87" name="Google Shape;987;g3a2a2b3daf0_1_94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rgbClr val="121122"/>
                </a:solidFill>
              </a:rPr>
              <a:t>How can I help reduce the effects of research misconduct?</a:t>
            </a:r>
            <a:endParaRPr sz="2000">
              <a:solidFill>
                <a:srgbClr val="12112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t/>
            </a:r>
            <a:endParaRPr b="1" sz="2000"/>
          </a:p>
        </p:txBody>
      </p:sp>
      <p:grpSp>
        <p:nvGrpSpPr>
          <p:cNvPr id="988" name="Google Shape;988;g3a2a2b3daf0_1_945"/>
          <p:cNvGrpSpPr/>
          <p:nvPr/>
        </p:nvGrpSpPr>
        <p:grpSpPr>
          <a:xfrm>
            <a:off x="388249" y="3503293"/>
            <a:ext cx="8444100" cy="2582677"/>
            <a:chOff x="388249" y="3503293"/>
            <a:chExt cx="8444100" cy="2582677"/>
          </a:xfrm>
        </p:grpSpPr>
        <p:sp>
          <p:nvSpPr>
            <p:cNvPr id="989" name="Google Shape;989;g3a2a2b3daf0_1_945"/>
            <p:cNvSpPr/>
            <p:nvPr/>
          </p:nvSpPr>
          <p:spPr>
            <a:xfrm>
              <a:off x="388249" y="3503293"/>
              <a:ext cx="8444100" cy="24516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0" name="Google Shape;990;g3a2a2b3daf0_1_945"/>
            <p:cNvGrpSpPr/>
            <p:nvPr/>
          </p:nvGrpSpPr>
          <p:grpSpPr>
            <a:xfrm>
              <a:off x="388249" y="3609369"/>
              <a:ext cx="3735823" cy="2476601"/>
              <a:chOff x="388249" y="3609369"/>
              <a:chExt cx="3735823" cy="2476601"/>
            </a:xfrm>
          </p:grpSpPr>
          <p:pic>
            <p:nvPicPr>
              <p:cNvPr id="991" name="Google Shape;991;g3a2a2b3daf0_1_945"/>
              <p:cNvPicPr preferRelativeResize="0"/>
              <p:nvPr/>
            </p:nvPicPr>
            <p:blipFill rotWithShape="1">
              <a:blip r:embed="rId4">
                <a:alphaModFix/>
              </a:blip>
              <a:srcRect b="32646" l="0" r="70475" t="21693"/>
              <a:stretch/>
            </p:blipFill>
            <p:spPr>
              <a:xfrm rot="10800000">
                <a:off x="1264798" y="3824337"/>
                <a:ext cx="2859274" cy="226163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2" name="Google Shape;992;g3a2a2b3daf0_1_945"/>
              <p:cNvSpPr txBox="1"/>
              <p:nvPr/>
            </p:nvSpPr>
            <p:spPr>
              <a:xfrm>
                <a:off x="1448202" y="4438365"/>
                <a:ext cx="2558400" cy="139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When research integrity issues or misconduct are identified  in published research, these studies are retracted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993" name="Google Shape;993;g3a2a2b3daf0_1_945"/>
              <p:cNvPicPr preferRelativeResize="0"/>
              <p:nvPr/>
            </p:nvPicPr>
            <p:blipFill rotWithShape="1">
              <a:blip r:embed="rId5">
                <a:alphaModFix/>
              </a:blip>
              <a:srcRect b="47360" l="19341" r="0" t="0"/>
              <a:stretch/>
            </p:blipFill>
            <p:spPr>
              <a:xfrm>
                <a:off x="388249" y="3609369"/>
                <a:ext cx="1817126" cy="23455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994" name="Google Shape;994;g3a2a2b3daf0_1_945"/>
          <p:cNvGrpSpPr/>
          <p:nvPr/>
        </p:nvGrpSpPr>
        <p:grpSpPr>
          <a:xfrm>
            <a:off x="4253581" y="3485325"/>
            <a:ext cx="4723709" cy="2433210"/>
            <a:chOff x="4253581" y="3485325"/>
            <a:chExt cx="4723709" cy="2433210"/>
          </a:xfrm>
        </p:grpSpPr>
        <p:pic>
          <p:nvPicPr>
            <p:cNvPr id="995" name="Google Shape;995;g3a2a2b3daf0_1_945"/>
            <p:cNvPicPr preferRelativeResize="0"/>
            <p:nvPr/>
          </p:nvPicPr>
          <p:blipFill rotWithShape="1">
            <a:blip r:embed="rId4">
              <a:alphaModFix/>
            </a:blip>
            <a:srcRect b="32646" l="0" r="70475" t="23443"/>
            <a:stretch/>
          </p:blipFill>
          <p:spPr>
            <a:xfrm>
              <a:off x="4253581" y="3485325"/>
              <a:ext cx="3571723" cy="23679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6" name="Google Shape;996;g3a2a2b3daf0_1_945"/>
            <p:cNvSpPr/>
            <p:nvPr/>
          </p:nvSpPr>
          <p:spPr>
            <a:xfrm>
              <a:off x="4783327" y="3827579"/>
              <a:ext cx="2543100" cy="16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 paper is withdrawn from the journal in which it was published.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may still be available online, but will include a notification that it has been retracted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close-up of a person's face&#10;&#10;Description automatically generated with low confidence" id="997" name="Google Shape;997;g3a2a2b3daf0_1_945"/>
            <p:cNvPicPr preferRelativeResize="0"/>
            <p:nvPr/>
          </p:nvPicPr>
          <p:blipFill rotWithShape="1">
            <a:blip r:embed="rId6">
              <a:alphaModFix/>
            </a:blip>
            <a:srcRect b="45998" l="0" r="0" t="0"/>
            <a:stretch/>
          </p:blipFill>
          <p:spPr>
            <a:xfrm flipH="1">
              <a:off x="7305732" y="4040992"/>
              <a:ext cx="1671557" cy="18775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98" name="Google Shape;998;g3a2a2b3daf0_1_945"/>
          <p:cNvGrpSpPr/>
          <p:nvPr/>
        </p:nvGrpSpPr>
        <p:grpSpPr>
          <a:xfrm>
            <a:off x="3580603" y="828406"/>
            <a:ext cx="5251746" cy="2800470"/>
            <a:chOff x="3580603" y="828406"/>
            <a:chExt cx="5251746" cy="2800470"/>
          </a:xfrm>
        </p:grpSpPr>
        <p:pic>
          <p:nvPicPr>
            <p:cNvPr id="999" name="Google Shape;999;g3a2a2b3daf0_1_945"/>
            <p:cNvPicPr preferRelativeResize="0"/>
            <p:nvPr/>
          </p:nvPicPr>
          <p:blipFill rotWithShape="1">
            <a:blip r:embed="rId4">
              <a:alphaModFix/>
            </a:blip>
            <a:srcRect b="32646" l="0" r="70475" t="23443"/>
            <a:stretch/>
          </p:blipFill>
          <p:spPr>
            <a:xfrm flipH="1" rot="-10418649">
              <a:off x="3698414" y="1049772"/>
              <a:ext cx="4130178" cy="23577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0" name="Google Shape;1000;g3a2a2b3daf0_1_945"/>
            <p:cNvPicPr preferRelativeResize="0"/>
            <p:nvPr/>
          </p:nvPicPr>
          <p:blipFill rotWithShape="1">
            <a:blip r:embed="rId7">
              <a:alphaModFix/>
            </a:blip>
            <a:srcRect b="44046" l="19061" r="0" t="0"/>
            <a:stretch/>
          </p:blipFill>
          <p:spPr>
            <a:xfrm flipH="1">
              <a:off x="6929861" y="1169801"/>
              <a:ext cx="1902488" cy="22379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1" name="Google Shape;1001;g3a2a2b3daf0_1_945"/>
            <p:cNvSpPr txBox="1"/>
            <p:nvPr/>
          </p:nvSpPr>
          <p:spPr>
            <a:xfrm>
              <a:off x="4375242" y="1724783"/>
              <a:ext cx="2577000" cy="154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Processes are in place in your university to manage the outcomes of research integrity issues. Your research support office can guide you on this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6" name="Google Shape;1006;g3a2a2b3daf0_1_968"/>
          <p:cNvGrpSpPr/>
          <p:nvPr/>
        </p:nvGrpSpPr>
        <p:grpSpPr>
          <a:xfrm>
            <a:off x="12101" y="1472400"/>
            <a:ext cx="8781949" cy="3913200"/>
            <a:chOff x="12101" y="1472400"/>
            <a:chExt cx="8781949" cy="3913200"/>
          </a:xfrm>
        </p:grpSpPr>
        <p:sp>
          <p:nvSpPr>
            <p:cNvPr id="1007" name="Google Shape;1007;g3a2a2b3daf0_1_968"/>
            <p:cNvSpPr/>
            <p:nvPr/>
          </p:nvSpPr>
          <p:spPr>
            <a:xfrm>
              <a:off x="349950" y="1472400"/>
              <a:ext cx="8444100" cy="3913200"/>
            </a:xfrm>
            <a:prstGeom prst="rect">
              <a:avLst/>
            </a:prstGeom>
            <a:solidFill>
              <a:srgbClr val="D9EF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08" name="Google Shape;1008;g3a2a2b3daf0_1_968"/>
            <p:cNvPicPr preferRelativeResize="0"/>
            <p:nvPr/>
          </p:nvPicPr>
          <p:blipFill rotWithShape="1">
            <a:blip r:embed="rId3">
              <a:alphaModFix/>
            </a:blip>
            <a:srcRect b="32646" l="0" r="70475" t="23443"/>
            <a:stretch/>
          </p:blipFill>
          <p:spPr>
            <a:xfrm flipH="1">
              <a:off x="771255" y="1960341"/>
              <a:ext cx="2656315" cy="22220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9" name="Google Shape;1009;g3a2a2b3daf0_1_968"/>
            <p:cNvSpPr txBox="1"/>
            <p:nvPr/>
          </p:nvSpPr>
          <p:spPr>
            <a:xfrm>
              <a:off x="1048068" y="2252962"/>
              <a:ext cx="2102700" cy="213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Retraction Watch,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which was launched in 2010, is a blog that tracks retracted 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papers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10" name="Google Shape;1010;g3a2a2b3daf0_1_968"/>
            <p:cNvPicPr preferRelativeResize="0"/>
            <p:nvPr/>
          </p:nvPicPr>
          <p:blipFill rotWithShape="1">
            <a:blip r:embed="rId4">
              <a:alphaModFix/>
            </a:blip>
            <a:srcRect b="39002" l="0" r="0" t="0"/>
            <a:stretch/>
          </p:blipFill>
          <p:spPr>
            <a:xfrm flipH="1">
              <a:off x="12101" y="3358250"/>
              <a:ext cx="2828899" cy="2006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1" name="Google Shape;1011;g3a2a2b3daf0_1_96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121122"/>
                </a:solidFill>
              </a:rPr>
              <a:t>How can I help reduce the effects of research misconduct?</a:t>
            </a:r>
            <a:endParaRPr b="1" sz="2400">
              <a:solidFill>
                <a:srgbClr val="FF0000"/>
              </a:solidFill>
            </a:endParaRPr>
          </a:p>
        </p:txBody>
      </p:sp>
      <p:grpSp>
        <p:nvGrpSpPr>
          <p:cNvPr id="1012" name="Google Shape;1012;g3a2a2b3daf0_1_968"/>
          <p:cNvGrpSpPr/>
          <p:nvPr/>
        </p:nvGrpSpPr>
        <p:grpSpPr>
          <a:xfrm>
            <a:off x="6194247" y="3367262"/>
            <a:ext cx="2759700" cy="2041000"/>
            <a:chOff x="6194247" y="3367262"/>
            <a:chExt cx="2759700" cy="2041000"/>
          </a:xfrm>
        </p:grpSpPr>
        <p:pic>
          <p:nvPicPr>
            <p:cNvPr id="1013" name="Google Shape;1013;g3a2a2b3daf0_1_968"/>
            <p:cNvPicPr preferRelativeResize="0"/>
            <p:nvPr/>
          </p:nvPicPr>
          <p:blipFill rotWithShape="1">
            <a:blip r:embed="rId3">
              <a:alphaModFix/>
            </a:blip>
            <a:srcRect b="32646" l="0" r="70475" t="23443"/>
            <a:stretch/>
          </p:blipFill>
          <p:spPr>
            <a:xfrm rot="10800000">
              <a:off x="6354147" y="3367262"/>
              <a:ext cx="2439902" cy="204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4" name="Google Shape;1014;g3a2a2b3daf0_1_968"/>
            <p:cNvSpPr txBox="1"/>
            <p:nvPr/>
          </p:nvSpPr>
          <p:spPr>
            <a:xfrm>
              <a:off x="6194247" y="3964837"/>
              <a:ext cx="2759700" cy="11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By the end of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2020, there were nearly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25,000 retracted papers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in the database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5" name="Google Shape;1015;g3a2a2b3daf0_1_968"/>
          <p:cNvGrpSpPr/>
          <p:nvPr/>
        </p:nvGrpSpPr>
        <p:grpSpPr>
          <a:xfrm>
            <a:off x="3127427" y="1589256"/>
            <a:ext cx="4329768" cy="3705096"/>
            <a:chOff x="3127427" y="1589256"/>
            <a:chExt cx="4329768" cy="3705096"/>
          </a:xfrm>
        </p:grpSpPr>
        <p:pic>
          <p:nvPicPr>
            <p:cNvPr id="1016" name="Google Shape;1016;g3a2a2b3daf0_1_968"/>
            <p:cNvPicPr preferRelativeResize="0"/>
            <p:nvPr/>
          </p:nvPicPr>
          <p:blipFill rotWithShape="1">
            <a:blip r:embed="rId5">
              <a:alphaModFix/>
            </a:blip>
            <a:srcRect b="45361" l="0" r="0" t="0"/>
            <a:stretch/>
          </p:blipFill>
          <p:spPr>
            <a:xfrm>
              <a:off x="4697495" y="2548289"/>
              <a:ext cx="2759700" cy="274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7" name="Google Shape;1017;g3a2a2b3daf0_1_968"/>
            <p:cNvPicPr preferRelativeResize="0"/>
            <p:nvPr/>
          </p:nvPicPr>
          <p:blipFill rotWithShape="1">
            <a:blip r:embed="rId3">
              <a:alphaModFix/>
            </a:blip>
            <a:srcRect b="32646" l="0" r="70475" t="23443"/>
            <a:stretch/>
          </p:blipFill>
          <p:spPr>
            <a:xfrm>
              <a:off x="3336919" y="1589256"/>
              <a:ext cx="2656315" cy="22220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8" name="Google Shape;1018;g3a2a2b3daf0_1_968"/>
            <p:cNvSpPr txBox="1"/>
            <p:nvPr/>
          </p:nvSpPr>
          <p:spPr>
            <a:xfrm>
              <a:off x="3127427" y="2032980"/>
              <a:ext cx="3000000" cy="11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 Retraction Watch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database contains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entries for each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retracted paper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a2a2b3daf0_1_984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121122"/>
                </a:solidFill>
              </a:rPr>
              <a:t>How can I help reduce the effects of research misconduct?</a:t>
            </a:r>
            <a:endParaRPr b="1" sz="2400">
              <a:solidFill>
                <a:srgbClr val="FF0000"/>
              </a:solidFill>
            </a:endParaRPr>
          </a:p>
        </p:txBody>
      </p:sp>
      <p:sp>
        <p:nvSpPr>
          <p:cNvPr id="1024" name="Google Shape;1024;g3a2a2b3daf0_1_984"/>
          <p:cNvSpPr/>
          <p:nvPr/>
        </p:nvSpPr>
        <p:spPr>
          <a:xfrm>
            <a:off x="4510400" y="1329175"/>
            <a:ext cx="4369500" cy="4072500"/>
          </a:xfrm>
          <a:prstGeom prst="rect">
            <a:avLst/>
          </a:prstGeom>
          <a:solidFill>
            <a:srgbClr val="8DD2AF"/>
          </a:solidFill>
          <a:ln>
            <a:noFill/>
          </a:ln>
          <a:effectLst>
            <a:outerShdw blurRad="57150" rotWithShape="0" algn="bl" dir="4980000" dist="19050">
              <a:srgbClr val="000000">
                <a:alpha val="5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shot 2021-02-27 at 12.29.28.png" id="1025" name="Google Shape;1025;g3a2a2b3daf0_1_9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1641" y="1455736"/>
            <a:ext cx="4106706" cy="3840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Google Shape;1026;g3a2a2b3daf0_1_9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648" y="2441237"/>
            <a:ext cx="2651350" cy="375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g3a2a2b3daf0_1_984"/>
          <p:cNvPicPr preferRelativeResize="0"/>
          <p:nvPr/>
        </p:nvPicPr>
        <p:blipFill rotWithShape="1">
          <a:blip r:embed="rId5">
            <a:alphaModFix/>
          </a:blip>
          <a:srcRect b="32646" l="0" r="70475" t="23443"/>
          <a:stretch/>
        </p:blipFill>
        <p:spPr>
          <a:xfrm flipH="1">
            <a:off x="1281287" y="1098288"/>
            <a:ext cx="2924261" cy="245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g3a2a2b3daf0_1_984"/>
          <p:cNvPicPr preferRelativeResize="0"/>
          <p:nvPr/>
        </p:nvPicPr>
        <p:blipFill rotWithShape="1">
          <a:blip r:embed="rId5">
            <a:alphaModFix/>
          </a:blip>
          <a:srcRect b="32646" l="0" r="70475" t="23443"/>
          <a:stretch/>
        </p:blipFill>
        <p:spPr>
          <a:xfrm rot="9813645">
            <a:off x="2074102" y="3230151"/>
            <a:ext cx="1937701" cy="162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g3a2a2b3daf0_1_984"/>
          <p:cNvSpPr txBox="1"/>
          <p:nvPr/>
        </p:nvSpPr>
        <p:spPr>
          <a:xfrm>
            <a:off x="1550382" y="1493752"/>
            <a:ext cx="23451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Retraction Watch also keeps track of individual researchers with multiple retractions in its Leaderboard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g3a2a2b3daf0_1_984"/>
          <p:cNvSpPr txBox="1"/>
          <p:nvPr>
            <p:ph idx="1" type="body"/>
          </p:nvPr>
        </p:nvSpPr>
        <p:spPr>
          <a:xfrm>
            <a:off x="2201300" y="3764328"/>
            <a:ext cx="1683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rgbClr val="000000"/>
                </a:solidFill>
              </a:rPr>
              <a:t>You can check</a:t>
            </a:r>
            <a:br>
              <a:rPr lang="en-US" sz="1400">
                <a:solidFill>
                  <a:srgbClr val="000000"/>
                </a:solidFill>
              </a:rPr>
            </a:br>
            <a:r>
              <a:rPr lang="en-US" sz="1400">
                <a:solidFill>
                  <a:srgbClr val="000000"/>
                </a:solidFill>
              </a:rPr>
              <a:t> out Retraction Watch </a:t>
            </a:r>
            <a:r>
              <a:rPr lang="en-US" sz="1400" u="sng">
                <a:solidFill>
                  <a:schemeClr val="accent2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endParaRPr sz="14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35855C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credit card&#10;&#10;Description automatically generated with low confidence" id="1035" name="Google Shape;1035;g3a2a2b3daf0_1_9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7071" y="3686361"/>
            <a:ext cx="1889945" cy="2123066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g3a2a2b3daf0_1_99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rgbClr val="121122"/>
                </a:solidFill>
              </a:rPr>
              <a:t>How can you demonstrate research integrity?</a:t>
            </a:r>
            <a:endParaRPr b="1" sz="2400">
              <a:solidFill>
                <a:srgbClr val="121122"/>
              </a:solidFill>
            </a:endParaRPr>
          </a:p>
        </p:txBody>
      </p:sp>
      <p:sp>
        <p:nvSpPr>
          <p:cNvPr id="1037" name="Google Shape;1037;g3a2a2b3daf0_1_995"/>
          <p:cNvSpPr txBox="1"/>
          <p:nvPr>
            <p:ph idx="1" type="body"/>
          </p:nvPr>
        </p:nvSpPr>
        <p:spPr>
          <a:xfrm>
            <a:off x="254000" y="1214722"/>
            <a:ext cx="86259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Educate yourself about research integrity </a:t>
            </a:r>
            <a:endParaRPr/>
          </a:p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sz="2000">
              <a:solidFill>
                <a:schemeClr val="accent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Follow institutional codes of conduct for research </a:t>
            </a:r>
            <a:endParaRPr sz="20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2000">
                <a:solidFill>
                  <a:srgbClr val="000000"/>
                </a:solidFill>
              </a:rPr>
              <a:t>University College Cork’s Research Code of Conduct is available </a:t>
            </a:r>
            <a:r>
              <a:rPr lang="en-US" sz="2000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descr="A close-up of a green apple&#10;&#10;Description automatically generated with medium confidence" id="1038" name="Google Shape;1038;g3a2a2b3daf0_1_9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80619" y="3249744"/>
            <a:ext cx="1771974" cy="2667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&#10;&#10;Description automatically generated" id="1039" name="Google Shape;1039;g3a2a2b3daf0_1_9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9984" y="4282522"/>
            <a:ext cx="2359966" cy="1634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1044" name="Google Shape;1044;g3a2a2b3daf0_1_10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1045" name="Google Shape;1045;g3a2a2b3daf0_1_10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050" name="Google Shape;1050;g3a2a2b3daf0_1_1214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1051" name="Google Shape;1051;g3a2a2b3daf0_1_12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g3a2a2b3daf0_1_1214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3" name="Google Shape;1053;g3a2a2b3daf0_1_1214"/>
          <p:cNvSpPr txBox="1"/>
          <p:nvPr/>
        </p:nvSpPr>
        <p:spPr>
          <a:xfrm>
            <a:off x="364243" y="2450863"/>
            <a:ext cx="4465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venn diagram&#10;&#10;Description automatically generated" id="1058" name="Google Shape;1058;g3a2a2b3daf0_1_12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0980" y="1591200"/>
            <a:ext cx="3675600" cy="367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g3a2a2b3daf0_1_1221"/>
          <p:cNvSpPr txBox="1"/>
          <p:nvPr/>
        </p:nvSpPr>
        <p:spPr>
          <a:xfrm>
            <a:off x="2943060" y="1591200"/>
            <a:ext cx="3631500" cy="2505600"/>
          </a:xfrm>
          <a:prstGeom prst="rect">
            <a:avLst/>
          </a:prstGeom>
          <a:noFill/>
          <a:ln>
            <a:noFill/>
          </a:ln>
          <a:effectLst>
            <a:outerShdw blurRad="165100" sx="103000" rotWithShape="0" algn="tl" dir="2700000" dist="38100" sy="103000">
              <a:srgbClr val="000000">
                <a:alpha val="24310"/>
              </a:srgbClr>
            </a:outerShdw>
          </a:effectLst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What resources are available to help us maintain and promote research integrity? 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3a2a2b3daf0_1_122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rgbClr val="121122"/>
                </a:solidFill>
              </a:rPr>
              <a:t>What resources are available to help us maintain and promote research integrity?</a:t>
            </a:r>
            <a:endParaRPr b="1" sz="2400">
              <a:solidFill>
                <a:srgbClr val="121122"/>
              </a:solidFill>
            </a:endParaRPr>
          </a:p>
        </p:txBody>
      </p:sp>
      <p:sp>
        <p:nvSpPr>
          <p:cNvPr id="1065" name="Google Shape;1065;g3a2a2b3daf0_1_1226"/>
          <p:cNvSpPr txBox="1"/>
          <p:nvPr>
            <p:ph idx="1" type="body"/>
          </p:nvPr>
        </p:nvSpPr>
        <p:spPr>
          <a:xfrm>
            <a:off x="254000" y="1476087"/>
            <a:ext cx="86259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9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000">
                <a:solidFill>
                  <a:srgbClr val="000000"/>
                </a:solidFill>
              </a:rPr>
              <a:t>Many universities have research integrity offices and/or faculty you can contact to discuss matters related to research integrity 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University College Cork Research Integrity support can be accessed </a:t>
            </a:r>
            <a:r>
              <a:rPr lang="en-US" sz="2000" u="sng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endParaRPr sz="2000" u="sng">
              <a:solidFill>
                <a:schemeClr val="accent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University College Cork Research Support Services can be accessed </a:t>
            </a:r>
            <a:r>
              <a:rPr lang="en-US" sz="2000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endParaRPr sz="20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rgbClr val="35855C"/>
              </a:solidFill>
            </a:endParaRPr>
          </a:p>
        </p:txBody>
      </p:sp>
      <p:grpSp>
        <p:nvGrpSpPr>
          <p:cNvPr id="1066" name="Google Shape;1066;g3a2a2b3daf0_1_1226"/>
          <p:cNvGrpSpPr/>
          <p:nvPr/>
        </p:nvGrpSpPr>
        <p:grpSpPr>
          <a:xfrm>
            <a:off x="2476057" y="3657599"/>
            <a:ext cx="4191885" cy="2386739"/>
            <a:chOff x="2409805" y="3657599"/>
            <a:chExt cx="4191885" cy="2386739"/>
          </a:xfrm>
        </p:grpSpPr>
        <p:pic>
          <p:nvPicPr>
            <p:cNvPr descr="A picture containing text, vector graphics&#10;&#10;Description automatically generated" id="1067" name="Google Shape;1067;g3a2a2b3daf0_1_1226"/>
            <p:cNvPicPr preferRelativeResize="0"/>
            <p:nvPr/>
          </p:nvPicPr>
          <p:blipFill rotWithShape="1">
            <a:blip r:embed="rId5">
              <a:alphaModFix/>
            </a:blip>
            <a:srcRect b="23919" l="0" r="0" t="0"/>
            <a:stretch/>
          </p:blipFill>
          <p:spPr>
            <a:xfrm flipH="1">
              <a:off x="2409805" y="3772474"/>
              <a:ext cx="2034743" cy="2271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text&#10;&#10;Description automatically generated" id="1068" name="Google Shape;1068;g3a2a2b3daf0_1_1226"/>
            <p:cNvPicPr preferRelativeResize="0"/>
            <p:nvPr/>
          </p:nvPicPr>
          <p:blipFill rotWithShape="1">
            <a:blip r:embed="rId6">
              <a:alphaModFix/>
            </a:blip>
            <a:srcRect b="23611" l="0" r="0" t="0"/>
            <a:stretch/>
          </p:blipFill>
          <p:spPr>
            <a:xfrm>
              <a:off x="4566950" y="3657599"/>
              <a:ext cx="2034741" cy="238673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a2a2b3daf0_1_1234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rgbClr val="121122"/>
                </a:solidFill>
              </a:rPr>
              <a:t>What resources are available to help us maintain and promote research integrity?</a:t>
            </a:r>
            <a:endParaRPr b="1" sz="2400">
              <a:solidFill>
                <a:srgbClr val="121122"/>
              </a:solidFill>
            </a:endParaRPr>
          </a:p>
        </p:txBody>
      </p:sp>
      <p:sp>
        <p:nvSpPr>
          <p:cNvPr id="1074" name="Google Shape;1074;g3a2a2b3daf0_1_1234"/>
          <p:cNvSpPr txBox="1"/>
          <p:nvPr>
            <p:ph idx="1" type="body"/>
          </p:nvPr>
        </p:nvSpPr>
        <p:spPr>
          <a:xfrm>
            <a:off x="254000" y="1596507"/>
            <a:ext cx="86259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Universities may also organise research integrity workshops and training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In UCC, these include short workshops like</a:t>
            </a:r>
            <a:endParaRPr sz="2000">
              <a:solidFill>
                <a:srgbClr val="000000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 u="sng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Research Integrity, Ethics, &amp; Open Science</a:t>
            </a:r>
            <a:r>
              <a:rPr lang="en-US" sz="2000">
                <a:solidFill>
                  <a:srgbClr val="000000"/>
                </a:solidFill>
              </a:rPr>
              <a:t> </a:t>
            </a:r>
            <a:endParaRPr sz="2000">
              <a:solidFill>
                <a:srgbClr val="000000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Epigeum Online Course on Research Integrity</a:t>
            </a:r>
            <a:endParaRPr sz="20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rgbClr val="35855C"/>
              </a:solidFill>
            </a:endParaRPr>
          </a:p>
        </p:txBody>
      </p:sp>
      <p:pic>
        <p:nvPicPr>
          <p:cNvPr descr="Logo&#10;&#10;Description automatically generated" id="1075" name="Google Shape;1075;g3a2a2b3daf0_1_12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43700" y="3429000"/>
            <a:ext cx="2400300" cy="2787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a2a2b3daf0_1_1240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rgbClr val="121122"/>
                </a:solidFill>
              </a:rPr>
              <a:t>What resources are available to help us maintain and promote research integrity?</a:t>
            </a:r>
            <a:endParaRPr b="1" sz="2400">
              <a:solidFill>
                <a:srgbClr val="121122"/>
              </a:solidFill>
            </a:endParaRPr>
          </a:p>
        </p:txBody>
      </p:sp>
      <p:sp>
        <p:nvSpPr>
          <p:cNvPr id="1081" name="Google Shape;1081;g3a2a2b3daf0_1_1240"/>
          <p:cNvSpPr txBox="1"/>
          <p:nvPr>
            <p:ph idx="1" type="body"/>
          </p:nvPr>
        </p:nvSpPr>
        <p:spPr>
          <a:xfrm>
            <a:off x="254000" y="1209050"/>
            <a:ext cx="8625900" cy="28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In addition to your own university, external organisations can also provide support and guidance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lang="en-US" sz="2000">
                <a:solidFill>
                  <a:srgbClr val="000000"/>
                </a:solidFill>
              </a:rPr>
              <a:t>For example, </a:t>
            </a:r>
            <a:endParaRPr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000" u="sng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National Research Integrity Forum (part of the Irish Universities Association) </a:t>
            </a:r>
            <a:endParaRPr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000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UK Research Integrity Office </a:t>
            </a:r>
            <a:endParaRPr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000" u="sng">
                <a:solidFill>
                  <a:schemeClr val="accent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US Office for Research Integrity </a:t>
            </a:r>
            <a:endParaRPr sz="2000">
              <a:solidFill>
                <a:schemeClr val="accent2"/>
              </a:solidFill>
            </a:endParaRPr>
          </a:p>
          <a:p>
            <a: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</a:pPr>
            <a:r>
              <a:t/>
            </a:r>
            <a:endParaRPr sz="2000">
              <a:solidFill>
                <a:srgbClr val="35855C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a2a2b3daf0_1_124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Activity</a:t>
            </a:r>
            <a:endParaRPr b="1" sz="2400"/>
          </a:p>
        </p:txBody>
      </p:sp>
      <p:sp>
        <p:nvSpPr>
          <p:cNvPr id="1087" name="Google Shape;1087;g3a2a2b3daf0_1_1245"/>
          <p:cNvSpPr txBox="1"/>
          <p:nvPr>
            <p:ph idx="1" type="body"/>
          </p:nvPr>
        </p:nvSpPr>
        <p:spPr>
          <a:xfrm>
            <a:off x="254000" y="990450"/>
            <a:ext cx="6255300" cy="48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Complete the activity on Canvas to reflect on what you could to enhance research integrity in your research.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1092" name="Google Shape;1092;g3a2a2b3daf0_1_12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1093" name="Google Shape;1093;g3a2a2b3daf0_1_12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098" name="Google Shape;1098;g3a2a2b3daf0_1_1652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1099" name="Google Shape;1099;g3a2a2b3daf0_1_16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a2a2b3daf0_1_1652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1" name="Google Shape;1101;g3a2a2b3daf0_1_1652"/>
          <p:cNvSpPr txBox="1"/>
          <p:nvPr/>
        </p:nvSpPr>
        <p:spPr>
          <a:xfrm>
            <a:off x="364243" y="2450863"/>
            <a:ext cx="4465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3a2a2b3daf0_1_1659"/>
          <p:cNvSpPr txBox="1"/>
          <p:nvPr>
            <p:ph idx="1" type="body"/>
          </p:nvPr>
        </p:nvSpPr>
        <p:spPr>
          <a:xfrm>
            <a:off x="254000" y="1209050"/>
            <a:ext cx="84897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952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</a:pPr>
            <a:br>
              <a:rPr b="1" lang="en-US"/>
            </a:b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b="1" sz="1800"/>
          </a:p>
        </p:txBody>
      </p:sp>
      <p:sp>
        <p:nvSpPr>
          <p:cNvPr id="1107" name="Google Shape;1107;g3a2a2b3daf0_1_1659"/>
          <p:cNvSpPr txBox="1"/>
          <p:nvPr/>
        </p:nvSpPr>
        <p:spPr>
          <a:xfrm>
            <a:off x="322100" y="2379465"/>
            <a:ext cx="8489700" cy="14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52244"/>
              </a:buClr>
              <a:buSzPct val="5625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Additional Resources</a:t>
            </a:r>
            <a:endParaRPr b="0" i="0" sz="2800" u="none" cap="none" strike="noStrike">
              <a:solidFill>
                <a:srgbClr val="2522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ct val="64285"/>
              <a:buFont typeface="Arial"/>
              <a:buNone/>
            </a:pPr>
            <a:r>
              <a:t/>
            </a:r>
            <a:endParaRPr b="0" i="0" sz="2800" u="sng" cap="none" strike="noStrike">
              <a:solidFill>
                <a:srgbClr val="FFC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52244"/>
              </a:buClr>
              <a:buSzPct val="45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2522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52244"/>
              </a:buClr>
              <a:buSzPct val="64285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5224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a2a2b3daf0_1_1664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Want to know more about...</a:t>
            </a:r>
            <a:endParaRPr b="1" sz="2400"/>
          </a:p>
        </p:txBody>
      </p:sp>
      <p:sp>
        <p:nvSpPr>
          <p:cNvPr id="1113" name="Google Shape;1113;g3a2a2b3daf0_1_1664"/>
          <p:cNvSpPr txBox="1"/>
          <p:nvPr>
            <p:ph idx="1" type="body"/>
          </p:nvPr>
        </p:nvSpPr>
        <p:spPr>
          <a:xfrm>
            <a:off x="254000" y="954999"/>
            <a:ext cx="84897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1" marL="14287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/>
          </a:p>
          <a:p>
            <a:pPr indent="0" lvl="1" marL="14287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/>
              <a:t>Research Integrity Guidance?</a:t>
            </a:r>
            <a:endParaRPr/>
          </a:p>
          <a:p>
            <a:pPr indent="0" lvl="1" marL="14287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b="1" sz="1000"/>
          </a:p>
          <a:p>
            <a:pPr indent="-381000" lvl="1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2400"/>
              <a:buFont typeface="Roboto"/>
              <a:buChar char="•"/>
            </a:pPr>
            <a:r>
              <a:rPr lang="en-US" sz="2000" u="sng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Take a look at European Code of Conduct for Research Integrity </a:t>
            </a:r>
            <a:endParaRPr sz="2000" u="sng">
              <a:solidFill>
                <a:schemeClr val="accent2"/>
              </a:solidFill>
            </a:endParaRPr>
          </a:p>
          <a:p>
            <a:pPr indent="-228600" lvl="0" marL="3429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2000"/>
          </a:p>
          <a:p>
            <a:pPr indent="-228600" lvl="0" marL="3429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2000"/>
          </a:p>
          <a:p>
            <a:pPr indent="0" lvl="1" marL="14287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/>
              <a:t>How to present data with integrity? </a:t>
            </a:r>
            <a:endParaRPr/>
          </a:p>
          <a:p>
            <a:pPr indent="0" lvl="1" marL="14287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1000"/>
          </a:p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2400"/>
              <a:buFont typeface="Roboto"/>
              <a:buChar char="•"/>
            </a:pPr>
            <a:r>
              <a:rPr lang="en-US" sz="2000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See the Office of Research Integrity guidelines here</a:t>
            </a:r>
            <a:endParaRPr sz="2000" u="sng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1800"/>
              <a:buNone/>
            </a:pPr>
            <a:r>
              <a:rPr lang="en-US" sz="2400">
                <a:solidFill>
                  <a:srgbClr val="000000"/>
                </a:solidFill>
              </a:rPr>
              <a:t>Current issues in research integrity?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1800"/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2400"/>
              <a:buFont typeface="Roboto"/>
              <a:buChar char="•"/>
            </a:pPr>
            <a:r>
              <a:rPr lang="en-US" sz="2000" u="sng">
                <a:solidFill>
                  <a:schemeClr val="accent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Read the Science Integrity Digest</a:t>
            </a:r>
            <a:r>
              <a:rPr lang="en-US" sz="2000" u="sng">
                <a:solidFill>
                  <a:schemeClr val="accent2"/>
                </a:solidFill>
              </a:rPr>
              <a:t> blog by Dr Elisabeth Bik</a:t>
            </a:r>
            <a:endParaRPr sz="20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2000"/>
          </a:p>
          <a:p>
            <a:pPr indent="-228600" lvl="1" marL="8001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1800"/>
          </a:p>
          <a:p>
            <a:pPr indent="0" lvl="1" marL="4572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br>
              <a:rPr lang="en-US" sz="1800"/>
            </a:br>
            <a:endParaRPr sz="1800"/>
          </a:p>
          <a:p>
            <a:pPr indent="-228600" lvl="1" marL="8001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1" marL="8001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0" marL="3429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2200"/>
          </a:p>
          <a:p>
            <a:pPr indent="-228600" lvl="0" marL="3429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b="1" sz="22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3a2a2b3daf0_1_166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Want to know more about...</a:t>
            </a:r>
            <a:endParaRPr b="1" sz="2400"/>
          </a:p>
        </p:txBody>
      </p:sp>
      <p:sp>
        <p:nvSpPr>
          <p:cNvPr id="1119" name="Google Shape;1119;g3a2a2b3daf0_1_1669"/>
          <p:cNvSpPr txBox="1"/>
          <p:nvPr>
            <p:ph idx="1" type="body"/>
          </p:nvPr>
        </p:nvSpPr>
        <p:spPr>
          <a:xfrm>
            <a:off x="254000" y="954999"/>
            <a:ext cx="84897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14287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/>
          </a:p>
          <a:p>
            <a:pPr indent="0" lvl="1" marL="14287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/>
              <a:t>The state of research integrity and science and how to improve it?</a:t>
            </a:r>
            <a:endParaRPr/>
          </a:p>
          <a:p>
            <a:pPr indent="-381000" lvl="1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2400"/>
              <a:buFont typeface="Roboto"/>
              <a:buChar char="•"/>
            </a:pPr>
            <a:r>
              <a:rPr lang="en-US" sz="2000" u="sng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Titus, S., Wells, J. &amp; Rhoades, L. Repairing research integrity (2008). Nature, 453, 980–982. </a:t>
            </a:r>
            <a:endParaRPr sz="1800">
              <a:solidFill>
                <a:schemeClr val="accent2"/>
              </a:solidFill>
            </a:endParaRPr>
          </a:p>
          <a:p>
            <a:pPr indent="0" lvl="1" marL="4572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1800"/>
          </a:p>
          <a:p>
            <a:pPr indent="0" lvl="1" marL="4572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1800"/>
          </a:p>
          <a:p>
            <a:pPr indent="0" lvl="1" marL="14287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/>
              <a:t>Whose responsibility is research integrity?</a:t>
            </a:r>
            <a:endParaRPr sz="1800">
              <a:solidFill>
                <a:srgbClr val="000000"/>
              </a:solidFill>
            </a:endParaRPr>
          </a:p>
          <a:p>
            <a:pPr indent="-285750" lvl="1" marL="300037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Mitcham, C. Co-responsibility for research integrity (2003). Science and Engineering Ethics, 9, 273–290. </a:t>
            </a:r>
            <a:br>
              <a:rPr lang="en-US" sz="1800"/>
            </a:br>
            <a:endParaRPr sz="1800"/>
          </a:p>
          <a:p>
            <a:pPr indent="-228600" lvl="1" marL="8001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1" marL="8001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0" marL="3429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2200"/>
          </a:p>
          <a:p>
            <a:pPr indent="-228600" lvl="0" marL="3429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b="1" sz="22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3a2a2b3daf0_1_1674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Want to know more about. . . </a:t>
            </a:r>
            <a:endParaRPr b="1" sz="2400"/>
          </a:p>
        </p:txBody>
      </p:sp>
      <p:sp>
        <p:nvSpPr>
          <p:cNvPr id="1125" name="Google Shape;1125;g3a2a2b3daf0_1_1674"/>
          <p:cNvSpPr txBox="1"/>
          <p:nvPr>
            <p:ph idx="1" type="body"/>
          </p:nvPr>
        </p:nvSpPr>
        <p:spPr>
          <a:xfrm>
            <a:off x="254000" y="1209050"/>
            <a:ext cx="86259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solidFill>
                  <a:srgbClr val="000000"/>
                </a:solidFill>
              </a:rPr>
              <a:t>Research integrity and public trust in data?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41312" lvl="1" marL="355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Char char="•"/>
            </a:pPr>
            <a:r>
              <a:rPr lang="en-US" sz="2000" u="sng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TEDTalk: Trust in research -- the ethics of knowledge production</a:t>
            </a:r>
            <a:endParaRPr sz="2000" u="sng">
              <a:solidFill>
                <a:schemeClr val="accent2"/>
              </a:solidFill>
            </a:endParaRPr>
          </a:p>
          <a:p>
            <a:pPr indent="-341312" lvl="2" marL="812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Char char="•"/>
            </a:pPr>
            <a:r>
              <a:rPr lang="en-US">
                <a:solidFill>
                  <a:srgbClr val="121122"/>
                </a:solidFill>
              </a:rPr>
              <a:t>This is a clear 12-minute talk on research integrity</a:t>
            </a:r>
            <a:endParaRPr/>
          </a:p>
          <a:p>
            <a:pPr indent="-188912" lvl="2" marL="812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None/>
            </a:pPr>
            <a:r>
              <a:t/>
            </a:r>
            <a:endParaRPr>
              <a:solidFill>
                <a:srgbClr val="121122"/>
              </a:solidFill>
            </a:endParaRPr>
          </a:p>
          <a:p>
            <a:pPr indent="-341312" lvl="1" marL="355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Char char="•"/>
            </a:pPr>
            <a:r>
              <a:rPr lang="en-US" sz="2000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Vaccine-Autism Myth Started 20 Years Ago. Here's Why It Still Endures Today</a:t>
            </a:r>
            <a:endParaRPr sz="2000" u="sng">
              <a:solidFill>
                <a:schemeClr val="accent2"/>
              </a:solidFill>
            </a:endParaRPr>
          </a:p>
          <a:p>
            <a:pPr indent="-341312" lvl="2" marL="812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Char char="•"/>
            </a:pPr>
            <a:r>
              <a:rPr lang="en-US">
                <a:solidFill>
                  <a:srgbClr val="121122"/>
                </a:solidFill>
              </a:rPr>
              <a:t>This is a short article outlining a good example of the importance of trust in research</a:t>
            </a:r>
            <a:endParaRPr b="1"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a2a2b3daf0_1_167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Want to know more about. . . </a:t>
            </a:r>
            <a:endParaRPr b="1" sz="2400"/>
          </a:p>
        </p:txBody>
      </p:sp>
      <p:sp>
        <p:nvSpPr>
          <p:cNvPr id="1131" name="Google Shape;1131;g3a2a2b3daf0_1_1679"/>
          <p:cNvSpPr txBox="1"/>
          <p:nvPr>
            <p:ph idx="1" type="body"/>
          </p:nvPr>
        </p:nvSpPr>
        <p:spPr>
          <a:xfrm>
            <a:off x="254000" y="1209050"/>
            <a:ext cx="86259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2400"/>
              <a:t>Practices that undermine research integrity?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2400"/>
          </a:p>
          <a:p>
            <a:pPr indent="-385762" lvl="1" marL="385762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2000" u="sng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Take a look at this video on threats to research integrity</a:t>
            </a:r>
            <a:endParaRPr sz="2000">
              <a:solidFill>
                <a:schemeClr val="accent2"/>
              </a:solidFill>
            </a:endParaRPr>
          </a:p>
          <a:p>
            <a:pPr indent="-385762" lvl="1" marL="385762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2000">
              <a:solidFill>
                <a:schemeClr val="accent2"/>
              </a:solidFill>
            </a:endParaRPr>
          </a:p>
          <a:p>
            <a:pPr indent="-385762" lvl="1" marL="385762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2000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Read this newspaper article outlining a case of research misconduct</a:t>
            </a:r>
            <a:endParaRPr/>
          </a:p>
          <a:p>
            <a:pPr indent="-271462" lvl="1" marL="385762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2000" u="sng">
              <a:solidFill>
                <a:srgbClr val="0070C0"/>
              </a:solidFill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271462" lvl="1" marL="385762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2000" u="sng">
              <a:solidFill>
                <a:srgbClr val="0070C0"/>
              </a:solidFill>
              <a:hlinkClick r:id="rId6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1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>
                <a:solidFill>
                  <a:srgbClr val="000000"/>
                </a:solidFill>
              </a:rPr>
              <a:t>How common questionable research practices are?</a:t>
            </a:r>
            <a:endParaRPr/>
          </a:p>
          <a:p>
            <a:pPr indent="-342900" lvl="1" marL="3429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2000" u="sng">
                <a:solidFill>
                  <a:schemeClr val="accent2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John, L. K., Loewenstein, G., &amp; Prelec, D. (2012). Measuring the prevalence of questionable research practices with incentives for truth telling. Psychological Science, 23(5), 524-532.</a:t>
            </a:r>
            <a:endParaRPr sz="2000" u="sng">
              <a:solidFill>
                <a:schemeClr val="accent2"/>
              </a:solidFill>
              <a:hlinkClick r:id="rId8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271462" lvl="1" marL="385762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2000" u="sng">
              <a:solidFill>
                <a:srgbClr val="0070C0"/>
              </a:solidFill>
              <a:hlinkClick r:id="rId9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271462" lvl="1" marL="385762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2000" u="sng">
              <a:solidFill>
                <a:srgbClr val="0070C0"/>
              </a:solidFill>
              <a:hlinkClick r:id="rId10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1136" name="Google Shape;1136;g3a2a2b3daf0_1_16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1137" name="Google Shape;1137;g3a2a2b3daf0_1_16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7_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7_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2021-03-16T17:05:21Z</dcterms:created>
  <dc:creator>Orlagh O'Brien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0x010100AA7A9ED9D3E8CD4BAE96912ACCE469BD</vt:lpwstr>
  </property>
</Properties>
</file>