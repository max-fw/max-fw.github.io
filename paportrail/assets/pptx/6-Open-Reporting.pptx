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9144000"/>
  <p:notesSz cx="6858000" cy="9144000"/>
  <p:embeddedFontLst>
    <p:embeddedFont>
      <p:font typeface="Roboto Black"/>
      <p:bold r:id="rId48"/>
      <p:boldItalic r:id="rId49"/>
    </p:embeddedFont>
    <p:embeddedFont>
      <p:font typeface="Roboto"/>
      <p:regular r:id="rId50"/>
      <p:bold r:id="rId51"/>
      <p:italic r:id="rId52"/>
      <p:boldItalic r:id="rId53"/>
    </p:embeddedFont>
    <p:embeddedFont>
      <p:font typeface="Roboto Medium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4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jHe+fHPG9GseO0mzkrKk00ZdQK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F8B9D6-F231-4CD8-B4CC-EF52D7506398}">
  <a:tblStyle styleId="{A1F8B9D6-F231-4CD8-B4CC-EF52D750639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7E7E8"/>
          </a:solidFill>
        </a:fill>
      </a:tcStyle>
    </a:band1H>
    <a:band2H>
      <a:tcTxStyle/>
    </a:band2H>
    <a:band1V>
      <a:tcTxStyle/>
      <a:tcStyle>
        <a:fill>
          <a:solidFill>
            <a:srgbClr val="E7E7E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Arial"/>
          <a:ea typeface="Arial"/>
          <a:cs typeface="Arial"/>
        </a:font>
        <a:schemeClr val="dk1"/>
      </a:tcTxStyle>
    </a:seCell>
    <a:swCell>
      <a:tcTxStyle b="on" i="off">
        <a:font>
          <a:latin typeface="Arial"/>
          <a:ea typeface="Arial"/>
          <a:cs typeface="Arial"/>
        </a:font>
        <a:schemeClr val="dk1"/>
      </a:tcTx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4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RobotoBlack-bold.fntdata"/><Relationship Id="rId47" Type="http://schemas.openxmlformats.org/officeDocument/2006/relationships/slide" Target="slides/slide39.xml"/><Relationship Id="rId49" Type="http://schemas.openxmlformats.org/officeDocument/2006/relationships/font" Target="fonts/RobotoBlack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3.xml"/><Relationship Id="rId55" Type="http://schemas.openxmlformats.org/officeDocument/2006/relationships/font" Target="fonts/RobotoMedium-bold.fntdata"/><Relationship Id="rId10" Type="http://schemas.openxmlformats.org/officeDocument/2006/relationships/slide" Target="slides/slide2.xml"/><Relationship Id="rId54" Type="http://schemas.openxmlformats.org/officeDocument/2006/relationships/font" Target="fonts/RobotoMedium-regular.fntdata"/><Relationship Id="rId13" Type="http://schemas.openxmlformats.org/officeDocument/2006/relationships/slide" Target="slides/slide5.xml"/><Relationship Id="rId57" Type="http://schemas.openxmlformats.org/officeDocument/2006/relationships/font" Target="fonts/RobotoMedium-boldItalic.fntdata"/><Relationship Id="rId12" Type="http://schemas.openxmlformats.org/officeDocument/2006/relationships/slide" Target="slides/slide4.xml"/><Relationship Id="rId56" Type="http://schemas.openxmlformats.org/officeDocument/2006/relationships/font" Target="fonts/RobotoMedium-italic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58" Type="http://customschemas.google.com/relationships/presentationmetadata" Target="meta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da8f3faf8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da8f3faf85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da8f3faf8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da8f3faf85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a8f3faf8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da8f3faf85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a8f3faf8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da8f3faf85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a8f3faf8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gda8f3faf85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2a1d981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g3a2a1d9814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2a1d981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3a2a1d9814a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2a1d9814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73" name="Google Shape;373;g3a2a1d9814a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2a1d981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9" name="Google Shape;409;g3a2a1d9814a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2a1d9814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3" name="Google Shape;433;g3a2a1d9814a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2a1d9814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g3a2a1d9814a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2a1d9814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g3a2a1d9814a_0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2a1d9814a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g3a2a1d9814a_0_2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2a1d9814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5" name="Google Shape;485;g3a2a1d9814a_0_2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a2a1d9814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g3a2a1d9814a_0_2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2a1d9814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g3a2a1d9814a_0_2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a2a1d9814a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g3a2a1d9814a_0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2a1d9814a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7" name="Google Shape;527;g3a2a1d9814a_0_3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2a1d9814a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5" name="Google Shape;545;g3a2a1d9814a_0_3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2a1d9814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1" name="Google Shape;571;g3a2a1d9814a_0_3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2a1d9814a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9" name="Google Shape;599;g3a2a1d9814a_0_3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2a1d9814a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5" name="Google Shape;605;g3a2a1d9814a_0_5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a2a1d9814a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3" name="Google Shape;613;g3a2a1d9814a_0_5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2a1d9814a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20" name="Google Shape;620;g3a2a1d9814a_0_5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2a1d9814a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31" name="Google Shape;631;g3a2a1d9814a_0_5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a2a1d9814a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641" name="Google Shape;641;g3a2a1d9814a_0_5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2a1d9814a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t/>
            </a:r>
            <a:endParaRPr sz="1400">
              <a:solidFill>
                <a:srgbClr val="2522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661" name="Google Shape;661;g3a2a1d9814a_0_5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a2a1d9814a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400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675" name="Google Shape;675;g3a2a1d9814a_0_5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a2a1d9814a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683" name="Google Shape;683;g3a2a1d9814a_0_5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a2a1d9814a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400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691" name="Google Shape;691;g3a2a1d9814a_0_6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a2a1d9814a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9" name="Google Shape;699;g3a2a1d9814a_0_6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a2a1d9814a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5" name="Google Shape;705;g3a2a1d9814a_0_8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a2a1d9814a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3" name="Google Shape;713;g3a2a1d9814a_0_8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2a1d9814a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9" name="Google Shape;719;g3a2a1d9814a_0_8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a2a1d9814a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5" name="Google Shape;725;g3a2a1d9814a_0_8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2a1d9814a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1" name="Google Shape;731;g3a2a1d9814a_0_8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9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0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24" name="Google Shape;24;p6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1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1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1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2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2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6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" name="Google Shape;47;p6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6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6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5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5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6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6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6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6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2a1d9814a_0_25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a2a1d9814a_0_25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a2a1d9814a_0_25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a2a1d9814a_0_25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2a1d9814a_0_25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a2a1d9814a_0_257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g3a2a1d9814a_0_25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a2a1d9814a_0_25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a2a1d9814a_0_25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2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2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5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7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1" name="Google Shape;101;p6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8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07" name="Google Shape;107;p6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6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9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69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6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6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7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70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7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70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7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7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7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7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7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3" name="Google Shape;133;p7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7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7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7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1" name="Google Shape;141;p7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7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4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4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7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7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5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75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7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7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2a1d9814a_0_88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a2a1d9814a_0_88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a2a1d9814a_0_88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2a1d9814a_0_88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a2a1d9814a_0_887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g3a2a1d9814a_0_88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a2a1d9814a_0_88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a2a1d9814a_0_88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g3a2a1d9814a_0_887"/>
          <p:cNvSpPr txBox="1"/>
          <p:nvPr/>
        </p:nvSpPr>
        <p:spPr>
          <a:xfrm>
            <a:off x="5779958" y="6344082"/>
            <a:ext cx="3220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rgbClr val="757070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2a1d9814a_0_894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g3a2a1d9814a_0_894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6" name="Google Shape;176;g3a2a1d9814a_0_89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a2a1d9814a_0_89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a2a1d9814a_0_89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2a1d9814a_0_900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a2a1d9814a_0_900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82" name="Google Shape;182;g3a2a1d9814a_0_90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a2a1d9814a_0_90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3a2a1d9814a_0_90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2a1d9814a_0_90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a2a1d9814a_0_906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g3a2a1d9814a_0_906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g3a2a1d9814a_0_90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a2a1d9814a_0_90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g3a2a1d9814a_0_90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2a1d9814a_0_913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a2a1d9814a_0_913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g3a2a1d9814a_0_913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g3a2a1d9814a_0_913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g3a2a1d9814a_0_913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g3a2a1d9814a_0_91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3a2a1d9814a_0_91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g3a2a1d9814a_0_91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2a1d9814a_0_922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a2a1d9814a_0_922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4" name="Google Shape;204;g3a2a1d9814a_0_922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5" name="Google Shape;205;g3a2a1d9814a_0_92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g3a2a1d9814a_0_92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a2a1d9814a_0_92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2a1d9814a_0_929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a2a1d9814a_0_929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g3a2a1d9814a_0_929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2" name="Google Shape;212;g3a2a1d9814a_0_92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a2a1d9814a_0_92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a2a1d9814a_0_92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2a1d9814a_0_93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a2a1d9814a_0_936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g3a2a1d9814a_0_93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a2a1d9814a_0_93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a2a1d9814a_0_93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2a1d9814a_0_942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g3a2a1d9814a_0_942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g3a2a1d9814a_0_94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g3a2a1d9814a_0_94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3a2a1d9814a_0_94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0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50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5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5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50"/>
          <p:cNvSpPr txBox="1"/>
          <p:nvPr/>
        </p:nvSpPr>
        <p:spPr>
          <a:xfrm>
            <a:off x="5779958" y="6344082"/>
            <a:ext cx="3220344" cy="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rgbClr val="F66640"/>
                </a:solidFill>
                <a:latin typeface="Roboto"/>
                <a:ea typeface="Roboto"/>
                <a:cs typeface="Roboto"/>
                <a:sym typeface="Roboto"/>
              </a:rPr>
              <a:t>5 – Open Reporting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2a1d9814a_0_87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g3a2a1d9814a_0_877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g3a2a1d9814a_0_87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g3a2a1d9814a_0_87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g3a2a1d9814a_0_87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38.png"/><Relationship Id="rId6" Type="http://schemas.openxmlformats.org/officeDocument/2006/relationships/image" Target="../media/image24.png"/><Relationship Id="rId7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Relationship Id="rId6" Type="http://schemas.openxmlformats.org/officeDocument/2006/relationships/image" Target="../media/image13.png"/><Relationship Id="rId7" Type="http://schemas.openxmlformats.org/officeDocument/2006/relationships/image" Target="../media/image49.png"/><Relationship Id="rId8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9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jp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6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Relationship Id="rId4" Type="http://schemas.openxmlformats.org/officeDocument/2006/relationships/image" Target="../media/image6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52.png"/><Relationship Id="rId5" Type="http://schemas.openxmlformats.org/officeDocument/2006/relationships/image" Target="../media/image14.png"/><Relationship Id="rId6" Type="http://schemas.openxmlformats.org/officeDocument/2006/relationships/image" Target="../media/image71.png"/><Relationship Id="rId7" Type="http://schemas.openxmlformats.org/officeDocument/2006/relationships/image" Target="../media/image6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Relationship Id="rId4" Type="http://schemas.openxmlformats.org/officeDocument/2006/relationships/image" Target="../media/image9.png"/><Relationship Id="rId5" Type="http://schemas.openxmlformats.org/officeDocument/2006/relationships/image" Target="../media/image50.png"/><Relationship Id="rId6" Type="http://schemas.openxmlformats.org/officeDocument/2006/relationships/image" Target="../media/image72.png"/><Relationship Id="rId7" Type="http://schemas.openxmlformats.org/officeDocument/2006/relationships/hyperlink" Target="https://www.equator-network.org/" TargetMode="External"/><Relationship Id="rId8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9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hyperlink" Target="http://prisma-statement.org/PRISMAStatement/Checklist" TargetMode="External"/><Relationship Id="rId10" Type="http://schemas.openxmlformats.org/officeDocument/2006/relationships/hyperlink" Target="https://www.strobe-statement.org/index.php?id=available-checklists" TargetMode="External"/><Relationship Id="rId13" Type="http://schemas.openxmlformats.org/officeDocument/2006/relationships/hyperlink" Target="https://www.tripod-statement.org/" TargetMode="External"/><Relationship Id="rId12" Type="http://schemas.openxmlformats.org/officeDocument/2006/relationships/hyperlink" Target="https://bmjopen.bmj.com/content/6/11/e012799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spirit-statement.org/" TargetMode="External"/><Relationship Id="rId4" Type="http://schemas.openxmlformats.org/officeDocument/2006/relationships/hyperlink" Target="http://www.prisma-statement.org/Extensions/Protocols.aspx" TargetMode="External"/><Relationship Id="rId9" Type="http://schemas.openxmlformats.org/officeDocument/2006/relationships/hyperlink" Target="http://www.consort-statement.org/" TargetMode="External"/><Relationship Id="rId15" Type="http://schemas.openxmlformats.org/officeDocument/2006/relationships/hyperlink" Target="https://www.care-statement.org/" TargetMode="External"/><Relationship Id="rId14" Type="http://schemas.openxmlformats.org/officeDocument/2006/relationships/hyperlink" Target="https://www.tripod-statement.org/" TargetMode="External"/><Relationship Id="rId17" Type="http://schemas.openxmlformats.org/officeDocument/2006/relationships/image" Target="../media/image85.png"/><Relationship Id="rId16" Type="http://schemas.openxmlformats.org/officeDocument/2006/relationships/image" Target="../media/image78.png"/><Relationship Id="rId5" Type="http://schemas.openxmlformats.org/officeDocument/2006/relationships/hyperlink" Target="http://www.prisma-statement.org/Extensions/Protocols.aspx" TargetMode="External"/><Relationship Id="rId6" Type="http://schemas.openxmlformats.org/officeDocument/2006/relationships/hyperlink" Target="https://bmjopen.bmj.com/content/suppl/2015/10/19/bmjopen-2015-008847.DC1/bmjopen-2015-008847supp.pdf" TargetMode="External"/><Relationship Id="rId7" Type="http://schemas.openxmlformats.org/officeDocument/2006/relationships/hyperlink" Target="https://journals.lww.com/academicmedicine/fulltext/2014/09000/standards_for_reporting_qualitative_research__a.21.aspx" TargetMode="External"/><Relationship Id="rId8" Type="http://schemas.openxmlformats.org/officeDocument/2006/relationships/hyperlink" Target="https://journals.lww.com/academicmedicine/fulltext/2014/09000/standards_for_reporting_qualitative_research__a.21.aspx" TargetMode="External"/></Relationships>
</file>

<file path=ppt/slides/_rels/slide2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hyperlink" Target="https://mfr.osf.io/render?url=https://osf.io/y8aqx/?direct%26mode=render%26action=download%26mode=render" TargetMode="External"/><Relationship Id="rId12" Type="http://schemas.openxmlformats.org/officeDocument/2006/relationships/image" Target="../media/image85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agreetrust.org/practice-guidelines/" TargetMode="External"/><Relationship Id="rId4" Type="http://schemas.openxmlformats.org/officeDocument/2006/relationships/hyperlink" Target="http://www.right-statement.org/" TargetMode="External"/><Relationship Id="rId9" Type="http://schemas.openxmlformats.org/officeDocument/2006/relationships/hyperlink" Target="https://link.springer.com/article/10.1007/s10664-008-9102-8" TargetMode="External"/><Relationship Id="rId5" Type="http://schemas.openxmlformats.org/officeDocument/2006/relationships/hyperlink" Target="http://www.right-statement.org/" TargetMode="External"/><Relationship Id="rId6" Type="http://schemas.openxmlformats.org/officeDocument/2006/relationships/hyperlink" Target="https://arriveguidelines.org/" TargetMode="External"/><Relationship Id="rId7" Type="http://schemas.openxmlformats.org/officeDocument/2006/relationships/hyperlink" Target="http://squire-statement.org/index.cfm?fuseaction=Page.ViewPage&amp;PageID=471" TargetMode="External"/><Relationship Id="rId8" Type="http://schemas.openxmlformats.org/officeDocument/2006/relationships/hyperlink" Target="https://www.ispor.org/heor-resources/good-practices-for-outcomes-research/article/consolidated-health-economic-evaluation-reporting-standards-(cheers)---explanation-and-elaboration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36.png"/><Relationship Id="rId6" Type="http://schemas.openxmlformats.org/officeDocument/2006/relationships/image" Target="../media/image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0.png"/><Relationship Id="rId4" Type="http://schemas.openxmlformats.org/officeDocument/2006/relationships/image" Target="../media/image89.png"/><Relationship Id="rId5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prisma-statement.org/documents/PRISMA%202009%20checklist.pdf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journals.lww.com/academicmedicine/fulltext/2014/09000/Standards_for_Reporting_Qualitative_Research__A.21.aspx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strobe-statement.org/fileadmin/Strobe/uploads/checklists/STROBE_checklist_v4_combined.pdf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jpg"/><Relationship Id="rId4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equator-network.org/toolkits/selecting-the-appropriate-reporting-guideline/" TargetMode="External"/><Relationship Id="rId4" Type="http://schemas.openxmlformats.org/officeDocument/2006/relationships/hyperlink" Target="https://www.equator-network.org/toolkits/developing-a-reporting-guideline/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oi.org/10.1093/pubmed/fdu108" TargetMode="External"/><Relationship Id="rId4" Type="http://schemas.openxmlformats.org/officeDocument/2006/relationships/hyperlink" Target="https://doi.org/10.3389/fpsyg.2016.01832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31" name="Google Shape;231;p1"/>
          <p:cNvPicPr preferRelativeResize="0"/>
          <p:nvPr/>
        </p:nvPicPr>
        <p:blipFill rotWithShape="1">
          <a:blip r:embed="rId3">
            <a:alphaModFix/>
          </a:blip>
          <a:srcRect b="11539" l="33076" r="0" t="0"/>
          <a:stretch/>
        </p:blipFill>
        <p:spPr>
          <a:xfrm>
            <a:off x="2150534" y="0"/>
            <a:ext cx="6993466" cy="6933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232" name="Google Shape;23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"/>
          <p:cNvSpPr txBox="1"/>
          <p:nvPr/>
        </p:nvSpPr>
        <p:spPr>
          <a:xfrm>
            <a:off x="364243" y="1660140"/>
            <a:ext cx="3697118" cy="90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"/>
          <p:cNvSpPr txBox="1"/>
          <p:nvPr/>
        </p:nvSpPr>
        <p:spPr>
          <a:xfrm>
            <a:off x="364243" y="2239799"/>
            <a:ext cx="3613991" cy="126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/>
              <a:t>Module 5 – </a:t>
            </a:r>
            <a:r>
              <a:rPr b="1" lang="en-US" sz="2400"/>
              <a:t>Open Reporting</a:t>
            </a:r>
            <a:endParaRPr sz="2400"/>
          </a:p>
        </p:txBody>
      </p:sp>
      <p:sp>
        <p:nvSpPr>
          <p:cNvPr id="241" name="Google Shape;241;p23"/>
          <p:cNvSpPr txBox="1"/>
          <p:nvPr/>
        </p:nvSpPr>
        <p:spPr>
          <a:xfrm>
            <a:off x="2705715" y="1565991"/>
            <a:ext cx="3702577" cy="1315076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3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is Open Reporting?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da8f3faf85_0_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open reporting? 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47" name="Google Shape;247;gda8f3faf85_0_9"/>
          <p:cNvSpPr txBox="1"/>
          <p:nvPr>
            <p:ph idx="1" type="body"/>
          </p:nvPr>
        </p:nvSpPr>
        <p:spPr>
          <a:xfrm>
            <a:off x="254000" y="1209050"/>
            <a:ext cx="83145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Open reporting is the practice of providing a </a:t>
            </a:r>
            <a:r>
              <a:rPr b="1" lang="en-US" sz="2000"/>
              <a:t>full, clear, and specific </a:t>
            </a:r>
            <a:r>
              <a:rPr lang="en-US" sz="2000"/>
              <a:t>account of how research was conducted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0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This is done according to a standard template or set of guidelines </a:t>
            </a:r>
            <a:endParaRPr b="1" sz="2000"/>
          </a:p>
        </p:txBody>
      </p:sp>
      <p:grpSp>
        <p:nvGrpSpPr>
          <p:cNvPr id="248" name="Google Shape;248;gda8f3faf85_0_9"/>
          <p:cNvGrpSpPr/>
          <p:nvPr/>
        </p:nvGrpSpPr>
        <p:grpSpPr>
          <a:xfrm>
            <a:off x="2210365" y="2279125"/>
            <a:ext cx="4782442" cy="5098368"/>
            <a:chOff x="2284688" y="2140580"/>
            <a:chExt cx="4782442" cy="5098368"/>
          </a:xfrm>
        </p:grpSpPr>
        <p:grpSp>
          <p:nvGrpSpPr>
            <p:cNvPr id="249" name="Google Shape;249;gda8f3faf85_0_9"/>
            <p:cNvGrpSpPr/>
            <p:nvPr/>
          </p:nvGrpSpPr>
          <p:grpSpPr>
            <a:xfrm rot="-1410161">
              <a:off x="2951018" y="2660072"/>
              <a:ext cx="3449782" cy="4059383"/>
              <a:chOff x="2951018" y="2660072"/>
              <a:chExt cx="3449782" cy="4059383"/>
            </a:xfrm>
          </p:grpSpPr>
          <p:pic>
            <p:nvPicPr>
              <p:cNvPr descr="Icon&#10;&#10;Description automatically generated" id="250" name="Google Shape;250;gda8f3faf85_0_9"/>
              <p:cNvPicPr preferRelativeResize="0"/>
              <p:nvPr/>
            </p:nvPicPr>
            <p:blipFill rotWithShape="1">
              <a:blip r:embed="rId3">
                <a:alphaModFix/>
              </a:blip>
              <a:srcRect b="9713" l="22024" r="11883" t="20159"/>
              <a:stretch/>
            </p:blipFill>
            <p:spPr>
              <a:xfrm>
                <a:off x="2951018" y="2660072"/>
                <a:ext cx="3449782" cy="40593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" name="Google Shape;251;gda8f3faf85_0_9"/>
              <p:cNvSpPr/>
              <p:nvPr/>
            </p:nvSpPr>
            <p:spPr>
              <a:xfrm>
                <a:off x="3209205" y="2803549"/>
                <a:ext cx="1704109" cy="1788632"/>
              </a:xfrm>
              <a:prstGeom prst="ellipse">
                <a:avLst/>
              </a:prstGeom>
              <a:solidFill>
                <a:srgbClr val="FFF0EC"/>
              </a:solidFill>
              <a:ln cap="flat" cmpd="sng" w="25400">
                <a:solidFill>
                  <a:srgbClr val="FFF0E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Diagram&#10;&#10;Description automatically generated" id="252" name="Google Shape;252;gda8f3faf85_0_9"/>
            <p:cNvPicPr preferRelativeResize="0"/>
            <p:nvPr/>
          </p:nvPicPr>
          <p:blipFill rotWithShape="1">
            <a:blip r:embed="rId4">
              <a:alphaModFix/>
            </a:blip>
            <a:srcRect b="12959" l="18533" r="19439" t="0"/>
            <a:stretch/>
          </p:blipFill>
          <p:spPr>
            <a:xfrm>
              <a:off x="2881745" y="3066523"/>
              <a:ext cx="1794164" cy="19174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da8f3faf85_0_1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open reporting?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258" name="Google Shape;258;gda8f3faf85_0_15"/>
          <p:cNvGrpSpPr/>
          <p:nvPr/>
        </p:nvGrpSpPr>
        <p:grpSpPr>
          <a:xfrm>
            <a:off x="4634712" y="3402251"/>
            <a:ext cx="4179600" cy="2466092"/>
            <a:chOff x="4634712" y="3402251"/>
            <a:chExt cx="4179600" cy="2466092"/>
          </a:xfrm>
        </p:grpSpPr>
        <p:sp>
          <p:nvSpPr>
            <p:cNvPr id="259" name="Google Shape;259;gda8f3faf85_0_15"/>
            <p:cNvSpPr/>
            <p:nvPr/>
          </p:nvSpPr>
          <p:spPr>
            <a:xfrm>
              <a:off x="4634712" y="3416742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0" name="Google Shape;260;gda8f3faf85_0_15"/>
            <p:cNvPicPr preferRelativeResize="0"/>
            <p:nvPr/>
          </p:nvPicPr>
          <p:blipFill rotWithShape="1">
            <a:blip r:embed="rId3">
              <a:alphaModFix/>
            </a:blip>
            <a:srcRect b="49075" l="0" r="27068" t="0"/>
            <a:stretch/>
          </p:blipFill>
          <p:spPr>
            <a:xfrm>
              <a:off x="6639946" y="3749051"/>
              <a:ext cx="2174365" cy="21192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gda8f3faf85_0_15"/>
            <p:cNvPicPr preferRelativeResize="0"/>
            <p:nvPr/>
          </p:nvPicPr>
          <p:blipFill rotWithShape="1">
            <a:blip r:embed="rId4">
              <a:alphaModFix/>
            </a:blip>
            <a:srcRect b="29505" l="0" r="59155" t="14004"/>
            <a:stretch/>
          </p:blipFill>
          <p:spPr>
            <a:xfrm>
              <a:off x="5131719" y="3402251"/>
              <a:ext cx="2218277" cy="189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gda8f3faf85_0_15"/>
            <p:cNvSpPr txBox="1"/>
            <p:nvPr/>
          </p:nvSpPr>
          <p:spPr>
            <a:xfrm>
              <a:off x="5548293" y="3953088"/>
              <a:ext cx="1465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. . . to dissemination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3" name="Google Shape;263;gda8f3faf85_0_15"/>
          <p:cNvGrpSpPr/>
          <p:nvPr/>
        </p:nvGrpSpPr>
        <p:grpSpPr>
          <a:xfrm>
            <a:off x="4639763" y="799788"/>
            <a:ext cx="4179600" cy="2720491"/>
            <a:chOff x="4639763" y="799788"/>
            <a:chExt cx="4179600" cy="2720491"/>
          </a:xfrm>
        </p:grpSpPr>
        <p:sp>
          <p:nvSpPr>
            <p:cNvPr id="264" name="Google Shape;264;gda8f3faf85_0_15"/>
            <p:cNvSpPr/>
            <p:nvPr/>
          </p:nvSpPr>
          <p:spPr>
            <a:xfrm>
              <a:off x="4639763" y="829705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" name="Google Shape;265;gda8f3faf85_0_15"/>
            <p:cNvGrpSpPr/>
            <p:nvPr/>
          </p:nvGrpSpPr>
          <p:grpSpPr>
            <a:xfrm flipH="1" rot="-9089635">
              <a:off x="5131720" y="1214496"/>
              <a:ext cx="2218277" cy="1891075"/>
              <a:chOff x="4588225" y="925525"/>
              <a:chExt cx="2218277" cy="1891075"/>
            </a:xfrm>
          </p:grpSpPr>
          <p:pic>
            <p:nvPicPr>
              <p:cNvPr id="266" name="Google Shape;266;gda8f3faf85_0_15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>
                <a:off x="4588225" y="925525"/>
                <a:ext cx="2218277" cy="1891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7" name="Google Shape;267;gda8f3faf85_0_15"/>
              <p:cNvSpPr txBox="1"/>
              <p:nvPr/>
            </p:nvSpPr>
            <p:spPr>
              <a:xfrm rot="-9089635">
                <a:off x="4897838" y="1623150"/>
                <a:ext cx="1742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From planning . . .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descr="A picture containing text&#10;&#10;Description automatically generated" id="268" name="Google Shape;268;gda8f3faf85_0_15"/>
            <p:cNvPicPr preferRelativeResize="0"/>
            <p:nvPr/>
          </p:nvPicPr>
          <p:blipFill rotWithShape="1">
            <a:blip r:embed="rId5">
              <a:alphaModFix/>
            </a:blip>
            <a:srcRect b="50973" l="8191" r="0" t="0"/>
            <a:stretch/>
          </p:blipFill>
          <p:spPr>
            <a:xfrm flipH="1">
              <a:off x="7221080" y="1192662"/>
              <a:ext cx="1593231" cy="20647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gda8f3faf85_0_15"/>
          <p:cNvGrpSpPr/>
          <p:nvPr/>
        </p:nvGrpSpPr>
        <p:grpSpPr>
          <a:xfrm>
            <a:off x="319587" y="799788"/>
            <a:ext cx="4184652" cy="2493992"/>
            <a:chOff x="319586" y="787313"/>
            <a:chExt cx="4184652" cy="2493992"/>
          </a:xfrm>
        </p:grpSpPr>
        <p:sp>
          <p:nvSpPr>
            <p:cNvPr id="270" name="Google Shape;270;gda8f3faf85_0_15"/>
            <p:cNvSpPr/>
            <p:nvPr/>
          </p:nvSpPr>
          <p:spPr>
            <a:xfrm>
              <a:off x="324638" y="829705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1" name="Google Shape;271;gda8f3faf85_0_15"/>
            <p:cNvPicPr preferRelativeResize="0"/>
            <p:nvPr/>
          </p:nvPicPr>
          <p:blipFill rotWithShape="1">
            <a:blip r:embed="rId6">
              <a:alphaModFix/>
            </a:blip>
            <a:srcRect b="43924" l="17996" r="0" t="0"/>
            <a:stretch/>
          </p:blipFill>
          <p:spPr>
            <a:xfrm>
              <a:off x="319586" y="1297577"/>
              <a:ext cx="2096201" cy="19620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2" name="Google Shape;272;gda8f3faf85_0_15"/>
            <p:cNvGrpSpPr/>
            <p:nvPr/>
          </p:nvGrpSpPr>
          <p:grpSpPr>
            <a:xfrm>
              <a:off x="1879231" y="787313"/>
              <a:ext cx="2218277" cy="1891075"/>
              <a:chOff x="2116475" y="815214"/>
              <a:chExt cx="2218277" cy="1891075"/>
            </a:xfrm>
          </p:grpSpPr>
          <p:pic>
            <p:nvPicPr>
              <p:cNvPr id="273" name="Google Shape;273;gda8f3faf85_0_15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flipH="1">
                <a:off x="2116475" y="815214"/>
                <a:ext cx="2218277" cy="1891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gda8f3faf85_0_15"/>
              <p:cNvSpPr/>
              <p:nvPr/>
            </p:nvSpPr>
            <p:spPr>
              <a:xfrm>
                <a:off x="2174649" y="1202563"/>
                <a:ext cx="2005200" cy="10622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Open reporting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applies to all stages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of the research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process</a:t>
                </a:r>
                <a:endParaRPr/>
              </a:p>
            </p:txBody>
          </p:sp>
        </p:grpSp>
      </p:grpSp>
      <p:grpSp>
        <p:nvGrpSpPr>
          <p:cNvPr id="275" name="Google Shape;275;gda8f3faf85_0_15"/>
          <p:cNvGrpSpPr/>
          <p:nvPr/>
        </p:nvGrpSpPr>
        <p:grpSpPr>
          <a:xfrm>
            <a:off x="197146" y="3416742"/>
            <a:ext cx="4302041" cy="2717768"/>
            <a:chOff x="197146" y="3416742"/>
            <a:chExt cx="4302041" cy="2717768"/>
          </a:xfrm>
        </p:grpSpPr>
        <p:sp>
          <p:nvSpPr>
            <p:cNvPr id="276" name="Google Shape;276;gda8f3faf85_0_15"/>
            <p:cNvSpPr/>
            <p:nvPr/>
          </p:nvSpPr>
          <p:spPr>
            <a:xfrm>
              <a:off x="319587" y="3416742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7" name="Google Shape;277;gda8f3faf85_0_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197146" y="3741613"/>
              <a:ext cx="1968998" cy="226216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8" name="Google Shape;278;gda8f3faf85_0_15"/>
            <p:cNvGrpSpPr/>
            <p:nvPr/>
          </p:nvGrpSpPr>
          <p:grpSpPr>
            <a:xfrm rot="9238292">
              <a:off x="1885503" y="3852626"/>
              <a:ext cx="2218277" cy="1891075"/>
              <a:chOff x="4588225" y="925525"/>
              <a:chExt cx="2218277" cy="1891075"/>
            </a:xfrm>
          </p:grpSpPr>
          <p:pic>
            <p:nvPicPr>
              <p:cNvPr id="279" name="Google Shape;279;gda8f3faf85_0_15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>
                <a:off x="4588225" y="925525"/>
                <a:ext cx="2218277" cy="1891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gda8f3faf85_0_15"/>
              <p:cNvSpPr txBox="1"/>
              <p:nvPr/>
            </p:nvSpPr>
            <p:spPr>
              <a:xfrm rot="-9238292">
                <a:off x="4908588" y="1404370"/>
                <a:ext cx="1742100" cy="830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. . . to data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collection, analysis, and write-up. . . 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da8f3faf85_0_2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open reporting?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286" name="Google Shape;286;gda8f3faf85_0_22"/>
          <p:cNvGrpSpPr/>
          <p:nvPr/>
        </p:nvGrpSpPr>
        <p:grpSpPr>
          <a:xfrm>
            <a:off x="297532" y="537881"/>
            <a:ext cx="4482808" cy="3117647"/>
            <a:chOff x="297532" y="537881"/>
            <a:chExt cx="4482808" cy="3117647"/>
          </a:xfrm>
        </p:grpSpPr>
        <p:sp>
          <p:nvSpPr>
            <p:cNvPr id="287" name="Google Shape;287;gda8f3faf85_0_22"/>
            <p:cNvSpPr/>
            <p:nvPr/>
          </p:nvSpPr>
          <p:spPr>
            <a:xfrm>
              <a:off x="297532" y="831498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gda8f3faf85_0_22"/>
            <p:cNvPicPr preferRelativeResize="0"/>
            <p:nvPr/>
          </p:nvPicPr>
          <p:blipFill rotWithShape="1">
            <a:blip r:embed="rId3">
              <a:alphaModFix/>
            </a:blip>
            <a:srcRect b="47187" l="20932" r="0" t="0"/>
            <a:stretch/>
          </p:blipFill>
          <p:spPr>
            <a:xfrm>
              <a:off x="356925" y="950951"/>
              <a:ext cx="1695994" cy="23033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9" name="Google Shape;289;gda8f3faf85_0_22"/>
            <p:cNvGrpSpPr/>
            <p:nvPr/>
          </p:nvGrpSpPr>
          <p:grpSpPr>
            <a:xfrm rot="1031212">
              <a:off x="1637494" y="906532"/>
              <a:ext cx="2854904" cy="2380346"/>
              <a:chOff x="1903429" y="759805"/>
              <a:chExt cx="2546595" cy="2137195"/>
            </a:xfrm>
          </p:grpSpPr>
          <p:pic>
            <p:nvPicPr>
              <p:cNvPr id="290" name="Google Shape;290;gda8f3faf85_0_22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flipH="1">
                <a:off x="1903429" y="759805"/>
                <a:ext cx="2546595" cy="213719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1" name="Google Shape;291;gda8f3faf85_0_22"/>
              <p:cNvSpPr txBox="1"/>
              <p:nvPr/>
            </p:nvSpPr>
            <p:spPr>
              <a:xfrm rot="-1031212">
                <a:off x="2124495" y="1292806"/>
                <a:ext cx="1948185" cy="8331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can be easy to focus only on reporting the findings of our research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2" name="Google Shape;292;gda8f3faf85_0_22"/>
          <p:cNvGrpSpPr/>
          <p:nvPr/>
        </p:nvGrpSpPr>
        <p:grpSpPr>
          <a:xfrm>
            <a:off x="4112088" y="254001"/>
            <a:ext cx="4734381" cy="3517056"/>
            <a:chOff x="4112088" y="254001"/>
            <a:chExt cx="4734381" cy="3517056"/>
          </a:xfrm>
        </p:grpSpPr>
        <p:sp>
          <p:nvSpPr>
            <p:cNvPr id="293" name="Google Shape;293;gda8f3faf85_0_22"/>
            <p:cNvSpPr/>
            <p:nvPr/>
          </p:nvSpPr>
          <p:spPr>
            <a:xfrm>
              <a:off x="4666869" y="831498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4" name="Google Shape;294;gda8f3faf85_0_22"/>
            <p:cNvPicPr preferRelativeResize="0"/>
            <p:nvPr/>
          </p:nvPicPr>
          <p:blipFill rotWithShape="1">
            <a:blip r:embed="rId5">
              <a:alphaModFix/>
            </a:blip>
            <a:srcRect b="48035" l="0" r="5602" t="0"/>
            <a:stretch/>
          </p:blipFill>
          <p:spPr>
            <a:xfrm>
              <a:off x="6222832" y="933449"/>
              <a:ext cx="2564243" cy="233796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5" name="Google Shape;295;gda8f3faf85_0_22"/>
            <p:cNvGrpSpPr/>
            <p:nvPr/>
          </p:nvGrpSpPr>
          <p:grpSpPr>
            <a:xfrm>
              <a:off x="4112088" y="254001"/>
              <a:ext cx="3629117" cy="3517056"/>
              <a:chOff x="3263364" y="-102931"/>
              <a:chExt cx="3629117" cy="3517056"/>
            </a:xfrm>
          </p:grpSpPr>
          <p:pic>
            <p:nvPicPr>
              <p:cNvPr id="296" name="Google Shape;296;gda8f3faf85_0_22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rot="-2000341">
                <a:off x="3690013" y="463707"/>
                <a:ext cx="2775818" cy="23837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7" name="Google Shape;297;gda8f3faf85_0_22"/>
              <p:cNvSpPr txBox="1"/>
              <p:nvPr/>
            </p:nvSpPr>
            <p:spPr>
              <a:xfrm>
                <a:off x="4087475" y="862589"/>
                <a:ext cx="2003549" cy="14234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But research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involves choices and 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revisions at every stage of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process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8" name="Google Shape;298;gda8f3faf85_0_22"/>
          <p:cNvGrpSpPr/>
          <p:nvPr/>
        </p:nvGrpSpPr>
        <p:grpSpPr>
          <a:xfrm>
            <a:off x="126906" y="3200487"/>
            <a:ext cx="8723694" cy="2881308"/>
            <a:chOff x="126906" y="3200487"/>
            <a:chExt cx="8723694" cy="2881308"/>
          </a:xfrm>
        </p:grpSpPr>
        <p:sp>
          <p:nvSpPr>
            <p:cNvPr id="299" name="Google Shape;299;gda8f3faf85_0_22"/>
            <p:cNvSpPr/>
            <p:nvPr/>
          </p:nvSpPr>
          <p:spPr>
            <a:xfrm>
              <a:off x="293400" y="3393800"/>
              <a:ext cx="85572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" name="Google Shape;300;gda8f3faf85_0_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906" y="3200487"/>
              <a:ext cx="2656787" cy="257724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1" name="Google Shape;301;gda8f3faf85_0_22"/>
            <p:cNvGrpSpPr/>
            <p:nvPr/>
          </p:nvGrpSpPr>
          <p:grpSpPr>
            <a:xfrm rot="496887">
              <a:off x="3609769" y="3592119"/>
              <a:ext cx="2754333" cy="2303324"/>
              <a:chOff x="4766402" y="4098651"/>
              <a:chExt cx="2754333" cy="2303324"/>
            </a:xfrm>
          </p:grpSpPr>
          <p:pic>
            <p:nvPicPr>
              <p:cNvPr id="302" name="Google Shape;302;gda8f3faf85_0_22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flipH="1" rot="10800000">
                <a:off x="4766402" y="4098651"/>
                <a:ext cx="2701848" cy="23033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3" name="Google Shape;303;gda8f3faf85_0_22"/>
              <p:cNvSpPr txBox="1"/>
              <p:nvPr/>
            </p:nvSpPr>
            <p:spPr>
              <a:xfrm rot="-496887">
                <a:off x="4906147" y="4815207"/>
                <a:ext cx="2545500" cy="11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Open reporting allows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us to make our processes transparent,  as well as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our findings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4" name="Google Shape;304;gda8f3faf85_0_22"/>
            <p:cNvPicPr preferRelativeResize="0"/>
            <p:nvPr/>
          </p:nvPicPr>
          <p:blipFill rotWithShape="1">
            <a:blip r:embed="rId7">
              <a:alphaModFix/>
            </a:blip>
            <a:srcRect b="41190" l="0" r="0" t="0"/>
            <a:stretch/>
          </p:blipFill>
          <p:spPr>
            <a:xfrm>
              <a:off x="688359" y="3866906"/>
              <a:ext cx="1533880" cy="1520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305" name="Google Shape;305;gda8f3faf85_0_22"/>
            <p:cNvPicPr preferRelativeResize="0"/>
            <p:nvPr/>
          </p:nvPicPr>
          <p:blipFill rotWithShape="1">
            <a:blip r:embed="rId8">
              <a:alphaModFix/>
            </a:blip>
            <a:srcRect b="38321" l="0" r="20330" t="5424"/>
            <a:stretch/>
          </p:blipFill>
          <p:spPr>
            <a:xfrm flipH="1">
              <a:off x="6034899" y="3475988"/>
              <a:ext cx="2319556" cy="23271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a8f3faf85_0_2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open reporting?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311" name="Google Shape;311;gda8f3faf85_0_28"/>
          <p:cNvGrpSpPr/>
          <p:nvPr/>
        </p:nvGrpSpPr>
        <p:grpSpPr>
          <a:xfrm>
            <a:off x="288350" y="399000"/>
            <a:ext cx="8557200" cy="2875165"/>
            <a:chOff x="288350" y="399000"/>
            <a:chExt cx="8557200" cy="2875165"/>
          </a:xfrm>
        </p:grpSpPr>
        <p:sp>
          <p:nvSpPr>
            <p:cNvPr id="312" name="Google Shape;312;gda8f3faf85_0_28"/>
            <p:cNvSpPr/>
            <p:nvPr/>
          </p:nvSpPr>
          <p:spPr>
            <a:xfrm>
              <a:off x="288350" y="816709"/>
              <a:ext cx="85572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3" name="Google Shape;313;gda8f3faf85_0_28"/>
            <p:cNvPicPr preferRelativeResize="0"/>
            <p:nvPr/>
          </p:nvPicPr>
          <p:blipFill rotWithShape="1">
            <a:blip r:embed="rId3">
              <a:alphaModFix/>
            </a:blip>
            <a:srcRect b="48691" l="4667" r="0" t="0"/>
            <a:stretch/>
          </p:blipFill>
          <p:spPr>
            <a:xfrm>
              <a:off x="298450" y="964586"/>
              <a:ext cx="2470388" cy="22747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gda8f3faf85_0_28"/>
            <p:cNvPicPr preferRelativeResize="0"/>
            <p:nvPr/>
          </p:nvPicPr>
          <p:blipFill rotWithShape="1">
            <a:blip r:embed="rId4">
              <a:alphaModFix/>
            </a:blip>
            <a:srcRect b="29505" l="0" r="59155" t="14004"/>
            <a:stretch/>
          </p:blipFill>
          <p:spPr>
            <a:xfrm flipH="1" rot="1154571">
              <a:off x="1968966" y="755953"/>
              <a:ext cx="2532539" cy="2161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gda8f3faf85_0_28"/>
            <p:cNvSpPr txBox="1"/>
            <p:nvPr/>
          </p:nvSpPr>
          <p:spPr>
            <a:xfrm>
              <a:off x="2177885" y="1134493"/>
              <a:ext cx="21147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Is open reporting applicable to all disciplines, though?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gda8f3faf85_0_28"/>
          <p:cNvGrpSpPr/>
          <p:nvPr/>
        </p:nvGrpSpPr>
        <p:grpSpPr>
          <a:xfrm>
            <a:off x="5080390" y="777453"/>
            <a:ext cx="3564531" cy="2481470"/>
            <a:chOff x="5080390" y="777453"/>
            <a:chExt cx="3564531" cy="2481470"/>
          </a:xfrm>
        </p:grpSpPr>
        <p:pic>
          <p:nvPicPr>
            <p:cNvPr id="317" name="Google Shape;317;gda8f3faf85_0_28"/>
            <p:cNvPicPr preferRelativeResize="0"/>
            <p:nvPr/>
          </p:nvPicPr>
          <p:blipFill rotWithShape="1">
            <a:blip r:embed="rId5">
              <a:alphaModFix/>
            </a:blip>
            <a:srcRect b="47881" l="0" r="13612" t="0"/>
            <a:stretch/>
          </p:blipFill>
          <p:spPr>
            <a:xfrm>
              <a:off x="6404246" y="1104895"/>
              <a:ext cx="2240675" cy="2154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gda8f3faf85_0_28"/>
            <p:cNvPicPr preferRelativeResize="0"/>
            <p:nvPr/>
          </p:nvPicPr>
          <p:blipFill rotWithShape="1">
            <a:blip r:embed="rId4">
              <a:alphaModFix/>
            </a:blip>
            <a:srcRect b="29505" l="0" r="59155" t="14004"/>
            <a:stretch/>
          </p:blipFill>
          <p:spPr>
            <a:xfrm>
              <a:off x="5080390" y="777453"/>
              <a:ext cx="2470388" cy="18995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gda8f3faf85_0_28"/>
            <p:cNvSpPr txBox="1"/>
            <p:nvPr/>
          </p:nvSpPr>
          <p:spPr>
            <a:xfrm>
              <a:off x="5336287" y="1262677"/>
              <a:ext cx="2018428" cy="927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Yes, but it is not currently in use in all disciplines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gda8f3faf85_0_28"/>
          <p:cNvGrpSpPr/>
          <p:nvPr/>
        </p:nvGrpSpPr>
        <p:grpSpPr>
          <a:xfrm>
            <a:off x="293400" y="3393800"/>
            <a:ext cx="8557200" cy="2688195"/>
            <a:chOff x="293400" y="3393800"/>
            <a:chExt cx="8557200" cy="2688195"/>
          </a:xfrm>
        </p:grpSpPr>
        <p:sp>
          <p:nvSpPr>
            <p:cNvPr id="321" name="Google Shape;321;gda8f3faf85_0_28"/>
            <p:cNvSpPr/>
            <p:nvPr/>
          </p:nvSpPr>
          <p:spPr>
            <a:xfrm>
              <a:off x="293400" y="3393800"/>
              <a:ext cx="85572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2" name="Google Shape;322;gda8f3faf85_0_28"/>
            <p:cNvPicPr preferRelativeResize="0"/>
            <p:nvPr/>
          </p:nvPicPr>
          <p:blipFill rotWithShape="1">
            <a:blip r:embed="rId6">
              <a:alphaModFix/>
            </a:blip>
            <a:srcRect b="46036" l="0" r="6431" t="0"/>
            <a:stretch/>
          </p:blipFill>
          <p:spPr>
            <a:xfrm flipH="1">
              <a:off x="298449" y="3398586"/>
              <a:ext cx="2652744" cy="240903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3" name="Google Shape;323;gda8f3faf85_0_28"/>
            <p:cNvGrpSpPr/>
            <p:nvPr/>
          </p:nvGrpSpPr>
          <p:grpSpPr>
            <a:xfrm rot="-652469">
              <a:off x="1716054" y="3648233"/>
              <a:ext cx="2742345" cy="2194785"/>
              <a:chOff x="4097773" y="4339252"/>
              <a:chExt cx="2742345" cy="2194785"/>
            </a:xfrm>
          </p:grpSpPr>
          <p:pic>
            <p:nvPicPr>
              <p:cNvPr id="324" name="Google Shape;324;gda8f3faf85_0_28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rot="10800000">
                <a:off x="4097773" y="4339252"/>
                <a:ext cx="2742345" cy="21947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5" name="Google Shape;325;gda8f3faf85_0_28"/>
              <p:cNvSpPr/>
              <p:nvPr/>
            </p:nvSpPr>
            <p:spPr>
              <a:xfrm rot="652469">
                <a:off x="4366142" y="4956718"/>
                <a:ext cx="2184591" cy="1310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All disciplines are on their own open research journey, developing and adapting their own version</a:t>
                </a:r>
                <a:endParaRPr/>
              </a:p>
            </p:txBody>
          </p:sp>
        </p:grpSp>
      </p:grpSp>
      <p:grpSp>
        <p:nvGrpSpPr>
          <p:cNvPr id="326" name="Google Shape;326;gda8f3faf85_0_28"/>
          <p:cNvGrpSpPr/>
          <p:nvPr/>
        </p:nvGrpSpPr>
        <p:grpSpPr>
          <a:xfrm>
            <a:off x="4396003" y="3341506"/>
            <a:ext cx="4449547" cy="2502985"/>
            <a:chOff x="4396003" y="3341506"/>
            <a:chExt cx="4449547" cy="2502985"/>
          </a:xfrm>
        </p:grpSpPr>
        <p:pic>
          <p:nvPicPr>
            <p:cNvPr descr="A picture containing text&#10;&#10;Description automatically generated" id="327" name="Google Shape;327;gda8f3faf85_0_28"/>
            <p:cNvPicPr preferRelativeResize="0"/>
            <p:nvPr/>
          </p:nvPicPr>
          <p:blipFill rotWithShape="1">
            <a:blip r:embed="rId7">
              <a:alphaModFix/>
            </a:blip>
            <a:srcRect b="54385" l="5154" r="10793" t="0"/>
            <a:stretch/>
          </p:blipFill>
          <p:spPr>
            <a:xfrm flipH="1">
              <a:off x="6451422" y="3589692"/>
              <a:ext cx="2394128" cy="2254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gda8f3faf85_0_28"/>
            <p:cNvPicPr preferRelativeResize="0"/>
            <p:nvPr/>
          </p:nvPicPr>
          <p:blipFill rotWithShape="1">
            <a:blip r:embed="rId4">
              <a:alphaModFix/>
            </a:blip>
            <a:srcRect b="29505" l="0" r="59155" t="14004"/>
            <a:stretch/>
          </p:blipFill>
          <p:spPr>
            <a:xfrm>
              <a:off x="4396003" y="3341506"/>
              <a:ext cx="2958711" cy="20238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gda8f3faf85_0_28"/>
            <p:cNvSpPr txBox="1"/>
            <p:nvPr/>
          </p:nvSpPr>
          <p:spPr>
            <a:xfrm>
              <a:off x="4786905" y="3684437"/>
              <a:ext cx="22569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Most existing checklists and guidelines relate to medicine and health and related disciplines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gda8f3faf85_0_38"/>
          <p:cNvGrpSpPr/>
          <p:nvPr/>
        </p:nvGrpSpPr>
        <p:grpSpPr>
          <a:xfrm>
            <a:off x="523184" y="1123079"/>
            <a:ext cx="8068216" cy="4329097"/>
            <a:chOff x="523184" y="1123079"/>
            <a:chExt cx="8068216" cy="4329097"/>
          </a:xfrm>
        </p:grpSpPr>
        <p:sp>
          <p:nvSpPr>
            <p:cNvPr id="335" name="Google Shape;335;gda8f3faf85_0_38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6" name="Google Shape;336;gda8f3faf85_0_38"/>
            <p:cNvPicPr preferRelativeResize="0"/>
            <p:nvPr/>
          </p:nvPicPr>
          <p:blipFill rotWithShape="1">
            <a:blip r:embed="rId3">
              <a:alphaModFix/>
            </a:blip>
            <a:srcRect b="-1860" l="16658" r="0" t="0"/>
            <a:stretch/>
          </p:blipFill>
          <p:spPr>
            <a:xfrm>
              <a:off x="523184" y="1873941"/>
              <a:ext cx="2028973" cy="35782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7" name="Google Shape;337;gda8f3faf85_0_38"/>
            <p:cNvGrpSpPr/>
            <p:nvPr/>
          </p:nvGrpSpPr>
          <p:grpSpPr>
            <a:xfrm rot="967253">
              <a:off x="1992457" y="1420967"/>
              <a:ext cx="2486784" cy="2408735"/>
              <a:chOff x="1809269" y="1541421"/>
              <a:chExt cx="2042122" cy="1976837"/>
            </a:xfrm>
          </p:grpSpPr>
          <p:pic>
            <p:nvPicPr>
              <p:cNvPr id="338" name="Google Shape;338;gda8f3faf85_0_38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flipH="1">
                <a:off x="1809269" y="1541421"/>
                <a:ext cx="2042122" cy="19768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9" name="Google Shape;339;gda8f3faf85_0_38"/>
              <p:cNvSpPr txBox="1"/>
              <p:nvPr/>
            </p:nvSpPr>
            <p:spPr>
              <a:xfrm rot="-967253">
                <a:off x="1947972" y="1927050"/>
                <a:ext cx="1666172" cy="1017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won't be the same for everyone, and currently there are lots of gaps</a:t>
                </a:r>
                <a:endParaRPr b="0" i="0" sz="1600" u="none" cap="none" strike="noStrike">
                  <a:solidFill>
                    <a:srgbClr val="22222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340" name="Google Shape;340;gda8f3faf85_0_3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open reporting?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341" name="Google Shape;341;gda8f3faf85_0_38"/>
          <p:cNvSpPr txBox="1"/>
          <p:nvPr/>
        </p:nvSpPr>
        <p:spPr>
          <a:xfrm>
            <a:off x="4628975" y="1669525"/>
            <a:ext cx="228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2" name="Google Shape;342;gda8f3faf85_0_38"/>
          <p:cNvGrpSpPr/>
          <p:nvPr/>
        </p:nvGrpSpPr>
        <p:grpSpPr>
          <a:xfrm>
            <a:off x="4300323" y="1405824"/>
            <a:ext cx="4439429" cy="3974345"/>
            <a:chOff x="4300323" y="1405824"/>
            <a:chExt cx="4439429" cy="3974345"/>
          </a:xfrm>
        </p:grpSpPr>
        <p:pic>
          <p:nvPicPr>
            <p:cNvPr id="343" name="Google Shape;343;gda8f3faf85_0_38"/>
            <p:cNvPicPr preferRelativeResize="0"/>
            <p:nvPr/>
          </p:nvPicPr>
          <p:blipFill rotWithShape="1">
            <a:blip r:embed="rId5">
              <a:alphaModFix/>
            </a:blip>
            <a:srcRect b="4464" l="0" r="0" t="-1"/>
            <a:stretch/>
          </p:blipFill>
          <p:spPr>
            <a:xfrm>
              <a:off x="6585184" y="2069725"/>
              <a:ext cx="2154568" cy="33104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4" name="Google Shape;344;gda8f3faf85_0_38"/>
            <p:cNvGrpSpPr/>
            <p:nvPr/>
          </p:nvGrpSpPr>
          <p:grpSpPr>
            <a:xfrm>
              <a:off x="4300323" y="1405824"/>
              <a:ext cx="3057820" cy="2159725"/>
              <a:chOff x="3952935" y="1420333"/>
              <a:chExt cx="3057820" cy="2159725"/>
            </a:xfrm>
          </p:grpSpPr>
          <p:pic>
            <p:nvPicPr>
              <p:cNvPr id="345" name="Google Shape;345;gda8f3faf85_0_38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>
                <a:off x="3952935" y="1420333"/>
                <a:ext cx="3057820" cy="21597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6" name="Google Shape;346;gda8f3faf85_0_38"/>
              <p:cNvSpPr txBox="1"/>
              <p:nvPr/>
            </p:nvSpPr>
            <p:spPr>
              <a:xfrm>
                <a:off x="4271825" y="1790375"/>
                <a:ext cx="2511371" cy="1239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But it’s still important 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to know what it is and how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to do it so you are prepared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to report openly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7" name="Google Shape;347;gda8f3faf85_0_38"/>
          <p:cNvGrpSpPr/>
          <p:nvPr/>
        </p:nvGrpSpPr>
        <p:grpSpPr>
          <a:xfrm>
            <a:off x="4109933" y="2889193"/>
            <a:ext cx="3057819" cy="2766899"/>
            <a:chOff x="3927104" y="2968614"/>
            <a:chExt cx="3057819" cy="2766899"/>
          </a:xfrm>
        </p:grpSpPr>
        <p:pic>
          <p:nvPicPr>
            <p:cNvPr id="348" name="Google Shape;348;gda8f3faf85_0_38"/>
            <p:cNvPicPr preferRelativeResize="0"/>
            <p:nvPr/>
          </p:nvPicPr>
          <p:blipFill rotWithShape="1">
            <a:blip r:embed="rId4">
              <a:alphaModFix/>
            </a:blip>
            <a:srcRect b="29505" l="0" r="59155" t="14004"/>
            <a:stretch/>
          </p:blipFill>
          <p:spPr>
            <a:xfrm flipH="1" rot="-9993958">
              <a:off x="4149287" y="3241822"/>
              <a:ext cx="2613453" cy="22204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gda8f3faf85_0_38"/>
            <p:cNvSpPr/>
            <p:nvPr/>
          </p:nvSpPr>
          <p:spPr>
            <a:xfrm>
              <a:off x="4406185" y="3853047"/>
              <a:ext cx="2097208" cy="1066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And can better understand and evaluate how others report their research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354" name="Google Shape;3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55" name="Google Shape;35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60" name="Google Shape;360;g3a2a1d9814a_0_0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61" name="Google Shape;361;g3a2a1d9814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a2a1d9814a_0_0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g3a2a1d9814a_0_0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368" name="Google Shape;368;g3a2a1d9814a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a2a1d9814a_0_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/>
              <a:t>Module 5 – </a:t>
            </a:r>
            <a:r>
              <a:rPr b="1" lang="en-US" sz="2400"/>
              <a:t>Open Reporting</a:t>
            </a:r>
            <a:endParaRPr sz="2400"/>
          </a:p>
        </p:txBody>
      </p:sp>
      <p:sp>
        <p:nvSpPr>
          <p:cNvPr id="370" name="Google Shape;370;g3a2a1d9814a_0_7"/>
          <p:cNvSpPr txBox="1"/>
          <p:nvPr/>
        </p:nvSpPr>
        <p:spPr>
          <a:xfrm>
            <a:off x="2705715" y="1565991"/>
            <a:ext cx="3702600" cy="18201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Why is Open Reporting Important?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2a1d9814a_0_1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Why is open reporting important? 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376" name="Google Shape;376;g3a2a1d9814a_0_13"/>
          <p:cNvGrpSpPr/>
          <p:nvPr/>
        </p:nvGrpSpPr>
        <p:grpSpPr>
          <a:xfrm>
            <a:off x="4038201" y="1209247"/>
            <a:ext cx="4737754" cy="1188000"/>
            <a:chOff x="4142146" y="1454471"/>
            <a:chExt cx="4737754" cy="1188000"/>
          </a:xfrm>
        </p:grpSpPr>
        <p:cxnSp>
          <p:nvCxnSpPr>
            <p:cNvPr id="377" name="Google Shape;377;g3a2a1d9814a_0_13"/>
            <p:cNvCxnSpPr>
              <a:stCxn id="378" idx="3"/>
              <a:endCxn id="379" idx="1"/>
            </p:cNvCxnSpPr>
            <p:nvPr/>
          </p:nvCxnSpPr>
          <p:spPr>
            <a:xfrm>
              <a:off x="4142146" y="2048471"/>
              <a:ext cx="1137900" cy="0"/>
            </a:xfrm>
            <a:prstGeom prst="straightConnector1">
              <a:avLst/>
            </a:prstGeom>
            <a:noFill/>
            <a:ln cap="flat" cmpd="sng" w="38100">
              <a:solidFill>
                <a:srgbClr val="F6663F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grpSp>
          <p:nvGrpSpPr>
            <p:cNvPr id="380" name="Google Shape;380;g3a2a1d9814a_0_13"/>
            <p:cNvGrpSpPr/>
            <p:nvPr/>
          </p:nvGrpSpPr>
          <p:grpSpPr>
            <a:xfrm>
              <a:off x="5279900" y="1454471"/>
              <a:ext cx="3600000" cy="1188000"/>
              <a:chOff x="5279900" y="1454471"/>
              <a:chExt cx="3600000" cy="1188000"/>
            </a:xfrm>
          </p:grpSpPr>
          <p:sp>
            <p:nvSpPr>
              <p:cNvPr id="379" name="Google Shape;379;g3a2a1d9814a_0_13"/>
              <p:cNvSpPr/>
              <p:nvPr/>
            </p:nvSpPr>
            <p:spPr>
              <a:xfrm>
                <a:off x="5279900" y="1454471"/>
                <a:ext cx="3600000" cy="1188000"/>
              </a:xfrm>
              <a:prstGeom prst="rect">
                <a:avLst/>
              </a:prstGeom>
              <a:solidFill>
                <a:srgbClr val="FDDFD7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g3a2a1d9814a_0_13"/>
              <p:cNvSpPr/>
              <p:nvPr/>
            </p:nvSpPr>
            <p:spPr>
              <a:xfrm>
                <a:off x="6443492" y="1629819"/>
                <a:ext cx="23697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E2E2E"/>
                    </a:solidFill>
                    <a:latin typeface="Roboto"/>
                    <a:ea typeface="Roboto"/>
                    <a:cs typeface="Roboto"/>
                    <a:sym typeface="Roboto"/>
                  </a:rPr>
                  <a:t>Which has meant that other parts of the research process remain opaque</a:t>
                </a:r>
                <a:br>
                  <a:rPr b="0" i="0" lang="en-US" sz="1400" u="none" cap="none" strike="noStrike">
                    <a:solidFill>
                      <a:srgbClr val="2E2E2E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endParaRPr b="0" i="0" sz="14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descr="A picture containing engineering drawing&#10;&#10;Description automatically generated" id="382" name="Google Shape;382;g3a2a1d9814a_0_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12590" y="1562596"/>
                <a:ext cx="1075704" cy="877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3" name="Google Shape;383;g3a2a1d9814a_0_13"/>
          <p:cNvGrpSpPr/>
          <p:nvPr/>
        </p:nvGrpSpPr>
        <p:grpSpPr>
          <a:xfrm>
            <a:off x="438201" y="1209247"/>
            <a:ext cx="3600000" cy="1188000"/>
            <a:chOff x="542146" y="1454471"/>
            <a:chExt cx="3600000" cy="1188000"/>
          </a:xfrm>
        </p:grpSpPr>
        <p:sp>
          <p:nvSpPr>
            <p:cNvPr id="378" name="Google Shape;378;g3a2a1d9814a_0_13"/>
            <p:cNvSpPr/>
            <p:nvPr/>
          </p:nvSpPr>
          <p:spPr>
            <a:xfrm>
              <a:off x="542146" y="1454471"/>
              <a:ext cx="3600000" cy="1188000"/>
            </a:xfrm>
            <a:prstGeom prst="rect">
              <a:avLst/>
            </a:prstGeom>
            <a:solidFill>
              <a:srgbClr val="FDDFD7"/>
            </a:soli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g3a2a1d9814a_0_13"/>
            <p:cNvSpPr/>
            <p:nvPr/>
          </p:nvSpPr>
          <p:spPr>
            <a:xfrm>
              <a:off x="1697976" y="1675646"/>
              <a:ext cx="21012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E2E2E"/>
                  </a:solidFill>
                  <a:latin typeface="Roboto"/>
                  <a:ea typeface="Roboto"/>
                  <a:cs typeface="Roboto"/>
                  <a:sym typeface="Roboto"/>
                </a:rPr>
                <a:t>Traditionally, research reports place an emphasis on </a:t>
              </a:r>
              <a:r>
                <a:rPr b="1" i="0" lang="en-US" sz="1400" u="none" cap="none" strike="noStrike">
                  <a:solidFill>
                    <a:srgbClr val="2E2E2E"/>
                  </a:solidFill>
                  <a:latin typeface="Roboto"/>
                  <a:ea typeface="Roboto"/>
                  <a:cs typeface="Roboto"/>
                  <a:sym typeface="Roboto"/>
                </a:rPr>
                <a:t>results</a:t>
              </a:r>
              <a:endParaRPr b="0" i="0" sz="14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Logo&#10;&#10;Description automatically generated" id="385" name="Google Shape;385;g3a2a1d9814a_0_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5927" y="1599566"/>
              <a:ext cx="1032050" cy="8894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6" name="Google Shape;386;g3a2a1d9814a_0_13"/>
          <p:cNvCxnSpPr>
            <a:stCxn id="387" idx="2"/>
            <a:endCxn id="388" idx="0"/>
          </p:cNvCxnSpPr>
          <p:nvPr/>
        </p:nvCxnSpPr>
        <p:spPr>
          <a:xfrm flipH="1">
            <a:off x="2213853" y="3980668"/>
            <a:ext cx="12000" cy="479100"/>
          </a:xfrm>
          <a:prstGeom prst="straightConnector1">
            <a:avLst/>
          </a:prstGeom>
          <a:noFill/>
          <a:ln cap="flat" cmpd="sng" w="38100">
            <a:solidFill>
              <a:srgbClr val="F6663F"/>
            </a:solidFill>
            <a:prstDash val="solid"/>
            <a:miter lim="800000"/>
            <a:headEnd len="sm" w="sm" type="none"/>
            <a:tailEnd len="med" w="med" type="stealth"/>
          </a:ln>
        </p:spPr>
      </p:cxnSp>
      <p:grpSp>
        <p:nvGrpSpPr>
          <p:cNvPr id="389" name="Google Shape;389;g3a2a1d9814a_0_13"/>
          <p:cNvGrpSpPr/>
          <p:nvPr/>
        </p:nvGrpSpPr>
        <p:grpSpPr>
          <a:xfrm>
            <a:off x="257223" y="4376089"/>
            <a:ext cx="3768524" cy="1385744"/>
            <a:chOff x="257223" y="4376089"/>
            <a:chExt cx="3768524" cy="1385744"/>
          </a:xfrm>
        </p:grpSpPr>
        <p:sp>
          <p:nvSpPr>
            <p:cNvPr id="388" name="Google Shape;388;g3a2a1d9814a_0_13"/>
            <p:cNvSpPr/>
            <p:nvPr/>
          </p:nvSpPr>
          <p:spPr>
            <a:xfrm>
              <a:off x="413733" y="4459853"/>
              <a:ext cx="3600000" cy="1188900"/>
            </a:xfrm>
            <a:prstGeom prst="rect">
              <a:avLst/>
            </a:prstGeom>
            <a:solidFill>
              <a:srgbClr val="FDDFD7"/>
            </a:soli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g3a2a1d9814a_0_13"/>
            <p:cNvSpPr/>
            <p:nvPr/>
          </p:nvSpPr>
          <p:spPr>
            <a:xfrm>
              <a:off x="1479347" y="4563174"/>
              <a:ext cx="2546400" cy="10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E2E2E"/>
                  </a:solidFill>
                  <a:latin typeface="Roboto"/>
                  <a:ea typeface="Roboto"/>
                  <a:cs typeface="Roboto"/>
                  <a:sym typeface="Roboto"/>
                </a:rPr>
                <a:t>This may increase research waste as other researchers attempt to reproduce or build upon flawed evidence</a:t>
              </a:r>
              <a:endParaRPr b="0" i="0" sz="14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91" name="Google Shape;391;g3a2a1d9814a_0_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2391052">
              <a:off x="368045" y="4675106"/>
              <a:ext cx="1218814" cy="78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" name="Google Shape;392;g3a2a1d9814a_0_13"/>
          <p:cNvGrpSpPr/>
          <p:nvPr/>
        </p:nvGrpSpPr>
        <p:grpSpPr>
          <a:xfrm>
            <a:off x="5175955" y="2397247"/>
            <a:ext cx="3600000" cy="1591946"/>
            <a:chOff x="5279900" y="2642471"/>
            <a:chExt cx="3600000" cy="1591946"/>
          </a:xfrm>
        </p:grpSpPr>
        <p:cxnSp>
          <p:nvCxnSpPr>
            <p:cNvPr id="393" name="Google Shape;393;g3a2a1d9814a_0_13"/>
            <p:cNvCxnSpPr>
              <a:stCxn id="379" idx="2"/>
              <a:endCxn id="394" idx="0"/>
            </p:cNvCxnSpPr>
            <p:nvPr/>
          </p:nvCxnSpPr>
          <p:spPr>
            <a:xfrm>
              <a:off x="7079900" y="2642471"/>
              <a:ext cx="0" cy="403800"/>
            </a:xfrm>
            <a:prstGeom prst="straightConnector1">
              <a:avLst/>
            </a:prstGeom>
            <a:noFill/>
            <a:ln cap="flat" cmpd="sng" w="38100">
              <a:solidFill>
                <a:srgbClr val="F6663F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grpSp>
          <p:nvGrpSpPr>
            <p:cNvPr id="395" name="Google Shape;395;g3a2a1d9814a_0_13"/>
            <p:cNvGrpSpPr/>
            <p:nvPr/>
          </p:nvGrpSpPr>
          <p:grpSpPr>
            <a:xfrm>
              <a:off x="5279900" y="3040441"/>
              <a:ext cx="3600000" cy="1193976"/>
              <a:chOff x="5279900" y="3040441"/>
              <a:chExt cx="3600000" cy="1193976"/>
            </a:xfrm>
          </p:grpSpPr>
          <p:sp>
            <p:nvSpPr>
              <p:cNvPr id="394" name="Google Shape;394;g3a2a1d9814a_0_13"/>
              <p:cNvSpPr/>
              <p:nvPr/>
            </p:nvSpPr>
            <p:spPr>
              <a:xfrm>
                <a:off x="5279900" y="3046417"/>
                <a:ext cx="3600000" cy="1188000"/>
              </a:xfrm>
              <a:prstGeom prst="rect">
                <a:avLst/>
              </a:prstGeom>
              <a:solidFill>
                <a:srgbClr val="FDDFD7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g3a2a1d9814a_0_13"/>
              <p:cNvSpPr/>
              <p:nvPr/>
            </p:nvSpPr>
            <p:spPr>
              <a:xfrm>
                <a:off x="5412590" y="3215616"/>
                <a:ext cx="2646300" cy="83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E2E2E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This limits other researchers’ abilities to evaluate or attempt to reproduce a study’s results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descr="Icon&#10;&#10;Description automatically generated" id="397" name="Google Shape;397;g3a2a1d9814a_0_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841828" y="3040441"/>
                <a:ext cx="971365" cy="10772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98" name="Google Shape;398;g3a2a1d9814a_0_13"/>
          <p:cNvCxnSpPr>
            <a:stCxn id="394" idx="1"/>
            <a:endCxn id="387" idx="3"/>
          </p:cNvCxnSpPr>
          <p:nvPr/>
        </p:nvCxnSpPr>
        <p:spPr>
          <a:xfrm rot="10800000">
            <a:off x="4025755" y="3386793"/>
            <a:ext cx="1150200" cy="8400"/>
          </a:xfrm>
          <a:prstGeom prst="straightConnector1">
            <a:avLst/>
          </a:prstGeom>
          <a:noFill/>
          <a:ln cap="flat" cmpd="sng" w="38100">
            <a:solidFill>
              <a:srgbClr val="F6663F"/>
            </a:solidFill>
            <a:prstDash val="solid"/>
            <a:miter lim="800000"/>
            <a:headEnd len="sm" w="sm" type="none"/>
            <a:tailEnd len="med" w="med" type="stealth"/>
          </a:ln>
        </p:spPr>
      </p:cxnSp>
      <p:grpSp>
        <p:nvGrpSpPr>
          <p:cNvPr id="399" name="Google Shape;399;g3a2a1d9814a_0_13"/>
          <p:cNvGrpSpPr/>
          <p:nvPr/>
        </p:nvGrpSpPr>
        <p:grpSpPr>
          <a:xfrm>
            <a:off x="425853" y="2792668"/>
            <a:ext cx="3600000" cy="1188000"/>
            <a:chOff x="529798" y="3037892"/>
            <a:chExt cx="3600000" cy="1188000"/>
          </a:xfrm>
        </p:grpSpPr>
        <p:sp>
          <p:nvSpPr>
            <p:cNvPr id="387" name="Google Shape;387;g3a2a1d9814a_0_13"/>
            <p:cNvSpPr/>
            <p:nvPr/>
          </p:nvSpPr>
          <p:spPr>
            <a:xfrm>
              <a:off x="529798" y="3037892"/>
              <a:ext cx="3600000" cy="1188000"/>
            </a:xfrm>
            <a:prstGeom prst="rect">
              <a:avLst/>
            </a:prstGeom>
            <a:solidFill>
              <a:srgbClr val="FDDFD7"/>
            </a:soli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g3a2a1d9814a_0_13"/>
            <p:cNvSpPr/>
            <p:nvPr/>
          </p:nvSpPr>
          <p:spPr>
            <a:xfrm>
              <a:off x="665927" y="3087366"/>
              <a:ext cx="2394900" cy="109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E2E2E"/>
                  </a:solidFill>
                  <a:latin typeface="Roboto"/>
                  <a:ea typeface="Roboto"/>
                  <a:cs typeface="Roboto"/>
                  <a:sym typeface="Roboto"/>
                </a:rPr>
                <a:t>If flaws go undetected, invalid research results may still become part of the research record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&#10;&#10;Description automatically generated" id="401" name="Google Shape;401;g3a2a1d9814a_0_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54024" y="3096419"/>
              <a:ext cx="972336" cy="9652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2" name="Google Shape;402;g3a2a1d9814a_0_13"/>
          <p:cNvGrpSpPr/>
          <p:nvPr/>
        </p:nvGrpSpPr>
        <p:grpSpPr>
          <a:xfrm>
            <a:off x="5137884" y="4459853"/>
            <a:ext cx="3600000" cy="1188900"/>
            <a:chOff x="5137884" y="4459853"/>
            <a:chExt cx="3600000" cy="1188900"/>
          </a:xfrm>
        </p:grpSpPr>
        <p:sp>
          <p:nvSpPr>
            <p:cNvPr id="403" name="Google Shape;403;g3a2a1d9814a_0_13"/>
            <p:cNvSpPr/>
            <p:nvPr/>
          </p:nvSpPr>
          <p:spPr>
            <a:xfrm>
              <a:off x="5137884" y="4459853"/>
              <a:ext cx="3600000" cy="1188900"/>
            </a:xfrm>
            <a:prstGeom prst="rect">
              <a:avLst/>
            </a:prstGeom>
            <a:solidFill>
              <a:srgbClr val="FDDFD7"/>
            </a:soli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g3a2a1d9814a_0_13"/>
            <p:cNvSpPr/>
            <p:nvPr/>
          </p:nvSpPr>
          <p:spPr>
            <a:xfrm>
              <a:off x="6188526" y="4680387"/>
              <a:ext cx="2520600" cy="8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rPr>
                <a:t>It may also unduly impact both individual decisions and social policy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E2E2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E2E2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, vector graphics, sushi&#10;&#10;Description automatically generated" id="405" name="Google Shape;405;g3a2a1d9814a_0_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340370" y="4554742"/>
              <a:ext cx="848155" cy="1002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6" name="Google Shape;406;g3a2a1d9814a_0_13"/>
          <p:cNvCxnSpPr/>
          <p:nvPr/>
        </p:nvCxnSpPr>
        <p:spPr>
          <a:xfrm>
            <a:off x="4013733" y="5068960"/>
            <a:ext cx="1137900" cy="0"/>
          </a:xfrm>
          <a:prstGeom prst="straightConnector1">
            <a:avLst/>
          </a:prstGeom>
          <a:noFill/>
          <a:ln cap="flat" cmpd="sng" w="38100">
            <a:solidFill>
              <a:srgbClr val="F6663F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2a1d9814a_0_4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Why is open reporting important?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412" name="Google Shape;412;g3a2a1d9814a_0_48"/>
          <p:cNvGrpSpPr/>
          <p:nvPr/>
        </p:nvGrpSpPr>
        <p:grpSpPr>
          <a:xfrm>
            <a:off x="176250" y="2009782"/>
            <a:ext cx="3441898" cy="2838437"/>
            <a:chOff x="0" y="2035458"/>
            <a:chExt cx="3441898" cy="2838437"/>
          </a:xfrm>
        </p:grpSpPr>
        <p:pic>
          <p:nvPicPr>
            <p:cNvPr descr="Copy of Open reporting importance for open reporting module.png" id="413" name="Google Shape;413;g3a2a1d9814a_0_48"/>
            <p:cNvPicPr preferRelativeResize="0"/>
            <p:nvPr/>
          </p:nvPicPr>
          <p:blipFill rotWithShape="1">
            <a:blip r:embed="rId3">
              <a:alphaModFix/>
            </a:blip>
            <a:srcRect b="18878" l="0" r="60378" t="23032"/>
            <a:stretch/>
          </p:blipFill>
          <p:spPr>
            <a:xfrm>
              <a:off x="0" y="2035458"/>
              <a:ext cx="3441898" cy="28384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g3a2a1d9814a_0_48"/>
            <p:cNvSpPr txBox="1"/>
            <p:nvPr/>
          </p:nvSpPr>
          <p:spPr>
            <a:xfrm>
              <a:off x="535049" y="2657279"/>
              <a:ext cx="23718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rPr>
                <a:t>Why is open research important?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5" name="Google Shape;415;g3a2a1d9814a_0_48"/>
          <p:cNvGrpSpPr/>
          <p:nvPr/>
        </p:nvGrpSpPr>
        <p:grpSpPr>
          <a:xfrm>
            <a:off x="3898348" y="1059403"/>
            <a:ext cx="4841087" cy="4739078"/>
            <a:chOff x="3898348" y="970574"/>
            <a:chExt cx="4841087" cy="4739078"/>
          </a:xfrm>
        </p:grpSpPr>
        <p:grpSp>
          <p:nvGrpSpPr>
            <p:cNvPr id="416" name="Google Shape;416;g3a2a1d9814a_0_48"/>
            <p:cNvGrpSpPr/>
            <p:nvPr/>
          </p:nvGrpSpPr>
          <p:grpSpPr>
            <a:xfrm>
              <a:off x="3898348" y="970574"/>
              <a:ext cx="4841087" cy="806292"/>
              <a:chOff x="3623050" y="364130"/>
              <a:chExt cx="5256909" cy="955209"/>
            </a:xfrm>
          </p:grpSpPr>
          <p:sp>
            <p:nvSpPr>
              <p:cNvPr id="417" name="Google Shape;417;g3a2a1d9814a_0_48"/>
              <p:cNvSpPr/>
              <p:nvPr/>
            </p:nvSpPr>
            <p:spPr>
              <a:xfrm>
                <a:off x="4332859" y="364130"/>
                <a:ext cx="4547100" cy="9552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    It allows researchers to detail their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processes     </a:t>
                </a:r>
                <a:b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    and decisions at all stages of the research  </a:t>
                </a:r>
                <a:b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    cycle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8" name="Google Shape;418;g3a2a1d9814a_0_48"/>
              <p:cNvSpPr/>
              <p:nvPr/>
            </p:nvSpPr>
            <p:spPr>
              <a:xfrm>
                <a:off x="3623050" y="364139"/>
                <a:ext cx="877800" cy="9552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9" name="Google Shape;419;g3a2a1d9814a_0_48"/>
            <p:cNvGrpSpPr/>
            <p:nvPr/>
          </p:nvGrpSpPr>
          <p:grpSpPr>
            <a:xfrm>
              <a:off x="3898348" y="1953778"/>
              <a:ext cx="4840959" cy="806284"/>
              <a:chOff x="3623050" y="1465902"/>
              <a:chExt cx="5256770" cy="955200"/>
            </a:xfrm>
          </p:grpSpPr>
          <p:sp>
            <p:nvSpPr>
              <p:cNvPr id="420" name="Google Shape;420;g3a2a1d9814a_0_48"/>
              <p:cNvSpPr/>
              <p:nvPr/>
            </p:nvSpPr>
            <p:spPr>
              <a:xfrm>
                <a:off x="4332720" y="1465902"/>
                <a:ext cx="4547100" cy="9552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    It enhances other researchers’ ability to </a:t>
                </a:r>
                <a:b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   evaluate and/or verify a study’s results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21" name="Google Shape;421;g3a2a1d9814a_0_48"/>
              <p:cNvSpPr/>
              <p:nvPr/>
            </p:nvSpPr>
            <p:spPr>
              <a:xfrm>
                <a:off x="3623050" y="1465902"/>
                <a:ext cx="877800" cy="9552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2" name="Google Shape;422;g3a2a1d9814a_0_48"/>
            <p:cNvGrpSpPr/>
            <p:nvPr/>
          </p:nvGrpSpPr>
          <p:grpSpPr>
            <a:xfrm>
              <a:off x="3898348" y="3920170"/>
              <a:ext cx="4840959" cy="806284"/>
              <a:chOff x="3623050" y="3899139"/>
              <a:chExt cx="5256770" cy="955200"/>
            </a:xfrm>
          </p:grpSpPr>
          <p:sp>
            <p:nvSpPr>
              <p:cNvPr id="423" name="Google Shape;423;g3a2a1d9814a_0_48"/>
              <p:cNvSpPr/>
              <p:nvPr/>
            </p:nvSpPr>
            <p:spPr>
              <a:xfrm>
                <a:off x="4332720" y="3899139"/>
                <a:ext cx="4547100" cy="9552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facilitates researchers' ability to bring together large bodies of evidence to better understand topics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24" name="Google Shape;424;g3a2a1d9814a_0_48"/>
              <p:cNvSpPr/>
              <p:nvPr/>
            </p:nvSpPr>
            <p:spPr>
              <a:xfrm>
                <a:off x="3623050" y="3899139"/>
                <a:ext cx="877800" cy="9552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g3a2a1d9814a_0_48"/>
            <p:cNvGrpSpPr/>
            <p:nvPr/>
          </p:nvGrpSpPr>
          <p:grpSpPr>
            <a:xfrm>
              <a:off x="3898348" y="4903368"/>
              <a:ext cx="4840959" cy="806284"/>
              <a:chOff x="3623050" y="5023286"/>
              <a:chExt cx="5256770" cy="955200"/>
            </a:xfrm>
          </p:grpSpPr>
          <p:sp>
            <p:nvSpPr>
              <p:cNvPr id="426" name="Google Shape;426;g3a2a1d9814a_0_48"/>
              <p:cNvSpPr/>
              <p:nvPr/>
            </p:nvSpPr>
            <p:spPr>
              <a:xfrm>
                <a:off x="4332720" y="5023286"/>
                <a:ext cx="4547100" cy="9552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Benefits decision-making because decisions can be made on transparent research processes and findings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27" name="Google Shape;427;g3a2a1d9814a_0_48"/>
              <p:cNvSpPr/>
              <p:nvPr/>
            </p:nvSpPr>
            <p:spPr>
              <a:xfrm>
                <a:off x="3623050" y="5023287"/>
                <a:ext cx="877800" cy="952500"/>
              </a:xfrm>
              <a:prstGeom prst="roundRect">
                <a:avLst>
                  <a:gd fmla="val 16667" name="adj"/>
                </a:avLst>
              </a:prstGeom>
              <a:solidFill>
                <a:srgbClr val="F6664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5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8" name="Google Shape;428;g3a2a1d9814a_0_48"/>
            <p:cNvGrpSpPr/>
            <p:nvPr/>
          </p:nvGrpSpPr>
          <p:grpSpPr>
            <a:xfrm>
              <a:off x="3898348" y="2936974"/>
              <a:ext cx="4840959" cy="806284"/>
              <a:chOff x="3623050" y="2679708"/>
              <a:chExt cx="5256770" cy="955200"/>
            </a:xfrm>
          </p:grpSpPr>
          <p:sp>
            <p:nvSpPr>
              <p:cNvPr id="429" name="Google Shape;429;g3a2a1d9814a_0_48"/>
              <p:cNvSpPr/>
              <p:nvPr/>
            </p:nvSpPr>
            <p:spPr>
              <a:xfrm>
                <a:off x="3623050" y="2679708"/>
                <a:ext cx="877800" cy="9552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g3a2a1d9814a_0_48"/>
              <p:cNvSpPr/>
              <p:nvPr/>
            </p:nvSpPr>
            <p:spPr>
              <a:xfrm>
                <a:off x="4332720" y="2679708"/>
                <a:ext cx="4547100" cy="9552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enhances other researchers’ ability to reproduce a study’s results (see Module 4)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2a1d9814a_0_7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Why is open reporting important for me?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436" name="Google Shape;436;g3a2a1d9814a_0_71"/>
          <p:cNvGrpSpPr/>
          <p:nvPr/>
        </p:nvGrpSpPr>
        <p:grpSpPr>
          <a:xfrm>
            <a:off x="511563" y="1387656"/>
            <a:ext cx="8079837" cy="3997944"/>
            <a:chOff x="511563" y="1387656"/>
            <a:chExt cx="8079837" cy="3997944"/>
          </a:xfrm>
        </p:grpSpPr>
        <p:sp>
          <p:nvSpPr>
            <p:cNvPr id="437" name="Google Shape;437;g3a2a1d9814a_0_71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8" name="Google Shape;438;g3a2a1d9814a_0_71"/>
            <p:cNvPicPr preferRelativeResize="0"/>
            <p:nvPr/>
          </p:nvPicPr>
          <p:blipFill rotWithShape="1">
            <a:blip r:embed="rId3">
              <a:alphaModFix/>
            </a:blip>
            <a:srcRect b="51100" l="8223" r="0" t="0"/>
            <a:stretch/>
          </p:blipFill>
          <p:spPr>
            <a:xfrm>
              <a:off x="511563" y="2954200"/>
              <a:ext cx="2228562" cy="243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9" name="Google Shape;439;g3a2a1d9814a_0_71"/>
            <p:cNvGrpSpPr/>
            <p:nvPr/>
          </p:nvGrpSpPr>
          <p:grpSpPr>
            <a:xfrm>
              <a:off x="1886359" y="1387656"/>
              <a:ext cx="3441677" cy="3133088"/>
              <a:chOff x="1479947" y="493025"/>
              <a:chExt cx="3441677" cy="3133088"/>
            </a:xfrm>
          </p:grpSpPr>
          <p:pic>
            <p:nvPicPr>
              <p:cNvPr id="440" name="Google Shape;440;g3a2a1d9814a_0_71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flipH="1">
                <a:off x="1479947" y="493025"/>
                <a:ext cx="3441677" cy="31330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1" name="Google Shape;441;g3a2a1d9814a_0_71"/>
              <p:cNvSpPr txBox="1"/>
              <p:nvPr/>
            </p:nvSpPr>
            <p:spPr>
              <a:xfrm>
                <a:off x="1479950" y="950950"/>
                <a:ext cx="3000000" cy="18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45720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That all sounds great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for research more generally but what about me, as a student? </a:t>
                </a:r>
                <a:endParaRPr/>
              </a:p>
              <a:p>
                <a:pPr indent="0" lvl="0" marL="45720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sounds like it takes extra time and I am not sure how I will benefit.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2" name="Google Shape;442;g3a2a1d9814a_0_71"/>
          <p:cNvGrpSpPr/>
          <p:nvPr/>
        </p:nvGrpSpPr>
        <p:grpSpPr>
          <a:xfrm>
            <a:off x="4939192" y="1570862"/>
            <a:ext cx="4402958" cy="3777590"/>
            <a:chOff x="4939192" y="1570862"/>
            <a:chExt cx="4402958" cy="3777590"/>
          </a:xfrm>
        </p:grpSpPr>
        <p:pic>
          <p:nvPicPr>
            <p:cNvPr id="443" name="Google Shape;443;g3a2a1d9814a_0_71"/>
            <p:cNvPicPr preferRelativeResize="0"/>
            <p:nvPr/>
          </p:nvPicPr>
          <p:blipFill rotWithShape="1">
            <a:blip r:embed="rId5">
              <a:alphaModFix/>
            </a:blip>
            <a:srcRect b="47767" l="0" r="0" t="0"/>
            <a:stretch/>
          </p:blipFill>
          <p:spPr>
            <a:xfrm>
              <a:off x="6058374" y="2954200"/>
              <a:ext cx="3283776" cy="2394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g3a2a1d9814a_0_71"/>
            <p:cNvPicPr preferRelativeResize="0"/>
            <p:nvPr/>
          </p:nvPicPr>
          <p:blipFill rotWithShape="1">
            <a:blip r:embed="rId4">
              <a:alphaModFix/>
            </a:blip>
            <a:srcRect b="29505" l="0" r="59155" t="14004"/>
            <a:stretch/>
          </p:blipFill>
          <p:spPr>
            <a:xfrm>
              <a:off x="4939192" y="1570862"/>
              <a:ext cx="2761070" cy="21864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g3a2a1d9814a_0_71"/>
            <p:cNvSpPr/>
            <p:nvPr/>
          </p:nvSpPr>
          <p:spPr>
            <a:xfrm>
              <a:off x="5241104" y="2007053"/>
              <a:ext cx="22860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By openly reporting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what you have done in your research, you have a transparent account of your study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2a1d9814a_0_8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Why is open reporting important for me?</a:t>
            </a:r>
            <a:endParaRPr sz="2400"/>
          </a:p>
        </p:txBody>
      </p:sp>
      <p:grpSp>
        <p:nvGrpSpPr>
          <p:cNvPr id="451" name="Google Shape;451;g3a2a1d9814a_0_85"/>
          <p:cNvGrpSpPr/>
          <p:nvPr/>
        </p:nvGrpSpPr>
        <p:grpSpPr>
          <a:xfrm>
            <a:off x="297532" y="543603"/>
            <a:ext cx="4364491" cy="2823558"/>
            <a:chOff x="297532" y="543603"/>
            <a:chExt cx="4364491" cy="2823558"/>
          </a:xfrm>
        </p:grpSpPr>
        <p:sp>
          <p:nvSpPr>
            <p:cNvPr id="452" name="Google Shape;452;g3a2a1d9814a_0_85"/>
            <p:cNvSpPr/>
            <p:nvPr/>
          </p:nvSpPr>
          <p:spPr>
            <a:xfrm>
              <a:off x="297532" y="831498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3" name="Google Shape;453;g3a2a1d9814a_0_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8725" y="1379575"/>
              <a:ext cx="1627076" cy="19875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4" name="Google Shape;454;g3a2a1d9814a_0_85"/>
            <p:cNvGrpSpPr/>
            <p:nvPr/>
          </p:nvGrpSpPr>
          <p:grpSpPr>
            <a:xfrm>
              <a:off x="1611777" y="543603"/>
              <a:ext cx="3050246" cy="2719439"/>
              <a:chOff x="1692777" y="260754"/>
              <a:chExt cx="3050246" cy="2719439"/>
            </a:xfrm>
          </p:grpSpPr>
          <p:pic>
            <p:nvPicPr>
              <p:cNvPr id="455" name="Google Shape;455;g3a2a1d9814a_0_85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flipH="1" rot="554532">
                <a:off x="1860953" y="463674"/>
                <a:ext cx="2713895" cy="231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6" name="Google Shape;456;g3a2a1d9814a_0_85"/>
              <p:cNvSpPr txBox="1"/>
              <p:nvPr/>
            </p:nvSpPr>
            <p:spPr>
              <a:xfrm>
                <a:off x="2175538" y="721438"/>
                <a:ext cx="20847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This makes it 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easier for others, 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including your research supervisor, to see the steps you have taken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7" name="Google Shape;457;g3a2a1d9814a_0_85"/>
          <p:cNvGrpSpPr/>
          <p:nvPr/>
        </p:nvGrpSpPr>
        <p:grpSpPr>
          <a:xfrm>
            <a:off x="4259579" y="-37502"/>
            <a:ext cx="4586890" cy="4023866"/>
            <a:chOff x="4259579" y="-37502"/>
            <a:chExt cx="4586890" cy="4023866"/>
          </a:xfrm>
        </p:grpSpPr>
        <p:sp>
          <p:nvSpPr>
            <p:cNvPr id="458" name="Google Shape;458;g3a2a1d9814a_0_85"/>
            <p:cNvSpPr/>
            <p:nvPr/>
          </p:nvSpPr>
          <p:spPr>
            <a:xfrm>
              <a:off x="4666869" y="831498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9" name="Google Shape;459;g3a2a1d9814a_0_85"/>
            <p:cNvPicPr preferRelativeResize="0"/>
            <p:nvPr/>
          </p:nvPicPr>
          <p:blipFill rotWithShape="1">
            <a:blip r:embed="rId5">
              <a:alphaModFix/>
            </a:blip>
            <a:srcRect b="49594" l="26978" r="7141" t="0"/>
            <a:stretch/>
          </p:blipFill>
          <p:spPr>
            <a:xfrm flipH="1">
              <a:off x="7341692" y="1195984"/>
              <a:ext cx="1504776" cy="207722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0" name="Google Shape;460;g3a2a1d9814a_0_85"/>
            <p:cNvGrpSpPr/>
            <p:nvPr/>
          </p:nvGrpSpPr>
          <p:grpSpPr>
            <a:xfrm>
              <a:off x="4259579" y="-37502"/>
              <a:ext cx="4021949" cy="4023866"/>
              <a:chOff x="4125616" y="108650"/>
              <a:chExt cx="4021949" cy="4023866"/>
            </a:xfrm>
          </p:grpSpPr>
          <p:pic>
            <p:nvPicPr>
              <p:cNvPr id="461" name="Google Shape;461;g3a2a1d9814a_0_85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flipH="1" rot="-8298060">
                <a:off x="4717798" y="690022"/>
                <a:ext cx="2837584" cy="28611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2" name="Google Shape;462;g3a2a1d9814a_0_85"/>
              <p:cNvSpPr txBox="1"/>
              <p:nvPr/>
            </p:nvSpPr>
            <p:spPr>
              <a:xfrm>
                <a:off x="5060208" y="1346410"/>
                <a:ext cx="2152800" cy="16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This can help to 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spot mistakes earlier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on and correct them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, a</a:t>
                </a: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nd can help you get recognition for the work you put in at each step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3" name="Google Shape;463;g3a2a1d9814a_0_85"/>
          <p:cNvGrpSpPr/>
          <p:nvPr/>
        </p:nvGrpSpPr>
        <p:grpSpPr>
          <a:xfrm>
            <a:off x="142231" y="3210589"/>
            <a:ext cx="8708369" cy="2745513"/>
            <a:chOff x="142231" y="3210589"/>
            <a:chExt cx="8708369" cy="2745513"/>
          </a:xfrm>
        </p:grpSpPr>
        <p:sp>
          <p:nvSpPr>
            <p:cNvPr id="464" name="Google Shape;464;g3a2a1d9814a_0_85"/>
            <p:cNvSpPr/>
            <p:nvPr/>
          </p:nvSpPr>
          <p:spPr>
            <a:xfrm>
              <a:off x="293400" y="3393800"/>
              <a:ext cx="85572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5" name="Google Shape;465;g3a2a1d9814a_0_85"/>
            <p:cNvPicPr preferRelativeResize="0"/>
            <p:nvPr/>
          </p:nvPicPr>
          <p:blipFill rotWithShape="1">
            <a:blip r:embed="rId4">
              <a:alphaModFix/>
            </a:blip>
            <a:srcRect b="29505" l="0" r="59155" t="14004"/>
            <a:stretch/>
          </p:blipFill>
          <p:spPr>
            <a:xfrm rot="10800000">
              <a:off x="2016283" y="3564402"/>
              <a:ext cx="2805552" cy="239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g3a2a1d9814a_0_85"/>
            <p:cNvPicPr preferRelativeResize="0"/>
            <p:nvPr/>
          </p:nvPicPr>
          <p:blipFill rotWithShape="1">
            <a:blip r:embed="rId6">
              <a:alphaModFix/>
            </a:blip>
            <a:srcRect b="53303" l="0" r="0" t="0"/>
            <a:stretch/>
          </p:blipFill>
          <p:spPr>
            <a:xfrm>
              <a:off x="142231" y="3263043"/>
              <a:ext cx="2250900" cy="25529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g3a2a1d9814a_0_8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12279" y="3210589"/>
              <a:ext cx="2361324" cy="2745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g3a2a1d9814a_0_85"/>
            <p:cNvSpPr/>
            <p:nvPr/>
          </p:nvSpPr>
          <p:spPr>
            <a:xfrm>
              <a:off x="2236187" y="4196683"/>
              <a:ext cx="22410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There are also lots of tools and resources to help you to openly report. We will go through these in the next section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473" name="Google Shape;473;g3a2a1d9814a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74" name="Google Shape;474;g3a2a1d9814a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79" name="Google Shape;479;g3a2a1d9814a_0_263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80" name="Google Shape;480;g3a2a1d9814a_0_2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a2a1d9814a_0_263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g3a2a1d9814a_0_263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487" name="Google Shape;487;g3a2a1d9814a_0_2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a2a1d9814a_0_27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/>
              <a:t>Module 5 – </a:t>
            </a:r>
            <a:r>
              <a:rPr b="1" lang="en-US" sz="2400"/>
              <a:t>Open Reporting</a:t>
            </a:r>
            <a:endParaRPr sz="2400"/>
          </a:p>
        </p:txBody>
      </p:sp>
      <p:sp>
        <p:nvSpPr>
          <p:cNvPr id="489" name="Google Shape;489;g3a2a1d9814a_0_270"/>
          <p:cNvSpPr txBox="1"/>
          <p:nvPr/>
        </p:nvSpPr>
        <p:spPr>
          <a:xfrm>
            <a:off x="2705715" y="1565991"/>
            <a:ext cx="3702600" cy="18201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 can we report research openly?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2a1d9814a_0_27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can we research openly?</a:t>
            </a:r>
            <a:endParaRPr b="1" sz="2400"/>
          </a:p>
        </p:txBody>
      </p:sp>
      <p:cxnSp>
        <p:nvCxnSpPr>
          <p:cNvPr id="495" name="Google Shape;495;g3a2a1d9814a_0_276"/>
          <p:cNvCxnSpPr/>
          <p:nvPr/>
        </p:nvCxnSpPr>
        <p:spPr>
          <a:xfrm>
            <a:off x="5150100" y="3014525"/>
            <a:ext cx="298500" cy="105900"/>
          </a:xfrm>
          <a:prstGeom prst="straightConnector1">
            <a:avLst/>
          </a:prstGeom>
          <a:noFill/>
          <a:ln cap="flat" cmpd="sng" w="19050">
            <a:solidFill>
              <a:srgbClr val="FFF9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6" name="Google Shape;496;g3a2a1d9814a_0_276"/>
          <p:cNvGrpSpPr/>
          <p:nvPr/>
        </p:nvGrpSpPr>
        <p:grpSpPr>
          <a:xfrm>
            <a:off x="1937449" y="1056501"/>
            <a:ext cx="4470219" cy="5012994"/>
            <a:chOff x="4044546" y="246643"/>
            <a:chExt cx="4470219" cy="5012994"/>
          </a:xfrm>
        </p:grpSpPr>
        <p:grpSp>
          <p:nvGrpSpPr>
            <p:cNvPr id="497" name="Google Shape;497;g3a2a1d9814a_0_276"/>
            <p:cNvGrpSpPr/>
            <p:nvPr/>
          </p:nvGrpSpPr>
          <p:grpSpPr>
            <a:xfrm flipH="1">
              <a:off x="4044546" y="246643"/>
              <a:ext cx="2750333" cy="2313600"/>
              <a:chOff x="3866323" y="0"/>
              <a:chExt cx="2750333" cy="2313600"/>
            </a:xfrm>
          </p:grpSpPr>
          <p:pic>
            <p:nvPicPr>
              <p:cNvPr id="498" name="Google Shape;498;g3a2a1d9814a_0_276"/>
              <p:cNvPicPr preferRelativeResize="0"/>
              <p:nvPr/>
            </p:nvPicPr>
            <p:blipFill rotWithShape="1">
              <a:blip r:embed="rId3">
                <a:alphaModFix/>
              </a:blip>
              <a:srcRect b="29505" l="0" r="59155" t="14004"/>
              <a:stretch/>
            </p:blipFill>
            <p:spPr>
              <a:xfrm flipH="1">
                <a:off x="3866323" y="0"/>
                <a:ext cx="2713896" cy="231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9" name="Google Shape;499;g3a2a1d9814a_0_276"/>
              <p:cNvSpPr txBox="1"/>
              <p:nvPr/>
            </p:nvSpPr>
            <p:spPr>
              <a:xfrm>
                <a:off x="4168956" y="584537"/>
                <a:ext cx="2447700" cy="11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45720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 this section, 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we focus on reporting guidelines and checklists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0" name="Google Shape;500;g3a2a1d9814a_0_276"/>
            <p:cNvGrpSpPr/>
            <p:nvPr/>
          </p:nvGrpSpPr>
          <p:grpSpPr>
            <a:xfrm>
              <a:off x="4566949" y="1560351"/>
              <a:ext cx="3947816" cy="3699286"/>
              <a:chOff x="5320802" y="1565523"/>
              <a:chExt cx="3947816" cy="3699286"/>
            </a:xfrm>
          </p:grpSpPr>
          <p:pic>
            <p:nvPicPr>
              <p:cNvPr id="501" name="Google Shape;501;g3a2a1d9814a_0_276"/>
              <p:cNvPicPr preferRelativeResize="0"/>
              <p:nvPr/>
            </p:nvPicPr>
            <p:blipFill rotWithShape="1">
              <a:blip r:embed="rId4">
                <a:alphaModFix/>
              </a:blip>
              <a:srcRect b="22762" l="0" r="0" t="0"/>
              <a:stretch/>
            </p:blipFill>
            <p:spPr>
              <a:xfrm>
                <a:off x="6166003" y="1565523"/>
                <a:ext cx="3102615" cy="36992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2" name="Google Shape;502;g3a2a1d9814a_0_27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5320802" y="2236649"/>
                <a:ext cx="1474077" cy="1679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2a1d9814a_0_28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can we report research results openly?</a:t>
            </a:r>
            <a:endParaRPr b="1" sz="2400"/>
          </a:p>
        </p:txBody>
      </p:sp>
      <p:sp>
        <p:nvSpPr>
          <p:cNvPr id="508" name="Google Shape;508;g3a2a1d9814a_0_288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You can also openly report using:</a:t>
            </a:r>
            <a:br>
              <a:rPr lang="en-US" sz="2000"/>
            </a:br>
            <a:br>
              <a:rPr lang="en-US" sz="2000"/>
            </a:br>
            <a:br>
              <a:rPr lang="en-US" sz="2000"/>
            </a:br>
            <a:br>
              <a:rPr lang="en-US" sz="2000"/>
            </a:br>
            <a:br>
              <a:rPr lang="en-US" sz="2000"/>
            </a:br>
            <a:br>
              <a:rPr lang="en-US" sz="2000"/>
            </a:br>
            <a:endParaRPr sz="2000"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br>
              <a:rPr lang="en-US" sz="1800"/>
            </a:b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You can find out more about pre-registration and registered reports in </a:t>
            </a:r>
            <a:r>
              <a:rPr b="1" lang="en-US" sz="2000"/>
              <a:t>Module 2</a:t>
            </a:r>
            <a:endParaRPr sz="2400"/>
          </a:p>
        </p:txBody>
      </p:sp>
      <p:grpSp>
        <p:nvGrpSpPr>
          <p:cNvPr id="509" name="Google Shape;509;g3a2a1d9814a_0_288"/>
          <p:cNvGrpSpPr/>
          <p:nvPr/>
        </p:nvGrpSpPr>
        <p:grpSpPr>
          <a:xfrm>
            <a:off x="1502618" y="2185108"/>
            <a:ext cx="6128663" cy="2070162"/>
            <a:chOff x="3442074" y="364141"/>
            <a:chExt cx="5521318" cy="2042587"/>
          </a:xfrm>
        </p:grpSpPr>
        <p:grpSp>
          <p:nvGrpSpPr>
            <p:cNvPr id="510" name="Google Shape;510;g3a2a1d9814a_0_288"/>
            <p:cNvGrpSpPr/>
            <p:nvPr/>
          </p:nvGrpSpPr>
          <p:grpSpPr>
            <a:xfrm>
              <a:off x="3442074" y="364141"/>
              <a:ext cx="5521318" cy="877800"/>
              <a:chOff x="3623050" y="364141"/>
              <a:chExt cx="5256896" cy="877800"/>
            </a:xfrm>
          </p:grpSpPr>
          <p:sp>
            <p:nvSpPr>
              <p:cNvPr id="511" name="Google Shape;511;g3a2a1d9814a_0_288"/>
              <p:cNvSpPr/>
              <p:nvPr/>
            </p:nvSpPr>
            <p:spPr>
              <a:xfrm>
                <a:off x="4726746" y="364141"/>
                <a:ext cx="4153200" cy="8778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 cap="flat" cmpd="sng" w="9525">
                <a:solidFill>
                  <a:srgbClr val="D9EFE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This means making your research plans and processes publicly available before you start 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12" name="Google Shape;512;g3a2a1d9814a_0_288"/>
              <p:cNvSpPr/>
              <p:nvPr/>
            </p:nvSpPr>
            <p:spPr>
              <a:xfrm>
                <a:off x="3623050" y="364141"/>
                <a:ext cx="1269000" cy="8778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Pre-</a:t>
                </a:r>
                <a:b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registration</a:t>
                </a:r>
                <a:endParaRPr b="1" i="0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13" name="Google Shape;513;g3a2a1d9814a_0_288"/>
            <p:cNvGrpSpPr/>
            <p:nvPr/>
          </p:nvGrpSpPr>
          <p:grpSpPr>
            <a:xfrm>
              <a:off x="3442074" y="1528928"/>
              <a:ext cx="5521318" cy="877800"/>
              <a:chOff x="3623050" y="1465903"/>
              <a:chExt cx="5256896" cy="877800"/>
            </a:xfrm>
          </p:grpSpPr>
          <p:sp>
            <p:nvSpPr>
              <p:cNvPr id="514" name="Google Shape;514;g3a2a1d9814a_0_288"/>
              <p:cNvSpPr/>
              <p:nvPr/>
            </p:nvSpPr>
            <p:spPr>
              <a:xfrm>
                <a:off x="4726746" y="1465903"/>
                <a:ext cx="4153200" cy="8778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 cap="flat" cmpd="sng" w="9525">
                <a:solidFill>
                  <a:srgbClr val="FFF2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These are research papers outlining proposed study methods and approach that are submitted to journals beforehand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15" name="Google Shape;515;g3a2a1d9814a_0_288"/>
              <p:cNvSpPr/>
              <p:nvPr/>
            </p:nvSpPr>
            <p:spPr>
              <a:xfrm>
                <a:off x="3623050" y="1465903"/>
                <a:ext cx="1269000" cy="8778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Registered reports</a:t>
                </a:r>
                <a:endParaRPr b="1" i="0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2a1d9814a_0_30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a reporting guideline?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grpSp>
        <p:nvGrpSpPr>
          <p:cNvPr id="521" name="Google Shape;521;g3a2a1d9814a_0_300"/>
          <p:cNvGrpSpPr/>
          <p:nvPr/>
        </p:nvGrpSpPr>
        <p:grpSpPr>
          <a:xfrm>
            <a:off x="1577009" y="699329"/>
            <a:ext cx="4863547" cy="4031697"/>
            <a:chOff x="2239618" y="699329"/>
            <a:chExt cx="4863547" cy="4031697"/>
          </a:xfrm>
        </p:grpSpPr>
        <p:pic>
          <p:nvPicPr>
            <p:cNvPr descr="Copy of Open reporting importance for open reporting module.png" id="522" name="Google Shape;522;g3a2a1d9814a_0_300"/>
            <p:cNvPicPr preferRelativeResize="0"/>
            <p:nvPr/>
          </p:nvPicPr>
          <p:blipFill rotWithShape="1">
            <a:blip r:embed="rId3">
              <a:alphaModFix/>
            </a:blip>
            <a:srcRect b="19605" l="0" r="58540" t="22306"/>
            <a:stretch/>
          </p:blipFill>
          <p:spPr>
            <a:xfrm flipH="1">
              <a:off x="2239618" y="699329"/>
              <a:ext cx="4863547" cy="403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g3a2a1d9814a_0_300"/>
            <p:cNvSpPr txBox="1"/>
            <p:nvPr/>
          </p:nvSpPr>
          <p:spPr>
            <a:xfrm>
              <a:off x="2939508" y="1788682"/>
              <a:ext cx="36732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 is a checklist, a structured text, or a flow diagram that guides researchers in how to report a specific type of research that has been developed using explicit methodology</a:t>
              </a:r>
              <a:endPara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24" name="Google Shape;524;g3a2a1d9814a_0_3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000" y="3127512"/>
            <a:ext cx="2838808" cy="3031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2a1d9814a_0_30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Reporting Guidelines and Checklists</a:t>
            </a:r>
            <a:endParaRPr b="1" sz="2400"/>
          </a:p>
        </p:txBody>
      </p:sp>
      <p:grpSp>
        <p:nvGrpSpPr>
          <p:cNvPr id="530" name="Google Shape;530;g3a2a1d9814a_0_308"/>
          <p:cNvGrpSpPr/>
          <p:nvPr/>
        </p:nvGrpSpPr>
        <p:grpSpPr>
          <a:xfrm>
            <a:off x="253997" y="2031888"/>
            <a:ext cx="3545477" cy="2794225"/>
            <a:chOff x="253997" y="1832447"/>
            <a:chExt cx="3545477" cy="2794225"/>
          </a:xfrm>
        </p:grpSpPr>
        <p:pic>
          <p:nvPicPr>
            <p:cNvPr descr="Copy of Open reporting importance for open reporting module.png" id="531" name="Google Shape;531;g3a2a1d9814a_0_308"/>
            <p:cNvPicPr preferRelativeResize="0"/>
            <p:nvPr/>
          </p:nvPicPr>
          <p:blipFill rotWithShape="1">
            <a:blip r:embed="rId3">
              <a:alphaModFix/>
            </a:blip>
            <a:srcRect b="19605" l="0" r="58540" t="22306"/>
            <a:stretch/>
          </p:blipFill>
          <p:spPr>
            <a:xfrm>
              <a:off x="253997" y="1832447"/>
              <a:ext cx="3545477" cy="2794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2" name="Google Shape;532;g3a2a1d9814a_0_308"/>
            <p:cNvSpPr/>
            <p:nvPr/>
          </p:nvSpPr>
          <p:spPr>
            <a:xfrm>
              <a:off x="655952" y="2559475"/>
              <a:ext cx="2501100" cy="8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rPr>
                <a:t>What is the aim of a reporting guideline?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3" name="Google Shape;533;g3a2a1d9814a_0_308"/>
          <p:cNvGrpSpPr/>
          <p:nvPr/>
        </p:nvGrpSpPr>
        <p:grpSpPr>
          <a:xfrm>
            <a:off x="3799474" y="1999148"/>
            <a:ext cx="4908464" cy="2859704"/>
            <a:chOff x="3442074" y="364131"/>
            <a:chExt cx="5521332" cy="3207384"/>
          </a:xfrm>
        </p:grpSpPr>
        <p:grpSp>
          <p:nvGrpSpPr>
            <p:cNvPr id="534" name="Google Shape;534;g3a2a1d9814a_0_308"/>
            <p:cNvGrpSpPr/>
            <p:nvPr/>
          </p:nvGrpSpPr>
          <p:grpSpPr>
            <a:xfrm>
              <a:off x="3442074" y="364131"/>
              <a:ext cx="5521332" cy="877810"/>
              <a:chOff x="3623050" y="364131"/>
              <a:chExt cx="5256909" cy="877810"/>
            </a:xfrm>
          </p:grpSpPr>
          <p:sp>
            <p:nvSpPr>
              <p:cNvPr id="535" name="Google Shape;535;g3a2a1d9814a_0_308"/>
              <p:cNvSpPr/>
              <p:nvPr/>
            </p:nvSpPr>
            <p:spPr>
              <a:xfrm>
                <a:off x="4332859" y="364131"/>
                <a:ext cx="4547100" cy="8778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To help researchers create accessible and</a:t>
                </a:r>
                <a:endParaRPr b="0" i="0" sz="14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easily understood records of their research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36" name="Google Shape;536;g3a2a1d9814a_0_308"/>
              <p:cNvSpPr/>
              <p:nvPr/>
            </p:nvSpPr>
            <p:spPr>
              <a:xfrm>
                <a:off x="3623050" y="364141"/>
                <a:ext cx="877800" cy="8778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7" name="Google Shape;537;g3a2a1d9814a_0_308"/>
            <p:cNvGrpSpPr/>
            <p:nvPr/>
          </p:nvGrpSpPr>
          <p:grpSpPr>
            <a:xfrm>
              <a:off x="3442074" y="1528928"/>
              <a:ext cx="5521186" cy="877800"/>
              <a:chOff x="3623050" y="1465903"/>
              <a:chExt cx="5256770" cy="877800"/>
            </a:xfrm>
          </p:grpSpPr>
          <p:sp>
            <p:nvSpPr>
              <p:cNvPr id="538" name="Google Shape;538;g3a2a1d9814a_0_308"/>
              <p:cNvSpPr/>
              <p:nvPr/>
            </p:nvSpPr>
            <p:spPr>
              <a:xfrm>
                <a:off x="4332720" y="1465903"/>
                <a:ext cx="4547100" cy="8778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>
                <a:noFill/>
              </a:ln>
            </p:spPr>
            <p:txBody>
              <a:bodyPr anchorCtr="0" anchor="ctr" bIns="45700" lIns="228600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To help researchers create relevant records of their research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39" name="Google Shape;539;g3a2a1d9814a_0_308"/>
              <p:cNvSpPr/>
              <p:nvPr/>
            </p:nvSpPr>
            <p:spPr>
              <a:xfrm>
                <a:off x="3623050" y="1465903"/>
                <a:ext cx="882900" cy="8778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0" name="Google Shape;540;g3a2a1d9814a_0_308"/>
            <p:cNvGrpSpPr/>
            <p:nvPr/>
          </p:nvGrpSpPr>
          <p:grpSpPr>
            <a:xfrm>
              <a:off x="3442074" y="2693715"/>
              <a:ext cx="5521186" cy="877800"/>
              <a:chOff x="3623050" y="2679709"/>
              <a:chExt cx="5256770" cy="877800"/>
            </a:xfrm>
          </p:grpSpPr>
          <p:sp>
            <p:nvSpPr>
              <p:cNvPr id="541" name="Google Shape;541;g3a2a1d9814a_0_308"/>
              <p:cNvSpPr/>
              <p:nvPr/>
            </p:nvSpPr>
            <p:spPr>
              <a:xfrm>
                <a:off x="3623050" y="2679709"/>
                <a:ext cx="877800" cy="8778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g3a2a1d9814a_0_308"/>
              <p:cNvSpPr/>
              <p:nvPr/>
            </p:nvSpPr>
            <p:spPr>
              <a:xfrm>
                <a:off x="4332720" y="2679709"/>
                <a:ext cx="4547100" cy="877800"/>
              </a:xfrm>
              <a:prstGeom prst="roundRect">
                <a:avLst>
                  <a:gd fmla="val 16667" name="adj"/>
                </a:avLst>
              </a:prstGeom>
              <a:solidFill>
                <a:srgbClr val="F6663F">
                  <a:alpha val="5804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To help researchers create records of their work containing sufficient detail to allow evaluation and/or reproduction (see module 4)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Google Shape;547;g3a2a1d9814a_0_325"/>
          <p:cNvGrpSpPr/>
          <p:nvPr/>
        </p:nvGrpSpPr>
        <p:grpSpPr>
          <a:xfrm>
            <a:off x="247775" y="793670"/>
            <a:ext cx="8642100" cy="2515512"/>
            <a:chOff x="247775" y="793670"/>
            <a:chExt cx="8642100" cy="2515512"/>
          </a:xfrm>
        </p:grpSpPr>
        <p:sp>
          <p:nvSpPr>
            <p:cNvPr id="548" name="Google Shape;548;g3a2a1d9814a_0_325"/>
            <p:cNvSpPr/>
            <p:nvPr/>
          </p:nvSpPr>
          <p:spPr>
            <a:xfrm>
              <a:off x="247775" y="857582"/>
              <a:ext cx="86421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" name="Google Shape;549;g3a2a1d9814a_0_325"/>
            <p:cNvGrpSpPr/>
            <p:nvPr/>
          </p:nvGrpSpPr>
          <p:grpSpPr>
            <a:xfrm>
              <a:off x="2098487" y="793670"/>
              <a:ext cx="2253600" cy="1828653"/>
              <a:chOff x="2255264" y="617353"/>
              <a:chExt cx="2253600" cy="1828653"/>
            </a:xfrm>
          </p:grpSpPr>
          <p:pic>
            <p:nvPicPr>
              <p:cNvPr id="550" name="Google Shape;550;g3a2a1d9814a_0_325"/>
              <p:cNvPicPr preferRelativeResize="0"/>
              <p:nvPr/>
            </p:nvPicPr>
            <p:blipFill rotWithShape="1">
              <a:blip r:embed="rId3">
                <a:alphaModFix/>
              </a:blip>
              <a:srcRect b="29505" l="0" r="59155" t="14004"/>
              <a:stretch/>
            </p:blipFill>
            <p:spPr>
              <a:xfrm flipH="1">
                <a:off x="2255264" y="617353"/>
                <a:ext cx="2253600" cy="18286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1" name="Google Shape;551;g3a2a1d9814a_0_325"/>
              <p:cNvSpPr txBox="1"/>
              <p:nvPr/>
            </p:nvSpPr>
            <p:spPr>
              <a:xfrm>
                <a:off x="2455447" y="940177"/>
                <a:ext cx="1745400" cy="89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</a:t>
                </a: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hen should I use an open reporting checklist?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52" name="Google Shape;552;g3a2a1d9814a_0_325"/>
            <p:cNvPicPr preferRelativeResize="0"/>
            <p:nvPr/>
          </p:nvPicPr>
          <p:blipFill rotWithShape="1">
            <a:blip r:embed="rId4">
              <a:alphaModFix/>
            </a:blip>
            <a:srcRect b="51837" l="8550" r="0" t="0"/>
            <a:stretch/>
          </p:blipFill>
          <p:spPr>
            <a:xfrm>
              <a:off x="264099" y="945313"/>
              <a:ext cx="1871823" cy="23276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3" name="Google Shape;553;g3a2a1d9814a_0_32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Reporting Guidelines and Checklists</a:t>
            </a:r>
            <a:endParaRPr b="1" sz="2400"/>
          </a:p>
        </p:txBody>
      </p:sp>
      <p:grpSp>
        <p:nvGrpSpPr>
          <p:cNvPr id="554" name="Google Shape;554;g3a2a1d9814a_0_325"/>
          <p:cNvGrpSpPr/>
          <p:nvPr/>
        </p:nvGrpSpPr>
        <p:grpSpPr>
          <a:xfrm>
            <a:off x="4512855" y="899366"/>
            <a:ext cx="4360797" cy="2670085"/>
            <a:chOff x="4512855" y="899366"/>
            <a:chExt cx="4360797" cy="2670085"/>
          </a:xfrm>
        </p:grpSpPr>
        <p:pic>
          <p:nvPicPr>
            <p:cNvPr id="555" name="Google Shape;555;g3a2a1d9814a_0_325"/>
            <p:cNvPicPr preferRelativeResize="0"/>
            <p:nvPr/>
          </p:nvPicPr>
          <p:blipFill rotWithShape="1">
            <a:blip r:embed="rId5">
              <a:alphaModFix/>
            </a:blip>
            <a:srcRect b="46471" l="20725" r="17258" t="3158"/>
            <a:stretch/>
          </p:blipFill>
          <p:spPr>
            <a:xfrm flipH="1">
              <a:off x="7329147" y="899366"/>
              <a:ext cx="1544505" cy="237363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6" name="Google Shape;556;g3a2a1d9814a_0_325"/>
            <p:cNvGrpSpPr/>
            <p:nvPr/>
          </p:nvGrpSpPr>
          <p:grpSpPr>
            <a:xfrm rot="562144">
              <a:off x="4675021" y="1169534"/>
              <a:ext cx="2585538" cy="2204164"/>
              <a:chOff x="4737333" y="254001"/>
              <a:chExt cx="2585434" cy="2204075"/>
            </a:xfrm>
          </p:grpSpPr>
          <p:pic>
            <p:nvPicPr>
              <p:cNvPr id="557" name="Google Shape;557;g3a2a1d9814a_0_325"/>
              <p:cNvPicPr preferRelativeResize="0"/>
              <p:nvPr/>
            </p:nvPicPr>
            <p:blipFill rotWithShape="1">
              <a:blip r:embed="rId3">
                <a:alphaModFix/>
              </a:blip>
              <a:srcRect b="29505" l="0" r="59155" t="14004"/>
              <a:stretch/>
            </p:blipFill>
            <p:spPr>
              <a:xfrm flipH="1" rot="10800000">
                <a:off x="4737333" y="254001"/>
                <a:ext cx="2585434" cy="2204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8" name="Google Shape;558;g3a2a1d9814a_0_325"/>
              <p:cNvSpPr txBox="1"/>
              <p:nvPr/>
            </p:nvSpPr>
            <p:spPr>
              <a:xfrm rot="-562112">
                <a:off x="4990681" y="900715"/>
                <a:ext cx="2078828" cy="895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They are typically used when writing research reports and articles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9" name="Google Shape;559;g3a2a1d9814a_0_325"/>
          <p:cNvGrpSpPr/>
          <p:nvPr/>
        </p:nvGrpSpPr>
        <p:grpSpPr>
          <a:xfrm>
            <a:off x="247775" y="3425425"/>
            <a:ext cx="4264847" cy="2595607"/>
            <a:chOff x="247775" y="3425425"/>
            <a:chExt cx="4264847" cy="2595607"/>
          </a:xfrm>
        </p:grpSpPr>
        <p:sp>
          <p:nvSpPr>
            <p:cNvPr id="560" name="Google Shape;560;g3a2a1d9814a_0_325"/>
            <p:cNvSpPr/>
            <p:nvPr/>
          </p:nvSpPr>
          <p:spPr>
            <a:xfrm>
              <a:off x="247775" y="3461087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1" name="Google Shape;561;g3a2a1d9814a_0_325"/>
            <p:cNvPicPr preferRelativeResize="0"/>
            <p:nvPr/>
          </p:nvPicPr>
          <p:blipFill rotWithShape="1">
            <a:blip r:embed="rId6">
              <a:alphaModFix/>
            </a:blip>
            <a:srcRect b="47371" l="6585" r="0" t="0"/>
            <a:stretch/>
          </p:blipFill>
          <p:spPr>
            <a:xfrm>
              <a:off x="265401" y="3512612"/>
              <a:ext cx="2205869" cy="236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g3a2a1d9814a_0_325"/>
            <p:cNvPicPr preferRelativeResize="0"/>
            <p:nvPr/>
          </p:nvPicPr>
          <p:blipFill rotWithShape="1">
            <a:blip r:embed="rId3">
              <a:alphaModFix/>
            </a:blip>
            <a:srcRect b="29505" l="0" r="59155" t="14004"/>
            <a:stretch/>
          </p:blipFill>
          <p:spPr>
            <a:xfrm rot="10237789">
              <a:off x="1765013" y="3621191"/>
              <a:ext cx="2585433" cy="2204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g3a2a1d9814a_0_325"/>
            <p:cNvSpPr txBox="1"/>
            <p:nvPr/>
          </p:nvSpPr>
          <p:spPr>
            <a:xfrm>
              <a:off x="1995984" y="4065242"/>
              <a:ext cx="21192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Many journals now 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require you to submit a completed checklist with your submitted paper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64" name="Google Shape;564;g3a2a1d9814a_0_325"/>
          <p:cNvGrpSpPr/>
          <p:nvPr/>
        </p:nvGrpSpPr>
        <p:grpSpPr>
          <a:xfrm>
            <a:off x="4240619" y="2895672"/>
            <a:ext cx="4701595" cy="3494718"/>
            <a:chOff x="4240619" y="2895672"/>
            <a:chExt cx="4701595" cy="3494718"/>
          </a:xfrm>
        </p:grpSpPr>
        <p:sp>
          <p:nvSpPr>
            <p:cNvPr id="565" name="Google Shape;565;g3a2a1d9814a_0_325"/>
            <p:cNvSpPr/>
            <p:nvPr/>
          </p:nvSpPr>
          <p:spPr>
            <a:xfrm>
              <a:off x="4698999" y="3468242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6" name="Google Shape;566;g3a2a1d9814a_0_325"/>
            <p:cNvPicPr preferRelativeResize="0"/>
            <p:nvPr/>
          </p:nvPicPr>
          <p:blipFill rotWithShape="1">
            <a:blip r:embed="rId3">
              <a:alphaModFix/>
            </a:blip>
            <a:srcRect b="29505" l="0" r="59155" t="14004"/>
            <a:stretch/>
          </p:blipFill>
          <p:spPr>
            <a:xfrm rot="-1448652">
              <a:off x="4618655" y="3398820"/>
              <a:ext cx="2992376" cy="2488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g3a2a1d9814a_0_325"/>
            <p:cNvSpPr txBox="1"/>
            <p:nvPr/>
          </p:nvSpPr>
          <p:spPr>
            <a:xfrm>
              <a:off x="5031524" y="3728492"/>
              <a:ext cx="22536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You can also use the checklists to guide your thinking and drafting of your protocol and/or ethics 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8" name="Google Shape;568;g3a2a1d9814a_0_325"/>
            <p:cNvPicPr preferRelativeResize="0"/>
            <p:nvPr/>
          </p:nvPicPr>
          <p:blipFill rotWithShape="1">
            <a:blip r:embed="rId7">
              <a:alphaModFix/>
            </a:blip>
            <a:srcRect b="28042" l="0" r="19562" t="0"/>
            <a:stretch/>
          </p:blipFill>
          <p:spPr>
            <a:xfrm flipH="1">
              <a:off x="7008078" y="4065242"/>
              <a:ext cx="1934136" cy="18474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2a1d9814a_0_35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Reporting Guidelines and Checklists</a:t>
            </a:r>
            <a:endParaRPr/>
          </a:p>
        </p:txBody>
      </p:sp>
      <p:grpSp>
        <p:nvGrpSpPr>
          <p:cNvPr id="574" name="Google Shape;574;g3a2a1d9814a_0_350"/>
          <p:cNvGrpSpPr/>
          <p:nvPr/>
        </p:nvGrpSpPr>
        <p:grpSpPr>
          <a:xfrm>
            <a:off x="297532" y="746289"/>
            <a:ext cx="4302944" cy="2536809"/>
            <a:chOff x="297532" y="746289"/>
            <a:chExt cx="4302944" cy="2536809"/>
          </a:xfrm>
        </p:grpSpPr>
        <p:sp>
          <p:nvSpPr>
            <p:cNvPr id="575" name="Google Shape;575;g3a2a1d9814a_0_350"/>
            <p:cNvSpPr/>
            <p:nvPr/>
          </p:nvSpPr>
          <p:spPr>
            <a:xfrm>
              <a:off x="297532" y="831498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6" name="Google Shape;576;g3a2a1d9814a_0_350"/>
            <p:cNvPicPr preferRelativeResize="0"/>
            <p:nvPr/>
          </p:nvPicPr>
          <p:blipFill rotWithShape="1">
            <a:blip r:embed="rId3">
              <a:alphaModFix/>
            </a:blip>
            <a:srcRect b="41441" l="26953" r="0" t="0"/>
            <a:stretch/>
          </p:blipFill>
          <p:spPr>
            <a:xfrm>
              <a:off x="310857" y="1149994"/>
              <a:ext cx="2274955" cy="21023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7" name="Google Shape;577;g3a2a1d9814a_0_350"/>
            <p:cNvGrpSpPr/>
            <p:nvPr/>
          </p:nvGrpSpPr>
          <p:grpSpPr>
            <a:xfrm>
              <a:off x="1745487" y="746289"/>
              <a:ext cx="2854990" cy="2380409"/>
              <a:chOff x="1903427" y="759805"/>
              <a:chExt cx="2546597" cy="2137196"/>
            </a:xfrm>
          </p:grpSpPr>
          <p:pic>
            <p:nvPicPr>
              <p:cNvPr id="578" name="Google Shape;578;g3a2a1d9814a_0_350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flipH="1">
                <a:off x="1903427" y="759805"/>
                <a:ext cx="2546597" cy="213719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9" name="Google Shape;579;g3a2a1d9814a_0_350"/>
              <p:cNvSpPr txBox="1"/>
              <p:nvPr/>
            </p:nvSpPr>
            <p:spPr>
              <a:xfrm>
                <a:off x="2145429" y="997436"/>
                <a:ext cx="1948200" cy="124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They are also useful to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guide your process as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well as essential to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complete when writing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up your final report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0" name="Google Shape;580;g3a2a1d9814a_0_350"/>
          <p:cNvGrpSpPr/>
          <p:nvPr/>
        </p:nvGrpSpPr>
        <p:grpSpPr>
          <a:xfrm>
            <a:off x="4142012" y="252121"/>
            <a:ext cx="4704457" cy="3657911"/>
            <a:chOff x="4142012" y="252121"/>
            <a:chExt cx="4704457" cy="3657911"/>
          </a:xfrm>
        </p:grpSpPr>
        <p:sp>
          <p:nvSpPr>
            <p:cNvPr id="581" name="Google Shape;581;g3a2a1d9814a_0_350"/>
            <p:cNvSpPr/>
            <p:nvPr/>
          </p:nvSpPr>
          <p:spPr>
            <a:xfrm>
              <a:off x="4666869" y="831498"/>
              <a:ext cx="41796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" name="Google Shape;582;g3a2a1d9814a_0_350"/>
            <p:cNvGrpSpPr/>
            <p:nvPr/>
          </p:nvGrpSpPr>
          <p:grpSpPr>
            <a:xfrm>
              <a:off x="4142012" y="252121"/>
              <a:ext cx="3653090" cy="3657911"/>
              <a:chOff x="3293288" y="-104811"/>
              <a:chExt cx="3653090" cy="3657911"/>
            </a:xfrm>
          </p:grpSpPr>
          <p:pic>
            <p:nvPicPr>
              <p:cNvPr id="583" name="Google Shape;583;g3a2a1d9814a_0_350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rot="-2000343">
                <a:off x="3804395" y="400279"/>
                <a:ext cx="2630875" cy="264773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4" name="Google Shape;584;g3a2a1d9814a_0_350"/>
              <p:cNvSpPr txBox="1"/>
              <p:nvPr/>
            </p:nvSpPr>
            <p:spPr>
              <a:xfrm>
                <a:off x="3991520" y="770543"/>
                <a:ext cx="2003400" cy="16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22860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So how do I find a reporting guideline for my research, and how do I know which one is the right one to use?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85" name="Google Shape;585;g3a2a1d9814a_0_350"/>
            <p:cNvPicPr preferRelativeResize="0"/>
            <p:nvPr/>
          </p:nvPicPr>
          <p:blipFill rotWithShape="1">
            <a:blip r:embed="rId5">
              <a:alphaModFix/>
            </a:blip>
            <a:srcRect b="50534" l="15045" r="0" t="0"/>
            <a:stretch/>
          </p:blipFill>
          <p:spPr>
            <a:xfrm flipH="1">
              <a:off x="7078097" y="1149994"/>
              <a:ext cx="1755046" cy="21158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6" name="Google Shape;586;g3a2a1d9814a_0_350"/>
          <p:cNvGrpSpPr/>
          <p:nvPr/>
        </p:nvGrpSpPr>
        <p:grpSpPr>
          <a:xfrm>
            <a:off x="68682" y="3393800"/>
            <a:ext cx="8781918" cy="2638961"/>
            <a:chOff x="68682" y="3393800"/>
            <a:chExt cx="8781918" cy="2638961"/>
          </a:xfrm>
        </p:grpSpPr>
        <p:sp>
          <p:nvSpPr>
            <p:cNvPr id="587" name="Google Shape;587;g3a2a1d9814a_0_350"/>
            <p:cNvSpPr/>
            <p:nvPr/>
          </p:nvSpPr>
          <p:spPr>
            <a:xfrm>
              <a:off x="293400" y="3393800"/>
              <a:ext cx="8557200" cy="2451600"/>
            </a:xfrm>
            <a:prstGeom prst="rect">
              <a:avLst/>
            </a:prstGeom>
            <a:solidFill>
              <a:srgbClr val="FDDFD7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8" name="Google Shape;588;g3a2a1d9814a_0_350"/>
            <p:cNvPicPr preferRelativeResize="0"/>
            <p:nvPr/>
          </p:nvPicPr>
          <p:blipFill rotWithShape="1">
            <a:blip r:embed="rId6">
              <a:alphaModFix/>
            </a:blip>
            <a:srcRect b="47371" l="0" r="0" t="0"/>
            <a:stretch/>
          </p:blipFill>
          <p:spPr>
            <a:xfrm flipH="1">
              <a:off x="68682" y="3519507"/>
              <a:ext cx="2988533" cy="232079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89" name="Google Shape;589;g3a2a1d9814a_0_350"/>
            <p:cNvGrpSpPr/>
            <p:nvPr/>
          </p:nvGrpSpPr>
          <p:grpSpPr>
            <a:xfrm>
              <a:off x="1621926" y="3684464"/>
              <a:ext cx="3267026" cy="2348297"/>
              <a:chOff x="3467928" y="3550285"/>
              <a:chExt cx="3267026" cy="2348297"/>
            </a:xfrm>
          </p:grpSpPr>
          <p:pic>
            <p:nvPicPr>
              <p:cNvPr id="590" name="Google Shape;590;g3a2a1d9814a_0_350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rot="10303115">
                <a:off x="3591427" y="3757699"/>
                <a:ext cx="3020029" cy="19334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1" name="Google Shape;591;g3a2a1d9814a_0_350"/>
              <p:cNvSpPr txBox="1"/>
              <p:nvPr/>
            </p:nvSpPr>
            <p:spPr>
              <a:xfrm>
                <a:off x="3729457" y="4312338"/>
                <a:ext cx="2545500" cy="89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There are resources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you can use, like the </a:t>
                </a:r>
                <a:r>
                  <a:rPr b="0" i="0" lang="en-US" sz="1400" u="sng" cap="none" strike="noStrike">
                    <a:solidFill>
                      <a:schemeClr val="accent3"/>
                    </a:solidFill>
                    <a:latin typeface="Roboto"/>
                    <a:ea typeface="Roboto"/>
                    <a:cs typeface="Roboto"/>
                    <a:sym typeface="Roboto"/>
                    <a:hlinkClick r:id="rId7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Equator Network website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2" name="Google Shape;592;g3a2a1d9814a_0_350"/>
          <p:cNvGrpSpPr/>
          <p:nvPr/>
        </p:nvGrpSpPr>
        <p:grpSpPr>
          <a:xfrm>
            <a:off x="3881125" y="2888091"/>
            <a:ext cx="5070186" cy="3550001"/>
            <a:chOff x="3881125" y="2888091"/>
            <a:chExt cx="5070186" cy="3550001"/>
          </a:xfrm>
        </p:grpSpPr>
        <p:pic>
          <p:nvPicPr>
            <p:cNvPr descr="A picture containing text&#10;&#10;Description automatically generated" id="593" name="Google Shape;593;g3a2a1d9814a_0_350"/>
            <p:cNvPicPr preferRelativeResize="0"/>
            <p:nvPr/>
          </p:nvPicPr>
          <p:blipFill rotWithShape="1">
            <a:blip r:embed="rId8">
              <a:alphaModFix/>
            </a:blip>
            <a:srcRect b="47919" l="4182" r="20329" t="5421"/>
            <a:stretch/>
          </p:blipFill>
          <p:spPr>
            <a:xfrm flipH="1">
              <a:off x="6754259" y="3910032"/>
              <a:ext cx="2197052" cy="19296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94" name="Google Shape;594;g3a2a1d9814a_0_350"/>
            <p:cNvGrpSpPr/>
            <p:nvPr/>
          </p:nvGrpSpPr>
          <p:grpSpPr>
            <a:xfrm>
              <a:off x="3881125" y="2888091"/>
              <a:ext cx="4027705" cy="3550001"/>
              <a:chOff x="3229128" y="-129977"/>
              <a:chExt cx="4027705" cy="4073437"/>
            </a:xfrm>
          </p:grpSpPr>
          <p:pic>
            <p:nvPicPr>
              <p:cNvPr id="595" name="Google Shape;595;g3a2a1d9814a_0_350"/>
              <p:cNvPicPr preferRelativeResize="0"/>
              <p:nvPr/>
            </p:nvPicPr>
            <p:blipFill rotWithShape="1">
              <a:blip r:embed="rId4">
                <a:alphaModFix/>
              </a:blip>
              <a:srcRect b="29505" l="0" r="59155" t="14004"/>
              <a:stretch/>
            </p:blipFill>
            <p:spPr>
              <a:xfrm rot="-2468074">
                <a:off x="3927542" y="351463"/>
                <a:ext cx="2630876" cy="311055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6" name="Google Shape;596;g3a2a1d9814a_0_350"/>
              <p:cNvSpPr txBox="1"/>
              <p:nvPr/>
            </p:nvSpPr>
            <p:spPr>
              <a:xfrm>
                <a:off x="4164078" y="797388"/>
                <a:ext cx="2003400" cy="15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This has a list of 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guidelines you can use, and many are 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available  in many 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different languages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601" name="Google Shape;601;g3a2a1d9814a_0_3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02" name="Google Shape;602;g3a2a1d9814a_0_3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07" name="Google Shape;607;g3a2a1d9814a_0_522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08" name="Google Shape;608;g3a2a1d9814a_0_5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g3a2a1d9814a_0_522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g3a2a1d9814a_0_522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615" name="Google Shape;615;g3a2a1d9814a_0_5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g3a2a1d9814a_0_52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/>
              <a:t>Module 5 – </a:t>
            </a:r>
            <a:r>
              <a:rPr b="1" lang="en-US" sz="2400"/>
              <a:t>Open Reporting</a:t>
            </a:r>
            <a:endParaRPr sz="2400"/>
          </a:p>
        </p:txBody>
      </p:sp>
      <p:sp>
        <p:nvSpPr>
          <p:cNvPr id="617" name="Google Shape;617;g3a2a1d9814a_0_529"/>
          <p:cNvSpPr txBox="1"/>
          <p:nvPr/>
        </p:nvSpPr>
        <p:spPr>
          <a:xfrm>
            <a:off x="2705715" y="1565991"/>
            <a:ext cx="3702600" cy="18201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Examples of guidelines and checklists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2a1d9814a_0_53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Examples of Reporting Guidelines for Different Types of Research</a:t>
            </a:r>
            <a:endParaRPr b="1" sz="2400"/>
          </a:p>
        </p:txBody>
      </p:sp>
      <p:sp>
        <p:nvSpPr>
          <p:cNvPr id="623" name="Google Shape;623;g3a2a1d9814a_0_535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graphicFrame>
        <p:nvGraphicFramePr>
          <p:cNvPr id="624" name="Google Shape;624;g3a2a1d9814a_0_535"/>
          <p:cNvGraphicFramePr/>
          <p:nvPr/>
        </p:nvGraphicFramePr>
        <p:xfrm>
          <a:off x="1037811" y="1412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{A1F8B9D6-F231-4CD8-B4CC-EF52D7506398}</a:tableStyleId>
              </a:tblPr>
              <a:tblGrid>
                <a:gridCol w="3728825"/>
                <a:gridCol w="3339550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C183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Research type</a:t>
                      </a:r>
                      <a:endParaRPr b="1" sz="2000" u="none" cap="none" strike="noStrike">
                        <a:solidFill>
                          <a:srgbClr val="1C183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C183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Guideline/Checklist</a:t>
                      </a:r>
                      <a:endParaRPr b="1" sz="2000" u="none" cap="none" strike="noStrike">
                        <a:solidFill>
                          <a:srgbClr val="1C183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Study protocols / Clinical trial protocols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SPIRIT</a:t>
                      </a:r>
                      <a:r>
                        <a:rPr lang="en-US" sz="1400" u="none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r>
                        <a:rPr lang="en-US" sz="1400" u="none" cap="none" strike="noStrike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PRISMA-P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</a:tr>
              <a:tr h="3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Qualitative research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COREQ</a:t>
                      </a:r>
                      <a:r>
                        <a:rPr lang="en-US" sz="1400" u="none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r>
                        <a:rPr lang="en-US" sz="1400" u="none" cap="none" strike="noStrike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SRQR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Randomised trials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CONSORT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Observational studies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STROBE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Systematic reviews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PRISMA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Diagnostic/prognostic studies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STARD</a:t>
                      </a:r>
                      <a:r>
                        <a:rPr lang="en-US" sz="1400" u="none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r>
                        <a:rPr lang="en-US" sz="1400" u="none" cap="none" strike="noStrike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TRIPOD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 reports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CARE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625" name="Google Shape;625;g3a2a1d9814a_0_535"/>
          <p:cNvGrpSpPr/>
          <p:nvPr/>
        </p:nvGrpSpPr>
        <p:grpSpPr>
          <a:xfrm>
            <a:off x="6194839" y="3288309"/>
            <a:ext cx="2226365" cy="2088105"/>
            <a:chOff x="6641546" y="3783526"/>
            <a:chExt cx="2226365" cy="2088105"/>
          </a:xfrm>
        </p:grpSpPr>
        <p:pic>
          <p:nvPicPr>
            <p:cNvPr id="626" name="Google Shape;626;g3a2a1d9814a_0_53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 flipH="1">
              <a:off x="6641546" y="3783526"/>
              <a:ext cx="2226365" cy="2088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7" name="Google Shape;627;g3a2a1d9814a_0_535"/>
            <p:cNvSpPr txBox="1"/>
            <p:nvPr/>
          </p:nvSpPr>
          <p:spPr>
            <a:xfrm>
              <a:off x="6847911" y="4265191"/>
              <a:ext cx="17172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Click on any of these links to see the checklist(s)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descr="A picture containing text, vector graphics&#10;&#10;Description automatically generated" id="628" name="Google Shape;628;g3a2a1d9814a_0_535"/>
          <p:cNvPicPr preferRelativeResize="0"/>
          <p:nvPr/>
        </p:nvPicPr>
        <p:blipFill rotWithShape="1">
          <a:blip r:embed="rId17">
            <a:alphaModFix/>
          </a:blip>
          <a:srcRect b="60031" l="8667" r="0" t="0"/>
          <a:stretch/>
        </p:blipFill>
        <p:spPr>
          <a:xfrm flipH="1">
            <a:off x="7263911" y="4484901"/>
            <a:ext cx="1880090" cy="1571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a2a1d9814a_0_54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Examples of Reporting Guidelines for Different Types of Research</a:t>
            </a:r>
            <a:endParaRPr b="1" sz="2400"/>
          </a:p>
        </p:txBody>
      </p:sp>
      <p:graphicFrame>
        <p:nvGraphicFramePr>
          <p:cNvPr id="634" name="Google Shape;634;g3a2a1d9814a_0_545"/>
          <p:cNvGraphicFramePr/>
          <p:nvPr/>
        </p:nvGraphicFramePr>
        <p:xfrm>
          <a:off x="1025596" y="1409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{A1F8B9D6-F231-4CD8-B4CC-EF52D7506398}</a:tableStyleId>
              </a:tblPr>
              <a:tblGrid>
                <a:gridCol w="3728825"/>
                <a:gridCol w="3339550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C183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Research type</a:t>
                      </a:r>
                      <a:endParaRPr b="1" sz="2000" u="none" cap="none" strike="noStrike">
                        <a:solidFill>
                          <a:srgbClr val="1C183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C183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Guideline/Checklist</a:t>
                      </a:r>
                      <a:endParaRPr b="1" sz="2000" u="none" cap="none" strike="noStrike">
                        <a:solidFill>
                          <a:srgbClr val="1C183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2222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Clinical practice guidelines</a:t>
                      </a:r>
                      <a:endParaRPr sz="1400" u="none" cap="none" strike="noStrike">
                        <a:solidFill>
                          <a:srgbClr val="22222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AGREE</a:t>
                      </a:r>
                      <a:r>
                        <a:rPr lang="en-US" sz="1400" u="none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r>
                        <a:rPr lang="en-US" sz="1400" u="none" cap="none" strike="noStrike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RIGHT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</a:tr>
              <a:tr h="3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Animal pre-clinical research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ARRIVE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Quality improvement studies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SQUIRE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Economic evaluations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CHEERS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 studies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Checklist for case studies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2522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Ecology studies</a:t>
                      </a:r>
                      <a:endParaRPr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TTEE</a:t>
                      </a:r>
                      <a:endParaRPr sz="1400" u="sng" cap="none" strike="noStrike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solidFill>
                      <a:srgbClr val="FDDFD7"/>
                    </a:solidFill>
                  </a:tcPr>
                </a:tc>
              </a:tr>
            </a:tbl>
          </a:graphicData>
        </a:graphic>
      </p:graphicFrame>
      <p:grpSp>
        <p:nvGrpSpPr>
          <p:cNvPr id="635" name="Google Shape;635;g3a2a1d9814a_0_545"/>
          <p:cNvGrpSpPr/>
          <p:nvPr/>
        </p:nvGrpSpPr>
        <p:grpSpPr>
          <a:xfrm>
            <a:off x="6194839" y="3288309"/>
            <a:ext cx="2226365" cy="2088105"/>
            <a:chOff x="6641546" y="3783526"/>
            <a:chExt cx="2226365" cy="2088105"/>
          </a:xfrm>
        </p:grpSpPr>
        <p:pic>
          <p:nvPicPr>
            <p:cNvPr id="636" name="Google Shape;636;g3a2a1d9814a_0_54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>
              <a:off x="6641546" y="3783526"/>
              <a:ext cx="2226365" cy="2088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g3a2a1d9814a_0_545"/>
            <p:cNvSpPr txBox="1"/>
            <p:nvPr/>
          </p:nvSpPr>
          <p:spPr>
            <a:xfrm>
              <a:off x="6847911" y="4265191"/>
              <a:ext cx="17172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Click on any of these links to see the checklist(s)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descr="A picture containing text, vector graphics&#10;&#10;Description automatically generated" id="638" name="Google Shape;638;g3a2a1d9814a_0_545"/>
          <p:cNvPicPr preferRelativeResize="0"/>
          <p:nvPr/>
        </p:nvPicPr>
        <p:blipFill rotWithShape="1">
          <a:blip r:embed="rId12">
            <a:alphaModFix/>
          </a:blip>
          <a:srcRect b="60031" l="8667" r="0" t="0"/>
          <a:stretch/>
        </p:blipFill>
        <p:spPr>
          <a:xfrm flipH="1">
            <a:off x="7263911" y="4484901"/>
            <a:ext cx="1880090" cy="1571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2a1d9814a_0_554"/>
          <p:cNvSpPr/>
          <p:nvPr/>
        </p:nvSpPr>
        <p:spPr>
          <a:xfrm>
            <a:off x="552600" y="1472400"/>
            <a:ext cx="8038800" cy="3913200"/>
          </a:xfrm>
          <a:prstGeom prst="rect">
            <a:avLst/>
          </a:prstGeom>
          <a:solidFill>
            <a:srgbClr val="FDDFD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a2a1d9814a_0_55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Examples of Reporting Guidelines and Checklists</a:t>
            </a:r>
            <a:endParaRPr b="1" sz="2400"/>
          </a:p>
        </p:txBody>
      </p:sp>
      <p:grpSp>
        <p:nvGrpSpPr>
          <p:cNvPr id="645" name="Google Shape;645;g3a2a1d9814a_0_554"/>
          <p:cNvGrpSpPr/>
          <p:nvPr/>
        </p:nvGrpSpPr>
        <p:grpSpPr>
          <a:xfrm>
            <a:off x="1309328" y="1397239"/>
            <a:ext cx="2713896" cy="2313600"/>
            <a:chOff x="1595375" y="978850"/>
            <a:chExt cx="2713896" cy="2313600"/>
          </a:xfrm>
        </p:grpSpPr>
        <p:pic>
          <p:nvPicPr>
            <p:cNvPr id="646" name="Google Shape;646;g3a2a1d9814a_0_554"/>
            <p:cNvPicPr preferRelativeResize="0"/>
            <p:nvPr/>
          </p:nvPicPr>
          <p:blipFill rotWithShape="1">
            <a:blip r:embed="rId3">
              <a:alphaModFix/>
            </a:blip>
            <a:srcRect b="29505" l="0" r="59155" t="14004"/>
            <a:stretch/>
          </p:blipFill>
          <p:spPr>
            <a:xfrm flipH="1">
              <a:off x="1595375" y="978850"/>
              <a:ext cx="2713896" cy="231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g3a2a1d9814a_0_554"/>
            <p:cNvSpPr txBox="1"/>
            <p:nvPr/>
          </p:nvSpPr>
          <p:spPr>
            <a:xfrm>
              <a:off x="1894675" y="1555200"/>
              <a:ext cx="21153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  <a:t>Don’t worry if you can’t find the right one for you on the previous slide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48" name="Google Shape;648;g3a2a1d9814a_0_554"/>
          <p:cNvPicPr preferRelativeResize="0"/>
          <p:nvPr/>
        </p:nvPicPr>
        <p:blipFill rotWithShape="1">
          <a:blip r:embed="rId4">
            <a:alphaModFix/>
          </a:blip>
          <a:srcRect b="47767" l="0" r="23324" t="0"/>
          <a:stretch/>
        </p:blipFill>
        <p:spPr>
          <a:xfrm flipH="1">
            <a:off x="536402" y="2969938"/>
            <a:ext cx="2517761" cy="2394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9" name="Google Shape;649;g3a2a1d9814a_0_554"/>
          <p:cNvGrpSpPr/>
          <p:nvPr/>
        </p:nvGrpSpPr>
        <p:grpSpPr>
          <a:xfrm>
            <a:off x="2594738" y="2427054"/>
            <a:ext cx="4813130" cy="3569890"/>
            <a:chOff x="2483570" y="2427054"/>
            <a:chExt cx="4813130" cy="3569890"/>
          </a:xfrm>
        </p:grpSpPr>
        <p:pic>
          <p:nvPicPr>
            <p:cNvPr id="650" name="Google Shape;650;g3a2a1d9814a_0_554"/>
            <p:cNvPicPr preferRelativeResize="0"/>
            <p:nvPr/>
          </p:nvPicPr>
          <p:blipFill rotWithShape="1">
            <a:blip r:embed="rId5">
              <a:alphaModFix/>
            </a:blip>
            <a:srcRect b="57334" l="0" r="10992" t="0"/>
            <a:stretch/>
          </p:blipFill>
          <p:spPr>
            <a:xfrm>
              <a:off x="2483570" y="2869389"/>
              <a:ext cx="2999209" cy="24948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51" name="Google Shape;651;g3a2a1d9814a_0_554"/>
            <p:cNvGrpSpPr/>
            <p:nvPr/>
          </p:nvGrpSpPr>
          <p:grpSpPr>
            <a:xfrm>
              <a:off x="3701251" y="2427054"/>
              <a:ext cx="3595449" cy="3569890"/>
              <a:chOff x="3892379" y="2415273"/>
              <a:chExt cx="3595449" cy="3569890"/>
            </a:xfrm>
          </p:grpSpPr>
          <p:pic>
            <p:nvPicPr>
              <p:cNvPr id="652" name="Google Shape;652;g3a2a1d9814a_0_554"/>
              <p:cNvPicPr preferRelativeResize="0"/>
              <p:nvPr/>
            </p:nvPicPr>
            <p:blipFill rotWithShape="1">
              <a:blip r:embed="rId3">
                <a:alphaModFix/>
              </a:blip>
              <a:srcRect b="29505" l="0" r="59155" t="14004"/>
              <a:stretch/>
            </p:blipFill>
            <p:spPr>
              <a:xfrm rot="8978850">
                <a:off x="4363023" y="2908870"/>
                <a:ext cx="2654161" cy="25826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3" name="Google Shape;653;g3a2a1d9814a_0_554"/>
              <p:cNvSpPr txBox="1"/>
              <p:nvPr/>
            </p:nvSpPr>
            <p:spPr>
              <a:xfrm>
                <a:off x="4779952" y="3531329"/>
                <a:ext cx="1877100" cy="16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rPr>
                  <a:t>We have included some of the most well-known </a:t>
                </a:r>
                <a:br>
                  <a:rPr b="0" i="0" lang="en-US" sz="14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rPr>
                  <a:t>guidelines, but there </a:t>
                </a:r>
                <a:br>
                  <a:rPr b="0" i="0" lang="en-US" sz="14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rPr>
                  <a:t>are still many more</a:t>
                </a:r>
                <a:br>
                  <a:rPr b="0" i="0" lang="en-US" sz="14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rPr>
                  <a:t> beyond these</a:t>
                </a:r>
                <a:endParaRPr b="0" i="0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54" name="Google Shape;654;g3a2a1d9814a_0_554"/>
          <p:cNvGrpSpPr/>
          <p:nvPr/>
        </p:nvGrpSpPr>
        <p:grpSpPr>
          <a:xfrm>
            <a:off x="5154268" y="1405297"/>
            <a:ext cx="3437131" cy="3958893"/>
            <a:chOff x="5154268" y="1405297"/>
            <a:chExt cx="3437131" cy="3958893"/>
          </a:xfrm>
        </p:grpSpPr>
        <p:pic>
          <p:nvPicPr>
            <p:cNvPr id="655" name="Google Shape;655;g3a2a1d9814a_0_554"/>
            <p:cNvPicPr preferRelativeResize="0"/>
            <p:nvPr/>
          </p:nvPicPr>
          <p:blipFill rotWithShape="1">
            <a:blip r:embed="rId6">
              <a:alphaModFix/>
            </a:blip>
            <a:srcRect b="50000" l="29547" r="0" t="0"/>
            <a:stretch/>
          </p:blipFill>
          <p:spPr>
            <a:xfrm flipH="1">
              <a:off x="6477801" y="2778171"/>
              <a:ext cx="2113598" cy="258601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56" name="Google Shape;656;g3a2a1d9814a_0_554"/>
            <p:cNvGrpSpPr/>
            <p:nvPr/>
          </p:nvGrpSpPr>
          <p:grpSpPr>
            <a:xfrm>
              <a:off x="5154268" y="1405297"/>
              <a:ext cx="2507050" cy="2116190"/>
              <a:chOff x="4572000" y="1056500"/>
              <a:chExt cx="2507050" cy="2116190"/>
            </a:xfrm>
          </p:grpSpPr>
          <p:pic>
            <p:nvPicPr>
              <p:cNvPr id="657" name="Google Shape;657;g3a2a1d9814a_0_554"/>
              <p:cNvPicPr preferRelativeResize="0"/>
              <p:nvPr/>
            </p:nvPicPr>
            <p:blipFill rotWithShape="1">
              <a:blip r:embed="rId3">
                <a:alphaModFix/>
              </a:blip>
              <a:srcRect b="29505" l="0" r="59155" t="14004"/>
              <a:stretch/>
            </p:blipFill>
            <p:spPr>
              <a:xfrm>
                <a:off x="4572000" y="1056500"/>
                <a:ext cx="2507050" cy="21161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8" name="Google Shape;658;g3a2a1d9814a_0_554"/>
              <p:cNvSpPr/>
              <p:nvPr/>
            </p:nvSpPr>
            <p:spPr>
              <a:xfrm>
                <a:off x="4941610" y="1257150"/>
                <a:ext cx="1857000" cy="131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br>
                  <a:rPr b="0" i="0" lang="en-US" sz="1400" u="none" cap="none" strike="noStrike">
                    <a:solidFill>
                      <a:srgbClr val="1C1835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i="0" lang="en-US" sz="1400" u="none" cap="none" strike="noStrike">
                    <a:solidFill>
                      <a:srgbClr val="1C1835"/>
                    </a:solidFill>
                    <a:latin typeface="Arial"/>
                    <a:ea typeface="Arial"/>
                    <a:cs typeface="Arial"/>
                    <a:sym typeface="Arial"/>
                  </a:rPr>
                  <a:t>And more being developed in new areas and disciplines all the time!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2a1d9814a_0_573"/>
          <p:cNvSpPr/>
          <p:nvPr/>
        </p:nvSpPr>
        <p:spPr>
          <a:xfrm>
            <a:off x="552600" y="1472400"/>
            <a:ext cx="8038800" cy="3913200"/>
          </a:xfrm>
          <a:prstGeom prst="rect">
            <a:avLst/>
          </a:prstGeom>
          <a:solidFill>
            <a:srgbClr val="FDDFD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a2a1d9814a_0_57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Examples of Reporting Guidelines and Checklists</a:t>
            </a:r>
            <a:endParaRPr b="1" sz="2400"/>
          </a:p>
        </p:txBody>
      </p:sp>
      <p:pic>
        <p:nvPicPr>
          <p:cNvPr id="665" name="Google Shape;665;g3a2a1d9814a_0_573"/>
          <p:cNvPicPr preferRelativeResize="0"/>
          <p:nvPr/>
        </p:nvPicPr>
        <p:blipFill rotWithShape="1">
          <a:blip r:embed="rId3">
            <a:alphaModFix/>
          </a:blip>
          <a:srcRect b="49036" l="15634" r="-8" t="0"/>
          <a:stretch/>
        </p:blipFill>
        <p:spPr>
          <a:xfrm>
            <a:off x="579909" y="2854036"/>
            <a:ext cx="2330401" cy="252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g3a2a1d9814a_0_573"/>
          <p:cNvPicPr preferRelativeResize="0"/>
          <p:nvPr/>
        </p:nvPicPr>
        <p:blipFill rotWithShape="1">
          <a:blip r:embed="rId4">
            <a:alphaModFix/>
          </a:blip>
          <a:srcRect b="51990" l="7791" r="0" t="0"/>
          <a:stretch/>
        </p:blipFill>
        <p:spPr>
          <a:xfrm flipH="1">
            <a:off x="5527400" y="2584813"/>
            <a:ext cx="3091309" cy="2791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7" name="Google Shape;667;g3a2a1d9814a_0_573"/>
          <p:cNvGrpSpPr/>
          <p:nvPr/>
        </p:nvGrpSpPr>
        <p:grpSpPr>
          <a:xfrm>
            <a:off x="1639109" y="1428013"/>
            <a:ext cx="2713896" cy="2313600"/>
            <a:chOff x="1595375" y="978850"/>
            <a:chExt cx="2713896" cy="2313600"/>
          </a:xfrm>
        </p:grpSpPr>
        <p:pic>
          <p:nvPicPr>
            <p:cNvPr id="668" name="Google Shape;668;g3a2a1d9814a_0_573"/>
            <p:cNvPicPr preferRelativeResize="0"/>
            <p:nvPr/>
          </p:nvPicPr>
          <p:blipFill rotWithShape="1">
            <a:blip r:embed="rId5">
              <a:alphaModFix/>
            </a:blip>
            <a:srcRect b="29505" l="0" r="59155" t="14004"/>
            <a:stretch/>
          </p:blipFill>
          <p:spPr>
            <a:xfrm flipH="1">
              <a:off x="1595375" y="978850"/>
              <a:ext cx="2713896" cy="231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9" name="Google Shape;669;g3a2a1d9814a_0_573"/>
            <p:cNvSpPr txBox="1"/>
            <p:nvPr/>
          </p:nvSpPr>
          <p:spPr>
            <a:xfrm>
              <a:off x="1787125" y="1503425"/>
              <a:ext cx="23304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  <a:t>Next we will take a look</a:t>
              </a:r>
              <a:br>
                <a:rPr b="0" i="0" lang="en-US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  <a:t> at some of the guidelines and checklists in a bit </a:t>
              </a:r>
              <a:br>
                <a:rPr b="0" i="0" lang="en-US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  <a:t>more detail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0" name="Google Shape;670;g3a2a1d9814a_0_573"/>
          <p:cNvGrpSpPr/>
          <p:nvPr/>
        </p:nvGrpSpPr>
        <p:grpSpPr>
          <a:xfrm>
            <a:off x="3969509" y="1432990"/>
            <a:ext cx="3433301" cy="2926900"/>
            <a:chOff x="3969509" y="1432990"/>
            <a:chExt cx="3433301" cy="2926900"/>
          </a:xfrm>
        </p:grpSpPr>
        <p:pic>
          <p:nvPicPr>
            <p:cNvPr id="671" name="Google Shape;671;g3a2a1d9814a_0_573"/>
            <p:cNvPicPr preferRelativeResize="0"/>
            <p:nvPr/>
          </p:nvPicPr>
          <p:blipFill rotWithShape="1">
            <a:blip r:embed="rId5">
              <a:alphaModFix/>
            </a:blip>
            <a:srcRect b="29505" l="0" r="59155" t="14004"/>
            <a:stretch/>
          </p:blipFill>
          <p:spPr>
            <a:xfrm>
              <a:off x="3969509" y="1432990"/>
              <a:ext cx="3433301" cy="2926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2" name="Google Shape;672;g3a2a1d9814a_0_573"/>
            <p:cNvSpPr/>
            <p:nvPr/>
          </p:nvSpPr>
          <p:spPr>
            <a:xfrm>
              <a:off x="4393970" y="2084884"/>
              <a:ext cx="2713800" cy="15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  <a:t>Even if the checklists we go through are not directly relevant to your study, understanding how to complete a reporting checklist is important for all studies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2a1d9814a_0_586"/>
          <p:cNvSpPr txBox="1"/>
          <p:nvPr>
            <p:ph idx="1" type="body"/>
          </p:nvPr>
        </p:nvSpPr>
        <p:spPr>
          <a:xfrm>
            <a:off x="259050" y="1628457"/>
            <a:ext cx="86208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A 27-item checklist representing an evidence-based minimum set of items for reporting in systematic reviews and meta-analyses</a:t>
            </a:r>
            <a:endParaRPr sz="2000"/>
          </a:p>
          <a:p>
            <a:pPr indent="-2667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Including the title, abstract, methods, results, discussion and funding</a:t>
            </a:r>
            <a:endParaRPr/>
          </a:p>
          <a:p>
            <a:pPr indent="-1143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A useful basis for reporting systematic reviews of a range of different research approaches</a:t>
            </a:r>
            <a:endParaRPr sz="2000"/>
          </a:p>
          <a:p>
            <a:pPr indent="-2667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Though largely focused on reporting of reviews evaluating randomized trials</a:t>
            </a:r>
            <a:endParaRPr b="1" sz="2000"/>
          </a:p>
        </p:txBody>
      </p:sp>
      <p:grpSp>
        <p:nvGrpSpPr>
          <p:cNvPr id="678" name="Google Shape;678;g3a2a1d9814a_0_586"/>
          <p:cNvGrpSpPr/>
          <p:nvPr/>
        </p:nvGrpSpPr>
        <p:grpSpPr>
          <a:xfrm>
            <a:off x="259050" y="271257"/>
            <a:ext cx="8625900" cy="1464900"/>
            <a:chOff x="254000" y="1056640"/>
            <a:chExt cx="8625900" cy="1464900"/>
          </a:xfrm>
        </p:grpSpPr>
        <p:sp>
          <p:nvSpPr>
            <p:cNvPr id="679" name="Google Shape;679;g3a2a1d9814a_0_586"/>
            <p:cNvSpPr/>
            <p:nvPr/>
          </p:nvSpPr>
          <p:spPr>
            <a:xfrm>
              <a:off x="254000" y="1056640"/>
              <a:ext cx="8625900" cy="1464900"/>
            </a:xfrm>
            <a:prstGeom prst="roundRect">
              <a:avLst>
                <a:gd fmla="val 16667" name="adj"/>
              </a:avLst>
            </a:prstGeom>
            <a:solidFill>
              <a:srgbClr val="FDDFD7"/>
            </a:solidFill>
            <a:ln cap="flat" cmpd="sng" w="9525">
              <a:solidFill>
                <a:srgbClr val="FDE0D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g3a2a1d9814a_0_586"/>
            <p:cNvSpPr/>
            <p:nvPr/>
          </p:nvSpPr>
          <p:spPr>
            <a:xfrm>
              <a:off x="254000" y="1056640"/>
              <a:ext cx="8620800" cy="14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sng" cap="none" strike="noStrike">
                  <a:solidFill>
                    <a:schemeClr val="accent3"/>
                  </a:solidFill>
                  <a:latin typeface="Roboto Black"/>
                  <a:ea typeface="Roboto Black"/>
                  <a:cs typeface="Roboto Black"/>
                  <a:sym typeface="Roboto Black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PRISMA</a:t>
              </a:r>
              <a:r>
                <a:rPr b="1" i="0" lang="en-US" sz="2800" u="sng" cap="none" strike="noStrike">
                  <a:solidFill>
                    <a:schemeClr val="accent3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 Checklist </a:t>
              </a:r>
              <a:endParaRPr b="0" i="0" sz="2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252244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Preferred Reporting Items for Systematic Reviews and Meta-Analyses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a2a1d9814a_0_593"/>
          <p:cNvSpPr txBox="1"/>
          <p:nvPr>
            <p:ph idx="1" type="body"/>
          </p:nvPr>
        </p:nvSpPr>
        <p:spPr>
          <a:xfrm>
            <a:off x="259050" y="1901942"/>
            <a:ext cx="86208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-300037" lvl="0" marL="31273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A 22-item checklist with broadly applicable standards for reporting qualitative research</a:t>
            </a:r>
            <a:endParaRPr/>
          </a:p>
          <a:p>
            <a:pPr indent="-130175" lvl="0" marL="1428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endParaRPr/>
          </a:p>
          <a:p>
            <a:pPr indent="-300037" lvl="0" marL="31273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Allows researchers to report important aspects of qualitative studies</a:t>
            </a:r>
            <a:endParaRPr/>
          </a:p>
          <a:p>
            <a:pPr indent="-300037" lvl="1" marL="76993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Including standards on the qualitative approach and paradigm,  researcher characteristics and reflexivity, study methods, analysis, synthesis and interpretations</a:t>
            </a:r>
            <a:endParaRPr/>
          </a:p>
          <a:p>
            <a:pPr indent="-147637" lvl="1" marL="76993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000"/>
          </a:p>
        </p:txBody>
      </p:sp>
      <p:grpSp>
        <p:nvGrpSpPr>
          <p:cNvPr id="686" name="Google Shape;686;g3a2a1d9814a_0_593"/>
          <p:cNvGrpSpPr/>
          <p:nvPr/>
        </p:nvGrpSpPr>
        <p:grpSpPr>
          <a:xfrm>
            <a:off x="259050" y="204997"/>
            <a:ext cx="8625900" cy="1466629"/>
            <a:chOff x="254000" y="1056640"/>
            <a:chExt cx="8625900" cy="1466629"/>
          </a:xfrm>
        </p:grpSpPr>
        <p:sp>
          <p:nvSpPr>
            <p:cNvPr id="687" name="Google Shape;687;g3a2a1d9814a_0_593"/>
            <p:cNvSpPr/>
            <p:nvPr/>
          </p:nvSpPr>
          <p:spPr>
            <a:xfrm>
              <a:off x="254000" y="1056640"/>
              <a:ext cx="8625900" cy="1461600"/>
            </a:xfrm>
            <a:prstGeom prst="roundRect">
              <a:avLst>
                <a:gd fmla="val 16667" name="adj"/>
              </a:avLst>
            </a:prstGeom>
            <a:solidFill>
              <a:srgbClr val="FDDFD7"/>
            </a:solidFill>
            <a:ln cap="flat" cmpd="sng" w="9525">
              <a:solidFill>
                <a:srgbClr val="FDE0D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g3a2a1d9814a_0_593"/>
            <p:cNvSpPr/>
            <p:nvPr/>
          </p:nvSpPr>
          <p:spPr>
            <a:xfrm>
              <a:off x="254000" y="1061669"/>
              <a:ext cx="8620800" cy="14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sng" cap="none" strike="noStrike">
                  <a:solidFill>
                    <a:schemeClr val="accent3"/>
                  </a:solidFill>
                  <a:latin typeface="Roboto Black"/>
                  <a:ea typeface="Roboto Black"/>
                  <a:cs typeface="Roboto Black"/>
                  <a:sym typeface="Roboto Black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SRQR</a:t>
              </a:r>
              <a:endParaRPr b="1" i="0" sz="2800" u="sng" cap="none" strike="noStrike">
                <a:solidFill>
                  <a:schemeClr val="accent3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Standards for Reporting Qualitative Research</a:t>
              </a: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a2a1d9814a_0_600"/>
          <p:cNvSpPr txBox="1"/>
          <p:nvPr>
            <p:ph idx="1" type="body"/>
          </p:nvPr>
        </p:nvSpPr>
        <p:spPr>
          <a:xfrm>
            <a:off x="253950" y="1901942"/>
            <a:ext cx="86259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A 22-item checklist for reporting of observational studies</a:t>
            </a:r>
            <a:endParaRPr/>
          </a:p>
          <a:p>
            <a:pPr indent="-2667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Including the title, abstract, methods, results, discussion and funding</a:t>
            </a:r>
            <a:endParaRPr/>
          </a:p>
          <a:p>
            <a:pPr indent="-2667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Focuses mainly on reporting of cross-sectional, cohort and case-control studies</a:t>
            </a:r>
            <a:endParaRPr/>
          </a:p>
          <a:p>
            <a:pPr indent="-1143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Not only for epidemiological studies but for observational research in any discipline</a:t>
            </a:r>
            <a:endParaRPr/>
          </a:p>
        </p:txBody>
      </p:sp>
      <p:grpSp>
        <p:nvGrpSpPr>
          <p:cNvPr id="694" name="Google Shape;694;g3a2a1d9814a_0_600"/>
          <p:cNvGrpSpPr/>
          <p:nvPr/>
        </p:nvGrpSpPr>
        <p:grpSpPr>
          <a:xfrm>
            <a:off x="259050" y="204997"/>
            <a:ext cx="8625900" cy="1466629"/>
            <a:chOff x="254000" y="1056640"/>
            <a:chExt cx="8625900" cy="1466629"/>
          </a:xfrm>
        </p:grpSpPr>
        <p:sp>
          <p:nvSpPr>
            <p:cNvPr id="695" name="Google Shape;695;g3a2a1d9814a_0_600"/>
            <p:cNvSpPr/>
            <p:nvPr/>
          </p:nvSpPr>
          <p:spPr>
            <a:xfrm>
              <a:off x="254000" y="1056640"/>
              <a:ext cx="8625900" cy="1461600"/>
            </a:xfrm>
            <a:prstGeom prst="roundRect">
              <a:avLst>
                <a:gd fmla="val 16667" name="adj"/>
              </a:avLst>
            </a:prstGeom>
            <a:solidFill>
              <a:srgbClr val="FDDFD7"/>
            </a:solidFill>
            <a:ln cap="flat" cmpd="sng" w="9525">
              <a:solidFill>
                <a:srgbClr val="FDE0D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g3a2a1d9814a_0_600"/>
            <p:cNvSpPr/>
            <p:nvPr/>
          </p:nvSpPr>
          <p:spPr>
            <a:xfrm>
              <a:off x="254000" y="1061669"/>
              <a:ext cx="8620800" cy="14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sng" cap="none" strike="noStrike">
                  <a:solidFill>
                    <a:schemeClr val="accent3"/>
                  </a:solidFill>
                  <a:latin typeface="Roboto Black"/>
                  <a:ea typeface="Roboto Black"/>
                  <a:cs typeface="Roboto Black"/>
                  <a:sym typeface="Roboto Black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STROBE</a:t>
              </a:r>
              <a:endParaRPr b="0" i="0" sz="2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dk1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 STrengthening the Reporting of OBservational studies in Epidemiology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701" name="Google Shape;701;g3a2a1d9814a_0_6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02" name="Google Shape;702;g3a2a1d9814a_0_6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07" name="Google Shape;707;g3a2a1d9814a_0_850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08" name="Google Shape;708;g3a2a1d9814a_0_8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g3a2a1d9814a_0_850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g3a2a1d9814a_0_850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2a1d9814a_0_857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716" name="Google Shape;716;g3a2a1d9814a_0_857"/>
          <p:cNvSpPr txBox="1"/>
          <p:nvPr/>
        </p:nvSpPr>
        <p:spPr>
          <a:xfrm>
            <a:off x="322100" y="2379465"/>
            <a:ext cx="8489700" cy="1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5625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Additional Resources</a:t>
            </a:r>
            <a:endParaRPr b="0" i="0" sz="28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ct val="64285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rgbClr val="FFC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45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64285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a2a1d9814a_0_86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252244"/>
                </a:solidFill>
              </a:rPr>
              <a:t>Want to know more about...</a:t>
            </a:r>
            <a:endParaRPr sz="2400"/>
          </a:p>
        </p:txBody>
      </p:sp>
      <p:sp>
        <p:nvSpPr>
          <p:cNvPr id="722" name="Google Shape;722;g3a2a1d9814a_0_862"/>
          <p:cNvSpPr txBox="1"/>
          <p:nvPr>
            <p:ph idx="1" type="body"/>
          </p:nvPr>
        </p:nvSpPr>
        <p:spPr>
          <a:xfrm>
            <a:off x="254000" y="1157137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Choosing the right reporting guidelines for your research?</a:t>
            </a:r>
            <a:endParaRPr/>
          </a:p>
          <a:p>
            <a:pPr indent="-38100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Take a look at the </a:t>
            </a:r>
            <a:r>
              <a:rPr lang="en-US" sz="2000" u="sng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Equator Network: Selecting the appropriate reporting guidelines for your work</a:t>
            </a:r>
            <a:endParaRPr sz="2000" u="sng">
              <a:solidFill>
                <a:schemeClr val="accent3"/>
              </a:solidFill>
            </a:endParaRPr>
          </a:p>
          <a:p>
            <a:pPr indent="-2286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How reporting guidelines are developed?</a:t>
            </a:r>
            <a:endParaRPr/>
          </a:p>
          <a:p>
            <a:pPr indent="-38100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The Equator Network toolkit for developing a reporting guideline shows the steps involved:</a:t>
            </a:r>
            <a:endParaRPr/>
          </a:p>
          <a:p>
            <a:pPr indent="0" lvl="0" marL="449262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u="sng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Equator Network: Developing a Reporting Guideline</a:t>
            </a:r>
            <a:endParaRPr sz="2000">
              <a:solidFill>
                <a:schemeClr val="accent3"/>
              </a:solidFill>
            </a:endParaRPr>
          </a:p>
          <a:p>
            <a:pPr indent="-2286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a2a1d9814a_0_86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252244"/>
                </a:solidFill>
              </a:rPr>
              <a:t>Want to know more about...</a:t>
            </a:r>
            <a:endParaRPr sz="2400"/>
          </a:p>
        </p:txBody>
      </p:sp>
      <p:sp>
        <p:nvSpPr>
          <p:cNvPr id="728" name="Google Shape;728;g3a2a1d9814a_0_867"/>
          <p:cNvSpPr txBox="1"/>
          <p:nvPr>
            <p:ph idx="1" type="body"/>
          </p:nvPr>
        </p:nvSpPr>
        <p:spPr>
          <a:xfrm>
            <a:off x="254000" y="954999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2400">
                <a:solidFill>
                  <a:srgbClr val="000000"/>
                </a:solidFill>
              </a:rPr>
              <a:t>The impact of reporting guidelines on reporting practices?</a:t>
            </a:r>
            <a:endParaRPr/>
          </a:p>
          <a:p>
            <a:pPr indent="-38100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252244"/>
                </a:solidFill>
              </a:rPr>
              <a:t>This paper outlines the impact in Public Health specifically but may be of interest more broadly:</a:t>
            </a:r>
            <a:br>
              <a:rPr b="1" lang="en-US" sz="24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222222"/>
                </a:solidFill>
              </a:rPr>
              <a:t>Mannocci, A., et al. (2015). What is the impact of reporting guidelines on Public Health journals in Europe? The case of STROBE, CONSORT and PRISMA, Journal of Public Health, 37(4), 737-740. </a:t>
            </a:r>
            <a:r>
              <a:rPr lang="en-US" sz="2000" u="sng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https://doi.org/10.1093/pubmed/fdu108</a:t>
            </a:r>
            <a:endParaRPr sz="2000">
              <a:solidFill>
                <a:schemeClr val="accent3"/>
              </a:solidFill>
            </a:endParaRPr>
          </a:p>
          <a:p>
            <a:pPr indent="-2286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None/>
            </a:pPr>
            <a:r>
              <a:rPr lang="en-US" sz="2400">
                <a:solidFill>
                  <a:srgbClr val="000000"/>
                </a:solidFill>
              </a:rPr>
              <a:t>Strategies for reporting research decisions transparently:</a:t>
            </a:r>
            <a:endParaRPr/>
          </a:p>
          <a:p>
            <a:pPr indent="-354012" lvl="0" marL="449262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Char char="•"/>
            </a:pPr>
            <a:r>
              <a:rPr lang="en-US" sz="2000">
                <a:solidFill>
                  <a:srgbClr val="252244"/>
                </a:solidFill>
              </a:rPr>
              <a:t>This paper focuses on statistical reporting:</a:t>
            </a:r>
            <a:endParaRPr/>
          </a:p>
          <a:p>
            <a:pPr indent="0" lvl="0" marL="449262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None/>
            </a:pPr>
            <a:r>
              <a:rPr lang="en-US" sz="2000">
                <a:solidFill>
                  <a:srgbClr val="252244"/>
                </a:solidFill>
              </a:rPr>
              <a:t>Wicherts, J. M., et al. (2016). Degrees of freedom in planning, running, analyzing, and reporting psychological studies: A checklist to avoid p-hacking. Frontiers in Psychology, 7, 1832. </a:t>
            </a:r>
            <a:r>
              <a:rPr lang="en-US" sz="2000" u="sng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https://doi.org/10.3389/fpsyg.2016.01832</a:t>
            </a:r>
            <a:endParaRPr sz="2000">
              <a:solidFill>
                <a:schemeClr val="accent3"/>
              </a:solidFill>
            </a:endParaRPr>
          </a:p>
          <a:p>
            <a:pPr indent="-239712" lvl="0" marL="449262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None/>
            </a:pPr>
            <a:r>
              <a:t/>
            </a:r>
            <a:endParaRPr sz="2000">
              <a:solidFill>
                <a:srgbClr val="252244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733" name="Google Shape;733;g3a2a1d9814a_0_8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34" name="Google Shape;734;g3a2a1d9814a_0_8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2021-03-16T17:05:21Z</dcterms:created>
  <dc:creator>Orlagh O'Brien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0x010100AA7A9ED9D3E8CD4BAE96912ACCE469BD</vt:lpwstr>
  </property>
</Properties>
</file>