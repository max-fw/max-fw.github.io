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74" r:id="rId5"/>
  </p:sldMasterIdLst>
  <p:notesMasterIdLst>
    <p:notesMasterId r:id="rId23"/>
  </p:notesMasterIdLst>
  <p:sldIdLst>
    <p:sldId id="256" r:id="rId6"/>
    <p:sldId id="269" r:id="rId7"/>
    <p:sldId id="270" r:id="rId8"/>
    <p:sldId id="398" r:id="rId9"/>
    <p:sldId id="399" r:id="rId10"/>
    <p:sldId id="40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400" r:id="rId19"/>
    <p:sldId id="280" r:id="rId20"/>
    <p:sldId id="379" r:id="rId21"/>
    <p:sldId id="376" r:id="rId22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Roboto Medium" panose="020000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6" roundtripDataSignature="AMtx7mgbNaFXSBkrRu53Qq399pOKaLnS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FEFFA"/>
    <a:srgbClr val="F4BA37"/>
    <a:srgbClr val="FFE9B3"/>
    <a:srgbClr val="EDF8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CAB36C-C34B-440F-858E-802F9CBF229D}" v="10" dt="2021-10-11T12:15:30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3"/>
    <p:restoredTop sz="87679"/>
  </p:normalViewPr>
  <p:slideViewPr>
    <p:cSldViewPr snapToGrid="0" snapToObjects="1">
      <p:cViewPr varScale="1">
        <p:scale>
          <a:sx n="90" d="100"/>
          <a:sy n="90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3.fntdata"/><Relationship Id="rId21" Type="http://schemas.openxmlformats.org/officeDocument/2006/relationships/slide" Target="slides/slide16.xml"/><Relationship Id="rId34" Type="http://schemas.openxmlformats.org/officeDocument/2006/relationships/font" Target="fonts/font11.fntdata"/><Relationship Id="rId146" Type="http://customschemas.google.com/relationships/presentationmetadata" Target="metadata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149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8.fntdata"/><Relationship Id="rId148" Type="http://schemas.openxmlformats.org/officeDocument/2006/relationships/viewProps" Target="viewProps.xml"/><Relationship Id="rId15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147" Type="http://schemas.openxmlformats.org/officeDocument/2006/relationships/presProps" Target="presProps.xml"/><Relationship Id="rId8" Type="http://schemas.openxmlformats.org/officeDocument/2006/relationships/slide" Target="slides/slide3.xml"/><Relationship Id="rId15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2.fntdata"/><Relationship Id="rId33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9" name="Google Shape;4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6" name="Google Shape;6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3" name="Google Shape;7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d356505b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1" name="Google Shape;731;gd356505b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2090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7b0c16cc28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44" name="Google Shape;744;g7b0c16cc28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7b0c16cc28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0" name="Google Shape;750;g7b0c16cc28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7b0c16cc28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0" name="Google Shape;760;g7b0c16cc28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7b0c16cc28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0" name="Google Shape;780;g7b0c16cc28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d356505b6f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gd356505b6f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df5372d389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5" name="Google Shape;825;gdf5372d389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7b0c16cc28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6" name="Google Shape;846;g7b0c16cc28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7b0c16cc28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6" name="Google Shape;846;g7b0c16cc28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26771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7b0c16cc28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64" name="Google Shape;864;g7b0c16cc28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876" name="Google Shape;8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41213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5" name="Google Shape;197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5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3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3"/>
          <p:cNvSpPr txBox="1">
            <a:spLocks noGrp="1"/>
          </p:cNvSpPr>
          <p:nvPr>
            <p:ph type="body" idx="1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5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4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4"/>
          <p:cNvSpPr txBox="1">
            <a:spLocks noGrp="1"/>
          </p:cNvSpPr>
          <p:nvPr>
            <p:ph type="body" idx="1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4"/>
          <p:cNvSpPr txBox="1">
            <a:spLocks noGrp="1"/>
          </p:cNvSpPr>
          <p:nvPr>
            <p:ph type="body" idx="2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5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5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55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5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5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5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6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56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5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7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7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57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5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8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8"/>
          <p:cNvSpPr txBox="1">
            <a:spLocks noGrp="1"/>
          </p:cNvSpPr>
          <p:nvPr>
            <p:ph type="body" idx="1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5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9"/>
          <p:cNvSpPr txBox="1">
            <a:spLocks noGrp="1"/>
          </p:cNvSpPr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9"/>
          <p:cNvSpPr txBox="1">
            <a:spLocks noGrp="1"/>
          </p:cNvSpPr>
          <p:nvPr>
            <p:ph type="body" idx="1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5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6"/>
          <p:cNvSpPr txBox="1">
            <a:spLocks noGrp="1"/>
          </p:cNvSpPr>
          <p:nvPr>
            <p:ph type="body" idx="1"/>
          </p:nvPr>
        </p:nvSpPr>
        <p:spPr>
          <a:xfrm>
            <a:off x="254000" y="1209040"/>
            <a:ext cx="8625840" cy="4561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3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756920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7"/>
          <p:cNvSpPr txBox="1">
            <a:spLocks noGrp="1"/>
          </p:cNvSpPr>
          <p:nvPr>
            <p:ph type="body" idx="1"/>
          </p:nvPr>
        </p:nvSpPr>
        <p:spPr>
          <a:xfrm>
            <a:off x="254000" y="1209040"/>
            <a:ext cx="7569200" cy="4561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3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9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69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6" name="Google Shape;196;p6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6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6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0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70"/>
          <p:cNvSpPr txBox="1">
            <a:spLocks noGrp="1"/>
          </p:cNvSpPr>
          <p:nvPr>
            <p:ph type="body" idx="1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7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7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7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1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71"/>
          <p:cNvSpPr txBox="1">
            <a:spLocks noGrp="1"/>
          </p:cNvSpPr>
          <p:nvPr>
            <p:ph type="body" idx="1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71"/>
          <p:cNvSpPr txBox="1">
            <a:spLocks noGrp="1"/>
          </p:cNvSpPr>
          <p:nvPr>
            <p:ph type="body" idx="2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7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7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7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2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72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5" name="Google Shape;215;p72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72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7" name="Google Shape;217;p72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7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7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7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7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7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74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28" name="Google Shape;228;p74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9" name="Google Shape;229;p7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7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7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75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5" name="Google Shape;235;p75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6" name="Google Shape;236;p7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7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7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6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76"/>
          <p:cNvSpPr txBox="1">
            <a:spLocks noGrp="1"/>
          </p:cNvSpPr>
          <p:nvPr>
            <p:ph type="body" idx="1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7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7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7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7"/>
          <p:cNvSpPr txBox="1">
            <a:spLocks noGrp="1"/>
          </p:cNvSpPr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77"/>
          <p:cNvSpPr txBox="1">
            <a:spLocks noGrp="1"/>
          </p:cNvSpPr>
          <p:nvPr>
            <p:ph type="body" idx="1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7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7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7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" name="Google Shape;171;p34"/>
          <p:cNvSpPr txBox="1">
            <a:spLocks noGrp="1"/>
          </p:cNvSpPr>
          <p:nvPr>
            <p:ph type="body" idx="1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2" name="Google Shape;172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3" name="Google Shape;173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4" name="Google Shape;174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34"/>
          <p:cNvSpPr txBox="1"/>
          <p:nvPr/>
        </p:nvSpPr>
        <p:spPr>
          <a:xfrm>
            <a:off x="5779958" y="6344082"/>
            <a:ext cx="3220344" cy="3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14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– History of Open Research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news/1-500-scientists-lift-the-lid-on-reproducibility-1.19970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7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5.png"/><Relationship Id="rId4" Type="http://schemas.openxmlformats.org/officeDocument/2006/relationships/hyperlink" Target="https://www.youtube.com/watch?v=c-bemNZ-IqA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33076" b="11539"/>
          <a:stretch/>
        </p:blipFill>
        <p:spPr>
          <a:xfrm>
            <a:off x="2150534" y="0"/>
            <a:ext cx="6993466" cy="6933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1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"/>
          <p:cNvSpPr txBox="1"/>
          <p:nvPr/>
        </p:nvSpPr>
        <p:spPr>
          <a:xfrm>
            <a:off x="364243" y="1660140"/>
            <a:ext cx="3697118" cy="90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lang="en-US" sz="2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2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sz="2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1"/>
          <p:cNvSpPr txBox="1"/>
          <p:nvPr/>
        </p:nvSpPr>
        <p:spPr>
          <a:xfrm>
            <a:off x="364243" y="2450863"/>
            <a:ext cx="4465334" cy="126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5" name="Google Shape;705;p8"/>
          <p:cNvGrpSpPr/>
          <p:nvPr/>
        </p:nvGrpSpPr>
        <p:grpSpPr>
          <a:xfrm>
            <a:off x="2991433" y="1555200"/>
            <a:ext cx="3675600" cy="3747600"/>
            <a:chOff x="5837711" y="1204187"/>
            <a:chExt cx="2130774" cy="2118757"/>
          </a:xfrm>
        </p:grpSpPr>
        <p:pic>
          <p:nvPicPr>
            <p:cNvPr id="706" name="Google Shape;706;p8" descr="Icon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837711" y="1204187"/>
              <a:ext cx="2118757" cy="2118757"/>
            </a:xfrm>
            <a:prstGeom prst="rect">
              <a:avLst/>
            </a:prstGeom>
            <a:noFill/>
            <a:ln>
              <a:noFill/>
            </a:ln>
            <a:effectLst>
              <a:outerShdw blurRad="254000" dist="127000" dir="2700000" sx="101000" sy="101000" algn="tl" rotWithShape="0">
                <a:srgbClr val="000000">
                  <a:alpha val="16078"/>
                </a:srgbClr>
              </a:outerShdw>
            </a:effectLst>
          </p:spPr>
        </p:pic>
        <p:sp>
          <p:nvSpPr>
            <p:cNvPr id="707" name="Google Shape;707;p8"/>
            <p:cNvSpPr txBox="1"/>
            <p:nvPr/>
          </p:nvSpPr>
          <p:spPr>
            <a:xfrm>
              <a:off x="5849585" y="1204187"/>
              <a:ext cx="2118900" cy="5743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8000" tIns="108000" rIns="108000" bIns="108000" anchor="t" anchorCtr="0">
              <a:spAutoFit/>
            </a:bodyPr>
            <a:lstStyle/>
            <a:p>
              <a:pPr marL="0" marR="0" lvl="0" indent="0" algn="l" rtl="0">
                <a:lnSpc>
                  <a:spcPct val="1076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24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The History of Open Research	</a:t>
              </a:r>
              <a:endParaRPr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9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 b="1" dirty="0"/>
              <a:t>The History of Open Research</a:t>
            </a:r>
            <a:endParaRPr sz="2400" b="1" dirty="0"/>
          </a:p>
        </p:txBody>
      </p:sp>
      <p:sp>
        <p:nvSpPr>
          <p:cNvPr id="716" name="Google Shape;716;p9"/>
          <p:cNvSpPr txBox="1">
            <a:spLocks noGrp="1"/>
          </p:cNvSpPr>
          <p:nvPr>
            <p:ph type="body" idx="1"/>
          </p:nvPr>
        </p:nvSpPr>
        <p:spPr>
          <a:xfrm>
            <a:off x="254000" y="1209050"/>
            <a:ext cx="8173500" cy="9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dirty="0"/>
              <a:t>Did you know the internet was originally designed for research purposes? </a:t>
            </a:r>
            <a:endParaRPr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E92070-142A-5047-A3C3-E7F3AF047F79}"/>
              </a:ext>
            </a:extLst>
          </p:cNvPr>
          <p:cNvGrpSpPr/>
          <p:nvPr/>
        </p:nvGrpSpPr>
        <p:grpSpPr>
          <a:xfrm>
            <a:off x="254000" y="2581302"/>
            <a:ext cx="2088530" cy="2813810"/>
            <a:chOff x="254000" y="2581302"/>
            <a:chExt cx="2088530" cy="2813810"/>
          </a:xfrm>
        </p:grpSpPr>
        <p:sp>
          <p:nvSpPr>
            <p:cNvPr id="717" name="Google Shape;717;p9"/>
            <p:cNvSpPr txBox="1"/>
            <p:nvPr/>
          </p:nvSpPr>
          <p:spPr>
            <a:xfrm>
              <a:off x="254000" y="4317934"/>
              <a:ext cx="2088530" cy="10771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Researchers wanted a fast, easy and low-cost way for sharing data with each other.</a:t>
              </a:r>
              <a:endParaRPr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4BDDFD2-A636-3141-A547-F01D94DBC785}"/>
                </a:ext>
              </a:extLst>
            </p:cNvPr>
            <p:cNvGrpSpPr/>
            <p:nvPr/>
          </p:nvGrpSpPr>
          <p:grpSpPr>
            <a:xfrm>
              <a:off x="535207" y="2581302"/>
              <a:ext cx="1526116" cy="1526116"/>
              <a:chOff x="701182" y="2581302"/>
              <a:chExt cx="1526116" cy="1526116"/>
            </a:xfrm>
          </p:grpSpPr>
          <p:sp>
            <p:nvSpPr>
              <p:cNvPr id="721" name="Google Shape;721;p9"/>
              <p:cNvSpPr/>
              <p:nvPr/>
            </p:nvSpPr>
            <p:spPr>
              <a:xfrm>
                <a:off x="701182" y="2581302"/>
                <a:ext cx="1526116" cy="152611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725" name="Google Shape;725;p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65585" y="2948910"/>
                <a:ext cx="761149" cy="7611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186CACB-1582-5B40-A393-C16E0D698E52}"/>
              </a:ext>
            </a:extLst>
          </p:cNvPr>
          <p:cNvGrpSpPr/>
          <p:nvPr/>
        </p:nvGrpSpPr>
        <p:grpSpPr>
          <a:xfrm>
            <a:off x="4635329" y="2581302"/>
            <a:ext cx="2062783" cy="3233262"/>
            <a:chOff x="4635329" y="2581302"/>
            <a:chExt cx="2062783" cy="3233262"/>
          </a:xfrm>
        </p:grpSpPr>
        <p:sp>
          <p:nvSpPr>
            <p:cNvPr id="719" name="Google Shape;719;p9"/>
            <p:cNvSpPr txBox="1"/>
            <p:nvPr/>
          </p:nvSpPr>
          <p:spPr>
            <a:xfrm>
              <a:off x="4635329" y="4244944"/>
              <a:ext cx="2062783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Now the internet dominates almost all aspects of our daily lives. Yet it has deviated from its original purpose</a:t>
              </a:r>
              <a:endParaRPr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9"/>
            <p:cNvSpPr/>
            <p:nvPr/>
          </p:nvSpPr>
          <p:spPr>
            <a:xfrm>
              <a:off x="4886713" y="2581302"/>
              <a:ext cx="1526116" cy="15261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" name="Picture 5" descr="Icon&#10;&#10;Description automatically generated">
              <a:extLst>
                <a:ext uri="{FF2B5EF4-FFF2-40B4-BE49-F238E27FC236}">
                  <a16:creationId xmlns:a16="http://schemas.microsoft.com/office/drawing/2014/main" id="{9B5314DA-0FE0-2C46-ADD4-C408716A4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50000"/>
            </a:blip>
            <a:stretch>
              <a:fillRect/>
            </a:stretch>
          </p:blipFill>
          <p:spPr>
            <a:xfrm>
              <a:off x="5116670" y="2697784"/>
              <a:ext cx="1121229" cy="1293151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2963AE7-3616-EB49-A769-AC657FC5DFBC}"/>
              </a:ext>
            </a:extLst>
          </p:cNvPr>
          <p:cNvGrpSpPr/>
          <p:nvPr/>
        </p:nvGrpSpPr>
        <p:grpSpPr>
          <a:xfrm>
            <a:off x="6880906" y="2523952"/>
            <a:ext cx="2067033" cy="2993632"/>
            <a:chOff x="6880906" y="2523952"/>
            <a:chExt cx="2067033" cy="2993632"/>
          </a:xfrm>
        </p:grpSpPr>
        <p:sp>
          <p:nvSpPr>
            <p:cNvPr id="720" name="Google Shape;720;p9"/>
            <p:cNvSpPr txBox="1"/>
            <p:nvPr/>
          </p:nvSpPr>
          <p:spPr>
            <a:xfrm>
              <a:off x="6880906" y="2523952"/>
              <a:ext cx="2067033" cy="1323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Open research is the movement to bring modern research back in line with this original digital intent</a:t>
              </a:r>
              <a:endParaRPr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7151364" y="3961367"/>
              <a:ext cx="1526116" cy="15261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highlight>
                  <a:srgbClr val="8DD2AF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" name="Picture 1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77A0B5E-4585-6849-A6AB-0256D3014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50000"/>
            </a:blip>
            <a:stretch>
              <a:fillRect/>
            </a:stretch>
          </p:blipFill>
          <p:spPr>
            <a:xfrm>
              <a:off x="7255187" y="3990935"/>
              <a:ext cx="1318470" cy="1526649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72E82E9-1748-9E40-9C1D-D74328814404}"/>
              </a:ext>
            </a:extLst>
          </p:cNvPr>
          <p:cNvGrpSpPr/>
          <p:nvPr/>
        </p:nvGrpSpPr>
        <p:grpSpPr>
          <a:xfrm>
            <a:off x="2458137" y="2998598"/>
            <a:ext cx="1904913" cy="2237577"/>
            <a:chOff x="2458137" y="2998598"/>
            <a:chExt cx="1904913" cy="2237577"/>
          </a:xfrm>
        </p:grpSpPr>
        <p:sp>
          <p:nvSpPr>
            <p:cNvPr id="718" name="Google Shape;718;p9"/>
            <p:cNvSpPr txBox="1"/>
            <p:nvPr/>
          </p:nvSpPr>
          <p:spPr>
            <a:xfrm>
              <a:off x="2458137" y="2998598"/>
              <a:ext cx="1904913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600" i="0" u="none" strike="noStrike" cap="none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So the internet was born</a:t>
              </a:r>
              <a:endParaRPr sz="160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47536" y="3710059"/>
              <a:ext cx="1526116" cy="15261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" name="Picture 30" descr="Shape&#10;&#10;Description automatically generated">
              <a:extLst>
                <a:ext uri="{FF2B5EF4-FFF2-40B4-BE49-F238E27FC236}">
                  <a16:creationId xmlns:a16="http://schemas.microsoft.com/office/drawing/2014/main" id="{4A31D3E3-CC51-AE46-BCCD-5BEAB5D2C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50000"/>
            </a:blip>
            <a:stretch>
              <a:fillRect/>
            </a:stretch>
          </p:blipFill>
          <p:spPr>
            <a:xfrm>
              <a:off x="2786884" y="3876755"/>
              <a:ext cx="1197689" cy="115299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d356505b6f_0_23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The History of Open Research</a:t>
            </a:r>
            <a:endParaRPr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A14669-6AE9-8745-9122-CA6279EF9FF7}"/>
              </a:ext>
            </a:extLst>
          </p:cNvPr>
          <p:cNvSpPr txBox="1"/>
          <p:nvPr/>
        </p:nvSpPr>
        <p:spPr>
          <a:xfrm>
            <a:off x="531628" y="233916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88985FD-28ED-1D44-8351-755A6D317691}"/>
              </a:ext>
            </a:extLst>
          </p:cNvPr>
          <p:cNvGrpSpPr/>
          <p:nvPr/>
        </p:nvGrpSpPr>
        <p:grpSpPr>
          <a:xfrm>
            <a:off x="895280" y="836612"/>
            <a:ext cx="7896014" cy="1080795"/>
            <a:chOff x="531628" y="847470"/>
            <a:chExt cx="7896014" cy="108079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4973308-43CB-DD49-9F41-0E34BE33D89A}"/>
                </a:ext>
              </a:extLst>
            </p:cNvPr>
            <p:cNvGrpSpPr/>
            <p:nvPr/>
          </p:nvGrpSpPr>
          <p:grpSpPr>
            <a:xfrm>
              <a:off x="531628" y="892449"/>
              <a:ext cx="7896014" cy="1035816"/>
              <a:chOff x="1572726" y="1991758"/>
              <a:chExt cx="7896014" cy="103581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E00C9390-2DAF-DF46-BCEC-33F24E85386E}"/>
                  </a:ext>
                </a:extLst>
              </p:cNvPr>
              <p:cNvGrpSpPr/>
              <p:nvPr/>
            </p:nvGrpSpPr>
            <p:grpSpPr>
              <a:xfrm>
                <a:off x="1572726" y="1991758"/>
                <a:ext cx="7896014" cy="1035816"/>
                <a:chOff x="475776" y="1737976"/>
                <a:chExt cx="7357253" cy="1035816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7B02B951-E931-8546-9954-00E7400C26F7}"/>
                    </a:ext>
                  </a:extLst>
                </p:cNvPr>
                <p:cNvSpPr/>
                <p:nvPr/>
              </p:nvSpPr>
              <p:spPr>
                <a:xfrm>
                  <a:off x="990068" y="1737976"/>
                  <a:ext cx="6842961" cy="103581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Rounded Rectangle 25">
                  <a:extLst>
                    <a:ext uri="{FF2B5EF4-FFF2-40B4-BE49-F238E27FC236}">
                      <a16:creationId xmlns:a16="http://schemas.microsoft.com/office/drawing/2014/main" id="{C78A08C8-DF8B-B744-B6A0-E6C71D6A8726}"/>
                    </a:ext>
                  </a:extLst>
                </p:cNvPr>
                <p:cNvSpPr/>
                <p:nvPr/>
              </p:nvSpPr>
              <p:spPr>
                <a:xfrm>
                  <a:off x="475776" y="1737976"/>
                  <a:ext cx="1542728" cy="1035816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" name="Google Shape;1430;gdbc7ef7cb7_0_141">
                <a:extLst>
                  <a:ext uri="{FF2B5EF4-FFF2-40B4-BE49-F238E27FC236}">
                    <a16:creationId xmlns:a16="http://schemas.microsoft.com/office/drawing/2014/main" id="{A6D913B3-DA83-D844-817A-92A9A35B741B}"/>
                  </a:ext>
                </a:extLst>
              </p:cNvPr>
              <p:cNvSpPr txBox="1"/>
              <p:nvPr/>
            </p:nvSpPr>
            <p:spPr>
              <a:xfrm>
                <a:off x="3304828" y="2039478"/>
                <a:ext cx="4340572" cy="9232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>
                  <a:buSzPts val="1400"/>
                </a:pPr>
                <a:r>
                  <a:rPr lang="en-US" sz="1600" dirty="0">
                    <a:latin typeface="Roboto"/>
                    <a:ea typeface="Roboto"/>
                    <a:cs typeface="Roboto"/>
                    <a:sym typeface="Roboto"/>
                  </a:rPr>
                  <a:t>This movement began in the early 1990s, with the aim to make research products available to everyone - including the general public</a:t>
                </a:r>
                <a:endParaRPr sz="1600" b="0" i="0" u="none" strike="noStrike" cap="none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4" name="Google Shape;1426;gdbc7ef7cb7_0_141">
                <a:extLst>
                  <a:ext uri="{FF2B5EF4-FFF2-40B4-BE49-F238E27FC236}">
                    <a16:creationId xmlns:a16="http://schemas.microsoft.com/office/drawing/2014/main" id="{AFE4302E-4B52-7746-BFA7-BED860C841DC}"/>
                  </a:ext>
                </a:extLst>
              </p:cNvPr>
              <p:cNvSpPr txBox="1"/>
              <p:nvPr/>
            </p:nvSpPr>
            <p:spPr>
              <a:xfrm>
                <a:off x="1572726" y="2039478"/>
                <a:ext cx="1655700" cy="9232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600" b="1" i="0" u="none" strike="noStrike" cap="none" dirty="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 open access movement</a:t>
                </a:r>
                <a:endParaRPr sz="1600" b="1" i="0" u="none" strike="noStrike" cap="none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5F33586-95DC-7043-B26C-B91C4885237E}"/>
                </a:ext>
              </a:extLst>
            </p:cNvPr>
            <p:cNvGrpSpPr/>
            <p:nvPr/>
          </p:nvGrpSpPr>
          <p:grpSpPr>
            <a:xfrm>
              <a:off x="6798110" y="847470"/>
              <a:ext cx="1276008" cy="1057544"/>
              <a:chOff x="6804280" y="884723"/>
              <a:chExt cx="1658689" cy="1204377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BC0B0B4-312C-4E48-8273-E2F457DFD2CE}"/>
                  </a:ext>
                </a:extLst>
              </p:cNvPr>
              <p:cNvGrpSpPr/>
              <p:nvPr/>
            </p:nvGrpSpPr>
            <p:grpSpPr>
              <a:xfrm>
                <a:off x="6804280" y="884723"/>
                <a:ext cx="872540" cy="1108942"/>
                <a:chOff x="6804280" y="884723"/>
                <a:chExt cx="872540" cy="1108942"/>
              </a:xfrm>
            </p:grpSpPr>
            <p:pic>
              <p:nvPicPr>
                <p:cNvPr id="5" name="Picture 4" descr="Icon&#10;&#10;Description automatically generated">
                  <a:extLst>
                    <a:ext uri="{FF2B5EF4-FFF2-40B4-BE49-F238E27FC236}">
                      <a16:creationId xmlns:a16="http://schemas.microsoft.com/office/drawing/2014/main" id="{55A9329B-EA25-4A49-8747-474CFC1EDB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04280" y="884723"/>
                  <a:ext cx="872540" cy="1108942"/>
                </a:xfrm>
                <a:prstGeom prst="rect">
                  <a:avLst/>
                </a:prstGeom>
              </p:spPr>
            </p:pic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74711D02-5056-8749-A48D-C95960B434DD}"/>
                    </a:ext>
                  </a:extLst>
                </p:cNvPr>
                <p:cNvGrpSpPr/>
                <p:nvPr/>
              </p:nvGrpSpPr>
              <p:grpSpPr>
                <a:xfrm>
                  <a:off x="7240550" y="1229269"/>
                  <a:ext cx="292518" cy="211815"/>
                  <a:chOff x="7240551" y="1236713"/>
                  <a:chExt cx="292518" cy="211815"/>
                </a:xfrm>
              </p:grpSpPr>
              <p:sp>
                <p:nvSpPr>
                  <p:cNvPr id="6" name="Rounded Rectangle 5">
                    <a:extLst>
                      <a:ext uri="{FF2B5EF4-FFF2-40B4-BE49-F238E27FC236}">
                        <a16:creationId xmlns:a16="http://schemas.microsoft.com/office/drawing/2014/main" id="{07F0D879-8C6A-6F41-9EED-ADA4A6466AD5}"/>
                      </a:ext>
                    </a:extLst>
                  </p:cNvPr>
                  <p:cNvSpPr/>
                  <p:nvPr/>
                </p:nvSpPr>
                <p:spPr>
                  <a:xfrm rot="3837157">
                    <a:off x="7320612" y="1330769"/>
                    <a:ext cx="80560" cy="154957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3" name="Rounded Rectangle 52">
                    <a:extLst>
                      <a:ext uri="{FF2B5EF4-FFF2-40B4-BE49-F238E27FC236}">
                        <a16:creationId xmlns:a16="http://schemas.microsoft.com/office/drawing/2014/main" id="{87D34BE2-D5A6-C44E-B356-49F069BCBD43}"/>
                      </a:ext>
                    </a:extLst>
                  </p:cNvPr>
                  <p:cNvSpPr/>
                  <p:nvPr/>
                </p:nvSpPr>
                <p:spPr>
                  <a:xfrm rot="6707008">
                    <a:off x="7369060" y="1173703"/>
                    <a:ext cx="72979" cy="255038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accent2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4" name="Rounded Rectangle 53">
                    <a:extLst>
                      <a:ext uri="{FF2B5EF4-FFF2-40B4-BE49-F238E27FC236}">
                        <a16:creationId xmlns:a16="http://schemas.microsoft.com/office/drawing/2014/main" id="{227B9341-E453-5D4E-B3B7-16CEF4A33B6C}"/>
                      </a:ext>
                    </a:extLst>
                  </p:cNvPr>
                  <p:cNvSpPr/>
                  <p:nvPr/>
                </p:nvSpPr>
                <p:spPr>
                  <a:xfrm rot="4874159">
                    <a:off x="7331581" y="1175286"/>
                    <a:ext cx="72979" cy="255038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accent2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6" name="Rounded Rectangle 55">
                    <a:extLst>
                      <a:ext uri="{FF2B5EF4-FFF2-40B4-BE49-F238E27FC236}">
                        <a16:creationId xmlns:a16="http://schemas.microsoft.com/office/drawing/2014/main" id="{77D325BB-A3E1-224F-AD45-7BB9469B2E0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31580" y="1145684"/>
                    <a:ext cx="72979" cy="255038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accent2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pic>
            <p:nvPicPr>
              <p:cNvPr id="9" name="Picture 8" descr="Logo&#10;&#10;Description automatically generated">
                <a:extLst>
                  <a:ext uri="{FF2B5EF4-FFF2-40B4-BE49-F238E27FC236}">
                    <a16:creationId xmlns:a16="http://schemas.microsoft.com/office/drawing/2014/main" id="{2A609E73-D791-F442-835E-CF3787FD2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05930" y="919579"/>
                <a:ext cx="1357039" cy="1169521"/>
              </a:xfrm>
              <a:prstGeom prst="rect">
                <a:avLst/>
              </a:prstGeom>
            </p:spPr>
          </p:pic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F6D7F50-AED1-1848-B882-635949D3FFC5}"/>
              </a:ext>
            </a:extLst>
          </p:cNvPr>
          <p:cNvGrpSpPr/>
          <p:nvPr/>
        </p:nvGrpSpPr>
        <p:grpSpPr>
          <a:xfrm>
            <a:off x="895280" y="1962386"/>
            <a:ext cx="7896014" cy="1321312"/>
            <a:chOff x="531628" y="1973244"/>
            <a:chExt cx="7896014" cy="132131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26B403B-1AEE-5842-A130-82944F3B9919}"/>
                </a:ext>
              </a:extLst>
            </p:cNvPr>
            <p:cNvGrpSpPr/>
            <p:nvPr/>
          </p:nvGrpSpPr>
          <p:grpSpPr>
            <a:xfrm>
              <a:off x="531628" y="2154500"/>
              <a:ext cx="7896014" cy="1035816"/>
              <a:chOff x="1572726" y="1991758"/>
              <a:chExt cx="7896014" cy="1035816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10867456-5A50-0045-A0C8-F915B49C0665}"/>
                  </a:ext>
                </a:extLst>
              </p:cNvPr>
              <p:cNvGrpSpPr/>
              <p:nvPr/>
            </p:nvGrpSpPr>
            <p:grpSpPr>
              <a:xfrm>
                <a:off x="1572726" y="1991758"/>
                <a:ext cx="7896014" cy="1035816"/>
                <a:chOff x="475776" y="1737976"/>
                <a:chExt cx="7357253" cy="1035816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558D43F7-B09B-E742-83DA-E3CE39ED25B3}"/>
                    </a:ext>
                  </a:extLst>
                </p:cNvPr>
                <p:cNvSpPr/>
                <p:nvPr/>
              </p:nvSpPr>
              <p:spPr>
                <a:xfrm>
                  <a:off x="990068" y="1737976"/>
                  <a:ext cx="6842961" cy="103581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ounded Rectangle 31">
                  <a:extLst>
                    <a:ext uri="{FF2B5EF4-FFF2-40B4-BE49-F238E27FC236}">
                      <a16:creationId xmlns:a16="http://schemas.microsoft.com/office/drawing/2014/main" id="{860E7E2E-9BBC-C64C-85B0-2506B8D7263B}"/>
                    </a:ext>
                  </a:extLst>
                </p:cNvPr>
                <p:cNvSpPr/>
                <p:nvPr/>
              </p:nvSpPr>
              <p:spPr>
                <a:xfrm>
                  <a:off x="475776" y="1737976"/>
                  <a:ext cx="1542728" cy="1035816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" name="Google Shape;1430;gdbc7ef7cb7_0_141">
                <a:extLst>
                  <a:ext uri="{FF2B5EF4-FFF2-40B4-BE49-F238E27FC236}">
                    <a16:creationId xmlns:a16="http://schemas.microsoft.com/office/drawing/2014/main" id="{8D32EBB4-C99A-C54E-A2E9-3098FD1776E8}"/>
                  </a:ext>
                </a:extLst>
              </p:cNvPr>
              <p:cNvSpPr txBox="1"/>
              <p:nvPr/>
            </p:nvSpPr>
            <p:spPr>
              <a:xfrm>
                <a:off x="3304828" y="2039478"/>
                <a:ext cx="4340572" cy="9232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>
                  <a:buSzPts val="1400"/>
                </a:pPr>
                <a:r>
                  <a:rPr lang="en-US" sz="1600" dirty="0">
                    <a:latin typeface="Roboto"/>
                    <a:ea typeface="Roboto"/>
                    <a:cs typeface="Roboto"/>
                    <a:sym typeface="Roboto"/>
                  </a:rPr>
                  <a:t>This related to making research processes and outputs more open so other researchers could examine and reproduce them</a:t>
                </a:r>
                <a:endParaRPr sz="1600" b="0" i="0" u="none" strike="noStrike" cap="none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" name="Google Shape;1426;gdbc7ef7cb7_0_141">
                <a:extLst>
                  <a:ext uri="{FF2B5EF4-FFF2-40B4-BE49-F238E27FC236}">
                    <a16:creationId xmlns:a16="http://schemas.microsoft.com/office/drawing/2014/main" id="{ED4FE4F3-8850-1347-B1A5-6D7D5DF276C2}"/>
                  </a:ext>
                </a:extLst>
              </p:cNvPr>
              <p:cNvSpPr txBox="1"/>
              <p:nvPr/>
            </p:nvSpPr>
            <p:spPr>
              <a:xfrm>
                <a:off x="1572726" y="2039478"/>
                <a:ext cx="1655700" cy="9232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 algn="ctr">
                  <a:buSzPts val="1400"/>
                </a:pPr>
                <a:r>
                  <a:rPr lang="en-US" sz="1600" b="1" dirty="0">
                    <a:solidFill>
                      <a:schemeClr val="bg1"/>
                    </a:solidFill>
                    <a:latin typeface="Roboto"/>
                    <a:ea typeface="Roboto"/>
                    <a:cs typeface="Roboto"/>
                    <a:sym typeface="Roboto"/>
                  </a:rPr>
                  <a:t>Improving transparency &amp; reproducibility</a:t>
                </a:r>
                <a:endParaRPr sz="1600" b="1" i="0" u="none" strike="noStrike" cap="none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id="15" name="Picture 14" descr="Icon&#10;&#10;Description automatically generated">
              <a:extLst>
                <a:ext uri="{FF2B5EF4-FFF2-40B4-BE49-F238E27FC236}">
                  <a16:creationId xmlns:a16="http://schemas.microsoft.com/office/drawing/2014/main" id="{D4FB0A3F-91F1-5D44-A217-5E035B26D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57524" y="1973244"/>
              <a:ext cx="1191439" cy="1321312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70EFC7D-B6B0-FA40-A41F-CECBB698B891}"/>
              </a:ext>
            </a:extLst>
          </p:cNvPr>
          <p:cNvGrpSpPr/>
          <p:nvPr/>
        </p:nvGrpSpPr>
        <p:grpSpPr>
          <a:xfrm>
            <a:off x="895280" y="3405693"/>
            <a:ext cx="7896014" cy="1146190"/>
            <a:chOff x="531628" y="3416551"/>
            <a:chExt cx="7896014" cy="114619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FFF0F8C-FA02-3547-A5E5-5082EF227190}"/>
                </a:ext>
              </a:extLst>
            </p:cNvPr>
            <p:cNvGrpSpPr/>
            <p:nvPr/>
          </p:nvGrpSpPr>
          <p:grpSpPr>
            <a:xfrm>
              <a:off x="531628" y="3416551"/>
              <a:ext cx="7896014" cy="1035816"/>
              <a:chOff x="1572726" y="1991758"/>
              <a:chExt cx="7896014" cy="1035816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1601044-E935-4342-8D40-87F263D794A7}"/>
                  </a:ext>
                </a:extLst>
              </p:cNvPr>
              <p:cNvGrpSpPr/>
              <p:nvPr/>
            </p:nvGrpSpPr>
            <p:grpSpPr>
              <a:xfrm>
                <a:off x="1572726" y="1991758"/>
                <a:ext cx="7896014" cy="1035816"/>
                <a:chOff x="475776" y="1737976"/>
                <a:chExt cx="7357253" cy="1035816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7FFA048D-CA6C-734E-BCED-BFCE41FBA07D}"/>
                    </a:ext>
                  </a:extLst>
                </p:cNvPr>
                <p:cNvSpPr/>
                <p:nvPr/>
              </p:nvSpPr>
              <p:spPr>
                <a:xfrm>
                  <a:off x="990068" y="1737976"/>
                  <a:ext cx="6842961" cy="103581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Rounded Rectangle 41">
                  <a:extLst>
                    <a:ext uri="{FF2B5EF4-FFF2-40B4-BE49-F238E27FC236}">
                      <a16:creationId xmlns:a16="http://schemas.microsoft.com/office/drawing/2014/main" id="{3A03FFE2-E2DB-3246-9D1E-10D4C5B8FCB3}"/>
                    </a:ext>
                  </a:extLst>
                </p:cNvPr>
                <p:cNvSpPr/>
                <p:nvPr/>
              </p:nvSpPr>
              <p:spPr>
                <a:xfrm>
                  <a:off x="475776" y="1737976"/>
                  <a:ext cx="1542728" cy="1035816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9" name="Google Shape;1430;gdbc7ef7cb7_0_141">
                <a:extLst>
                  <a:ext uri="{FF2B5EF4-FFF2-40B4-BE49-F238E27FC236}">
                    <a16:creationId xmlns:a16="http://schemas.microsoft.com/office/drawing/2014/main" id="{A286FC85-2DB1-B84B-9FF2-C5CF98F77DCC}"/>
                  </a:ext>
                </a:extLst>
              </p:cNvPr>
              <p:cNvSpPr txBox="1"/>
              <p:nvPr/>
            </p:nvSpPr>
            <p:spPr>
              <a:xfrm>
                <a:off x="3304828" y="2185242"/>
                <a:ext cx="4340572" cy="677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>
                  <a:buSzPts val="1400"/>
                </a:pPr>
                <a:r>
                  <a:rPr lang="en-US" sz="1600" dirty="0">
                    <a:latin typeface="Roboto"/>
                    <a:ea typeface="Roboto"/>
                    <a:cs typeface="Roboto"/>
                    <a:sym typeface="Roboto"/>
                  </a:rPr>
                  <a:t>This was aimed at correcting bad science and restoring public trust in scientific research</a:t>
                </a:r>
              </a:p>
            </p:txBody>
          </p:sp>
          <p:sp>
            <p:nvSpPr>
              <p:cNvPr id="40" name="Google Shape;1426;gdbc7ef7cb7_0_141">
                <a:extLst>
                  <a:ext uri="{FF2B5EF4-FFF2-40B4-BE49-F238E27FC236}">
                    <a16:creationId xmlns:a16="http://schemas.microsoft.com/office/drawing/2014/main" id="{81D8F669-C68A-1E43-BD8C-C2DDE8F6E11D}"/>
                  </a:ext>
                </a:extLst>
              </p:cNvPr>
              <p:cNvSpPr txBox="1"/>
              <p:nvPr/>
            </p:nvSpPr>
            <p:spPr>
              <a:xfrm>
                <a:off x="1572726" y="2039478"/>
                <a:ext cx="1655700" cy="9232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600" b="1" i="0" u="none" strike="noStrike" cap="none" dirty="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 ‘open science’ movement</a:t>
                </a:r>
                <a:endParaRPr sz="1600" b="1" i="0" u="none" strike="noStrike" cap="none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id="57" name="Picture 56" descr="A picture containing text, weapon, knife&#10;&#10;Description automatically generated">
              <a:extLst>
                <a:ext uri="{FF2B5EF4-FFF2-40B4-BE49-F238E27FC236}">
                  <a16:creationId xmlns:a16="http://schemas.microsoft.com/office/drawing/2014/main" id="{0A4BA747-7A57-4C45-8DDD-B74D1C31C6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28436"/>
            <a:stretch/>
          </p:blipFill>
          <p:spPr>
            <a:xfrm rot="441456">
              <a:off x="7131462" y="3431479"/>
              <a:ext cx="1058823" cy="1131262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56BF551-1D2F-174F-9E6A-534E742C47C6}"/>
              </a:ext>
            </a:extLst>
          </p:cNvPr>
          <p:cNvGrpSpPr/>
          <p:nvPr/>
        </p:nvGrpSpPr>
        <p:grpSpPr>
          <a:xfrm>
            <a:off x="895280" y="4667743"/>
            <a:ext cx="7896014" cy="1243304"/>
            <a:chOff x="895280" y="4667743"/>
            <a:chExt cx="7896014" cy="1243304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CA2B476-2DA2-404E-A52B-46E15CE9D59E}"/>
                </a:ext>
              </a:extLst>
            </p:cNvPr>
            <p:cNvGrpSpPr/>
            <p:nvPr/>
          </p:nvGrpSpPr>
          <p:grpSpPr>
            <a:xfrm>
              <a:off x="895280" y="4667743"/>
              <a:ext cx="7896014" cy="1243304"/>
              <a:chOff x="531628" y="4678601"/>
              <a:chExt cx="7896014" cy="1243304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0508BF3E-8ADD-CC46-8B6B-9644956EFD85}"/>
                  </a:ext>
                </a:extLst>
              </p:cNvPr>
              <p:cNvGrpSpPr/>
              <p:nvPr/>
            </p:nvGrpSpPr>
            <p:grpSpPr>
              <a:xfrm>
                <a:off x="531628" y="4678601"/>
                <a:ext cx="7896014" cy="1243304"/>
                <a:chOff x="1572726" y="1991758"/>
                <a:chExt cx="7896014" cy="1243304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27F6FAC2-869C-2C47-996A-C9E178F8CBDA}"/>
                    </a:ext>
                  </a:extLst>
                </p:cNvPr>
                <p:cNvGrpSpPr/>
                <p:nvPr/>
              </p:nvGrpSpPr>
              <p:grpSpPr>
                <a:xfrm>
                  <a:off x="1572726" y="1991758"/>
                  <a:ext cx="7896014" cy="1239230"/>
                  <a:chOff x="475776" y="1737976"/>
                  <a:chExt cx="7357252" cy="1239230"/>
                </a:xfrm>
              </p:grpSpPr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7054A670-37AC-494B-A7DE-47C4388E6334}"/>
                      </a:ext>
                    </a:extLst>
                  </p:cNvPr>
                  <p:cNvSpPr/>
                  <p:nvPr/>
                </p:nvSpPr>
                <p:spPr>
                  <a:xfrm>
                    <a:off x="990068" y="1737976"/>
                    <a:ext cx="6842960" cy="1239230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accent2">
                        <a:lumMod val="20000"/>
                        <a:lumOff val="80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2" name="Rounded Rectangle 51">
                    <a:extLst>
                      <a:ext uri="{FF2B5EF4-FFF2-40B4-BE49-F238E27FC236}">
                        <a16:creationId xmlns:a16="http://schemas.microsoft.com/office/drawing/2014/main" id="{7F6A82D6-391B-954E-A935-C74666C4BD11}"/>
                      </a:ext>
                    </a:extLst>
                  </p:cNvPr>
                  <p:cNvSpPr/>
                  <p:nvPr/>
                </p:nvSpPr>
                <p:spPr>
                  <a:xfrm>
                    <a:off x="475776" y="1737976"/>
                    <a:ext cx="1542728" cy="123923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7" name="Google Shape;1430;gdbc7ef7cb7_0_141">
                  <a:extLst>
                    <a:ext uri="{FF2B5EF4-FFF2-40B4-BE49-F238E27FC236}">
                      <a16:creationId xmlns:a16="http://schemas.microsoft.com/office/drawing/2014/main" id="{2D8E918C-6A8E-3B4E-B110-7DF2F1CA3139}"/>
                    </a:ext>
                  </a:extLst>
                </p:cNvPr>
                <p:cNvSpPr txBox="1"/>
                <p:nvPr/>
              </p:nvSpPr>
              <p:spPr>
                <a:xfrm>
                  <a:off x="3304827" y="2065541"/>
                  <a:ext cx="5289515" cy="11695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lvl="0">
                    <a:buSzPts val="1400"/>
                  </a:pPr>
                  <a:r>
                    <a:rPr lang="en-US" sz="1600" dirty="0">
                      <a:latin typeface="Roboto"/>
                      <a:ea typeface="Roboto"/>
                      <a:cs typeface="Roboto"/>
                      <a:sym typeface="Roboto"/>
                    </a:rPr>
                    <a:t>It became evident that more open research practices could apply across disciplines -- not just in science. </a:t>
                  </a:r>
                </a:p>
                <a:p>
                  <a:pPr lvl="0">
                    <a:buSzPts val="1400"/>
                  </a:pPr>
                  <a:r>
                    <a:rPr lang="en-US" sz="1600" dirty="0">
                      <a:latin typeface="Roboto"/>
                      <a:ea typeface="Roboto"/>
                      <a:cs typeface="Roboto"/>
                      <a:sym typeface="Roboto"/>
                    </a:rPr>
                    <a:t>This would ensure reproducibility, transparency, and collaboration across disciplines</a:t>
                  </a:r>
                </a:p>
              </p:txBody>
            </p:sp>
            <p:sp>
              <p:nvSpPr>
                <p:cNvPr id="49" name="Google Shape;1426;gdbc7ef7cb7_0_141">
                  <a:extLst>
                    <a:ext uri="{FF2B5EF4-FFF2-40B4-BE49-F238E27FC236}">
                      <a16:creationId xmlns:a16="http://schemas.microsoft.com/office/drawing/2014/main" id="{AE20205D-E0DC-8C4B-8E49-D8F8960D3F0A}"/>
                    </a:ext>
                  </a:extLst>
                </p:cNvPr>
                <p:cNvSpPr txBox="1"/>
                <p:nvPr/>
              </p:nvSpPr>
              <p:spPr>
                <a:xfrm>
                  <a:off x="1572726" y="2424884"/>
                  <a:ext cx="16557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600" b="1" i="0" u="none" strike="noStrike" cap="none" dirty="0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Open research</a:t>
                  </a:r>
                  <a:endParaRPr sz="1600" b="1" i="0" u="none" strike="noStrike" cap="none" dirty="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pic>
            <p:nvPicPr>
              <p:cNvPr id="61" name="Picture 60" descr="Shape, icon, circle&#10;&#10;Description automatically generated">
                <a:extLst>
                  <a:ext uri="{FF2B5EF4-FFF2-40B4-BE49-F238E27FC236}">
                    <a16:creationId xmlns:a16="http://schemas.microsoft.com/office/drawing/2014/main" id="{279282AF-9087-C64E-BB4F-C83EB2706B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12903" y="4747877"/>
                <a:ext cx="1281964" cy="1091259"/>
              </a:xfrm>
              <a:prstGeom prst="rect">
                <a:avLst/>
              </a:prstGeom>
            </p:spPr>
          </p:pic>
        </p:grpSp>
        <p:sp>
          <p:nvSpPr>
            <p:cNvPr id="66" name="Google Shape;1426;gdbc7ef7cb7_0_141">
              <a:extLst>
                <a:ext uri="{FF2B5EF4-FFF2-40B4-BE49-F238E27FC236}">
                  <a16:creationId xmlns:a16="http://schemas.microsoft.com/office/drawing/2014/main" id="{838FB80E-143B-E646-8F0A-0BB55ED37456}"/>
                </a:ext>
              </a:extLst>
            </p:cNvPr>
            <p:cNvSpPr txBox="1"/>
            <p:nvPr/>
          </p:nvSpPr>
          <p:spPr>
            <a:xfrm>
              <a:off x="7572015" y="5001681"/>
              <a:ext cx="1049999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800" b="1" i="0" u="none" strike="noStrike" cap="none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Open!</a:t>
              </a:r>
              <a:endParaRPr sz="18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7" name="Curved Right Arrow 66">
            <a:extLst>
              <a:ext uri="{FF2B5EF4-FFF2-40B4-BE49-F238E27FC236}">
                <a16:creationId xmlns:a16="http://schemas.microsoft.com/office/drawing/2014/main" id="{C77AF83F-1FE7-F848-93F1-A9B56E1243FF}"/>
              </a:ext>
            </a:extLst>
          </p:cNvPr>
          <p:cNvSpPr/>
          <p:nvPr/>
        </p:nvSpPr>
        <p:spPr>
          <a:xfrm>
            <a:off x="362864" y="1421686"/>
            <a:ext cx="522257" cy="1321311"/>
          </a:xfrm>
          <a:prstGeom prst="curved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2" name="Curved Right Arrow 71">
            <a:extLst>
              <a:ext uri="{FF2B5EF4-FFF2-40B4-BE49-F238E27FC236}">
                <a16:creationId xmlns:a16="http://schemas.microsoft.com/office/drawing/2014/main" id="{EAA96A17-E0E6-DD4E-89CC-4AC105885FD1}"/>
              </a:ext>
            </a:extLst>
          </p:cNvPr>
          <p:cNvSpPr/>
          <p:nvPr/>
        </p:nvSpPr>
        <p:spPr>
          <a:xfrm>
            <a:off x="352706" y="2793693"/>
            <a:ext cx="522257" cy="1321311"/>
          </a:xfrm>
          <a:prstGeom prst="curved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Curved Right Arrow 72">
            <a:extLst>
              <a:ext uri="{FF2B5EF4-FFF2-40B4-BE49-F238E27FC236}">
                <a16:creationId xmlns:a16="http://schemas.microsoft.com/office/drawing/2014/main" id="{118AFD83-5513-B44A-AF3D-E50A429CCFED}"/>
              </a:ext>
            </a:extLst>
          </p:cNvPr>
          <p:cNvSpPr/>
          <p:nvPr/>
        </p:nvSpPr>
        <p:spPr>
          <a:xfrm>
            <a:off x="377491" y="4142005"/>
            <a:ext cx="522257" cy="1321311"/>
          </a:xfrm>
          <a:prstGeom prst="curved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45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72" grpId="0" animBg="1"/>
      <p:bldP spid="7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733;gd356505b6f_0_23">
            <a:extLst>
              <a:ext uri="{FF2B5EF4-FFF2-40B4-BE49-F238E27FC236}">
                <a16:creationId xmlns:a16="http://schemas.microsoft.com/office/drawing/2014/main" id="{927891C3-BB82-8549-9762-0A8FABB922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The History of Open Research</a:t>
            </a:r>
            <a:endParaRPr sz="2400" b="1" dirty="0"/>
          </a:p>
        </p:txBody>
      </p:sp>
      <p:sp>
        <p:nvSpPr>
          <p:cNvPr id="14" name="Google Shape;606;gd356505b6f_0_10">
            <a:extLst>
              <a:ext uri="{FF2B5EF4-FFF2-40B4-BE49-F238E27FC236}">
                <a16:creationId xmlns:a16="http://schemas.microsoft.com/office/drawing/2014/main" id="{FE995E43-BB1B-0143-BE6F-79EC0973B2CA}"/>
              </a:ext>
            </a:extLst>
          </p:cNvPr>
          <p:cNvSpPr/>
          <p:nvPr/>
        </p:nvSpPr>
        <p:spPr>
          <a:xfrm>
            <a:off x="502649" y="1331559"/>
            <a:ext cx="8039504" cy="39098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" name="Picture 15" descr="A picture containing vector graphics&#10;&#10;Description automatically generated">
            <a:extLst>
              <a:ext uri="{FF2B5EF4-FFF2-40B4-BE49-F238E27FC236}">
                <a16:creationId xmlns:a16="http://schemas.microsoft.com/office/drawing/2014/main" id="{04A2CE3F-9C5C-E14F-BCC7-110822CA8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339" y="1331559"/>
            <a:ext cx="2835296" cy="4038604"/>
          </a:xfrm>
          <a:prstGeom prst="rect">
            <a:avLst/>
          </a:prstGeom>
        </p:spPr>
      </p:pic>
      <p:pic>
        <p:nvPicPr>
          <p:cNvPr id="18" name="Google Shape;808;gd356505b6f_0_85">
            <a:extLst>
              <a:ext uri="{FF2B5EF4-FFF2-40B4-BE49-F238E27FC236}">
                <a16:creationId xmlns:a16="http://schemas.microsoft.com/office/drawing/2014/main" id="{74DD6B65-83E9-1042-B43E-3D8291F170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161" t="25847" r="55618" b="21296"/>
          <a:stretch/>
        </p:blipFill>
        <p:spPr>
          <a:xfrm rot="21030067" flipH="1" flipV="1">
            <a:off x="4526056" y="1800180"/>
            <a:ext cx="3424793" cy="313065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460;gdbc7ef7cb7_0_195">
            <a:extLst>
              <a:ext uri="{FF2B5EF4-FFF2-40B4-BE49-F238E27FC236}">
                <a16:creationId xmlns:a16="http://schemas.microsoft.com/office/drawing/2014/main" id="{FF4DDF50-FFB3-AC41-AAE0-D27565BE202A}"/>
              </a:ext>
            </a:extLst>
          </p:cNvPr>
          <p:cNvSpPr txBox="1"/>
          <p:nvPr/>
        </p:nvSpPr>
        <p:spPr>
          <a:xfrm>
            <a:off x="4990670" y="2831187"/>
            <a:ext cx="2556054" cy="167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15000"/>
              </a:lnSpc>
              <a:buSzPts val="12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Open research methods are still evolving within the sciences. Some disciplines are just beginning to develop open research methods that suit their subjects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" name="Picture 20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A207131C-3FE5-2C43-8F3B-2F4E85942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46" y="1202829"/>
            <a:ext cx="2621598" cy="156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372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733;gd356505b6f_0_23">
            <a:extLst>
              <a:ext uri="{FF2B5EF4-FFF2-40B4-BE49-F238E27FC236}">
                <a16:creationId xmlns:a16="http://schemas.microsoft.com/office/drawing/2014/main" id="{927891C3-BB82-8549-9762-0A8FABB922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The History of Open Research</a:t>
            </a:r>
            <a:endParaRPr sz="2400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5B2FF71-1E8A-4040-8EF2-AC80AE153F4D}"/>
              </a:ext>
            </a:extLst>
          </p:cNvPr>
          <p:cNvSpPr txBox="1">
            <a:spLocks/>
          </p:cNvSpPr>
          <p:nvPr/>
        </p:nvSpPr>
        <p:spPr>
          <a:xfrm>
            <a:off x="2598036" y="1927980"/>
            <a:ext cx="4710296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70000"/>
              </a:lnSpc>
            </a:pPr>
            <a:r>
              <a:rPr lang="en-US" sz="3200" dirty="0"/>
              <a:t>Methodological issues and Questionable Research Practices</a:t>
            </a:r>
          </a:p>
        </p:txBody>
      </p:sp>
      <p:pic>
        <p:nvPicPr>
          <p:cNvPr id="5" name="Picture 4" descr="A picture containing vector graphics, silhouette&#10;&#10;Description automatically generated">
            <a:extLst>
              <a:ext uri="{FF2B5EF4-FFF2-40B4-BE49-F238E27FC236}">
                <a16:creationId xmlns:a16="http://schemas.microsoft.com/office/drawing/2014/main" id="{F68F96EC-587F-7146-A895-4FF267B17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278674" y="2286000"/>
            <a:ext cx="1865326" cy="3886638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6D803E46-71CF-7B41-8936-B7B2BA097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157162" y="2730620"/>
            <a:ext cx="2963742" cy="344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1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D0B392D-7789-1E49-9943-8A6736B5EB7C}"/>
              </a:ext>
            </a:extLst>
          </p:cNvPr>
          <p:cNvGrpSpPr/>
          <p:nvPr/>
        </p:nvGrpSpPr>
        <p:grpSpPr>
          <a:xfrm>
            <a:off x="502649" y="1331559"/>
            <a:ext cx="8039504" cy="3963625"/>
            <a:chOff x="502649" y="1331559"/>
            <a:chExt cx="8039504" cy="3963625"/>
          </a:xfrm>
        </p:grpSpPr>
        <p:sp>
          <p:nvSpPr>
            <p:cNvPr id="6" name="Google Shape;606;gd356505b6f_0_10">
              <a:extLst>
                <a:ext uri="{FF2B5EF4-FFF2-40B4-BE49-F238E27FC236}">
                  <a16:creationId xmlns:a16="http://schemas.microsoft.com/office/drawing/2014/main" id="{A21A2B22-44A2-D040-9B2D-9CFE59A88DB4}"/>
                </a:ext>
              </a:extLst>
            </p:cNvPr>
            <p:cNvSpPr/>
            <p:nvPr/>
          </p:nvSpPr>
          <p:spPr>
            <a:xfrm>
              <a:off x="502649" y="1331559"/>
              <a:ext cx="8039504" cy="390987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" name="Picture 1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6A3DF11-3644-584E-BB5F-10AA7384B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464" y="2727702"/>
              <a:ext cx="2404556" cy="2567482"/>
            </a:xfrm>
            <a:prstGeom prst="rect">
              <a:avLst/>
            </a:prstGeom>
          </p:spPr>
        </p:pic>
        <p:pic>
          <p:nvPicPr>
            <p:cNvPr id="19" name="Google Shape;808;gd356505b6f_0_85">
              <a:extLst>
                <a:ext uri="{FF2B5EF4-FFF2-40B4-BE49-F238E27FC236}">
                  <a16:creationId xmlns:a16="http://schemas.microsoft.com/office/drawing/2014/main" id="{1AC182DB-9B9E-B94D-8218-FD476D31577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5161" t="25847" r="55618" b="21296"/>
            <a:stretch/>
          </p:blipFill>
          <p:spPr>
            <a:xfrm rot="545464" flipH="1">
              <a:off x="1277885" y="1457749"/>
              <a:ext cx="2905823" cy="23749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614;gd356505b6f_0_10">
              <a:extLst>
                <a:ext uri="{FF2B5EF4-FFF2-40B4-BE49-F238E27FC236}">
                  <a16:creationId xmlns:a16="http://schemas.microsoft.com/office/drawing/2014/main" id="{0847DB85-7321-BF4D-9D80-559C13CE7460}"/>
                </a:ext>
              </a:extLst>
            </p:cNvPr>
            <p:cNvSpPr txBox="1"/>
            <p:nvPr/>
          </p:nvSpPr>
          <p:spPr>
            <a:xfrm>
              <a:off x="1618838" y="1614520"/>
              <a:ext cx="2181860" cy="1671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dirty="0">
                  <a:solidFill>
                    <a:srgbClr val="222222"/>
                  </a:solidFill>
                  <a:latin typeface="Roboto"/>
                  <a:ea typeface="Roboto"/>
                  <a:cs typeface="Roboto"/>
                  <a:sym typeface="Roboto"/>
                </a:rPr>
                <a:t>Part of the move towards open research was driven by problems that were becoming apparent in the scientific literature</a:t>
              </a:r>
            </a:p>
          </p:txBody>
        </p:sp>
      </p:grpSp>
      <p:sp>
        <p:nvSpPr>
          <p:cNvPr id="746" name="Google Shape;746;g7b0c16cc28_0_225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 b="1" dirty="0"/>
              <a:t>The History of Open Research</a:t>
            </a:r>
            <a:endParaRPr sz="2400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E6F143-BF8D-7946-8E2A-19FD182EE92D}"/>
              </a:ext>
            </a:extLst>
          </p:cNvPr>
          <p:cNvGrpSpPr/>
          <p:nvPr/>
        </p:nvGrpSpPr>
        <p:grpSpPr>
          <a:xfrm>
            <a:off x="3780269" y="1965395"/>
            <a:ext cx="4965101" cy="3416171"/>
            <a:chOff x="3780269" y="1965395"/>
            <a:chExt cx="4965101" cy="3416171"/>
          </a:xfrm>
        </p:grpSpPr>
        <p:pic>
          <p:nvPicPr>
            <p:cNvPr id="3" name="Picture 2" descr="A picture containing text, vector graphics&#10;&#10;Description automatically generated">
              <a:extLst>
                <a:ext uri="{FF2B5EF4-FFF2-40B4-BE49-F238E27FC236}">
                  <a16:creationId xmlns:a16="http://schemas.microsoft.com/office/drawing/2014/main" id="{8A18B814-F6D1-C748-B790-C9BEA5022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17652" y="1965395"/>
              <a:ext cx="2327718" cy="3416171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AE71B5D-D523-084C-BA25-D81BC3DCB54C}"/>
                </a:ext>
              </a:extLst>
            </p:cNvPr>
            <p:cNvGrpSpPr/>
            <p:nvPr/>
          </p:nvGrpSpPr>
          <p:grpSpPr>
            <a:xfrm rot="253186">
              <a:off x="3780269" y="2391210"/>
              <a:ext cx="3198222" cy="2694301"/>
              <a:chOff x="3544857" y="2622898"/>
              <a:chExt cx="3198222" cy="2694301"/>
            </a:xfrm>
          </p:grpSpPr>
          <p:pic>
            <p:nvPicPr>
              <p:cNvPr id="20" name="Google Shape;808;gd356505b6f_0_85">
                <a:extLst>
                  <a:ext uri="{FF2B5EF4-FFF2-40B4-BE49-F238E27FC236}">
                    <a16:creationId xmlns:a16="http://schemas.microsoft.com/office/drawing/2014/main" id="{56608535-BE4A-7248-8231-C865D730A371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5161" t="25847" r="55618" b="21296"/>
              <a:stretch/>
            </p:blipFill>
            <p:spPr>
              <a:xfrm rot="545464" flipV="1">
                <a:off x="3544857" y="2622898"/>
                <a:ext cx="3198222" cy="26943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Google Shape;612;gd356505b6f_0_10">
                <a:extLst>
                  <a:ext uri="{FF2B5EF4-FFF2-40B4-BE49-F238E27FC236}">
                    <a16:creationId xmlns:a16="http://schemas.microsoft.com/office/drawing/2014/main" id="{E0A689E6-4ABA-B046-9557-E6856514BD74}"/>
                  </a:ext>
                </a:extLst>
              </p:cNvPr>
              <p:cNvSpPr txBox="1"/>
              <p:nvPr/>
            </p:nvSpPr>
            <p:spPr>
              <a:xfrm rot="21346814">
                <a:off x="3921901" y="3270895"/>
                <a:ext cx="2410200" cy="1918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 algn="ctr">
                  <a:lnSpc>
                    <a:spcPct val="115000"/>
                  </a:lnSpc>
                </a:pPr>
                <a: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  <a:t>Open research partly emerged in response to methodological crises whereby it was not possible to replicate or reproduce many scientific studies</a:t>
                </a:r>
                <a:b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  <a:t>and findings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7b0c16cc28_0_243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 b="1"/>
              <a:t>The History of Open Research</a:t>
            </a:r>
            <a:endParaRPr sz="2400" b="1"/>
          </a:p>
        </p:txBody>
      </p:sp>
      <p:sp>
        <p:nvSpPr>
          <p:cNvPr id="753" name="Google Shape;753;g7b0c16cc28_0_243"/>
          <p:cNvSpPr txBox="1">
            <a:spLocks noGrp="1"/>
          </p:cNvSpPr>
          <p:nvPr>
            <p:ph type="body" idx="1"/>
          </p:nvPr>
        </p:nvSpPr>
        <p:spPr>
          <a:xfrm>
            <a:off x="264100" y="858900"/>
            <a:ext cx="8173500" cy="51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000" dirty="0">
                <a:solidFill>
                  <a:srgbClr val="000000"/>
                </a:solidFill>
              </a:rPr>
              <a:t>This reproducibility crisis (or replicability crisis) has been most commonly reported in psychology, and some areas of health and medicine.</a:t>
            </a:r>
          </a:p>
          <a:p>
            <a:pPr marL="7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7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000" dirty="0">
                <a:solidFill>
                  <a:srgbClr val="000000"/>
                </a:solidFill>
              </a:rPr>
              <a:t>For example, in </a:t>
            </a:r>
            <a:r>
              <a:rPr lang="en-US" sz="2000" u="sng" dirty="0">
                <a:solidFill>
                  <a:srgbClr val="35855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one survey</a:t>
            </a:r>
            <a:r>
              <a:rPr lang="en-US" sz="2000" dirty="0">
                <a:solidFill>
                  <a:srgbClr val="35855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of over 1500 researchers</a:t>
            </a:r>
            <a:endParaRPr sz="2400" dirty="0"/>
          </a:p>
        </p:txBody>
      </p:sp>
      <p:sp>
        <p:nvSpPr>
          <p:cNvPr id="754" name="Google Shape;754;g7b0c16cc28_0_243"/>
          <p:cNvSpPr txBox="1"/>
          <p:nvPr/>
        </p:nvSpPr>
        <p:spPr>
          <a:xfrm>
            <a:off x="507888" y="4891135"/>
            <a:ext cx="34812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More than 70% had tried &amp; failed to reproduce another researchers findings </a:t>
            </a:r>
            <a:endParaRPr sz="2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g7b0c16cc28_0_243"/>
          <p:cNvSpPr txBox="1"/>
          <p:nvPr/>
        </p:nvSpPr>
        <p:spPr>
          <a:xfrm>
            <a:off x="5395513" y="4891135"/>
            <a:ext cx="30000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More than half had failed to reproduce their own findings</a:t>
            </a:r>
            <a:endParaRPr sz="2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E95C416-8BD7-C349-A315-AC098CACF9FD}"/>
              </a:ext>
            </a:extLst>
          </p:cNvPr>
          <p:cNvGrpSpPr/>
          <p:nvPr/>
        </p:nvGrpSpPr>
        <p:grpSpPr>
          <a:xfrm>
            <a:off x="1230238" y="2866185"/>
            <a:ext cx="6683525" cy="2024950"/>
            <a:chOff x="1088825" y="2866185"/>
            <a:chExt cx="6683525" cy="2024950"/>
          </a:xfrm>
        </p:grpSpPr>
        <p:pic>
          <p:nvPicPr>
            <p:cNvPr id="756" name="Google Shape;756;g7b0c16cc28_0_243"/>
            <p:cNvPicPr preferRelativeResize="0"/>
            <p:nvPr/>
          </p:nvPicPr>
          <p:blipFill rotWithShape="1">
            <a:blip r:embed="rId4">
              <a:alphaModFix/>
            </a:blip>
            <a:srcRect l="8636" t="6026" r="38181" b="56585"/>
            <a:stretch/>
          </p:blipFill>
          <p:spPr>
            <a:xfrm>
              <a:off x="1088825" y="2866185"/>
              <a:ext cx="2036500" cy="2024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7" name="Google Shape;757;g7b0c16cc28_0_243"/>
            <p:cNvPicPr preferRelativeResize="0"/>
            <p:nvPr/>
          </p:nvPicPr>
          <p:blipFill rotWithShape="1">
            <a:blip r:embed="rId4">
              <a:alphaModFix/>
            </a:blip>
            <a:srcRect l="33420" t="48768" r="13396" b="13844"/>
            <a:stretch/>
          </p:blipFill>
          <p:spPr>
            <a:xfrm>
              <a:off x="5735850" y="2866185"/>
              <a:ext cx="2036500" cy="20249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" grpId="0"/>
      <p:bldP spid="7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7b0c16cc28_0_261"/>
          <p:cNvSpPr txBox="1">
            <a:spLocks noGrp="1"/>
          </p:cNvSpPr>
          <p:nvPr>
            <p:ph type="body" idx="1"/>
          </p:nvPr>
        </p:nvSpPr>
        <p:spPr>
          <a:xfrm>
            <a:off x="249785" y="858900"/>
            <a:ext cx="8173500" cy="51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dirty="0">
                <a:solidFill>
                  <a:srgbClr val="000000"/>
                </a:solidFill>
              </a:rPr>
              <a:t>Open research also aims to address questionable research practices (QRPS</a:t>
            </a:r>
            <a:r>
              <a:rPr lang="en-IE" sz="2400" dirty="0">
                <a:solidFill>
                  <a:srgbClr val="000000"/>
                </a:solidFill>
              </a:rPr>
              <a:t>)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68" name="Google Shape;768;g7b0c16cc28_0_261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 b="1" dirty="0"/>
              <a:t>The History of Open Research</a:t>
            </a:r>
            <a:endParaRPr sz="2400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B35F2B-14F7-3947-980F-F751E91684BD}"/>
              </a:ext>
            </a:extLst>
          </p:cNvPr>
          <p:cNvGrpSpPr/>
          <p:nvPr/>
        </p:nvGrpSpPr>
        <p:grpSpPr>
          <a:xfrm>
            <a:off x="-398425" y="857250"/>
            <a:ext cx="4166074" cy="5143500"/>
            <a:chOff x="-398425" y="1368400"/>
            <a:chExt cx="4166074" cy="5143500"/>
          </a:xfrm>
        </p:grpSpPr>
        <p:pic>
          <p:nvPicPr>
            <p:cNvPr id="767" name="Google Shape;767;g7b0c16cc28_0_261"/>
            <p:cNvPicPr preferRelativeResize="0"/>
            <p:nvPr/>
          </p:nvPicPr>
          <p:blipFill rotWithShape="1">
            <a:blip r:embed="rId3">
              <a:alphaModFix/>
            </a:blip>
            <a:srcRect r="54439"/>
            <a:stretch/>
          </p:blipFill>
          <p:spPr>
            <a:xfrm>
              <a:off x="-398425" y="1368400"/>
              <a:ext cx="4166074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3" name="Google Shape;773;g7b0c16cc28_0_261"/>
            <p:cNvSpPr txBox="1"/>
            <p:nvPr/>
          </p:nvSpPr>
          <p:spPr>
            <a:xfrm>
              <a:off x="380175" y="3132650"/>
              <a:ext cx="31311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What are questionable research practices?</a:t>
              </a:r>
              <a:endParaRPr sz="24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75" name="Google Shape;775;g7b0c16cc28_0_261"/>
          <p:cNvSpPr txBox="1"/>
          <p:nvPr/>
        </p:nvSpPr>
        <p:spPr>
          <a:xfrm>
            <a:off x="4238296" y="3290089"/>
            <a:ext cx="45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8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F636D2-1E97-8B42-9524-6D4AA55C5F59}"/>
              </a:ext>
            </a:extLst>
          </p:cNvPr>
          <p:cNvGrpSpPr/>
          <p:nvPr/>
        </p:nvGrpSpPr>
        <p:grpSpPr>
          <a:xfrm>
            <a:off x="4051626" y="1661400"/>
            <a:ext cx="4828274" cy="4292242"/>
            <a:chOff x="4065941" y="1760149"/>
            <a:chExt cx="4828274" cy="429224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F85CCD4-9375-2549-9F55-DE9CE873038A}"/>
                </a:ext>
              </a:extLst>
            </p:cNvPr>
            <p:cNvGrpSpPr/>
            <p:nvPr/>
          </p:nvGrpSpPr>
          <p:grpSpPr>
            <a:xfrm>
              <a:off x="4065941" y="3930165"/>
              <a:ext cx="4828274" cy="1037217"/>
              <a:chOff x="4011577" y="1773871"/>
              <a:chExt cx="4828274" cy="1037217"/>
            </a:xfrm>
          </p:grpSpPr>
          <p:pic>
            <p:nvPicPr>
              <p:cNvPr id="765" name="Google Shape;765;g7b0c16cc28_0_261"/>
              <p:cNvPicPr preferRelativeResize="0"/>
              <p:nvPr/>
            </p:nvPicPr>
            <p:blipFill rotWithShape="1">
              <a:blip r:embed="rId4">
                <a:alphaModFix/>
              </a:blip>
              <a:srcRect l="45563" t="71806" r="3322" b="10124"/>
              <a:stretch/>
            </p:blipFill>
            <p:spPr>
              <a:xfrm>
                <a:off x="4011577" y="1773871"/>
                <a:ext cx="4828274" cy="103721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113C488F-F25C-2C43-9B9C-65E050DF43E4}"/>
                  </a:ext>
                </a:extLst>
              </p:cNvPr>
              <p:cNvGrpSpPr/>
              <p:nvPr/>
            </p:nvGrpSpPr>
            <p:grpSpPr>
              <a:xfrm>
                <a:off x="4273299" y="1932373"/>
                <a:ext cx="4267851" cy="677078"/>
                <a:chOff x="4273299" y="1932373"/>
                <a:chExt cx="4267851" cy="677078"/>
              </a:xfrm>
            </p:grpSpPr>
            <p:sp>
              <p:nvSpPr>
                <p:cNvPr id="769" name="Google Shape;769;g7b0c16cc28_0_261"/>
                <p:cNvSpPr txBox="1"/>
                <p:nvPr/>
              </p:nvSpPr>
              <p:spPr>
                <a:xfrm>
                  <a:off x="4798050" y="1932373"/>
                  <a:ext cx="3743100" cy="677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lvl="0">
                    <a:buSzPts val="1400"/>
                  </a:pPr>
                  <a:r>
                    <a:rPr lang="en-US" sz="1600" dirty="0">
                      <a:latin typeface="Roboto"/>
                      <a:ea typeface="Roboto"/>
                      <a:cs typeface="Roboto"/>
                      <a:sym typeface="Roboto"/>
                    </a:rPr>
                    <a:t>They undermine trust and confidence in research findings</a:t>
                  </a:r>
                  <a:endParaRPr lang="en-US" sz="1600" dirty="0"/>
                </a:p>
              </p:txBody>
            </p:sp>
            <p:sp>
              <p:nvSpPr>
                <p:cNvPr id="774" name="Google Shape;774;g7b0c16cc28_0_261"/>
                <p:cNvSpPr txBox="1"/>
                <p:nvPr/>
              </p:nvSpPr>
              <p:spPr>
                <a:xfrm>
                  <a:off x="4273299" y="2040062"/>
                  <a:ext cx="4521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b="1" dirty="0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3</a:t>
                  </a:r>
                  <a:endParaRPr sz="1800" b="1" dirty="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07ECBBC-0FD2-9449-88C8-94022C464A8C}"/>
                </a:ext>
              </a:extLst>
            </p:cNvPr>
            <p:cNvGrpSpPr/>
            <p:nvPr/>
          </p:nvGrpSpPr>
          <p:grpSpPr>
            <a:xfrm>
              <a:off x="4065941" y="1760149"/>
              <a:ext cx="4828274" cy="1037217"/>
              <a:chOff x="4011577" y="1773871"/>
              <a:chExt cx="4828274" cy="1037217"/>
            </a:xfrm>
          </p:grpSpPr>
          <p:pic>
            <p:nvPicPr>
              <p:cNvPr id="24" name="Google Shape;765;g7b0c16cc28_0_261">
                <a:extLst>
                  <a:ext uri="{FF2B5EF4-FFF2-40B4-BE49-F238E27FC236}">
                    <a16:creationId xmlns:a16="http://schemas.microsoft.com/office/drawing/2014/main" id="{6E2E7999-8455-E144-96EC-BEECF970709B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45563" t="71806" r="3322" b="10124"/>
              <a:stretch/>
            </p:blipFill>
            <p:spPr>
              <a:xfrm>
                <a:off x="4011577" y="1773871"/>
                <a:ext cx="4828274" cy="103721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59EB1B5-3447-9D43-A342-5B0060C3777B}"/>
                  </a:ext>
                </a:extLst>
              </p:cNvPr>
              <p:cNvGrpSpPr/>
              <p:nvPr/>
            </p:nvGrpSpPr>
            <p:grpSpPr>
              <a:xfrm>
                <a:off x="4273299" y="1932373"/>
                <a:ext cx="4267851" cy="677078"/>
                <a:chOff x="4273299" y="1932373"/>
                <a:chExt cx="4267851" cy="677078"/>
              </a:xfrm>
            </p:grpSpPr>
            <p:sp>
              <p:nvSpPr>
                <p:cNvPr id="26" name="Google Shape;769;g7b0c16cc28_0_261">
                  <a:extLst>
                    <a:ext uri="{FF2B5EF4-FFF2-40B4-BE49-F238E27FC236}">
                      <a16:creationId xmlns:a16="http://schemas.microsoft.com/office/drawing/2014/main" id="{6D787F88-38ED-6B45-A793-6D32E8055CF9}"/>
                    </a:ext>
                  </a:extLst>
                </p:cNvPr>
                <p:cNvSpPr txBox="1"/>
                <p:nvPr/>
              </p:nvSpPr>
              <p:spPr>
                <a:xfrm>
                  <a:off x="4798050" y="1932373"/>
                  <a:ext cx="3743100" cy="677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600" b="0" i="0" u="none" strike="noStrike" cap="none" dirty="0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They are practices and techniques that do not follow best research practice</a:t>
                  </a:r>
                  <a:endParaRPr sz="1600" b="0" i="0" u="none" strike="noStrike" cap="none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27" name="Google Shape;774;g7b0c16cc28_0_261">
                  <a:extLst>
                    <a:ext uri="{FF2B5EF4-FFF2-40B4-BE49-F238E27FC236}">
                      <a16:creationId xmlns:a16="http://schemas.microsoft.com/office/drawing/2014/main" id="{45DBC875-FBB0-6442-8929-238B4A956DC4}"/>
                    </a:ext>
                  </a:extLst>
                </p:cNvPr>
                <p:cNvSpPr txBox="1"/>
                <p:nvPr/>
              </p:nvSpPr>
              <p:spPr>
                <a:xfrm>
                  <a:off x="4273299" y="2040062"/>
                  <a:ext cx="4521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b="1" dirty="0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1</a:t>
                  </a:r>
                  <a:endParaRPr sz="1800" b="1" dirty="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0F1C438-AA0E-D845-8692-2061C81B72DC}"/>
                </a:ext>
              </a:extLst>
            </p:cNvPr>
            <p:cNvGrpSpPr/>
            <p:nvPr/>
          </p:nvGrpSpPr>
          <p:grpSpPr>
            <a:xfrm>
              <a:off x="4065941" y="2845157"/>
              <a:ext cx="4828274" cy="1037217"/>
              <a:chOff x="4011577" y="1773871"/>
              <a:chExt cx="4828274" cy="1037217"/>
            </a:xfrm>
          </p:grpSpPr>
          <p:pic>
            <p:nvPicPr>
              <p:cNvPr id="29" name="Google Shape;765;g7b0c16cc28_0_261">
                <a:extLst>
                  <a:ext uri="{FF2B5EF4-FFF2-40B4-BE49-F238E27FC236}">
                    <a16:creationId xmlns:a16="http://schemas.microsoft.com/office/drawing/2014/main" id="{AEE7C8AF-5874-4947-A8EF-A09E44C988CC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45563" t="71806" r="3322" b="10124"/>
              <a:stretch/>
            </p:blipFill>
            <p:spPr>
              <a:xfrm>
                <a:off x="4011577" y="1773871"/>
                <a:ext cx="4828274" cy="103721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E0D08F20-0010-C541-887C-589FD0259BFA}"/>
                  </a:ext>
                </a:extLst>
              </p:cNvPr>
              <p:cNvGrpSpPr/>
              <p:nvPr/>
            </p:nvGrpSpPr>
            <p:grpSpPr>
              <a:xfrm>
                <a:off x="4273299" y="1834549"/>
                <a:ext cx="4283277" cy="923299"/>
                <a:chOff x="4273299" y="1834549"/>
                <a:chExt cx="4283277" cy="923299"/>
              </a:xfrm>
            </p:grpSpPr>
            <p:sp>
              <p:nvSpPr>
                <p:cNvPr id="31" name="Google Shape;769;g7b0c16cc28_0_261">
                  <a:extLst>
                    <a:ext uri="{FF2B5EF4-FFF2-40B4-BE49-F238E27FC236}">
                      <a16:creationId xmlns:a16="http://schemas.microsoft.com/office/drawing/2014/main" id="{7F717017-164C-794E-BD6D-2DACB36E2437}"/>
                    </a:ext>
                  </a:extLst>
                </p:cNvPr>
                <p:cNvSpPr txBox="1"/>
                <p:nvPr/>
              </p:nvSpPr>
              <p:spPr>
                <a:xfrm>
                  <a:off x="4813476" y="1834549"/>
                  <a:ext cx="3743100" cy="9232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lvl="0">
                    <a:buSzPts val="1400"/>
                  </a:pPr>
                  <a:r>
                    <a:rPr lang="en-US" sz="1600" dirty="0">
                      <a:latin typeface="Roboto"/>
                      <a:ea typeface="Roboto"/>
                      <a:cs typeface="Roboto"/>
                      <a:sym typeface="Roboto"/>
                    </a:rPr>
                    <a:t>They can be used to get a desired research result or report research findings in a more </a:t>
                  </a:r>
                  <a:r>
                    <a:rPr lang="en-US" sz="1600" dirty="0" err="1">
                      <a:latin typeface="Roboto"/>
                      <a:ea typeface="Roboto"/>
                      <a:cs typeface="Roboto"/>
                      <a:sym typeface="Roboto"/>
                    </a:rPr>
                    <a:t>favourable</a:t>
                  </a:r>
                  <a:r>
                    <a:rPr lang="en-US" sz="1600" dirty="0">
                      <a:latin typeface="Roboto"/>
                      <a:ea typeface="Roboto"/>
                      <a:cs typeface="Roboto"/>
                      <a:sym typeface="Roboto"/>
                    </a:rPr>
                    <a:t> manner</a:t>
                  </a:r>
                  <a:endParaRPr lang="en-US" sz="1600" dirty="0"/>
                </a:p>
              </p:txBody>
            </p:sp>
            <p:sp>
              <p:nvSpPr>
                <p:cNvPr id="32" name="Google Shape;774;g7b0c16cc28_0_261">
                  <a:extLst>
                    <a:ext uri="{FF2B5EF4-FFF2-40B4-BE49-F238E27FC236}">
                      <a16:creationId xmlns:a16="http://schemas.microsoft.com/office/drawing/2014/main" id="{ED96C3A8-AA13-FC4A-ADF6-20A52F3FD1CE}"/>
                    </a:ext>
                  </a:extLst>
                </p:cNvPr>
                <p:cNvSpPr txBox="1"/>
                <p:nvPr/>
              </p:nvSpPr>
              <p:spPr>
                <a:xfrm>
                  <a:off x="4273299" y="2040062"/>
                  <a:ext cx="4521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b="1" dirty="0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2</a:t>
                  </a:r>
                  <a:endParaRPr sz="1800" b="1" dirty="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B9CA7BA-E425-144E-A7A5-8FCB77AC3FAD}"/>
                </a:ext>
              </a:extLst>
            </p:cNvPr>
            <p:cNvGrpSpPr/>
            <p:nvPr/>
          </p:nvGrpSpPr>
          <p:grpSpPr>
            <a:xfrm>
              <a:off x="4065941" y="5015174"/>
              <a:ext cx="4828274" cy="1037217"/>
              <a:chOff x="4011577" y="1773871"/>
              <a:chExt cx="4828274" cy="1037217"/>
            </a:xfrm>
          </p:grpSpPr>
          <p:pic>
            <p:nvPicPr>
              <p:cNvPr id="34" name="Google Shape;765;g7b0c16cc28_0_261">
                <a:extLst>
                  <a:ext uri="{FF2B5EF4-FFF2-40B4-BE49-F238E27FC236}">
                    <a16:creationId xmlns:a16="http://schemas.microsoft.com/office/drawing/2014/main" id="{7F07A70C-666C-C749-8886-3FE92ABAA5C3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45563" t="71806" r="3322" b="10124"/>
              <a:stretch/>
            </p:blipFill>
            <p:spPr>
              <a:xfrm>
                <a:off x="4011577" y="1773871"/>
                <a:ext cx="4828274" cy="103721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A3B023F-C5E3-DC4B-8550-5B144A9A7C0A}"/>
                  </a:ext>
                </a:extLst>
              </p:cNvPr>
              <p:cNvGrpSpPr/>
              <p:nvPr/>
            </p:nvGrpSpPr>
            <p:grpSpPr>
              <a:xfrm>
                <a:off x="4273299" y="1932373"/>
                <a:ext cx="4267851" cy="677078"/>
                <a:chOff x="4273299" y="1932373"/>
                <a:chExt cx="4267851" cy="677078"/>
              </a:xfrm>
            </p:grpSpPr>
            <p:sp>
              <p:nvSpPr>
                <p:cNvPr id="36" name="Google Shape;769;g7b0c16cc28_0_261">
                  <a:extLst>
                    <a:ext uri="{FF2B5EF4-FFF2-40B4-BE49-F238E27FC236}">
                      <a16:creationId xmlns:a16="http://schemas.microsoft.com/office/drawing/2014/main" id="{AFE37096-8B6E-8245-AD0A-644624590ADA}"/>
                    </a:ext>
                  </a:extLst>
                </p:cNvPr>
                <p:cNvSpPr txBox="1"/>
                <p:nvPr/>
              </p:nvSpPr>
              <p:spPr>
                <a:xfrm>
                  <a:off x="4798050" y="1932373"/>
                  <a:ext cx="3743100" cy="677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lvl="0">
                    <a:buSzPts val="1400"/>
                  </a:pPr>
                  <a:r>
                    <a:rPr lang="en-US" sz="1600" dirty="0">
                      <a:latin typeface="Roboto"/>
                      <a:ea typeface="Roboto"/>
                      <a:cs typeface="Roboto"/>
                      <a:sym typeface="Roboto"/>
                    </a:rPr>
                    <a:t>They introduce bias to research processes and findings</a:t>
                  </a:r>
                  <a:endParaRPr lang="en-US" sz="1600" dirty="0"/>
                </a:p>
              </p:txBody>
            </p:sp>
            <p:sp>
              <p:nvSpPr>
                <p:cNvPr id="37" name="Google Shape;774;g7b0c16cc28_0_261">
                  <a:extLst>
                    <a:ext uri="{FF2B5EF4-FFF2-40B4-BE49-F238E27FC236}">
                      <a16:creationId xmlns:a16="http://schemas.microsoft.com/office/drawing/2014/main" id="{4EF3BB14-0C94-5B45-9781-771CD630F910}"/>
                    </a:ext>
                  </a:extLst>
                </p:cNvPr>
                <p:cNvSpPr txBox="1"/>
                <p:nvPr/>
              </p:nvSpPr>
              <p:spPr>
                <a:xfrm>
                  <a:off x="4273299" y="2040062"/>
                  <a:ext cx="4521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b="1" dirty="0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4</a:t>
                  </a:r>
                  <a:endParaRPr sz="1800" b="1" dirty="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7b0c16cc28_0_271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 b="1" dirty="0"/>
              <a:t>The History of Open Research</a:t>
            </a:r>
            <a:endParaRPr sz="2400" b="1" dirty="0"/>
          </a:p>
        </p:txBody>
      </p:sp>
      <p:sp>
        <p:nvSpPr>
          <p:cNvPr id="783" name="Google Shape;783;g7b0c16cc28_0_271"/>
          <p:cNvSpPr txBox="1">
            <a:spLocks noGrp="1"/>
          </p:cNvSpPr>
          <p:nvPr>
            <p:ph type="body" idx="1"/>
          </p:nvPr>
        </p:nvSpPr>
        <p:spPr>
          <a:xfrm>
            <a:off x="264100" y="858900"/>
            <a:ext cx="8173500" cy="51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dirty="0">
                <a:solidFill>
                  <a:srgbClr val="000000"/>
                </a:solidFill>
              </a:rPr>
              <a:t>Questionable research practices can take place at any stage of the research process.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84" name="Google Shape;784;g7b0c16cc28_0_271"/>
          <p:cNvSpPr/>
          <p:nvPr/>
        </p:nvSpPr>
        <p:spPr>
          <a:xfrm rot="-5400000">
            <a:off x="2360054" y="1516790"/>
            <a:ext cx="2077997" cy="2676998"/>
          </a:xfrm>
          <a:prstGeom prst="roundRect">
            <a:avLst>
              <a:gd name="adj" fmla="val 16667"/>
            </a:avLst>
          </a:prstGeom>
          <a:solidFill>
            <a:srgbClr val="D9EFE3"/>
          </a:solidFill>
          <a:ln>
            <a:noFill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8DD2A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7b0c16cc28_0_271"/>
          <p:cNvSpPr txBox="1"/>
          <p:nvPr/>
        </p:nvSpPr>
        <p:spPr>
          <a:xfrm>
            <a:off x="2136421" y="2128660"/>
            <a:ext cx="2604736" cy="147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128000" rIns="128000" bIns="128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Selective reporting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Cherry-picking and publishing only  findings that are novel, exciting, or statistically significant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g7b0c16cc28_0_271"/>
          <p:cNvSpPr/>
          <p:nvPr/>
        </p:nvSpPr>
        <p:spPr>
          <a:xfrm>
            <a:off x="4720631" y="1816291"/>
            <a:ext cx="2676998" cy="2077997"/>
          </a:xfrm>
          <a:prstGeom prst="roundRect">
            <a:avLst>
              <a:gd name="adj" fmla="val 16667"/>
            </a:avLst>
          </a:prstGeom>
          <a:solidFill>
            <a:srgbClr val="B3E1C9"/>
          </a:solidFill>
          <a:ln>
            <a:noFill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7b0c16cc28_0_271"/>
          <p:cNvSpPr txBox="1"/>
          <p:nvPr/>
        </p:nvSpPr>
        <p:spPr>
          <a:xfrm>
            <a:off x="4763420" y="2105424"/>
            <a:ext cx="2604736" cy="155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128000" rIns="128000" bIns="128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Underspecified methods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Not sharing methods with other researchers in enough detail so that they can attempt to replicate it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g7b0c16cc28_0_271"/>
          <p:cNvSpPr/>
          <p:nvPr/>
        </p:nvSpPr>
        <p:spPr>
          <a:xfrm rot="10800000">
            <a:off x="2067764" y="3880755"/>
            <a:ext cx="2676998" cy="207799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E0FFE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7b0c16cc28_0_271"/>
          <p:cNvSpPr txBox="1"/>
          <p:nvPr/>
        </p:nvSpPr>
        <p:spPr>
          <a:xfrm>
            <a:off x="2237334" y="4246688"/>
            <a:ext cx="2380327" cy="140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128000" rIns="128000" bIns="128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Data-dredging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Exploiting the data to achieve novel, exciting or statistically significant results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0" name="Google Shape;790;g7b0c16cc28_0_271"/>
          <p:cNvSpPr/>
          <p:nvPr/>
        </p:nvSpPr>
        <p:spPr>
          <a:xfrm rot="5400000">
            <a:off x="5020131" y="3604621"/>
            <a:ext cx="2077997" cy="2676998"/>
          </a:xfrm>
          <a:prstGeom prst="roundRect">
            <a:avLst>
              <a:gd name="adj" fmla="val 16667"/>
            </a:avLst>
          </a:prstGeom>
          <a:solidFill>
            <a:srgbClr val="8DD2AF"/>
          </a:solidFill>
          <a:ln>
            <a:noFill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g7b0c16cc28_0_271"/>
          <p:cNvSpPr txBox="1"/>
          <p:nvPr/>
        </p:nvSpPr>
        <p:spPr>
          <a:xfrm>
            <a:off x="4815559" y="4049019"/>
            <a:ext cx="2604736" cy="155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128000" rIns="128000" bIns="128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HARKing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en-US" sz="15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5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Hypothesising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After Results are Known)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Reporting unexpected findings as though they were expected from the start 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g7b0c16cc28_0_271"/>
          <p:cNvSpPr/>
          <p:nvPr/>
        </p:nvSpPr>
        <p:spPr>
          <a:xfrm>
            <a:off x="3956301" y="3520434"/>
            <a:ext cx="1246680" cy="85048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g7b0c16cc28_0_271"/>
          <p:cNvSpPr txBox="1"/>
          <p:nvPr/>
        </p:nvSpPr>
        <p:spPr>
          <a:xfrm>
            <a:off x="4007011" y="3746246"/>
            <a:ext cx="1134641" cy="4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Examples</a:t>
            </a:r>
            <a:endParaRPr sz="1800" b="1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EA2C00B-4898-6F4F-A61E-2009A1CE141A}"/>
              </a:ext>
            </a:extLst>
          </p:cNvPr>
          <p:cNvGrpSpPr/>
          <p:nvPr/>
        </p:nvGrpSpPr>
        <p:grpSpPr>
          <a:xfrm>
            <a:off x="-264748" y="3367809"/>
            <a:ext cx="6528267" cy="2595600"/>
            <a:chOff x="-264748" y="3367809"/>
            <a:chExt cx="6528267" cy="2595600"/>
          </a:xfrm>
        </p:grpSpPr>
        <p:sp>
          <p:nvSpPr>
            <p:cNvPr id="799" name="Google Shape;799;gd356505b6f_0_85"/>
            <p:cNvSpPr/>
            <p:nvPr/>
          </p:nvSpPr>
          <p:spPr>
            <a:xfrm>
              <a:off x="194819" y="3367809"/>
              <a:ext cx="6068700" cy="2595600"/>
            </a:xfrm>
            <a:prstGeom prst="rect">
              <a:avLst/>
            </a:prstGeom>
            <a:solidFill>
              <a:srgbClr val="D9EFE3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13" name="Google Shape;813;gd356505b6f_0_85"/>
            <p:cNvPicPr preferRelativeResize="0"/>
            <p:nvPr/>
          </p:nvPicPr>
          <p:blipFill rotWithShape="1">
            <a:blip r:embed="rId3">
              <a:alphaModFix/>
            </a:blip>
            <a:srcRect l="4836" t="26077" r="55621" b="19933"/>
            <a:stretch/>
          </p:blipFill>
          <p:spPr>
            <a:xfrm flipH="1">
              <a:off x="1096706" y="3378434"/>
              <a:ext cx="2592600" cy="19911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4" name="Google Shape;814;gd356505b6f_0_85"/>
            <p:cNvSpPr txBox="1"/>
            <p:nvPr/>
          </p:nvSpPr>
          <p:spPr>
            <a:xfrm>
              <a:off x="1240782" y="3631225"/>
              <a:ext cx="22452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Profit motives or ideological commitments might make researchers engage in poor practices 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9107002-08D7-B24E-B430-E92AF1125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48191"/>
            <a:stretch/>
          </p:blipFill>
          <p:spPr>
            <a:xfrm>
              <a:off x="-264748" y="3915928"/>
              <a:ext cx="2018728" cy="2029576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7F562C7-6B41-714E-8947-9A3F0CAE1F35}"/>
              </a:ext>
            </a:extLst>
          </p:cNvPr>
          <p:cNvGrpSpPr/>
          <p:nvPr/>
        </p:nvGrpSpPr>
        <p:grpSpPr>
          <a:xfrm>
            <a:off x="92898" y="655679"/>
            <a:ext cx="4405369" cy="2595600"/>
            <a:chOff x="92898" y="655679"/>
            <a:chExt cx="4405369" cy="2595600"/>
          </a:xfrm>
        </p:grpSpPr>
        <p:sp>
          <p:nvSpPr>
            <p:cNvPr id="801" name="Google Shape;801;gd356505b6f_0_85"/>
            <p:cNvSpPr/>
            <p:nvPr/>
          </p:nvSpPr>
          <p:spPr>
            <a:xfrm>
              <a:off x="194819" y="655679"/>
              <a:ext cx="4303448" cy="2595600"/>
            </a:xfrm>
            <a:prstGeom prst="rect">
              <a:avLst/>
            </a:prstGeom>
            <a:solidFill>
              <a:srgbClr val="D9EFE3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" name="Google Shape;813;gd356505b6f_0_85">
              <a:extLst>
                <a:ext uri="{FF2B5EF4-FFF2-40B4-BE49-F238E27FC236}">
                  <a16:creationId xmlns:a16="http://schemas.microsoft.com/office/drawing/2014/main" id="{40971DAD-5CDE-7D44-8675-A90C6F43B32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4836" t="26077" r="55621" b="19933"/>
            <a:stretch/>
          </p:blipFill>
          <p:spPr>
            <a:xfrm rot="376959" flipH="1">
              <a:off x="866811" y="942478"/>
              <a:ext cx="2222122" cy="16330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gd356505b6f_0_85"/>
            <p:cNvSpPr txBox="1"/>
            <p:nvPr/>
          </p:nvSpPr>
          <p:spPr>
            <a:xfrm>
              <a:off x="1018010" y="1170086"/>
              <a:ext cx="1861370" cy="860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rgbClr val="222222"/>
                  </a:solidFill>
                  <a:latin typeface="Roboto"/>
                  <a:ea typeface="Roboto"/>
                  <a:cs typeface="Roboto"/>
                  <a:sym typeface="Roboto"/>
                </a:rPr>
                <a:t>‘Bad science’ is not always conducted by ‘bad researchers’</a:t>
              </a:r>
              <a:endParaRPr dirty="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" name="Picture 3" descr="A picture containing text, vector graphics&#10;&#10;Description automatically generated">
              <a:extLst>
                <a:ext uri="{FF2B5EF4-FFF2-40B4-BE49-F238E27FC236}">
                  <a16:creationId xmlns:a16="http://schemas.microsoft.com/office/drawing/2014/main" id="{5DF1E273-CA8A-374F-A85E-DA042D5CC3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48645"/>
            <a:stretch/>
          </p:blipFill>
          <p:spPr>
            <a:xfrm>
              <a:off x="92898" y="1659653"/>
              <a:ext cx="1499073" cy="1554713"/>
            </a:xfrm>
            <a:prstGeom prst="rect">
              <a:avLst/>
            </a:prstGeom>
          </p:spPr>
        </p:pic>
      </p:grpSp>
      <p:sp>
        <p:nvSpPr>
          <p:cNvPr id="800" name="Google Shape;800;gd356505b6f_0_85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/>
              <a:t>Why do researchers engage in QRPS?</a:t>
            </a:r>
            <a:endParaRPr sz="2400" b="1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66BC12C-76A8-0340-9F8E-2B0FADAF8668}"/>
              </a:ext>
            </a:extLst>
          </p:cNvPr>
          <p:cNvGrpSpPr/>
          <p:nvPr/>
        </p:nvGrpSpPr>
        <p:grpSpPr>
          <a:xfrm>
            <a:off x="2432451" y="279125"/>
            <a:ext cx="2324844" cy="2935241"/>
            <a:chOff x="2432451" y="279125"/>
            <a:chExt cx="2324844" cy="293524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AF53070-257B-EE47-9F20-E520CED61440}"/>
                </a:ext>
              </a:extLst>
            </p:cNvPr>
            <p:cNvGrpSpPr/>
            <p:nvPr/>
          </p:nvGrpSpPr>
          <p:grpSpPr>
            <a:xfrm>
              <a:off x="2432451" y="279125"/>
              <a:ext cx="2324844" cy="2935241"/>
              <a:chOff x="2432451" y="279125"/>
              <a:chExt cx="2324844" cy="2935241"/>
            </a:xfrm>
          </p:grpSpPr>
          <p:pic>
            <p:nvPicPr>
              <p:cNvPr id="804" name="Google Shape;804;gd356505b6f_0_85"/>
              <p:cNvPicPr preferRelativeResize="0"/>
              <p:nvPr/>
            </p:nvPicPr>
            <p:blipFill rotWithShape="1">
              <a:blip r:embed="rId6">
                <a:alphaModFix/>
              </a:blip>
              <a:srcRect b="40191"/>
              <a:stretch/>
            </p:blipFill>
            <p:spPr>
              <a:xfrm>
                <a:off x="2432451" y="1606599"/>
                <a:ext cx="1828398" cy="1607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5" name="Google Shape;805;gd356505b6f_0_85"/>
              <p:cNvPicPr preferRelativeResize="0"/>
              <p:nvPr/>
            </p:nvPicPr>
            <p:blipFill rotWithShape="1">
              <a:blip r:embed="rId3">
                <a:alphaModFix/>
              </a:blip>
              <a:srcRect r="55618"/>
              <a:stretch/>
            </p:blipFill>
            <p:spPr>
              <a:xfrm rot="20760471" flipH="1">
                <a:off x="2998955" y="279125"/>
                <a:ext cx="1758340" cy="21265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06" name="Google Shape;806;gd356505b6f_0_85"/>
            <p:cNvSpPr txBox="1"/>
            <p:nvPr/>
          </p:nvSpPr>
          <p:spPr>
            <a:xfrm>
              <a:off x="3125991" y="1000080"/>
              <a:ext cx="1286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So why does it happen?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E777B45-AD68-5C45-B006-57047C71AA07}"/>
              </a:ext>
            </a:extLst>
          </p:cNvPr>
          <p:cNvGrpSpPr/>
          <p:nvPr/>
        </p:nvGrpSpPr>
        <p:grpSpPr>
          <a:xfrm>
            <a:off x="2329551" y="3031480"/>
            <a:ext cx="4255044" cy="2926482"/>
            <a:chOff x="2329551" y="3031480"/>
            <a:chExt cx="4255044" cy="2926482"/>
          </a:xfrm>
        </p:grpSpPr>
        <p:pic>
          <p:nvPicPr>
            <p:cNvPr id="815" name="Google Shape;815;gd356505b6f_0_85"/>
            <p:cNvPicPr preferRelativeResize="0"/>
            <p:nvPr/>
          </p:nvPicPr>
          <p:blipFill rotWithShape="1">
            <a:blip r:embed="rId3">
              <a:alphaModFix/>
            </a:blip>
            <a:srcRect t="18017" r="55618" b="28799"/>
            <a:stretch/>
          </p:blipFill>
          <p:spPr>
            <a:xfrm rot="16475712" flipH="1" flipV="1">
              <a:off x="4064806" y="3122000"/>
              <a:ext cx="2610310" cy="24292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gd356505b6f_0_85"/>
            <p:cNvSpPr txBox="1"/>
            <p:nvPr/>
          </p:nvSpPr>
          <p:spPr>
            <a:xfrm>
              <a:off x="4245207" y="3793525"/>
              <a:ext cx="1895456" cy="14772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Poor research </a:t>
              </a:r>
              <a:br>
                <a:rPr lang="en-US" dirty="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practices might also just reflect how researchers were taught in the first place 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16" name="Google Shape;816;gd356505b6f_0_85"/>
            <p:cNvPicPr preferRelativeResize="0"/>
            <p:nvPr/>
          </p:nvPicPr>
          <p:blipFill rotWithShape="1">
            <a:blip r:embed="rId7">
              <a:alphaModFix/>
            </a:blip>
            <a:srcRect r="3278" b="55281"/>
            <a:stretch/>
          </p:blipFill>
          <p:spPr>
            <a:xfrm flipH="1">
              <a:off x="2329551" y="3933524"/>
              <a:ext cx="2524799" cy="202443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0729C6A-481C-A545-9B42-50347ED3D011}"/>
              </a:ext>
            </a:extLst>
          </p:cNvPr>
          <p:cNvGrpSpPr/>
          <p:nvPr/>
        </p:nvGrpSpPr>
        <p:grpSpPr>
          <a:xfrm>
            <a:off x="6331203" y="3360383"/>
            <a:ext cx="2860218" cy="2735710"/>
            <a:chOff x="6331203" y="3386626"/>
            <a:chExt cx="2860218" cy="2735710"/>
          </a:xfrm>
        </p:grpSpPr>
        <p:sp>
          <p:nvSpPr>
            <p:cNvPr id="798" name="Google Shape;798;gd356505b6f_0_85"/>
            <p:cNvSpPr/>
            <p:nvPr/>
          </p:nvSpPr>
          <p:spPr>
            <a:xfrm>
              <a:off x="6360350" y="3386626"/>
              <a:ext cx="2585346" cy="2600804"/>
            </a:xfrm>
            <a:prstGeom prst="rect">
              <a:avLst/>
            </a:prstGeom>
            <a:solidFill>
              <a:srgbClr val="D9EFE3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6F9029C-380B-8D49-89E6-371E4FBCADCF}"/>
                </a:ext>
              </a:extLst>
            </p:cNvPr>
            <p:cNvGrpSpPr/>
            <p:nvPr/>
          </p:nvGrpSpPr>
          <p:grpSpPr>
            <a:xfrm>
              <a:off x="6331203" y="3464760"/>
              <a:ext cx="2860218" cy="2657576"/>
              <a:chOff x="6331203" y="3464760"/>
              <a:chExt cx="2860218" cy="2657576"/>
            </a:xfrm>
          </p:grpSpPr>
          <p:pic>
            <p:nvPicPr>
              <p:cNvPr id="38" name="Google Shape;813;gd356505b6f_0_85">
                <a:extLst>
                  <a:ext uri="{FF2B5EF4-FFF2-40B4-BE49-F238E27FC236}">
                    <a16:creationId xmlns:a16="http://schemas.microsoft.com/office/drawing/2014/main" id="{E45919B1-A39F-CF42-82A9-737443624332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4836" t="26077" r="55621" b="19933"/>
              <a:stretch/>
            </p:blipFill>
            <p:spPr>
              <a:xfrm>
                <a:off x="6331203" y="3464760"/>
                <a:ext cx="1688918" cy="15243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2" name="Google Shape;822;gd356505b6f_0_85"/>
              <p:cNvSpPr txBox="1"/>
              <p:nvPr/>
            </p:nvSpPr>
            <p:spPr>
              <a:xfrm>
                <a:off x="6388421" y="3611853"/>
                <a:ext cx="1631700" cy="83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  <a:t>Researchers</a:t>
                </a:r>
                <a:b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  <a:t> can also just make mistakes!</a:t>
                </a:r>
                <a:endParaRPr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818" name="Google Shape;818;gd356505b6f_0_8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 flipH="1">
                <a:off x="7317046" y="4093515"/>
                <a:ext cx="1874375" cy="20288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0009FA9-DB86-C048-96F4-D06BB55EA341}"/>
              </a:ext>
            </a:extLst>
          </p:cNvPr>
          <p:cNvGrpSpPr/>
          <p:nvPr/>
        </p:nvGrpSpPr>
        <p:grpSpPr>
          <a:xfrm>
            <a:off x="4598489" y="649225"/>
            <a:ext cx="4347207" cy="2595600"/>
            <a:chOff x="4645734" y="655679"/>
            <a:chExt cx="4347207" cy="2595600"/>
          </a:xfrm>
        </p:grpSpPr>
        <p:sp>
          <p:nvSpPr>
            <p:cNvPr id="802" name="Google Shape;802;gd356505b6f_0_85"/>
            <p:cNvSpPr/>
            <p:nvPr/>
          </p:nvSpPr>
          <p:spPr>
            <a:xfrm>
              <a:off x="4645734" y="655679"/>
              <a:ext cx="4347207" cy="2595600"/>
            </a:xfrm>
            <a:prstGeom prst="rect">
              <a:avLst/>
            </a:prstGeom>
            <a:solidFill>
              <a:srgbClr val="D9EFE3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31" name="Picture 30" descr="A picture containing text, vector graphics&#10;&#10;Description automatically generated">
              <a:extLst>
                <a:ext uri="{FF2B5EF4-FFF2-40B4-BE49-F238E27FC236}">
                  <a16:creationId xmlns:a16="http://schemas.microsoft.com/office/drawing/2014/main" id="{AE4BCA36-AC39-B94B-AA94-4882F44F53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6501" b="48645"/>
            <a:stretch/>
          </p:blipFill>
          <p:spPr>
            <a:xfrm>
              <a:off x="4645735" y="1659595"/>
              <a:ext cx="1251703" cy="1554771"/>
            </a:xfrm>
            <a:prstGeom prst="rect">
              <a:avLst/>
            </a:prstGeom>
          </p:spPr>
        </p:pic>
        <p:pic>
          <p:nvPicPr>
            <p:cNvPr id="808" name="Google Shape;808;gd356505b6f_0_85"/>
            <p:cNvPicPr preferRelativeResize="0"/>
            <p:nvPr/>
          </p:nvPicPr>
          <p:blipFill rotWithShape="1">
            <a:blip r:embed="rId3">
              <a:alphaModFix/>
            </a:blip>
            <a:srcRect l="5161" t="25847" r="55618" b="21296"/>
            <a:stretch/>
          </p:blipFill>
          <p:spPr>
            <a:xfrm flipH="1">
              <a:off x="5149801" y="681556"/>
              <a:ext cx="2369273" cy="1839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0" name="Google Shape;810;gd356505b6f_0_85"/>
            <p:cNvSpPr txBox="1"/>
            <p:nvPr/>
          </p:nvSpPr>
          <p:spPr>
            <a:xfrm>
              <a:off x="5375528" y="828240"/>
              <a:ext cx="1868763" cy="13651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The perception that </a:t>
              </a:r>
              <a:br>
                <a:rPr lang="en-US" dirty="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more research outputs is better, creates pressure to publish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48A2B6-9478-FF43-AE82-2D4DF2952C19}"/>
              </a:ext>
            </a:extLst>
          </p:cNvPr>
          <p:cNvGrpSpPr/>
          <p:nvPr/>
        </p:nvGrpSpPr>
        <p:grpSpPr>
          <a:xfrm>
            <a:off x="6586196" y="1336879"/>
            <a:ext cx="2265639" cy="2094860"/>
            <a:chOff x="6586196" y="1336879"/>
            <a:chExt cx="2265639" cy="2094860"/>
          </a:xfrm>
        </p:grpSpPr>
        <p:pic>
          <p:nvPicPr>
            <p:cNvPr id="809" name="Google Shape;809;gd356505b6f_0_85"/>
            <p:cNvPicPr preferRelativeResize="0"/>
            <p:nvPr/>
          </p:nvPicPr>
          <p:blipFill rotWithShape="1">
            <a:blip r:embed="rId3">
              <a:alphaModFix/>
            </a:blip>
            <a:srcRect l="5161" t="25847" r="55618" b="21296"/>
            <a:stretch/>
          </p:blipFill>
          <p:spPr>
            <a:xfrm rot="3086190" flipH="1">
              <a:off x="6671586" y="1251489"/>
              <a:ext cx="2094860" cy="22656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1" name="Google Shape;811;gd356505b6f_0_85"/>
            <p:cNvSpPr txBox="1"/>
            <p:nvPr/>
          </p:nvSpPr>
          <p:spPr>
            <a:xfrm>
              <a:off x="6910982" y="1392956"/>
              <a:ext cx="1912629" cy="16927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This can           negatively             impact how people do research. They may cut corners to get more research published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8EFBD15-F427-D14E-B1B8-8B92A2CA77CA}"/>
              </a:ext>
            </a:extLst>
          </p:cNvPr>
          <p:cNvGrpSpPr/>
          <p:nvPr/>
        </p:nvGrpSpPr>
        <p:grpSpPr>
          <a:xfrm>
            <a:off x="105663" y="3398903"/>
            <a:ext cx="8689403" cy="2595600"/>
            <a:chOff x="105663" y="3398903"/>
            <a:chExt cx="8689403" cy="2595600"/>
          </a:xfrm>
        </p:grpSpPr>
        <p:sp>
          <p:nvSpPr>
            <p:cNvPr id="827" name="Google Shape;827;gdf5372d389_0_66"/>
            <p:cNvSpPr/>
            <p:nvPr/>
          </p:nvSpPr>
          <p:spPr>
            <a:xfrm>
              <a:off x="251966" y="3398903"/>
              <a:ext cx="8543100" cy="2595600"/>
            </a:xfrm>
            <a:prstGeom prst="rect">
              <a:avLst/>
            </a:prstGeom>
            <a:solidFill>
              <a:srgbClr val="D9EFE3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38" name="Google Shape;838;gdf5372d389_0_66"/>
            <p:cNvPicPr preferRelativeResize="0"/>
            <p:nvPr/>
          </p:nvPicPr>
          <p:blipFill rotWithShape="1">
            <a:blip r:embed="rId3">
              <a:alphaModFix/>
            </a:blip>
            <a:srcRect b="53609"/>
            <a:stretch/>
          </p:blipFill>
          <p:spPr>
            <a:xfrm>
              <a:off x="105663" y="3888598"/>
              <a:ext cx="2597262" cy="2089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840;gdf5372d389_0_66">
              <a:extLst>
                <a:ext uri="{FF2B5EF4-FFF2-40B4-BE49-F238E27FC236}">
                  <a16:creationId xmlns:a16="http://schemas.microsoft.com/office/drawing/2014/main" id="{EB6E9A38-1343-8F4B-80F5-4AAD4DD6047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5161" t="25847" r="55618" b="21296"/>
            <a:stretch/>
          </p:blipFill>
          <p:spPr>
            <a:xfrm flipH="1">
              <a:off x="1571134" y="3480114"/>
              <a:ext cx="2756362" cy="2089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3" name="Google Shape;843;gdf5372d389_0_66"/>
            <p:cNvSpPr txBox="1"/>
            <p:nvPr/>
          </p:nvSpPr>
          <p:spPr>
            <a:xfrm>
              <a:off x="1554469" y="3837824"/>
              <a:ext cx="27564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It is important to </a:t>
              </a:r>
              <a:br>
                <a:rPr lang="en-US" dirty="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guard against questionable research practices in all your </a:t>
              </a:r>
              <a:br>
                <a:rPr lang="en-US" dirty="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research activities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28" name="Google Shape;828;gdf5372d389_0_66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As a student, it can be easy to engage in QRPS</a:t>
            </a:r>
            <a:endParaRPr sz="24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C93584-FA47-E845-9364-97D7EE7719EB}"/>
              </a:ext>
            </a:extLst>
          </p:cNvPr>
          <p:cNvGrpSpPr/>
          <p:nvPr/>
        </p:nvGrpSpPr>
        <p:grpSpPr>
          <a:xfrm>
            <a:off x="4450093" y="710320"/>
            <a:ext cx="4472261" cy="2595600"/>
            <a:chOff x="4450093" y="710320"/>
            <a:chExt cx="4472261" cy="2595600"/>
          </a:xfrm>
        </p:grpSpPr>
        <p:sp>
          <p:nvSpPr>
            <p:cNvPr id="830" name="Google Shape;830;gdf5372d389_0_66"/>
            <p:cNvSpPr/>
            <p:nvPr/>
          </p:nvSpPr>
          <p:spPr>
            <a:xfrm>
              <a:off x="4502962" y="710320"/>
              <a:ext cx="4292104" cy="2595600"/>
            </a:xfrm>
            <a:prstGeom prst="rect">
              <a:avLst/>
            </a:prstGeom>
            <a:solidFill>
              <a:srgbClr val="D9EFE3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34" name="Google Shape;834;gdf5372d389_0_66"/>
            <p:cNvPicPr preferRelativeResize="0"/>
            <p:nvPr/>
          </p:nvPicPr>
          <p:blipFill rotWithShape="1">
            <a:blip r:embed="rId5">
              <a:alphaModFix/>
            </a:blip>
            <a:srcRect b="37165"/>
            <a:stretch/>
          </p:blipFill>
          <p:spPr>
            <a:xfrm flipH="1">
              <a:off x="6697689" y="1618050"/>
              <a:ext cx="2224665" cy="16467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5" name="Google Shape;835;gdf5372d389_0_6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838770" y="779313"/>
              <a:ext cx="814291" cy="815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6" name="Google Shape;836;gdf5372d389_0_66"/>
            <p:cNvPicPr preferRelativeResize="0"/>
            <p:nvPr/>
          </p:nvPicPr>
          <p:blipFill rotWithShape="1">
            <a:blip r:embed="rId4">
              <a:alphaModFix/>
            </a:blip>
            <a:srcRect l="5161" t="25847" r="55618" b="21296"/>
            <a:stretch/>
          </p:blipFill>
          <p:spPr>
            <a:xfrm rot="20605974">
              <a:off x="4450093" y="1034010"/>
              <a:ext cx="2756362" cy="2089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7" name="Google Shape;837;gdf5372d389_0_66"/>
            <p:cNvSpPr txBox="1"/>
            <p:nvPr/>
          </p:nvSpPr>
          <p:spPr>
            <a:xfrm>
              <a:off x="4848575" y="1397438"/>
              <a:ext cx="1897972" cy="12618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Time constraints and coursework pressures can also lead to cutting corners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E858040-28C5-C743-A918-3277E8EF3648}"/>
              </a:ext>
            </a:extLst>
          </p:cNvPr>
          <p:cNvGrpSpPr/>
          <p:nvPr/>
        </p:nvGrpSpPr>
        <p:grpSpPr>
          <a:xfrm>
            <a:off x="4682616" y="3867469"/>
            <a:ext cx="4183933" cy="2089625"/>
            <a:chOff x="4682616" y="3867469"/>
            <a:chExt cx="4183933" cy="2089625"/>
          </a:xfrm>
        </p:grpSpPr>
        <p:pic>
          <p:nvPicPr>
            <p:cNvPr id="839" name="Google Shape;839;gdf5372d389_0_66"/>
            <p:cNvPicPr preferRelativeResize="0"/>
            <p:nvPr/>
          </p:nvPicPr>
          <p:blipFill rotWithShape="1">
            <a:blip r:embed="rId7">
              <a:alphaModFix/>
            </a:blip>
            <a:srcRect b="34674"/>
            <a:stretch/>
          </p:blipFill>
          <p:spPr>
            <a:xfrm flipH="1">
              <a:off x="6576048" y="3867469"/>
              <a:ext cx="2290501" cy="208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0" name="Google Shape;840;gdf5372d389_0_66"/>
            <p:cNvPicPr preferRelativeResize="0"/>
            <p:nvPr/>
          </p:nvPicPr>
          <p:blipFill rotWithShape="1">
            <a:blip r:embed="rId4">
              <a:alphaModFix/>
            </a:blip>
            <a:srcRect l="5161" t="25847" r="55618" b="21296"/>
            <a:stretch/>
          </p:blipFill>
          <p:spPr>
            <a:xfrm rot="11420778" flipH="1">
              <a:off x="4682616" y="4254499"/>
              <a:ext cx="2597262" cy="16623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1" name="Google Shape;841;gdf5372d389_0_66"/>
            <p:cNvSpPr txBox="1"/>
            <p:nvPr/>
          </p:nvSpPr>
          <p:spPr>
            <a:xfrm>
              <a:off x="5005486" y="4711103"/>
              <a:ext cx="1951522" cy="10464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This ensures the research you conduct is robust and trustworthy 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2B3CFEA-3898-8143-B119-A51B7184C170}"/>
              </a:ext>
            </a:extLst>
          </p:cNvPr>
          <p:cNvGrpSpPr/>
          <p:nvPr/>
        </p:nvGrpSpPr>
        <p:grpSpPr>
          <a:xfrm>
            <a:off x="221646" y="712275"/>
            <a:ext cx="4177583" cy="2729505"/>
            <a:chOff x="221646" y="712275"/>
            <a:chExt cx="4177583" cy="2729505"/>
          </a:xfrm>
        </p:grpSpPr>
        <p:sp>
          <p:nvSpPr>
            <p:cNvPr id="829" name="Google Shape;829;gdf5372d389_0_66"/>
            <p:cNvSpPr/>
            <p:nvPr/>
          </p:nvSpPr>
          <p:spPr>
            <a:xfrm>
              <a:off x="233129" y="712275"/>
              <a:ext cx="4166100" cy="2595600"/>
            </a:xfrm>
            <a:prstGeom prst="rect">
              <a:avLst/>
            </a:prstGeom>
            <a:solidFill>
              <a:srgbClr val="D9EFE3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32" name="Google Shape;832;gdf5372d389_0_66"/>
            <p:cNvPicPr preferRelativeResize="0"/>
            <p:nvPr/>
          </p:nvPicPr>
          <p:blipFill rotWithShape="1">
            <a:blip r:embed="rId4">
              <a:alphaModFix/>
            </a:blip>
            <a:srcRect l="4836" t="26077" r="55621" b="19933"/>
            <a:stretch/>
          </p:blipFill>
          <p:spPr>
            <a:xfrm flipH="1" flipV="1">
              <a:off x="1453786" y="1133564"/>
              <a:ext cx="2720851" cy="2089625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833" name="Google Shape;833;gdf5372d389_0_66"/>
            <p:cNvSpPr txBox="1"/>
            <p:nvPr/>
          </p:nvSpPr>
          <p:spPr>
            <a:xfrm>
              <a:off x="1763194" y="1768249"/>
              <a:ext cx="1966641" cy="12618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If I think exciting or ‘significant’ results will lead to a better grade, I might engage in QRPs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" name="Picture 4" descr="A picture containing text, vector graphics&#10;&#10;Description automatically generated">
              <a:extLst>
                <a:ext uri="{FF2B5EF4-FFF2-40B4-BE49-F238E27FC236}">
                  <a16:creationId xmlns:a16="http://schemas.microsoft.com/office/drawing/2014/main" id="{49EE5BCE-03FC-C14D-B332-27093206D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1646" y="997720"/>
              <a:ext cx="1935832" cy="244406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7b0c16cc28_0_287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 b="1" dirty="0"/>
              <a:t>The History of Open Research</a:t>
            </a:r>
            <a:endParaRPr sz="2400" b="1" dirty="0"/>
          </a:p>
        </p:txBody>
      </p:sp>
      <p:sp>
        <p:nvSpPr>
          <p:cNvPr id="849" name="Google Shape;849;g7b0c16cc28_0_287"/>
          <p:cNvSpPr txBox="1">
            <a:spLocks noGrp="1"/>
          </p:cNvSpPr>
          <p:nvPr>
            <p:ph type="body" idx="1"/>
          </p:nvPr>
        </p:nvSpPr>
        <p:spPr>
          <a:xfrm>
            <a:off x="254000" y="1207294"/>
            <a:ext cx="817350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200" dirty="0">
                <a:solidFill>
                  <a:srgbClr val="000000"/>
                </a:solidFill>
              </a:rPr>
              <a:t>Increased and on-going awareness of issues around reproducibility and QRPs has led to improved open research practices </a:t>
            </a:r>
          </a:p>
          <a:p>
            <a:pPr marL="7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7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200" dirty="0">
                <a:solidFill>
                  <a:srgbClr val="000000"/>
                </a:solidFill>
              </a:rPr>
              <a:t>Open research practices can improve the validity and integrity of research</a:t>
            </a:r>
            <a:endParaRPr sz="2200" dirty="0">
              <a:solidFill>
                <a:srgbClr val="000000"/>
              </a:solidFill>
            </a:endParaRPr>
          </a:p>
          <a:p>
            <a:pPr marL="627063" lvl="1" indent="-39846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Though poor methods exist open research aims to improve them</a:t>
            </a:r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endParaRPr dirty="0">
              <a:solidFill>
                <a:srgbClr val="000000"/>
              </a:solidFill>
            </a:endParaRPr>
          </a:p>
          <a:p>
            <a:pPr marL="7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200" dirty="0">
                <a:solidFill>
                  <a:srgbClr val="000000"/>
                </a:solidFill>
              </a:rPr>
              <a:t>It is these practices, and the underlying principles of open research that we will introduce you to in this course</a:t>
            </a:r>
            <a:endParaRPr sz="2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7b0c16cc28_0_287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 b="1" dirty="0"/>
              <a:t>Did you know?</a:t>
            </a:r>
            <a:endParaRPr sz="2400" b="1" dirty="0"/>
          </a:p>
        </p:txBody>
      </p:sp>
      <p:sp>
        <p:nvSpPr>
          <p:cNvPr id="849" name="Google Shape;849;g7b0c16cc28_0_287"/>
          <p:cNvSpPr txBox="1">
            <a:spLocks noGrp="1"/>
          </p:cNvSpPr>
          <p:nvPr>
            <p:ph type="body" idx="1"/>
          </p:nvPr>
        </p:nvSpPr>
        <p:spPr>
          <a:xfrm>
            <a:off x="254000" y="846394"/>
            <a:ext cx="863600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dirty="0">
                <a:solidFill>
                  <a:srgbClr val="000000"/>
                </a:solidFill>
              </a:rPr>
              <a:t>Making and having open research is so important that it is in the United Nations declaration on Human Rights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endParaRPr lang="en-US" sz="2400" dirty="0">
              <a:solidFill>
                <a:srgbClr val="000000"/>
              </a:solidFill>
            </a:endParaRPr>
          </a:p>
          <a:p>
            <a:pPr marL="7620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200" dirty="0">
                <a:solidFill>
                  <a:srgbClr val="000000"/>
                </a:solidFill>
              </a:rPr>
              <a:t>According to this document: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CD0658-B4B4-2E47-8540-899DD5B375CF}"/>
              </a:ext>
            </a:extLst>
          </p:cNvPr>
          <p:cNvGrpSpPr/>
          <p:nvPr/>
        </p:nvGrpSpPr>
        <p:grpSpPr>
          <a:xfrm>
            <a:off x="254000" y="2989131"/>
            <a:ext cx="8625900" cy="2893069"/>
            <a:chOff x="254000" y="2976833"/>
            <a:chExt cx="8625900" cy="289306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FD4823-1C9A-3E43-8729-398D4D25F746}"/>
                </a:ext>
              </a:extLst>
            </p:cNvPr>
            <p:cNvGrpSpPr/>
            <p:nvPr/>
          </p:nvGrpSpPr>
          <p:grpSpPr>
            <a:xfrm>
              <a:off x="254000" y="2976833"/>
              <a:ext cx="8625900" cy="2893069"/>
              <a:chOff x="254000" y="2976833"/>
              <a:chExt cx="8625900" cy="2893069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E097403C-CFCC-2A48-8758-7B5492170E36}"/>
                  </a:ext>
                </a:extLst>
              </p:cNvPr>
              <p:cNvGrpSpPr/>
              <p:nvPr/>
            </p:nvGrpSpPr>
            <p:grpSpPr>
              <a:xfrm>
                <a:off x="254000" y="2976833"/>
                <a:ext cx="8625900" cy="2893069"/>
                <a:chOff x="251900" y="2131164"/>
                <a:chExt cx="8625900" cy="2893069"/>
              </a:xfrm>
            </p:grpSpPr>
            <p:sp>
              <p:nvSpPr>
                <p:cNvPr id="6" name="Google Shape;1156;gdba768230e_0_146">
                  <a:extLst>
                    <a:ext uri="{FF2B5EF4-FFF2-40B4-BE49-F238E27FC236}">
                      <a16:creationId xmlns:a16="http://schemas.microsoft.com/office/drawing/2014/main" id="{9700E644-8117-584D-8501-21E718A38A40}"/>
                    </a:ext>
                  </a:extLst>
                </p:cNvPr>
                <p:cNvSpPr/>
                <p:nvPr/>
              </p:nvSpPr>
              <p:spPr>
                <a:xfrm>
                  <a:off x="251900" y="2131164"/>
                  <a:ext cx="8625900" cy="287238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27930"/>
                  </a:schemeClr>
                </a:solidFill>
                <a:ln w="38100" cap="flat" cmpd="sng">
                  <a:solidFill>
                    <a:schemeClr val="bg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" name="Google Shape;1172;gdba768230e_0_151">
                  <a:extLst>
                    <a:ext uri="{FF2B5EF4-FFF2-40B4-BE49-F238E27FC236}">
                      <a16:creationId xmlns:a16="http://schemas.microsoft.com/office/drawing/2014/main" id="{FD56B980-6786-B746-89F4-02518E742C2D}"/>
                    </a:ext>
                  </a:extLst>
                </p:cNvPr>
                <p:cNvSpPr txBox="1"/>
                <p:nvPr/>
              </p:nvSpPr>
              <p:spPr>
                <a:xfrm>
                  <a:off x="311257" y="2131164"/>
                  <a:ext cx="2973164" cy="28930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en-US" sz="2200" b="0" i="0" u="none" strike="noStrike" cap="none" dirty="0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Everyone has the right to freely participate in the cultural life of the community, to enjoy the arts and to share in scientific advancement and its benefits</a:t>
                  </a:r>
                  <a:endParaRPr sz="2200" b="0" i="0" u="none" strike="noStrike" cap="none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pic>
            <p:nvPicPr>
              <p:cNvPr id="3" name="Picture 2" descr="A green logo on a black background&#10;&#10;Description automatically generated with low confidence">
                <a:extLst>
                  <a:ext uri="{FF2B5EF4-FFF2-40B4-BE49-F238E27FC236}">
                    <a16:creationId xmlns:a16="http://schemas.microsoft.com/office/drawing/2014/main" id="{1120E357-5910-3547-BB45-5D0A05A57E4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23636" t="35208" r="23182" b="36364"/>
              <a:stretch/>
            </p:blipFill>
            <p:spPr>
              <a:xfrm>
                <a:off x="3181567" y="3306316"/>
                <a:ext cx="2770766" cy="2221648"/>
              </a:xfrm>
              <a:prstGeom prst="rect">
                <a:avLst/>
              </a:prstGeom>
            </p:spPr>
          </p:pic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4D867E7-0947-694A-9A1A-F080678B3D83}"/>
                </a:ext>
              </a:extLst>
            </p:cNvPr>
            <p:cNvSpPr/>
            <p:nvPr/>
          </p:nvSpPr>
          <p:spPr>
            <a:xfrm>
              <a:off x="5682573" y="3003857"/>
              <a:ext cx="3148070" cy="280076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200" dirty="0">
                  <a:latin typeface="Roboto"/>
                  <a:ea typeface="Roboto"/>
                  <a:cs typeface="Roboto"/>
                  <a:sym typeface="Roboto"/>
                </a:rPr>
                <a:t>Everyone has the right to the protection of the moral and material interests resulting from any scientific, literary or artistic production of which s/he is the author</a:t>
              </a:r>
              <a:endParaRPr lang="en-US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0361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0;gdf5372d389_0_66">
            <a:extLst>
              <a:ext uri="{FF2B5EF4-FFF2-40B4-BE49-F238E27FC236}">
                <a16:creationId xmlns:a16="http://schemas.microsoft.com/office/drawing/2014/main" id="{87884F67-A443-0F4D-8890-4F4A06635A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161" t="25847" r="55618" b="21296"/>
          <a:stretch/>
        </p:blipFill>
        <p:spPr>
          <a:xfrm rot="19624265" flipH="1" flipV="1">
            <a:off x="2102141" y="484240"/>
            <a:ext cx="5697031" cy="5037365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g7b0c16cc28_0_302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 b="1" dirty="0"/>
              <a:t>The History of Open Research</a:t>
            </a:r>
            <a:endParaRPr sz="2400" b="1" dirty="0"/>
          </a:p>
        </p:txBody>
      </p:sp>
      <p:pic>
        <p:nvPicPr>
          <p:cNvPr id="3" name="Picture 2" descr="A picture containing text, vector graphics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662713C5-593C-CF49-A83F-A5CDAE6F5C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54000" y="1320164"/>
            <a:ext cx="3002406" cy="4719251"/>
          </a:xfrm>
          <a:prstGeom prst="rect">
            <a:avLst/>
          </a:prstGeom>
        </p:spPr>
      </p:pic>
      <p:sp>
        <p:nvSpPr>
          <p:cNvPr id="7" name="Google Shape;843;gdf5372d389_0_66">
            <a:extLst>
              <a:ext uri="{FF2B5EF4-FFF2-40B4-BE49-F238E27FC236}">
                <a16:creationId xmlns:a16="http://schemas.microsoft.com/office/drawing/2014/main" id="{DDB8D15E-C724-0D40-85D3-1039635BCCE6}"/>
              </a:ext>
            </a:extLst>
          </p:cNvPr>
          <p:cNvSpPr txBox="1"/>
          <p:nvPr/>
        </p:nvSpPr>
        <p:spPr>
          <a:xfrm>
            <a:off x="3345307" y="2071686"/>
            <a:ext cx="3512694" cy="301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latin typeface="Roboto"/>
                <a:ea typeface="Roboto"/>
                <a:cs typeface="Roboto"/>
                <a:sym typeface="Roboto"/>
              </a:rPr>
              <a:t>Take a look at </a:t>
            </a:r>
            <a:r>
              <a:rPr lang="en-US" sz="23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video </a:t>
            </a:r>
            <a:r>
              <a:rPr lang="en-US" sz="2300" dirty="0">
                <a:latin typeface="Roboto"/>
                <a:ea typeface="Roboto"/>
                <a:cs typeface="Roboto"/>
                <a:sym typeface="Roboto"/>
              </a:rPr>
              <a:t>on Canvas on how open research can help fix broken research culture.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latin typeface="Roboto"/>
                <a:ea typeface="Roboto"/>
                <a:cs typeface="Roboto"/>
                <a:sym typeface="Roboto"/>
              </a:rPr>
              <a:t>The video discusses science but is relevant across disciplines!</a:t>
            </a:r>
            <a:endParaRPr sz="23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1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756920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 b="1" dirty="0"/>
              <a:t>Activity </a:t>
            </a:r>
            <a:endParaRPr sz="2400" b="1" dirty="0"/>
          </a:p>
        </p:txBody>
      </p:sp>
      <p:sp>
        <p:nvSpPr>
          <p:cNvPr id="879" name="Google Shape;879;p11"/>
          <p:cNvSpPr txBox="1">
            <a:spLocks noGrp="1"/>
          </p:cNvSpPr>
          <p:nvPr>
            <p:ph type="body" idx="1"/>
          </p:nvPr>
        </p:nvSpPr>
        <p:spPr>
          <a:xfrm>
            <a:off x="254000" y="2712720"/>
            <a:ext cx="6210300" cy="143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115000"/>
              </a:lnSpc>
              <a:spcBef>
                <a:spcPts val="0"/>
              </a:spcBef>
              <a:buSzPts val="2800"/>
              <a:buNone/>
            </a:pPr>
            <a:r>
              <a:rPr lang="en-IE" sz="2400" dirty="0"/>
              <a:t>Complete the activity on Canvas to identify questionable research practices in some hypothetical research situations</a:t>
            </a:r>
          </a:p>
        </p:txBody>
      </p:sp>
    </p:spTree>
    <p:extLst>
      <p:ext uri="{BB962C8B-B14F-4D97-AF65-F5344CB8AC3E}">
        <p14:creationId xmlns:p14="http://schemas.microsoft.com/office/powerpoint/2010/main" val="2001056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7" name="Google Shape;1977;p24" descr="A group of people on a stag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89036"/>
            <a:ext cx="9144000" cy="5144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8" name="Google Shape;1978;p24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7A9ED9D3E8CD4BAE96912ACCE469BD" ma:contentTypeVersion="12" ma:contentTypeDescription="Create a new document." ma:contentTypeScope="" ma:versionID="f80677010a23df52cfc01438366570a0">
  <xsd:schema xmlns:xsd="http://www.w3.org/2001/XMLSchema" xmlns:xs="http://www.w3.org/2001/XMLSchema" xmlns:p="http://schemas.microsoft.com/office/2006/metadata/properties" xmlns:ns2="5130abf7-c696-4dd2-a42d-69c57dedb035" xmlns:ns3="b21566d2-9dd3-4288-924a-6d6f3bdc8cfa" targetNamespace="http://schemas.microsoft.com/office/2006/metadata/properties" ma:root="true" ma:fieldsID="7aa00c592e629ad83ccbe048dee05738" ns2:_="" ns3:_="">
    <xsd:import namespace="5130abf7-c696-4dd2-a42d-69c57dedb035"/>
    <xsd:import namespace="b21566d2-9dd3-4288-924a-6d6f3bdc8c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30abf7-c696-4dd2-a42d-69c57dedb0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1566d2-9dd3-4288-924a-6d6f3bdc8cf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38E19B-E5EA-43EA-87BA-610CF8EEC1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3ABA9E-58B3-4A88-9565-8404C6E34E9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22C52BB-B15E-4265-819A-6766B28288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30abf7-c696-4dd2-a42d-69c57dedb035"/>
    <ds:schemaRef ds:uri="b21566d2-9dd3-4288-924a-6d6f3bdc8c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2193</TotalTime>
  <Words>882</Words>
  <Application>Microsoft Macintosh PowerPoint</Application>
  <PresentationFormat>On-screen Show (4:3)</PresentationFormat>
  <Paragraphs>88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Arial</vt:lpstr>
      <vt:lpstr>Roboto</vt:lpstr>
      <vt:lpstr>Roboto Medium</vt:lpstr>
      <vt:lpstr>Office Theme</vt:lpstr>
      <vt:lpstr>2_Office Theme</vt:lpstr>
      <vt:lpstr>PowerPoint Presentation</vt:lpstr>
      <vt:lpstr>PowerPoint Presentation</vt:lpstr>
      <vt:lpstr>The History of Open Research</vt:lpstr>
      <vt:lpstr>The History of Open Research</vt:lpstr>
      <vt:lpstr>The History of Open Research</vt:lpstr>
      <vt:lpstr>The History of Open Research</vt:lpstr>
      <vt:lpstr>The History of Open Research</vt:lpstr>
      <vt:lpstr>The History of Open Research</vt:lpstr>
      <vt:lpstr>The History of Open Research</vt:lpstr>
      <vt:lpstr>The History of Open Research</vt:lpstr>
      <vt:lpstr>Why do researchers engage in QRPS?</vt:lpstr>
      <vt:lpstr>As a student, it can be easy to engage in QRPS</vt:lpstr>
      <vt:lpstr>The History of Open Research</vt:lpstr>
      <vt:lpstr>Did you know?</vt:lpstr>
      <vt:lpstr>The History of Open Research</vt:lpstr>
      <vt:lpstr>Activity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Orlagh O'Brien</dc:creator>
  <cp:lastModifiedBy>Matvienko-Sikar, Karen</cp:lastModifiedBy>
  <cp:revision>258</cp:revision>
  <dcterms:created xsi:type="dcterms:W3CDTF">2021-03-16T17:05:21Z</dcterms:created>
  <dcterms:modified xsi:type="dcterms:W3CDTF">2021-10-20T11:08:48Z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0x010100AA7A9ED9D3E8CD4BAE96912ACCE469BD</vt:lpwstr>
  </property>
</Properties>
</file>