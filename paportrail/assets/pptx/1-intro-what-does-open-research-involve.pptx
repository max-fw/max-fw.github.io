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  <p:sldMasterId id="2147483672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6858000" cx="9144000"/>
  <p:notesSz cx="6858000" cy="9144000"/>
  <p:embeddedFontLst>
    <p:embeddedFont>
      <p:font typeface="Roboto"/>
      <p:regular r:id="rId51"/>
      <p:bold r:id="rId52"/>
      <p:italic r:id="rId53"/>
      <p:boldItalic r:id="rId54"/>
    </p:embeddedFont>
    <p:embeddedFont>
      <p:font typeface="Roboto Medium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9" roundtripDataSignature="AMtx7mhVkn/d2kMuYPXu4L5fHP93wh5l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oboto-regular.fntdata"/><Relationship Id="rId50" Type="http://schemas.openxmlformats.org/officeDocument/2006/relationships/slide" Target="slides/slide43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4.xml"/><Relationship Id="rId55" Type="http://schemas.openxmlformats.org/officeDocument/2006/relationships/font" Target="fonts/RobotoMedium-regular.fntdata"/><Relationship Id="rId10" Type="http://schemas.openxmlformats.org/officeDocument/2006/relationships/slide" Target="slides/slide3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6.xml"/><Relationship Id="rId57" Type="http://schemas.openxmlformats.org/officeDocument/2006/relationships/font" Target="fonts/RobotoMedium-italic.fntdata"/><Relationship Id="rId12" Type="http://schemas.openxmlformats.org/officeDocument/2006/relationships/slide" Target="slides/slide5.xml"/><Relationship Id="rId56" Type="http://schemas.openxmlformats.org/officeDocument/2006/relationships/font" Target="fonts/RobotoMedium-bold.fntdata"/><Relationship Id="rId15" Type="http://schemas.openxmlformats.org/officeDocument/2006/relationships/slide" Target="slides/slide8.xml"/><Relationship Id="rId59" Type="http://customschemas.google.com/relationships/presentationmetadata" Target="metadata"/><Relationship Id="rId14" Type="http://schemas.openxmlformats.org/officeDocument/2006/relationships/slide" Target="slides/slide7.xml"/><Relationship Id="rId58" Type="http://schemas.openxmlformats.org/officeDocument/2006/relationships/font" Target="fonts/RobotoMedium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guides.library.ucsc.edu/datamanagement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dbc7ef7cb7_0_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dbc7ef7cb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Adapted from FOSTER Open Science Training Handbook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dbc7ef7cb7_0_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dbc7ef7cb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2a419c1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a2a419c17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2a419c1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a2a419c17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2a419c17e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a2a419c17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2a419c17e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a2a419c17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2a419c17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3a2a419c17e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2a419c17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g3a2a419c17e_0_2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2a419c17e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a2a419c17e_0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2a419c17e_0_2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a2a419c17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2a419c17e_0_2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a2a419c17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2a419c17e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2" name="Google Shape;512;g3a2a419c17e_0_3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a2a419c17e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g3a2a419c17e_0_4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2a419c17e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a2a419c17e_0_4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a2a419c17e_0_4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3a2a419c17e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2a419c17e_0_4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g3a2a419c17e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2a419c17e_0_4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a2a419c17e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a2a419c17e_0_5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g3a2a419c17e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2a419c17e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3" name="Google Shape;593;g3a2a419c17e_0_5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2a419c17e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9" name="Google Shape;599;g3a2a419c17e_0_6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2a419c17e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a2a419c17e_0_6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2a419c17e_0_6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a2a419c17e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2a419c17e_0_7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a2a419c17e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Adapted from: The University of California, Santa Cruz, </a:t>
            </a:r>
            <a:r>
              <a:rPr b="0" i="0" lang="en-US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Management LibGuide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Data Management Lifecycle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2a419c17e_0_7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g3a2a419c17e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a2a419c17e_0_7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g3a2a419c17e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2a419c17e_0_7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g3a2a419c17e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a2a419c17e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2" name="Google Shape;712;g3a2a419c17e_0_7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a2a419c17e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8" name="Google Shape;718;g3a2a419c17e_0_9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a2a419c17e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a2a419c17e_0_9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2a419c17e_0_9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g3a2a419c17e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a2a419c17e_0_9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g3a2a419c17e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2a419c17e_0_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5" name="Google Shape;785;g3a2a419c17e_0_9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a2a419c17e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1" name="Google Shape;791;g3a2a419c17e_0_13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a2a419c17e_0_1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a2a419c17e_0_13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a2a419c17e_0_14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g3a2a419c17e_0_1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2a419c17e_0_14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g3a2a419c17e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a2a419c17e_0_14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g3a2a419c17e_0_1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a2a419c17e_0_14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g3a2a419c17e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a2a419c17e_0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7" name="Google Shape;887;g3a2a419c17e_0_14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3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24" name="Google Shape;24;p5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55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5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5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" name="Google Shape;47;p5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5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8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9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9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2a419c17e_0_22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a2a419c17e_0_224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g3a2a419c17e_0_22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a2a419c17e_0_22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a2a419c17e_0_22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2a419c17e_0_23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a2a419c17e_0_23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a2a419c17e_0_23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a2a419c17e_0_23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4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6"/>
          <p:cNvSpPr txBox="1"/>
          <p:nvPr>
            <p:ph type="title"/>
          </p:nvPr>
        </p:nvSpPr>
        <p:spPr>
          <a:xfrm>
            <a:off x="254000" y="254001"/>
            <a:ext cx="75692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6"/>
          <p:cNvSpPr txBox="1"/>
          <p:nvPr>
            <p:ph idx="1" type="body"/>
          </p:nvPr>
        </p:nvSpPr>
        <p:spPr>
          <a:xfrm>
            <a:off x="254000" y="1209040"/>
            <a:ext cx="756920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4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5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5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5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9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8" name="Google Shape;108;p9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9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97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14" name="Google Shape;114;p9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9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9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9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98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9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98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9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9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9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9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3" name="Google Shape;133;p10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10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0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0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1" name="Google Shape;141;p10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0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0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2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02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10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0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0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3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03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0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0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0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2a419c17e_0_149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a2a419c17e_0_149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a2a419c17e_0_149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2a419c17e_0_1495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a2a419c17e_0_1495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9" name="Google Shape;169;g3a2a419c17e_0_149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a2a419c17e_0_149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a2a419c17e_0_149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2a419c17e_0_1501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a2a419c17e_0_1501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75" name="Google Shape;175;g3a2a419c17e_0_150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a2a419c17e_0_150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a2a419c17e_0_150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2a419c17e_0_150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a2a419c17e_0_1507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g3a2a419c17e_0_1507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g3a2a419c17e_0_150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a2a419c17e_0_150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3a2a419c17e_0_150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2a419c17e_0_1514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a2a419c17e_0_1514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g3a2a419c17e_0_1514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g3a2a419c17e_0_1514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0" name="Google Shape;190;g3a2a419c17e_0_1514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g3a2a419c17e_0_151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a2a419c17e_0_151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a2a419c17e_0_151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2a419c17e_0_1523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a2a419c17e_0_1523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7" name="Google Shape;197;g3a2a419c17e_0_1523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8" name="Google Shape;198;g3a2a419c17e_0_152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3a2a419c17e_0_152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g3a2a419c17e_0_152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2a419c17e_0_1530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a2a419c17e_0_1530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g3a2a419c17e_0_1530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5" name="Google Shape;205;g3a2a419c17e_0_153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g3a2a419c17e_0_153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a2a419c17e_0_153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2a419c17e_0_153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a2a419c17e_0_1537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g3a2a419c17e_0_153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a2a419c17e_0_153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a2a419c17e_0_153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2a419c17e_0_1543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g3a2a419c17e_0_1543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g3a2a419c17e_0_154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a2a419c17e_0_154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a2a419c17e_0_154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2a419c17e_0_155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3a2a419c17e_0_1556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g3a2a419c17e_0_155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g3a2a419c17e_0_155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3a2a419c17e_0_155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2a419c17e_0_156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g3a2a419c17e_0_156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3a2a419c17e_0_156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g3a2a419c17e_0_156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2a419c17e_0_1567"/>
          <p:cNvSpPr txBox="1"/>
          <p:nvPr>
            <p:ph type="title"/>
          </p:nvPr>
        </p:nvSpPr>
        <p:spPr>
          <a:xfrm>
            <a:off x="254000" y="254001"/>
            <a:ext cx="7569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g3a2a419c17e_0_1567"/>
          <p:cNvSpPr txBox="1"/>
          <p:nvPr>
            <p:ph idx="1" type="body"/>
          </p:nvPr>
        </p:nvSpPr>
        <p:spPr>
          <a:xfrm>
            <a:off x="254000" y="1209040"/>
            <a:ext cx="75693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g3a2a419c17e_0_156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g3a2a419c17e_0_156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a2a419c17e_0_156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2a419c17e_0_157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g3a2a419c17e_0_1573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g3a2a419c17e_0_1573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g3a2a419c17e_0_157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a2a419c17e_0_157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g3a2a419c17e_0_157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2a419c17e_0_1580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a2a419c17e_0_1580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4" name="Google Shape;254;g3a2a419c17e_0_158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g3a2a419c17e_0_158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g3a2a419c17e_0_158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2a419c17e_0_1586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3a2a419c17e_0_1586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260" name="Google Shape;260;g3a2a419c17e_0_158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a2a419c17e_0_158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3a2a419c17e_0_158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2a419c17e_0_1592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a2a419c17e_0_1592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6" name="Google Shape;266;g3a2a419c17e_0_1592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g3a2a419c17e_0_1592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8" name="Google Shape;268;g3a2a419c17e_0_1592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g3a2a419c17e_0_159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g3a2a419c17e_0_159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a2a419c17e_0_159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2a419c17e_0_160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g3a2a419c17e_0_160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g3a2a419c17e_0_160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2a419c17e_0_1605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g3a2a419c17e_0_1605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9" name="Google Shape;279;g3a2a419c17e_0_1605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0" name="Google Shape;280;g3a2a419c17e_0_160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g3a2a419c17e_0_160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g3a2a419c17e_0_160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2a419c17e_0_1612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g3a2a419c17e_0_1612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g3a2a419c17e_0_1612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7" name="Google Shape;287;g3a2a419c17e_0_161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g3a2a419c17e_0_161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g3a2a419c17e_0_161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2a419c17e_0_161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g3a2a419c17e_0_1619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g3a2a419c17e_0_161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g3a2a419c17e_0_161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g3a2a419c17e_0_161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2a419c17e_0_1625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g3a2a419c17e_0_1625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g3a2a419c17e_0_162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g3a2a419c17e_0_162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g3a2a419c17e_0_162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theme" Target="../theme/theme5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3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3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4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4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43"/>
          <p:cNvSpPr txBox="1"/>
          <p:nvPr/>
        </p:nvSpPr>
        <p:spPr>
          <a:xfrm>
            <a:off x="4572000" y="6344082"/>
            <a:ext cx="4428302" cy="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D- What does Open Research Involve?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2a419c17e_0_148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g3a2a419c17e_0_1485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g3a2a419c17e_0_148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g3a2a419c17e_0_148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g3a2a419c17e_0_148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2a419c17e_0_154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g3a2a419c17e_0_1549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g3a2a419c17e_0_154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g3a2a419c17e_0_154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g3a2a419c17e_0_154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g3a2a419c17e_0_1549"/>
          <p:cNvSpPr txBox="1"/>
          <p:nvPr/>
        </p:nvSpPr>
        <p:spPr>
          <a:xfrm>
            <a:off x="4572000" y="6344082"/>
            <a:ext cx="442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D- What does Open Research Involve?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46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60.png"/><Relationship Id="rId8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48.png"/><Relationship Id="rId6" Type="http://schemas.openxmlformats.org/officeDocument/2006/relationships/image" Target="../media/image6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55.png"/><Relationship Id="rId5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Relationship Id="rId4" Type="http://schemas.openxmlformats.org/officeDocument/2006/relationships/image" Target="../media/image79.png"/><Relationship Id="rId5" Type="http://schemas.openxmlformats.org/officeDocument/2006/relationships/image" Target="../media/image6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9.png"/><Relationship Id="rId4" Type="http://schemas.openxmlformats.org/officeDocument/2006/relationships/image" Target="../media/image54.png"/><Relationship Id="rId5" Type="http://schemas.openxmlformats.org/officeDocument/2006/relationships/image" Target="../media/image99.png"/><Relationship Id="rId6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8.png"/><Relationship Id="rId4" Type="http://schemas.openxmlformats.org/officeDocument/2006/relationships/image" Target="../media/image10.png"/><Relationship Id="rId5" Type="http://schemas.openxmlformats.org/officeDocument/2006/relationships/image" Target="../media/image9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6.png"/><Relationship Id="rId4" Type="http://schemas.openxmlformats.org/officeDocument/2006/relationships/image" Target="../media/image5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6.png"/><Relationship Id="rId4" Type="http://schemas.openxmlformats.org/officeDocument/2006/relationships/image" Target="../media/image56.png"/><Relationship Id="rId5" Type="http://schemas.openxmlformats.org/officeDocument/2006/relationships/image" Target="../media/image10.png"/><Relationship Id="rId6" Type="http://schemas.openxmlformats.org/officeDocument/2006/relationships/image" Target="../media/image9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8.png"/><Relationship Id="rId4" Type="http://schemas.openxmlformats.org/officeDocument/2006/relationships/image" Target="../media/image19.png"/><Relationship Id="rId5" Type="http://schemas.openxmlformats.org/officeDocument/2006/relationships/image" Target="../media/image95.png"/></Relationships>
</file>

<file path=ppt/slides/_rels/slide34.xml.rels><?xml version="1.0" encoding="UTF-8" standalone="yes"?><Relationships xmlns="http://schemas.openxmlformats.org/package/2006/relationships"><Relationship Id="rId10" Type="http://schemas.openxmlformats.org/officeDocument/2006/relationships/image" Target="../media/image38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9" Type="http://schemas.openxmlformats.org/officeDocument/2006/relationships/image" Target="../media/image48.png"/><Relationship Id="rId5" Type="http://schemas.openxmlformats.org/officeDocument/2006/relationships/image" Target="../media/image75.png"/><Relationship Id="rId6" Type="http://schemas.openxmlformats.org/officeDocument/2006/relationships/image" Target="../media/image88.png"/><Relationship Id="rId7" Type="http://schemas.openxmlformats.org/officeDocument/2006/relationships/image" Target="../media/image54.png"/><Relationship Id="rId8" Type="http://schemas.openxmlformats.org/officeDocument/2006/relationships/image" Target="../media/image6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9.png"/><Relationship Id="rId4" Type="http://schemas.openxmlformats.org/officeDocument/2006/relationships/image" Target="../media/image5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Relationship Id="rId4" Type="http://schemas.openxmlformats.org/officeDocument/2006/relationships/image" Target="../media/image10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5.png"/><Relationship Id="rId4" Type="http://schemas.openxmlformats.org/officeDocument/2006/relationships/image" Target="../media/image100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95.png"/><Relationship Id="rId8" Type="http://schemas.openxmlformats.org/officeDocument/2006/relationships/image" Target="../media/image10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2.png"/><Relationship Id="rId4" Type="http://schemas.openxmlformats.org/officeDocument/2006/relationships/image" Target="../media/image5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06" name="Google Shape;306;p1"/>
          <p:cNvPicPr preferRelativeResize="0"/>
          <p:nvPr/>
        </p:nvPicPr>
        <p:blipFill rotWithShape="1">
          <a:blip r:embed="rId3">
            <a:alphaModFix/>
          </a:blip>
          <a:srcRect b="11539" l="33076" r="0" t="0"/>
          <a:stretch/>
        </p:blipFill>
        <p:spPr>
          <a:xfrm>
            <a:off x="2150534" y="0"/>
            <a:ext cx="6993466" cy="6933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07" name="Google Shape;30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"/>
          <p:cNvSpPr txBox="1"/>
          <p:nvPr/>
        </p:nvSpPr>
        <p:spPr>
          <a:xfrm>
            <a:off x="364243" y="1660140"/>
            <a:ext cx="3697118" cy="90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1"/>
          <p:cNvSpPr txBox="1"/>
          <p:nvPr/>
        </p:nvSpPr>
        <p:spPr>
          <a:xfrm>
            <a:off x="364243" y="2450863"/>
            <a:ext cx="4465334" cy="126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7"/>
          <p:cNvGrpSpPr/>
          <p:nvPr/>
        </p:nvGrpSpPr>
        <p:grpSpPr>
          <a:xfrm>
            <a:off x="2734200" y="1555200"/>
            <a:ext cx="3675600" cy="3747600"/>
            <a:chOff x="3498271" y="3484250"/>
            <a:chExt cx="2130632" cy="2122883"/>
          </a:xfrm>
        </p:grpSpPr>
        <p:pic>
          <p:nvPicPr>
            <p:cNvPr descr="A picture containing icon&#10;&#10;Description automatically generated" id="315" name="Google Shape;31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10146" y="3488376"/>
              <a:ext cx="2118757" cy="2118757"/>
            </a:xfrm>
            <a:prstGeom prst="rect">
              <a:avLst/>
            </a:prstGeom>
            <a:noFill/>
            <a:ln>
              <a:noFill/>
            </a:ln>
            <a:effectLst>
              <a:outerShdw blurRad="254000" sx="101000" rotWithShape="0" algn="tl" dir="2700000" dist="127000" sy="101000">
                <a:srgbClr val="000000">
                  <a:alpha val="15686"/>
                </a:srgbClr>
              </a:outerShdw>
            </a:effectLst>
          </p:spPr>
        </p:pic>
        <p:sp>
          <p:nvSpPr>
            <p:cNvPr id="316" name="Google Shape;316;p17"/>
            <p:cNvSpPr txBox="1"/>
            <p:nvPr/>
          </p:nvSpPr>
          <p:spPr>
            <a:xfrm>
              <a:off x="3498271" y="3484250"/>
              <a:ext cx="2118900" cy="575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76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What does Open Research Involve?</a:t>
              </a:r>
              <a:endParaRPr b="0" i="0" sz="24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dbc7ef7cb7_0_115"/>
          <p:cNvSpPr txBox="1"/>
          <p:nvPr/>
        </p:nvSpPr>
        <p:spPr>
          <a:xfrm>
            <a:off x="254000" y="986014"/>
            <a:ext cx="8625900" cy="490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that you have a sense of what open research is about in terms of the principles of open research, we will provide an introduction to using open research practices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dbc7ef7cb7_0_11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Open Research Practices</a:t>
            </a:r>
            <a:endParaRPr b="1" sz="2400"/>
          </a:p>
        </p:txBody>
      </p:sp>
      <p:grpSp>
        <p:nvGrpSpPr>
          <p:cNvPr id="323" name="Google Shape;323;gdbc7ef7cb7_0_115"/>
          <p:cNvGrpSpPr/>
          <p:nvPr/>
        </p:nvGrpSpPr>
        <p:grpSpPr>
          <a:xfrm>
            <a:off x="505473" y="2508501"/>
            <a:ext cx="8133055" cy="3229200"/>
            <a:chOff x="453733" y="2508501"/>
            <a:chExt cx="8133055" cy="3229200"/>
          </a:xfrm>
        </p:grpSpPr>
        <p:sp>
          <p:nvSpPr>
            <p:cNvPr id="324" name="Google Shape;324;gdbc7ef7cb7_0_115"/>
            <p:cNvSpPr/>
            <p:nvPr/>
          </p:nvSpPr>
          <p:spPr>
            <a:xfrm>
              <a:off x="3912000" y="3281014"/>
              <a:ext cx="1320000" cy="12972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A1DFF5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CFEFF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gdbc7ef7cb7_0_115"/>
            <p:cNvSpPr/>
            <p:nvPr/>
          </p:nvSpPr>
          <p:spPr>
            <a:xfrm>
              <a:off x="453733" y="2508501"/>
              <a:ext cx="3229200" cy="32292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gdbc7ef7cb7_0_115"/>
            <p:cNvSpPr txBox="1"/>
            <p:nvPr/>
          </p:nvSpPr>
          <p:spPr>
            <a:xfrm>
              <a:off x="842704" y="3174400"/>
              <a:ext cx="2451259" cy="1897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100"/>
                <a:buFont typeface="Roboto"/>
                <a:buNone/>
              </a:pPr>
              <a:r>
                <a:rPr b="1" i="0" lang="en-US" sz="2200" u="none" cap="none" strike="noStrik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Principles</a:t>
              </a:r>
              <a:endParaRPr b="0" i="0" sz="2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1" i="0" sz="5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508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Transparency</a:t>
              </a:r>
              <a:endPara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508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Reproducibility</a:t>
              </a:r>
              <a:endPara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508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Accountability</a:t>
              </a:r>
              <a:endPara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508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Collaboration</a:t>
              </a:r>
              <a:endPara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508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Societal engagement </a:t>
              </a:r>
              <a:endParaRPr b="0"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7" name="Google Shape;327;gdbc7ef7cb7_0_115"/>
            <p:cNvSpPr/>
            <p:nvPr/>
          </p:nvSpPr>
          <p:spPr>
            <a:xfrm>
              <a:off x="5363066" y="2508501"/>
              <a:ext cx="3223722" cy="32292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gdbc7ef7cb7_0_115"/>
            <p:cNvSpPr txBox="1"/>
            <p:nvPr/>
          </p:nvSpPr>
          <p:spPr>
            <a:xfrm>
              <a:off x="5749298" y="2908943"/>
              <a:ext cx="2451259" cy="2428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Practices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Research Integrity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Pre-registration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Reproducible practices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Research data management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Open reporting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Knowledge dissemination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dbc7ef7cb7_0_12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Open Research Practices</a:t>
            </a:r>
            <a:endParaRPr b="1" sz="2000"/>
          </a:p>
        </p:txBody>
      </p:sp>
      <p:sp>
        <p:nvSpPr>
          <p:cNvPr id="334" name="Google Shape;334;gdbc7ef7cb7_0_127"/>
          <p:cNvSpPr txBox="1"/>
          <p:nvPr>
            <p:ph idx="4294967295" type="body"/>
          </p:nvPr>
        </p:nvSpPr>
        <p:spPr>
          <a:xfrm>
            <a:off x="264100" y="1056501"/>
            <a:ext cx="7711500" cy="4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</a:rPr>
              <a:t>Open research practices, or methods are relevant at all stages of the research process, including: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4445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Research planning</a:t>
            </a:r>
            <a:endParaRPr sz="2000">
              <a:solidFill>
                <a:srgbClr val="000000"/>
              </a:solidFill>
            </a:endParaRPr>
          </a:p>
          <a:p>
            <a:pPr indent="-4445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Data collection</a:t>
            </a:r>
            <a:endParaRPr sz="2000">
              <a:solidFill>
                <a:srgbClr val="000000"/>
              </a:solidFill>
            </a:endParaRPr>
          </a:p>
          <a:p>
            <a:pPr indent="-4445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Data analysis</a:t>
            </a:r>
            <a:endParaRPr sz="2000">
              <a:solidFill>
                <a:srgbClr val="000000"/>
              </a:solidFill>
            </a:endParaRPr>
          </a:p>
          <a:p>
            <a:pPr indent="-4445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Writing up and publishing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findings</a:t>
            </a:r>
            <a:endParaRPr sz="2000">
              <a:solidFill>
                <a:srgbClr val="000000"/>
              </a:solidFill>
            </a:endParaRPr>
          </a:p>
          <a:p>
            <a:pPr indent="-4445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Disseminating and sharing 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your research</a:t>
            </a:r>
            <a:endParaRPr b="1" sz="2000"/>
          </a:p>
        </p:txBody>
      </p:sp>
      <p:grpSp>
        <p:nvGrpSpPr>
          <p:cNvPr id="335" name="Google Shape;335;gdbc7ef7cb7_0_127"/>
          <p:cNvGrpSpPr/>
          <p:nvPr/>
        </p:nvGrpSpPr>
        <p:grpSpPr>
          <a:xfrm>
            <a:off x="4976735" y="2060938"/>
            <a:ext cx="3701945" cy="3500411"/>
            <a:chOff x="5315874" y="2120900"/>
            <a:chExt cx="3332825" cy="3145600"/>
          </a:xfrm>
        </p:grpSpPr>
        <p:sp>
          <p:nvSpPr>
            <p:cNvPr id="336" name="Google Shape;336;gdbc7ef7cb7_0_127"/>
            <p:cNvSpPr/>
            <p:nvPr/>
          </p:nvSpPr>
          <p:spPr>
            <a:xfrm>
              <a:off x="5315874" y="2120900"/>
              <a:ext cx="3332825" cy="3145600"/>
            </a:xfrm>
            <a:prstGeom prst="rect">
              <a:avLst/>
            </a:prstGeom>
            <a:solidFill>
              <a:srgbClr val="CFEF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iagram&#10;&#10;Description automatically generated" id="337" name="Google Shape;337;gdbc7ef7cb7_0_127"/>
            <p:cNvPicPr preferRelativeResize="0"/>
            <p:nvPr/>
          </p:nvPicPr>
          <p:blipFill rotWithShape="1">
            <a:blip r:embed="rId3">
              <a:alphaModFix/>
            </a:blip>
            <a:srcRect b="12959" l="18533" r="19439" t="0"/>
            <a:stretch/>
          </p:blipFill>
          <p:spPr>
            <a:xfrm>
              <a:off x="5507937" y="2120901"/>
              <a:ext cx="2948698" cy="31455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10"/>
          <p:cNvPicPr preferRelativeResize="0"/>
          <p:nvPr/>
        </p:nvPicPr>
        <p:blipFill rotWithShape="1">
          <a:blip r:embed="rId3">
            <a:alphaModFix/>
          </a:blip>
          <a:srcRect b="22774" l="0" r="57745" t="19710"/>
          <a:stretch/>
        </p:blipFill>
        <p:spPr>
          <a:xfrm flipH="1">
            <a:off x="2586037" y="282576"/>
            <a:ext cx="5125919" cy="4464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silhouette, vector graphics&#10;&#10;Description automatically generated" id="343" name="Google Shape;3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959" y="2826942"/>
            <a:ext cx="2940155" cy="341153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 txBox="1"/>
          <p:nvPr/>
        </p:nvSpPr>
        <p:spPr>
          <a:xfrm>
            <a:off x="3529054" y="1426572"/>
            <a:ext cx="3593105" cy="2514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of the open research practices introduced here are discussed in the next sections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349" name="Google Shape;3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50" name="Google Shape;3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55" name="Google Shape;355;g3a2a419c17e_0_0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56" name="Google Shape;356;g3a2a419c17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a2a419c17e_0_0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g3a2a419c17e_0_0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2a419c17e_0_7"/>
          <p:cNvSpPr txBox="1"/>
          <p:nvPr>
            <p:ph type="title"/>
          </p:nvPr>
        </p:nvSpPr>
        <p:spPr>
          <a:xfrm>
            <a:off x="2755900" y="2372350"/>
            <a:ext cx="36321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Research Integrity</a:t>
            </a:r>
            <a:endParaRPr/>
          </a:p>
        </p:txBody>
      </p:sp>
      <p:pic>
        <p:nvPicPr>
          <p:cNvPr descr="Logo&#10;&#10;Description automatically generated" id="364" name="Google Shape;364;g3a2a419c17e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7913" y="2372350"/>
            <a:ext cx="3251200" cy="3785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365" name="Google Shape;365;g3a2a419c17e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8254" y="1759267"/>
            <a:ext cx="2588559" cy="4398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2a419c17e_0_1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Guiding Principles of Research Integrity</a:t>
            </a:r>
            <a:endParaRPr b="1" sz="2400"/>
          </a:p>
        </p:txBody>
      </p:sp>
      <p:sp>
        <p:nvSpPr>
          <p:cNvPr id="371" name="Google Shape;371;g3a2a419c17e_0_13"/>
          <p:cNvSpPr txBox="1"/>
          <p:nvPr>
            <p:ph idx="4294967295" type="body"/>
          </p:nvPr>
        </p:nvSpPr>
        <p:spPr>
          <a:xfrm>
            <a:off x="254000" y="849454"/>
            <a:ext cx="8389500" cy="11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200">
                <a:solidFill>
                  <a:srgbClr val="000000"/>
                </a:solidFill>
              </a:rPr>
              <a:t>Research integrity involves making honest and responsible decisions at all stages of the research cycle. It prioritises:</a:t>
            </a:r>
            <a:endParaRPr b="1" sz="2200"/>
          </a:p>
        </p:txBody>
      </p:sp>
      <p:grpSp>
        <p:nvGrpSpPr>
          <p:cNvPr id="372" name="Google Shape;372;g3a2a419c17e_0_13"/>
          <p:cNvGrpSpPr/>
          <p:nvPr/>
        </p:nvGrpSpPr>
        <p:grpSpPr>
          <a:xfrm>
            <a:off x="1363334" y="1940900"/>
            <a:ext cx="6417389" cy="3966691"/>
            <a:chOff x="1185910" y="1940900"/>
            <a:chExt cx="6417389" cy="3966691"/>
          </a:xfrm>
        </p:grpSpPr>
        <p:grpSp>
          <p:nvGrpSpPr>
            <p:cNvPr id="373" name="Google Shape;373;g3a2a419c17e_0_13"/>
            <p:cNvGrpSpPr/>
            <p:nvPr/>
          </p:nvGrpSpPr>
          <p:grpSpPr>
            <a:xfrm>
              <a:off x="1205755" y="4050397"/>
              <a:ext cx="6379660" cy="802451"/>
              <a:chOff x="503526" y="3959821"/>
              <a:chExt cx="6036771" cy="761700"/>
            </a:xfrm>
          </p:grpSpPr>
          <p:grpSp>
            <p:nvGrpSpPr>
              <p:cNvPr id="374" name="Google Shape;374;g3a2a419c17e_0_13"/>
              <p:cNvGrpSpPr/>
              <p:nvPr/>
            </p:nvGrpSpPr>
            <p:grpSpPr>
              <a:xfrm>
                <a:off x="584320" y="3959821"/>
                <a:ext cx="5955977" cy="761700"/>
                <a:chOff x="620039" y="3959821"/>
                <a:chExt cx="5549736" cy="761700"/>
              </a:xfrm>
            </p:grpSpPr>
            <p:sp>
              <p:nvSpPr>
                <p:cNvPr id="375" name="Google Shape;375;g3a2a419c17e_0_13"/>
                <p:cNvSpPr/>
                <p:nvPr/>
              </p:nvSpPr>
              <p:spPr>
                <a:xfrm>
                  <a:off x="1390475" y="3959821"/>
                  <a:ext cx="4779300" cy="761700"/>
                </a:xfrm>
                <a:prstGeom prst="rect">
                  <a:avLst/>
                </a:prstGeom>
                <a:solidFill>
                  <a:srgbClr val="CFEFFA"/>
                </a:solidFill>
                <a:ln cap="flat" cmpd="sng" w="25400">
                  <a:solidFill>
                    <a:srgbClr val="CFEFF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g3a2a419c17e_0_13"/>
                <p:cNvSpPr/>
                <p:nvPr/>
              </p:nvSpPr>
              <p:spPr>
                <a:xfrm>
                  <a:off x="620039" y="3971706"/>
                  <a:ext cx="1422600" cy="7377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 cap="flat" cmpd="sng" w="254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77" name="Google Shape;377;g3a2a419c17e_0_13"/>
              <p:cNvSpPr txBox="1"/>
              <p:nvPr/>
            </p:nvSpPr>
            <p:spPr>
              <a:xfrm>
                <a:off x="503526" y="4125257"/>
                <a:ext cx="1655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Respect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78" name="Google Shape;378;g3a2a419c17e_0_13"/>
              <p:cNvSpPr txBox="1"/>
              <p:nvPr/>
            </p:nvSpPr>
            <p:spPr>
              <a:xfrm>
                <a:off x="2199928" y="4002146"/>
                <a:ext cx="4175400" cy="6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For research participants, colleagues, society, culture, and the environment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79" name="Google Shape;379;g3a2a419c17e_0_13"/>
            <p:cNvGrpSpPr/>
            <p:nvPr/>
          </p:nvGrpSpPr>
          <p:grpSpPr>
            <a:xfrm>
              <a:off x="1234759" y="5105140"/>
              <a:ext cx="6324924" cy="802451"/>
              <a:chOff x="555615" y="5156079"/>
              <a:chExt cx="5984977" cy="761700"/>
            </a:xfrm>
          </p:grpSpPr>
          <p:sp>
            <p:nvSpPr>
              <p:cNvPr id="380" name="Google Shape;380;g3a2a419c17e_0_13"/>
              <p:cNvSpPr/>
              <p:nvPr/>
            </p:nvSpPr>
            <p:spPr>
              <a:xfrm>
                <a:off x="1411192" y="5156079"/>
                <a:ext cx="51294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g3a2a419c17e_0_13"/>
              <p:cNvSpPr/>
              <p:nvPr/>
            </p:nvSpPr>
            <p:spPr>
              <a:xfrm>
                <a:off x="584338" y="5167964"/>
                <a:ext cx="1527000" cy="7377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g3a2a419c17e_0_13"/>
              <p:cNvSpPr txBox="1"/>
              <p:nvPr/>
            </p:nvSpPr>
            <p:spPr>
              <a:xfrm>
                <a:off x="555615" y="5334616"/>
                <a:ext cx="15843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Accountability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83" name="Google Shape;383;g3a2a419c17e_0_13"/>
              <p:cNvSpPr txBox="1"/>
              <p:nvPr/>
            </p:nvSpPr>
            <p:spPr>
              <a:xfrm>
                <a:off x="2199928" y="5198404"/>
                <a:ext cx="4175400" cy="6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For the research, its management, and for wider impacts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84" name="Google Shape;384;g3a2a419c17e_0_13"/>
            <p:cNvGrpSpPr/>
            <p:nvPr/>
          </p:nvGrpSpPr>
          <p:grpSpPr>
            <a:xfrm>
              <a:off x="1214880" y="2995648"/>
              <a:ext cx="6362340" cy="802451"/>
              <a:chOff x="519915" y="2997329"/>
              <a:chExt cx="6020382" cy="761700"/>
            </a:xfrm>
          </p:grpSpPr>
          <p:grpSp>
            <p:nvGrpSpPr>
              <p:cNvPr id="385" name="Google Shape;385;g3a2a419c17e_0_13"/>
              <p:cNvGrpSpPr/>
              <p:nvPr/>
            </p:nvGrpSpPr>
            <p:grpSpPr>
              <a:xfrm>
                <a:off x="584320" y="2997329"/>
                <a:ext cx="5955977" cy="761700"/>
                <a:chOff x="584320" y="2628367"/>
                <a:chExt cx="5955977" cy="761700"/>
              </a:xfrm>
            </p:grpSpPr>
            <p:grpSp>
              <p:nvGrpSpPr>
                <p:cNvPr id="386" name="Google Shape;386;g3a2a419c17e_0_13"/>
                <p:cNvGrpSpPr/>
                <p:nvPr/>
              </p:nvGrpSpPr>
              <p:grpSpPr>
                <a:xfrm>
                  <a:off x="584320" y="2628367"/>
                  <a:ext cx="5955977" cy="761700"/>
                  <a:chOff x="620039" y="2628367"/>
                  <a:chExt cx="5549736" cy="761700"/>
                </a:xfrm>
              </p:grpSpPr>
              <p:sp>
                <p:nvSpPr>
                  <p:cNvPr id="387" name="Google Shape;387;g3a2a419c17e_0_13"/>
                  <p:cNvSpPr/>
                  <p:nvPr/>
                </p:nvSpPr>
                <p:spPr>
                  <a:xfrm>
                    <a:off x="1390475" y="2628367"/>
                    <a:ext cx="4779300" cy="761700"/>
                  </a:xfrm>
                  <a:prstGeom prst="rect">
                    <a:avLst/>
                  </a:prstGeom>
                  <a:solidFill>
                    <a:srgbClr val="CFEFFA"/>
                  </a:solidFill>
                  <a:ln cap="flat" cmpd="sng" w="25400">
                    <a:solidFill>
                      <a:srgbClr val="CFEFF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8" name="Google Shape;388;g3a2a419c17e_0_13"/>
                  <p:cNvSpPr/>
                  <p:nvPr/>
                </p:nvSpPr>
                <p:spPr>
                  <a:xfrm>
                    <a:off x="620039" y="2640252"/>
                    <a:ext cx="1422600" cy="737700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chemeClr val="accent1"/>
                  </a:solidFill>
                  <a:ln cap="flat" cmpd="sng" w="2540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89" name="Google Shape;389;g3a2a419c17e_0_13"/>
                <p:cNvSpPr txBox="1"/>
                <p:nvPr/>
              </p:nvSpPr>
              <p:spPr>
                <a:xfrm>
                  <a:off x="2199928" y="2670692"/>
                  <a:ext cx="4276500" cy="6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Developing, conducting, sharing &amp; engaging </a:t>
                  </a:r>
                  <a:b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</a:b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with research in fair, transparent ways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390" name="Google Shape;390;g3a2a419c17e_0_13"/>
              <p:cNvSpPr txBox="1"/>
              <p:nvPr/>
            </p:nvSpPr>
            <p:spPr>
              <a:xfrm>
                <a:off x="519915" y="3167961"/>
                <a:ext cx="1655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Honesty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91" name="Google Shape;391;g3a2a419c17e_0_13"/>
            <p:cNvGrpSpPr/>
            <p:nvPr/>
          </p:nvGrpSpPr>
          <p:grpSpPr>
            <a:xfrm>
              <a:off x="1185910" y="1940900"/>
              <a:ext cx="6417389" cy="802451"/>
              <a:chOff x="1572725" y="1991758"/>
              <a:chExt cx="6072473" cy="761700"/>
            </a:xfrm>
          </p:grpSpPr>
          <p:grpSp>
            <p:nvGrpSpPr>
              <p:cNvPr id="392" name="Google Shape;392;g3a2a419c17e_0_13"/>
              <p:cNvGrpSpPr/>
              <p:nvPr/>
            </p:nvGrpSpPr>
            <p:grpSpPr>
              <a:xfrm>
                <a:off x="1689221" y="1991758"/>
                <a:ext cx="5955977" cy="761700"/>
                <a:chOff x="584338" y="1737976"/>
                <a:chExt cx="5549736" cy="761700"/>
              </a:xfrm>
            </p:grpSpPr>
            <p:sp>
              <p:nvSpPr>
                <p:cNvPr id="393" name="Google Shape;393;g3a2a419c17e_0_13"/>
                <p:cNvSpPr/>
                <p:nvPr/>
              </p:nvSpPr>
              <p:spPr>
                <a:xfrm>
                  <a:off x="1354774" y="1737976"/>
                  <a:ext cx="4779300" cy="761700"/>
                </a:xfrm>
                <a:prstGeom prst="rect">
                  <a:avLst/>
                </a:prstGeom>
                <a:solidFill>
                  <a:srgbClr val="CFEFFA"/>
                </a:solidFill>
                <a:ln cap="flat" cmpd="sng" w="25400">
                  <a:solidFill>
                    <a:srgbClr val="CFEFF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g3a2a419c17e_0_13"/>
                <p:cNvSpPr/>
                <p:nvPr/>
              </p:nvSpPr>
              <p:spPr>
                <a:xfrm>
                  <a:off x="584338" y="1749861"/>
                  <a:ext cx="1422600" cy="7377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 cap="flat" cmpd="sng" w="254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" name="Google Shape;395;g3a2a419c17e_0_13"/>
              <p:cNvSpPr txBox="1"/>
              <p:nvPr/>
            </p:nvSpPr>
            <p:spPr>
              <a:xfrm>
                <a:off x="3304828" y="2039478"/>
                <a:ext cx="3919800" cy="6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Ensuring quality of research at all  stages </a:t>
                </a:r>
                <a:b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of the research process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6" name="Google Shape;396;g3a2a419c17e_0_13"/>
              <p:cNvSpPr txBox="1"/>
              <p:nvPr/>
            </p:nvSpPr>
            <p:spPr>
              <a:xfrm>
                <a:off x="1572725" y="2157194"/>
                <a:ext cx="1655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Reliability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2a419c17e_0_4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Research Integrity</a:t>
            </a:r>
            <a:endParaRPr b="1" sz="2400"/>
          </a:p>
        </p:txBody>
      </p:sp>
      <p:grpSp>
        <p:nvGrpSpPr>
          <p:cNvPr id="402" name="Google Shape;402;g3a2a419c17e_0_43"/>
          <p:cNvGrpSpPr/>
          <p:nvPr/>
        </p:nvGrpSpPr>
        <p:grpSpPr>
          <a:xfrm>
            <a:off x="479713" y="2202413"/>
            <a:ext cx="3508200" cy="2453174"/>
            <a:chOff x="479713" y="2892400"/>
            <a:chExt cx="3508200" cy="2453174"/>
          </a:xfrm>
        </p:grpSpPr>
        <p:pic>
          <p:nvPicPr>
            <p:cNvPr id="403" name="Google Shape;403;g3a2a419c17e_0_43"/>
            <p:cNvPicPr preferRelativeResize="0"/>
            <p:nvPr/>
          </p:nvPicPr>
          <p:blipFill rotWithShape="1">
            <a:blip r:embed="rId3">
              <a:alphaModFix/>
            </a:blip>
            <a:srcRect b="20828" l="0" r="59329" t="23585"/>
            <a:stretch/>
          </p:blipFill>
          <p:spPr>
            <a:xfrm>
              <a:off x="479713" y="2892400"/>
              <a:ext cx="3508200" cy="2453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g3a2a419c17e_0_43"/>
            <p:cNvSpPr txBox="1"/>
            <p:nvPr/>
          </p:nvSpPr>
          <p:spPr>
            <a:xfrm>
              <a:off x="1041624" y="3326820"/>
              <a:ext cx="23844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Why is research integrity important?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5" name="Google Shape;405;g3a2a419c17e_0_43"/>
          <p:cNvGrpSpPr/>
          <p:nvPr/>
        </p:nvGrpSpPr>
        <p:grpSpPr>
          <a:xfrm>
            <a:off x="4255677" y="1518754"/>
            <a:ext cx="4386204" cy="3820465"/>
            <a:chOff x="4255677" y="1693206"/>
            <a:chExt cx="4386204" cy="3820465"/>
          </a:xfrm>
        </p:grpSpPr>
        <p:grpSp>
          <p:nvGrpSpPr>
            <p:cNvPr id="406" name="Google Shape;406;g3a2a419c17e_0_43"/>
            <p:cNvGrpSpPr/>
            <p:nvPr/>
          </p:nvGrpSpPr>
          <p:grpSpPr>
            <a:xfrm>
              <a:off x="4255677" y="1693206"/>
              <a:ext cx="4358700" cy="761700"/>
              <a:chOff x="3845579" y="1693206"/>
              <a:chExt cx="4358700" cy="761700"/>
            </a:xfrm>
          </p:grpSpPr>
          <p:grpSp>
            <p:nvGrpSpPr>
              <p:cNvPr id="407" name="Google Shape;407;g3a2a419c17e_0_43"/>
              <p:cNvGrpSpPr/>
              <p:nvPr/>
            </p:nvGrpSpPr>
            <p:grpSpPr>
              <a:xfrm>
                <a:off x="3845579" y="1693206"/>
                <a:ext cx="4358700" cy="761700"/>
                <a:chOff x="3845579" y="1693206"/>
                <a:chExt cx="4358700" cy="761700"/>
              </a:xfrm>
            </p:grpSpPr>
            <p:sp>
              <p:nvSpPr>
                <p:cNvPr id="408" name="Google Shape;408;g3a2a419c17e_0_43"/>
                <p:cNvSpPr/>
                <p:nvPr/>
              </p:nvSpPr>
              <p:spPr>
                <a:xfrm>
                  <a:off x="3845579" y="1693206"/>
                  <a:ext cx="4358700" cy="761700"/>
                </a:xfrm>
                <a:prstGeom prst="rect">
                  <a:avLst/>
                </a:prstGeom>
                <a:solidFill>
                  <a:srgbClr val="CFEFFA"/>
                </a:solidFill>
                <a:ln cap="flat" cmpd="sng" w="25400">
                  <a:solidFill>
                    <a:srgbClr val="CFEFF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g3a2a419c17e_0_43"/>
                <p:cNvSpPr txBox="1"/>
                <p:nvPr/>
              </p:nvSpPr>
              <p:spPr>
                <a:xfrm>
                  <a:off x="4575083" y="1735531"/>
                  <a:ext cx="3508200" cy="6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It reduces the likelihood of research misconduct </a:t>
                  </a:r>
                  <a:endParaRPr b="0" i="0" sz="1600" u="none" cap="none" strike="noStrike">
                    <a:solidFill>
                      <a:srgbClr val="000000"/>
                    </a:solidFill>
                    <a:highlight>
                      <a:srgbClr val="CFEFFA"/>
                    </a:highlight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410" name="Google Shape;410;g3a2a419c17e_0_43"/>
              <p:cNvGrpSpPr/>
              <p:nvPr/>
            </p:nvGrpSpPr>
            <p:grpSpPr>
              <a:xfrm>
                <a:off x="3845579" y="1693206"/>
                <a:ext cx="699900" cy="749400"/>
                <a:chOff x="3845579" y="1693206"/>
                <a:chExt cx="699900" cy="749400"/>
              </a:xfrm>
            </p:grpSpPr>
            <p:sp>
              <p:nvSpPr>
                <p:cNvPr id="411" name="Google Shape;411;g3a2a419c17e_0_43"/>
                <p:cNvSpPr/>
                <p:nvPr/>
              </p:nvSpPr>
              <p:spPr>
                <a:xfrm>
                  <a:off x="3845579" y="1693206"/>
                  <a:ext cx="699900" cy="7494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 cap="flat" cmpd="sng" w="254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" name="Google Shape;412;g3a2a419c17e_0_43"/>
                <p:cNvSpPr txBox="1"/>
                <p:nvPr/>
              </p:nvSpPr>
              <p:spPr>
                <a:xfrm>
                  <a:off x="4057729" y="1837080"/>
                  <a:ext cx="275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1" i="0" lang="en-US" sz="1800" u="none" cap="none" strike="noStrike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1</a:t>
                  </a:r>
                  <a:endParaRPr b="1" i="0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grpSp>
          <p:nvGrpSpPr>
            <p:cNvPr id="413" name="Google Shape;413;g3a2a419c17e_0_43"/>
            <p:cNvGrpSpPr/>
            <p:nvPr/>
          </p:nvGrpSpPr>
          <p:grpSpPr>
            <a:xfrm>
              <a:off x="4255677" y="2712794"/>
              <a:ext cx="4358700" cy="761700"/>
              <a:chOff x="3916746" y="2634212"/>
              <a:chExt cx="4358700" cy="761700"/>
            </a:xfrm>
          </p:grpSpPr>
          <p:sp>
            <p:nvSpPr>
              <p:cNvPr id="414" name="Google Shape;414;g3a2a419c17e_0_43"/>
              <p:cNvSpPr/>
              <p:nvPr/>
            </p:nvSpPr>
            <p:spPr>
              <a:xfrm>
                <a:off x="3916746" y="2634212"/>
                <a:ext cx="43587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g3a2a419c17e_0_43"/>
              <p:cNvSpPr/>
              <p:nvPr/>
            </p:nvSpPr>
            <p:spPr>
              <a:xfrm>
                <a:off x="3916746" y="2634212"/>
                <a:ext cx="699900" cy="7494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g3a2a419c17e_0_43"/>
              <p:cNvSpPr txBox="1"/>
              <p:nvPr/>
            </p:nvSpPr>
            <p:spPr>
              <a:xfrm>
                <a:off x="4646250" y="2680796"/>
                <a:ext cx="35082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ensures the validity of research results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7" name="Google Shape;417;g3a2a419c17e_0_43"/>
              <p:cNvSpPr txBox="1"/>
              <p:nvPr/>
            </p:nvSpPr>
            <p:spPr>
              <a:xfrm>
                <a:off x="4128896" y="2778086"/>
                <a:ext cx="275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18" name="Google Shape;418;g3a2a419c17e_0_43"/>
            <p:cNvGrpSpPr/>
            <p:nvPr/>
          </p:nvGrpSpPr>
          <p:grpSpPr>
            <a:xfrm>
              <a:off x="4255677" y="3732382"/>
              <a:ext cx="4358700" cy="761700"/>
              <a:chOff x="3870079" y="3689490"/>
              <a:chExt cx="4358700" cy="761700"/>
            </a:xfrm>
          </p:grpSpPr>
          <p:sp>
            <p:nvSpPr>
              <p:cNvPr id="419" name="Google Shape;419;g3a2a419c17e_0_43"/>
              <p:cNvSpPr/>
              <p:nvPr/>
            </p:nvSpPr>
            <p:spPr>
              <a:xfrm>
                <a:off x="3870079" y="3689490"/>
                <a:ext cx="43587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g3a2a419c17e_0_43"/>
              <p:cNvSpPr/>
              <p:nvPr/>
            </p:nvSpPr>
            <p:spPr>
              <a:xfrm>
                <a:off x="3870079" y="3689490"/>
                <a:ext cx="699900" cy="7494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g3a2a419c17e_0_43"/>
              <p:cNvSpPr txBox="1"/>
              <p:nvPr/>
            </p:nvSpPr>
            <p:spPr>
              <a:xfrm>
                <a:off x="4599583" y="3731815"/>
                <a:ext cx="35082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facilitates trust between researchers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22" name="Google Shape;422;g3a2a419c17e_0_43"/>
              <p:cNvSpPr txBox="1"/>
              <p:nvPr/>
            </p:nvSpPr>
            <p:spPr>
              <a:xfrm>
                <a:off x="4082229" y="3833364"/>
                <a:ext cx="275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23" name="Google Shape;423;g3a2a419c17e_0_43"/>
            <p:cNvGrpSpPr/>
            <p:nvPr/>
          </p:nvGrpSpPr>
          <p:grpSpPr>
            <a:xfrm>
              <a:off x="4255677" y="4751971"/>
              <a:ext cx="4386204" cy="761700"/>
              <a:chOff x="3916746" y="4751971"/>
              <a:chExt cx="4386204" cy="761700"/>
            </a:xfrm>
          </p:grpSpPr>
          <p:sp>
            <p:nvSpPr>
              <p:cNvPr id="424" name="Google Shape;424;g3a2a419c17e_0_43"/>
              <p:cNvSpPr/>
              <p:nvPr/>
            </p:nvSpPr>
            <p:spPr>
              <a:xfrm>
                <a:off x="3916746" y="4751971"/>
                <a:ext cx="43587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g3a2a419c17e_0_43"/>
              <p:cNvSpPr/>
              <p:nvPr/>
            </p:nvSpPr>
            <p:spPr>
              <a:xfrm>
                <a:off x="3916746" y="4751971"/>
                <a:ext cx="699900" cy="7494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g3a2a419c17e_0_43"/>
              <p:cNvSpPr txBox="1"/>
              <p:nvPr/>
            </p:nvSpPr>
            <p:spPr>
              <a:xfrm>
                <a:off x="4646250" y="4788156"/>
                <a:ext cx="36567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promotes trust in data and research expertise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27" name="Google Shape;427;g3a2a419c17e_0_43"/>
              <p:cNvSpPr txBox="1"/>
              <p:nvPr/>
            </p:nvSpPr>
            <p:spPr>
              <a:xfrm>
                <a:off x="4128896" y="4895845"/>
                <a:ext cx="275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432" name="Google Shape;432;g3a2a419c17e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33" name="Google Shape;433;g3a2a419c17e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38" name="Google Shape;438;g3a2a419c17e_0_235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39" name="Google Shape;439;g3a2a419c17e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a2a419c17e_0_235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g3a2a419c17e_0_235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2a419c17e_0_242"/>
          <p:cNvSpPr txBox="1"/>
          <p:nvPr>
            <p:ph type="title"/>
          </p:nvPr>
        </p:nvSpPr>
        <p:spPr>
          <a:xfrm>
            <a:off x="2755900" y="2372350"/>
            <a:ext cx="36321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Pre-registration</a:t>
            </a:r>
            <a:endParaRPr/>
          </a:p>
        </p:txBody>
      </p:sp>
      <p:pic>
        <p:nvPicPr>
          <p:cNvPr descr="A picture containing text&#10;&#10;Description automatically generated" id="447" name="Google Shape;447;g3a2a419c17e_0_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463" y="1909651"/>
            <a:ext cx="1750707" cy="42485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vector graphics&#10;&#10;Description automatically generated" id="448" name="Google Shape;448;g3a2a419c17e_0_2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578711" y="2643188"/>
            <a:ext cx="2559645" cy="3636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2a419c17e_0_24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Pre-registration</a:t>
            </a:r>
            <a:endParaRPr b="1" sz="2400"/>
          </a:p>
        </p:txBody>
      </p:sp>
      <p:grpSp>
        <p:nvGrpSpPr>
          <p:cNvPr id="454" name="Google Shape;454;g3a2a419c17e_0_248"/>
          <p:cNvGrpSpPr/>
          <p:nvPr/>
        </p:nvGrpSpPr>
        <p:grpSpPr>
          <a:xfrm>
            <a:off x="553300" y="1033874"/>
            <a:ext cx="1991100" cy="2500404"/>
            <a:chOff x="553300" y="1033874"/>
            <a:chExt cx="1991100" cy="2500404"/>
          </a:xfrm>
        </p:grpSpPr>
        <p:sp>
          <p:nvSpPr>
            <p:cNvPr id="455" name="Google Shape;455;g3a2a419c17e_0_248"/>
            <p:cNvSpPr txBox="1"/>
            <p:nvPr/>
          </p:nvSpPr>
          <p:spPr>
            <a:xfrm>
              <a:off x="553300" y="2610878"/>
              <a:ext cx="19911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 pre-registration is a record of research processes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56" name="Google Shape;456;g3a2a419c17e_0_248"/>
            <p:cNvGrpSpPr/>
            <p:nvPr/>
          </p:nvGrpSpPr>
          <p:grpSpPr>
            <a:xfrm>
              <a:off x="785792" y="1033874"/>
              <a:ext cx="1526100" cy="1526100"/>
              <a:chOff x="534409" y="1011247"/>
              <a:chExt cx="1526100" cy="1526100"/>
            </a:xfrm>
          </p:grpSpPr>
          <p:sp>
            <p:nvSpPr>
              <p:cNvPr id="457" name="Google Shape;457;g3a2a419c17e_0_248"/>
              <p:cNvSpPr/>
              <p:nvPr/>
            </p:nvSpPr>
            <p:spPr>
              <a:xfrm>
                <a:off x="534409" y="1011247"/>
                <a:ext cx="1526100" cy="152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8" name="Google Shape;458;g3a2a419c17e_0_24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63961" y="1261729"/>
                <a:ext cx="1267015" cy="102515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59" name="Google Shape;459;g3a2a419c17e_0_248"/>
          <p:cNvGrpSpPr/>
          <p:nvPr/>
        </p:nvGrpSpPr>
        <p:grpSpPr>
          <a:xfrm>
            <a:off x="3571400" y="1033874"/>
            <a:ext cx="1991100" cy="2746704"/>
            <a:chOff x="3571400" y="1033874"/>
            <a:chExt cx="1991100" cy="2746704"/>
          </a:xfrm>
        </p:grpSpPr>
        <p:sp>
          <p:nvSpPr>
            <p:cNvPr id="460" name="Google Shape;460;g3a2a419c17e_0_248"/>
            <p:cNvSpPr txBox="1"/>
            <p:nvPr/>
          </p:nvSpPr>
          <p:spPr>
            <a:xfrm>
              <a:off x="3571400" y="2610878"/>
              <a:ext cx="1991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is created and shared before data are collected or become accessible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61" name="Google Shape;461;g3a2a419c17e_0_248"/>
            <p:cNvGrpSpPr/>
            <p:nvPr/>
          </p:nvGrpSpPr>
          <p:grpSpPr>
            <a:xfrm>
              <a:off x="3808942" y="1033874"/>
              <a:ext cx="1526100" cy="1526100"/>
              <a:chOff x="2966526" y="1114176"/>
              <a:chExt cx="1526100" cy="1526100"/>
            </a:xfrm>
          </p:grpSpPr>
          <p:sp>
            <p:nvSpPr>
              <p:cNvPr id="462" name="Google Shape;462;g3a2a419c17e_0_248"/>
              <p:cNvSpPr/>
              <p:nvPr/>
            </p:nvSpPr>
            <p:spPr>
              <a:xfrm>
                <a:off x="2966526" y="1114176"/>
                <a:ext cx="1526100" cy="152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63" name="Google Shape;463;g3a2a419c17e_0_24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37756" y="1198842"/>
                <a:ext cx="1183656" cy="12222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64" name="Google Shape;464;g3a2a419c17e_0_248"/>
          <p:cNvGrpSpPr/>
          <p:nvPr/>
        </p:nvGrpSpPr>
        <p:grpSpPr>
          <a:xfrm>
            <a:off x="6520251" y="989760"/>
            <a:ext cx="2149800" cy="3037118"/>
            <a:chOff x="6520251" y="989760"/>
            <a:chExt cx="2149800" cy="3037118"/>
          </a:xfrm>
        </p:grpSpPr>
        <p:sp>
          <p:nvSpPr>
            <p:cNvPr id="465" name="Google Shape;465;g3a2a419c17e_0_248"/>
            <p:cNvSpPr txBox="1"/>
            <p:nvPr/>
          </p:nvSpPr>
          <p:spPr>
            <a:xfrm>
              <a:off x="6520251" y="2610878"/>
              <a:ext cx="21498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is a time-stamped record of decisions about study design, methods and analysis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66" name="Google Shape;466;g3a2a419c17e_0_248"/>
            <p:cNvGrpSpPr/>
            <p:nvPr/>
          </p:nvGrpSpPr>
          <p:grpSpPr>
            <a:xfrm>
              <a:off x="6829491" y="989760"/>
              <a:ext cx="1528702" cy="1526100"/>
              <a:chOff x="6774916" y="989760"/>
              <a:chExt cx="1528702" cy="1526100"/>
            </a:xfrm>
          </p:grpSpPr>
          <p:sp>
            <p:nvSpPr>
              <p:cNvPr id="467" name="Google Shape;467;g3a2a419c17e_0_248"/>
              <p:cNvSpPr/>
              <p:nvPr/>
            </p:nvSpPr>
            <p:spPr>
              <a:xfrm>
                <a:off x="6777518" y="989760"/>
                <a:ext cx="1526100" cy="152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68" name="Google Shape;468;g3a2a419c17e_0_248"/>
              <p:cNvPicPr preferRelativeResize="0"/>
              <p:nvPr/>
            </p:nvPicPr>
            <p:blipFill rotWithShape="1">
              <a:blip r:embed="rId5">
                <a:alphaModFix/>
              </a:blip>
              <a:srcRect b="62455" l="73691" r="16693" t="12718"/>
              <a:stretch/>
            </p:blipFill>
            <p:spPr>
              <a:xfrm flipH="1">
                <a:off x="7571343" y="1032062"/>
                <a:ext cx="676800" cy="130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9" name="Google Shape;469;g3a2a419c17e_0_24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10800000">
                <a:off x="6774916" y="1394821"/>
                <a:ext cx="1119950" cy="11123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70" name="Google Shape;470;g3a2a419c17e_0_248"/>
          <p:cNvGrpSpPr/>
          <p:nvPr/>
        </p:nvGrpSpPr>
        <p:grpSpPr>
          <a:xfrm>
            <a:off x="1851851" y="3429000"/>
            <a:ext cx="2187000" cy="2426889"/>
            <a:chOff x="1851851" y="3429000"/>
            <a:chExt cx="2187000" cy="2426889"/>
          </a:xfrm>
        </p:grpSpPr>
        <p:sp>
          <p:nvSpPr>
            <p:cNvPr id="471" name="Google Shape;471;g3a2a419c17e_0_248"/>
            <p:cNvSpPr txBox="1"/>
            <p:nvPr/>
          </p:nvSpPr>
          <p:spPr>
            <a:xfrm>
              <a:off x="1851851" y="4932489"/>
              <a:ext cx="2187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Pre-registration documents should be publicly available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72" name="Google Shape;472;g3a2a419c17e_0_248"/>
            <p:cNvGrpSpPr/>
            <p:nvPr/>
          </p:nvGrpSpPr>
          <p:grpSpPr>
            <a:xfrm>
              <a:off x="2182357" y="3429000"/>
              <a:ext cx="1526100" cy="1526100"/>
              <a:chOff x="1114715" y="3514177"/>
              <a:chExt cx="1526100" cy="1526100"/>
            </a:xfrm>
          </p:grpSpPr>
          <p:sp>
            <p:nvSpPr>
              <p:cNvPr id="473" name="Google Shape;473;g3a2a419c17e_0_248"/>
              <p:cNvSpPr/>
              <p:nvPr/>
            </p:nvSpPr>
            <p:spPr>
              <a:xfrm>
                <a:off x="1114715" y="3514177"/>
                <a:ext cx="1526100" cy="152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highlight>
                    <a:srgbClr val="8DD2AF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74" name="Google Shape;474;g3a2a419c17e_0_24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149136" y="3577464"/>
                <a:ext cx="1412249" cy="12650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5" name="Google Shape;475;g3a2a419c17e_0_24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516859" y="4158314"/>
                <a:ext cx="676800" cy="56298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76" name="Google Shape;476;g3a2a419c17e_0_248"/>
          <p:cNvGrpSpPr/>
          <p:nvPr/>
        </p:nvGrpSpPr>
        <p:grpSpPr>
          <a:xfrm>
            <a:off x="4923435" y="3440013"/>
            <a:ext cx="2391600" cy="2667268"/>
            <a:chOff x="4923435" y="3440013"/>
            <a:chExt cx="2391600" cy="2667268"/>
          </a:xfrm>
        </p:grpSpPr>
        <p:sp>
          <p:nvSpPr>
            <p:cNvPr id="477" name="Google Shape;477;g3a2a419c17e_0_248"/>
            <p:cNvSpPr txBox="1"/>
            <p:nvPr/>
          </p:nvSpPr>
          <p:spPr>
            <a:xfrm>
              <a:off x="4923435" y="4937581"/>
              <a:ext cx="23916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There are dedicated repositories to make          pre-registrations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available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78" name="Google Shape;478;g3a2a419c17e_0_248"/>
            <p:cNvGrpSpPr/>
            <p:nvPr/>
          </p:nvGrpSpPr>
          <p:grpSpPr>
            <a:xfrm>
              <a:off x="5356178" y="3440013"/>
              <a:ext cx="1526100" cy="1552375"/>
              <a:chOff x="7219448" y="3387456"/>
              <a:chExt cx="1526100" cy="1552375"/>
            </a:xfrm>
          </p:grpSpPr>
          <p:sp>
            <p:nvSpPr>
              <p:cNvPr id="479" name="Google Shape;479;g3a2a419c17e_0_248"/>
              <p:cNvSpPr/>
              <p:nvPr/>
            </p:nvSpPr>
            <p:spPr>
              <a:xfrm>
                <a:off x="7219448" y="3387456"/>
                <a:ext cx="1526100" cy="1526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highlight>
                    <a:srgbClr val="8DD2AF"/>
                  </a:highlight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80" name="Google Shape;480;g3a2a419c17e_0_24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22530" y="3426081"/>
                <a:ext cx="1119951" cy="15137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g3a2a419c17e_0_279"/>
          <p:cNvPicPr preferRelativeResize="0"/>
          <p:nvPr/>
        </p:nvPicPr>
        <p:blipFill rotWithShape="1">
          <a:blip r:embed="rId3">
            <a:alphaModFix/>
          </a:blip>
          <a:srcRect b="0" l="0" r="57745" t="0"/>
          <a:stretch/>
        </p:blipFill>
        <p:spPr>
          <a:xfrm>
            <a:off x="0" y="857250"/>
            <a:ext cx="38637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a2a419c17e_0_27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Pre-registration</a:t>
            </a:r>
            <a:endParaRPr b="1" sz="2400"/>
          </a:p>
        </p:txBody>
      </p:sp>
      <p:sp>
        <p:nvSpPr>
          <p:cNvPr id="487" name="Google Shape;487;g3a2a419c17e_0_279"/>
          <p:cNvSpPr txBox="1"/>
          <p:nvPr/>
        </p:nvSpPr>
        <p:spPr>
          <a:xfrm>
            <a:off x="547350" y="2688450"/>
            <a:ext cx="25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is pre-registration important? 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88" name="Google Shape;488;g3a2a419c17e_0_279"/>
          <p:cNvGrpSpPr/>
          <p:nvPr/>
        </p:nvGrpSpPr>
        <p:grpSpPr>
          <a:xfrm>
            <a:off x="3686700" y="1149935"/>
            <a:ext cx="5193300" cy="761700"/>
            <a:chOff x="3845579" y="1212616"/>
            <a:chExt cx="5193300" cy="761700"/>
          </a:xfrm>
        </p:grpSpPr>
        <p:grpSp>
          <p:nvGrpSpPr>
            <p:cNvPr id="489" name="Google Shape;489;g3a2a419c17e_0_279"/>
            <p:cNvGrpSpPr/>
            <p:nvPr/>
          </p:nvGrpSpPr>
          <p:grpSpPr>
            <a:xfrm>
              <a:off x="3845579" y="1212616"/>
              <a:ext cx="5193300" cy="761700"/>
              <a:chOff x="3845579" y="1212616"/>
              <a:chExt cx="5193300" cy="761700"/>
            </a:xfrm>
          </p:grpSpPr>
          <p:sp>
            <p:nvSpPr>
              <p:cNvPr id="490" name="Google Shape;490;g3a2a419c17e_0_279"/>
              <p:cNvSpPr/>
              <p:nvPr/>
            </p:nvSpPr>
            <p:spPr>
              <a:xfrm>
                <a:off x="3845579" y="1212616"/>
                <a:ext cx="51933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g3a2a419c17e_0_279"/>
              <p:cNvSpPr txBox="1"/>
              <p:nvPr/>
            </p:nvSpPr>
            <p:spPr>
              <a:xfrm>
                <a:off x="4575083" y="1254941"/>
                <a:ext cx="44637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encourages researchers to identify the goals of their project before collecting any data</a:t>
                </a:r>
                <a:endParaRPr/>
              </a:p>
            </p:txBody>
          </p:sp>
        </p:grpSp>
        <p:grpSp>
          <p:nvGrpSpPr>
            <p:cNvPr id="492" name="Google Shape;492;g3a2a419c17e_0_279"/>
            <p:cNvGrpSpPr/>
            <p:nvPr/>
          </p:nvGrpSpPr>
          <p:grpSpPr>
            <a:xfrm>
              <a:off x="3845579" y="1212616"/>
              <a:ext cx="699900" cy="749400"/>
              <a:chOff x="3845579" y="1212616"/>
              <a:chExt cx="699900" cy="749400"/>
            </a:xfrm>
          </p:grpSpPr>
          <p:sp>
            <p:nvSpPr>
              <p:cNvPr id="493" name="Google Shape;493;g3a2a419c17e_0_279"/>
              <p:cNvSpPr/>
              <p:nvPr/>
            </p:nvSpPr>
            <p:spPr>
              <a:xfrm>
                <a:off x="3845579" y="1212616"/>
                <a:ext cx="699900" cy="7494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g3a2a419c17e_0_279"/>
              <p:cNvSpPr txBox="1"/>
              <p:nvPr/>
            </p:nvSpPr>
            <p:spPr>
              <a:xfrm>
                <a:off x="4057729" y="1356490"/>
                <a:ext cx="275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495" name="Google Shape;495;g3a2a419c17e_0_279"/>
          <p:cNvGrpSpPr/>
          <p:nvPr/>
        </p:nvGrpSpPr>
        <p:grpSpPr>
          <a:xfrm>
            <a:off x="3686700" y="2349078"/>
            <a:ext cx="5193300" cy="761700"/>
            <a:chOff x="3916746" y="2634212"/>
            <a:chExt cx="5193300" cy="761700"/>
          </a:xfrm>
        </p:grpSpPr>
        <p:sp>
          <p:nvSpPr>
            <p:cNvPr id="496" name="Google Shape;496;g3a2a419c17e_0_279"/>
            <p:cNvSpPr/>
            <p:nvPr/>
          </p:nvSpPr>
          <p:spPr>
            <a:xfrm>
              <a:off x="3916746" y="2634212"/>
              <a:ext cx="5193300" cy="761700"/>
            </a:xfrm>
            <a:prstGeom prst="rect">
              <a:avLst/>
            </a:prstGeom>
            <a:solidFill>
              <a:srgbClr val="CFEFFA"/>
            </a:solidFill>
            <a:ln cap="flat" cmpd="sng" w="25400">
              <a:solidFill>
                <a:srgbClr val="CFEF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3a2a419c17e_0_279"/>
            <p:cNvSpPr/>
            <p:nvPr/>
          </p:nvSpPr>
          <p:spPr>
            <a:xfrm>
              <a:off x="3916746" y="2634212"/>
              <a:ext cx="699900" cy="7494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g3a2a419c17e_0_279"/>
            <p:cNvSpPr txBox="1"/>
            <p:nvPr/>
          </p:nvSpPr>
          <p:spPr>
            <a:xfrm>
              <a:off x="4646250" y="2799648"/>
              <a:ext cx="350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creates accountability in research</a:t>
              </a:r>
              <a:endParaRPr/>
            </a:p>
          </p:txBody>
        </p:sp>
        <p:sp>
          <p:nvSpPr>
            <p:cNvPr id="499" name="Google Shape;499;g3a2a419c17e_0_279"/>
            <p:cNvSpPr txBox="1"/>
            <p:nvPr/>
          </p:nvSpPr>
          <p:spPr>
            <a:xfrm>
              <a:off x="4128896" y="2778086"/>
              <a:ext cx="27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0" name="Google Shape;500;g3a2a419c17e_0_279"/>
          <p:cNvGrpSpPr/>
          <p:nvPr/>
        </p:nvGrpSpPr>
        <p:grpSpPr>
          <a:xfrm>
            <a:off x="3686700" y="3548221"/>
            <a:ext cx="5193300" cy="944562"/>
            <a:chOff x="3870079" y="3689490"/>
            <a:chExt cx="5193300" cy="944562"/>
          </a:xfrm>
        </p:grpSpPr>
        <p:sp>
          <p:nvSpPr>
            <p:cNvPr id="501" name="Google Shape;501;g3a2a419c17e_0_279"/>
            <p:cNvSpPr/>
            <p:nvPr/>
          </p:nvSpPr>
          <p:spPr>
            <a:xfrm>
              <a:off x="3870079" y="3725640"/>
              <a:ext cx="5193300" cy="893400"/>
            </a:xfrm>
            <a:prstGeom prst="rect">
              <a:avLst/>
            </a:prstGeom>
            <a:solidFill>
              <a:srgbClr val="CFEFFA"/>
            </a:solidFill>
            <a:ln cap="flat" cmpd="sng" w="25400">
              <a:solidFill>
                <a:srgbClr val="CFEF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3a2a419c17e_0_279"/>
            <p:cNvSpPr/>
            <p:nvPr/>
          </p:nvSpPr>
          <p:spPr>
            <a:xfrm>
              <a:off x="3870079" y="3689490"/>
              <a:ext cx="699900" cy="8934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3a2a419c17e_0_279"/>
            <p:cNvSpPr txBox="1"/>
            <p:nvPr/>
          </p:nvSpPr>
          <p:spPr>
            <a:xfrm>
              <a:off x="4599583" y="3710652"/>
              <a:ext cx="43569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discourages researchers from conducting “after-the-fact analyses” to find significant, novel and/or exciting results </a:t>
              </a:r>
              <a:endParaRPr/>
            </a:p>
          </p:txBody>
        </p:sp>
        <p:sp>
          <p:nvSpPr>
            <p:cNvPr id="504" name="Google Shape;504;g3a2a419c17e_0_279"/>
            <p:cNvSpPr txBox="1"/>
            <p:nvPr/>
          </p:nvSpPr>
          <p:spPr>
            <a:xfrm>
              <a:off x="4082229" y="3905301"/>
              <a:ext cx="27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5" name="Google Shape;505;g3a2a419c17e_0_279"/>
          <p:cNvGrpSpPr/>
          <p:nvPr/>
        </p:nvGrpSpPr>
        <p:grpSpPr>
          <a:xfrm>
            <a:off x="3686700" y="4930096"/>
            <a:ext cx="5193300" cy="761700"/>
            <a:chOff x="3916746" y="4751971"/>
            <a:chExt cx="5193300" cy="761700"/>
          </a:xfrm>
        </p:grpSpPr>
        <p:sp>
          <p:nvSpPr>
            <p:cNvPr id="506" name="Google Shape;506;g3a2a419c17e_0_279"/>
            <p:cNvSpPr/>
            <p:nvPr/>
          </p:nvSpPr>
          <p:spPr>
            <a:xfrm>
              <a:off x="3916746" y="4751971"/>
              <a:ext cx="5193300" cy="761700"/>
            </a:xfrm>
            <a:prstGeom prst="rect">
              <a:avLst/>
            </a:prstGeom>
            <a:solidFill>
              <a:srgbClr val="CFEFFA"/>
            </a:solidFill>
            <a:ln cap="flat" cmpd="sng" w="25400">
              <a:solidFill>
                <a:srgbClr val="CFEF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a2a419c17e_0_279"/>
            <p:cNvSpPr/>
            <p:nvPr/>
          </p:nvSpPr>
          <p:spPr>
            <a:xfrm>
              <a:off x="3916746" y="4751971"/>
              <a:ext cx="699900" cy="7494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3a2a419c17e_0_279"/>
            <p:cNvSpPr txBox="1"/>
            <p:nvPr/>
          </p:nvSpPr>
          <p:spPr>
            <a:xfrm>
              <a:off x="4646249" y="4917407"/>
              <a:ext cx="4356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makes research findings easier to find</a:t>
              </a:r>
              <a:endParaRPr/>
            </a:p>
          </p:txBody>
        </p:sp>
        <p:sp>
          <p:nvSpPr>
            <p:cNvPr id="509" name="Google Shape;509;g3a2a419c17e_0_279"/>
            <p:cNvSpPr txBox="1"/>
            <p:nvPr/>
          </p:nvSpPr>
          <p:spPr>
            <a:xfrm>
              <a:off x="4128896" y="4895845"/>
              <a:ext cx="27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514" name="Google Shape;514;g3a2a419c17e_0_3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515" name="Google Shape;515;g3a2a419c17e_0_3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20" name="Google Shape;520;g3a2a419c17e_0_458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521" name="Google Shape;521;g3a2a419c17e_0_4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g3a2a419c17e_0_458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g3a2a419c17e_0_458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2a419c17e_0_465"/>
          <p:cNvSpPr txBox="1"/>
          <p:nvPr>
            <p:ph type="title"/>
          </p:nvPr>
        </p:nvSpPr>
        <p:spPr>
          <a:xfrm>
            <a:off x="2755900" y="2372350"/>
            <a:ext cx="36321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2500"/>
              <a:buNone/>
            </a:pPr>
            <a:r>
              <a:rPr lang="en-US" sz="3200"/>
              <a:t>Reproducible Research Practices</a:t>
            </a:r>
            <a:endParaRPr/>
          </a:p>
        </p:txBody>
      </p:sp>
      <p:pic>
        <p:nvPicPr>
          <p:cNvPr descr="A picture containing text&#10;&#10;Description automatically generated" id="529" name="Google Shape;529;g3a2a419c17e_0_465"/>
          <p:cNvPicPr preferRelativeResize="0"/>
          <p:nvPr/>
        </p:nvPicPr>
        <p:blipFill rotWithShape="1">
          <a:blip r:embed="rId3">
            <a:alphaModFix/>
          </a:blip>
          <a:srcRect b="1293" l="0" r="0" t="0"/>
          <a:stretch/>
        </p:blipFill>
        <p:spPr>
          <a:xfrm>
            <a:off x="-218502" y="1931319"/>
            <a:ext cx="2475336" cy="4205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530" name="Google Shape;530;g3a2a419c17e_0_4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9694" y="1931319"/>
            <a:ext cx="2534305" cy="3994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2a419c17e_0_47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Reproducible Research Practices</a:t>
            </a:r>
            <a:endParaRPr b="1" sz="2400"/>
          </a:p>
        </p:txBody>
      </p:sp>
      <p:pic>
        <p:nvPicPr>
          <p:cNvPr descr="A picture containing text&#10;&#10;Description automatically generated" id="536" name="Google Shape;536;g3a2a419c17e_0_471"/>
          <p:cNvPicPr preferRelativeResize="0"/>
          <p:nvPr/>
        </p:nvPicPr>
        <p:blipFill rotWithShape="1">
          <a:blip r:embed="rId3">
            <a:alphaModFix/>
          </a:blip>
          <a:srcRect b="34063" l="0" r="0" t="0"/>
          <a:stretch/>
        </p:blipFill>
        <p:spPr>
          <a:xfrm flipH="1">
            <a:off x="5350886" y="2832386"/>
            <a:ext cx="2864766" cy="3250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g3a2a419c17e_0_471"/>
          <p:cNvPicPr preferRelativeResize="0"/>
          <p:nvPr/>
        </p:nvPicPr>
        <p:blipFill rotWithShape="1">
          <a:blip r:embed="rId4">
            <a:alphaModFix/>
          </a:blip>
          <a:srcRect b="22775" l="0" r="57745" t="19710"/>
          <a:stretch/>
        </p:blipFill>
        <p:spPr>
          <a:xfrm>
            <a:off x="1900237" y="254001"/>
            <a:ext cx="5125920" cy="446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g3a2a419c17e_0_471"/>
          <p:cNvSpPr txBox="1"/>
          <p:nvPr/>
        </p:nvSpPr>
        <p:spPr>
          <a:xfrm>
            <a:off x="2651773" y="1278786"/>
            <a:ext cx="3238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2" marL="93662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Reproducibility means that research is conducted and reported in such a way that another researcher could reach the same result and conclusions using the same methods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2a419c17e_0_478"/>
          <p:cNvSpPr txBox="1"/>
          <p:nvPr>
            <p:ph idx="4294967295" type="body"/>
          </p:nvPr>
        </p:nvSpPr>
        <p:spPr>
          <a:xfrm>
            <a:off x="349225" y="1191662"/>
            <a:ext cx="71628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>
                <a:solidFill>
                  <a:srgbClr val="000000"/>
                </a:solidFill>
              </a:rPr>
              <a:t>Reproducible research involves:</a:t>
            </a:r>
            <a:endParaRPr sz="2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400"/>
          </a:p>
        </p:txBody>
      </p:sp>
      <p:sp>
        <p:nvSpPr>
          <p:cNvPr id="544" name="Google Shape;544;g3a2a419c17e_0_47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Reproducible Research Practices</a:t>
            </a:r>
            <a:endParaRPr b="1" sz="2400"/>
          </a:p>
        </p:txBody>
      </p:sp>
      <p:grpSp>
        <p:nvGrpSpPr>
          <p:cNvPr id="545" name="Google Shape;545;g3a2a419c17e_0_478"/>
          <p:cNvGrpSpPr/>
          <p:nvPr/>
        </p:nvGrpSpPr>
        <p:grpSpPr>
          <a:xfrm>
            <a:off x="702666" y="2103892"/>
            <a:ext cx="7572401" cy="1570214"/>
            <a:chOff x="731217" y="989760"/>
            <a:chExt cx="7572401" cy="1570214"/>
          </a:xfrm>
        </p:grpSpPr>
        <p:sp>
          <p:nvSpPr>
            <p:cNvPr id="546" name="Google Shape;546;g3a2a419c17e_0_478"/>
            <p:cNvSpPr/>
            <p:nvPr/>
          </p:nvSpPr>
          <p:spPr>
            <a:xfrm>
              <a:off x="731217" y="1033874"/>
              <a:ext cx="1526100" cy="152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g3a2a419c17e_0_478"/>
            <p:cNvSpPr/>
            <p:nvPr/>
          </p:nvSpPr>
          <p:spPr>
            <a:xfrm>
              <a:off x="3754367" y="1033874"/>
              <a:ext cx="1526100" cy="152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g3a2a419c17e_0_478"/>
            <p:cNvSpPr/>
            <p:nvPr/>
          </p:nvSpPr>
          <p:spPr>
            <a:xfrm>
              <a:off x="6777518" y="989760"/>
              <a:ext cx="1526100" cy="152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9" name="Google Shape;549;g3a2a419c17e_0_478"/>
          <p:cNvSpPr txBox="1"/>
          <p:nvPr/>
        </p:nvSpPr>
        <p:spPr>
          <a:xfrm>
            <a:off x="470174" y="3725010"/>
            <a:ext cx="1991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Sharing data and research procedures</a:t>
            </a:r>
            <a:endParaRPr/>
          </a:p>
        </p:txBody>
      </p:sp>
      <p:sp>
        <p:nvSpPr>
          <p:cNvPr id="550" name="Google Shape;550;g3a2a419c17e_0_478"/>
          <p:cNvSpPr txBox="1"/>
          <p:nvPr/>
        </p:nvSpPr>
        <p:spPr>
          <a:xfrm>
            <a:off x="3488274" y="3725010"/>
            <a:ext cx="1991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Making these available for public/peer evaluation </a:t>
            </a:r>
            <a:endParaRPr/>
          </a:p>
        </p:txBody>
      </p:sp>
      <p:sp>
        <p:nvSpPr>
          <p:cNvPr id="551" name="Google Shape;551;g3a2a419c17e_0_478"/>
          <p:cNvSpPr txBox="1"/>
          <p:nvPr/>
        </p:nvSpPr>
        <p:spPr>
          <a:xfrm>
            <a:off x="6437125" y="3725010"/>
            <a:ext cx="2149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Taking steps in the study design process to minimise bias </a:t>
            </a:r>
            <a:endParaRPr/>
          </a:p>
        </p:txBody>
      </p:sp>
      <p:pic>
        <p:nvPicPr>
          <p:cNvPr descr="A picture containing text, vector graphics&#10;&#10;Description automatically generated" id="552" name="Google Shape;552;g3a2a419c17e_0_478"/>
          <p:cNvPicPr preferRelativeResize="0"/>
          <p:nvPr/>
        </p:nvPicPr>
        <p:blipFill rotWithShape="1">
          <a:blip r:embed="rId3">
            <a:alphaModFix/>
          </a:blip>
          <a:srcRect b="48982" l="49725" r="3019" t="8777"/>
          <a:stretch/>
        </p:blipFill>
        <p:spPr>
          <a:xfrm>
            <a:off x="702666" y="2122562"/>
            <a:ext cx="1390422" cy="12852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553" name="Google Shape;553;g3a2a419c17e_0_478"/>
          <p:cNvPicPr preferRelativeResize="0"/>
          <p:nvPr/>
        </p:nvPicPr>
        <p:blipFill rotWithShape="1">
          <a:blip r:embed="rId4">
            <a:alphaModFix/>
          </a:blip>
          <a:srcRect b="55152" l="0" r="71251" t="29132"/>
          <a:stretch/>
        </p:blipFill>
        <p:spPr>
          <a:xfrm rot="817466">
            <a:off x="1532859" y="2626250"/>
            <a:ext cx="710825" cy="612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554" name="Google Shape;554;g3a2a419c17e_0_4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8767" y="2230556"/>
            <a:ext cx="1164519" cy="1291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&#10;&#10;Description automatically generated with low confidence" id="555" name="Google Shape;555;g3a2a419c17e_0_478"/>
          <p:cNvPicPr preferRelativeResize="0"/>
          <p:nvPr/>
        </p:nvPicPr>
        <p:blipFill rotWithShape="1">
          <a:blip r:embed="rId6">
            <a:alphaModFix/>
          </a:blip>
          <a:srcRect b="36706" l="28525" r="27924" t="34816"/>
          <a:stretch/>
        </p:blipFill>
        <p:spPr>
          <a:xfrm>
            <a:off x="6958269" y="2301788"/>
            <a:ext cx="1079592" cy="105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Google Shape;560;g3a2a419c17e_0_494"/>
          <p:cNvGrpSpPr/>
          <p:nvPr/>
        </p:nvGrpSpPr>
        <p:grpSpPr>
          <a:xfrm>
            <a:off x="552600" y="1001590"/>
            <a:ext cx="8038800" cy="4854821"/>
            <a:chOff x="552600" y="1001590"/>
            <a:chExt cx="8038800" cy="4854821"/>
          </a:xfrm>
        </p:grpSpPr>
        <p:sp>
          <p:nvSpPr>
            <p:cNvPr id="561" name="Google Shape;561;g3a2a419c17e_0_494"/>
            <p:cNvSpPr/>
            <p:nvPr/>
          </p:nvSpPr>
          <p:spPr>
            <a:xfrm>
              <a:off x="552600" y="1156100"/>
              <a:ext cx="8038800" cy="4445100"/>
            </a:xfrm>
            <a:prstGeom prst="rect">
              <a:avLst/>
            </a:prstGeom>
            <a:solidFill>
              <a:srgbClr val="A1DFF5">
                <a:alpha val="27840"/>
              </a:srgbClr>
            </a:solidFill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2" name="Google Shape;562;g3a2a419c17e_0_494"/>
            <p:cNvPicPr preferRelativeResize="0"/>
            <p:nvPr/>
          </p:nvPicPr>
          <p:blipFill rotWithShape="1">
            <a:blip r:embed="rId3">
              <a:alphaModFix/>
            </a:blip>
            <a:srcRect b="22775" l="0" r="57745" t="19710"/>
            <a:stretch/>
          </p:blipFill>
          <p:spPr>
            <a:xfrm flipH="1">
              <a:off x="1930399" y="1001590"/>
              <a:ext cx="3209899" cy="25297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g3a2a419c17e_0_494"/>
            <p:cNvSpPr txBox="1"/>
            <p:nvPr/>
          </p:nvSpPr>
          <p:spPr>
            <a:xfrm>
              <a:off x="2432166" y="1475251"/>
              <a:ext cx="23994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 qualitative research and/or arts and humanities reproducibility relates to transparency in the research methods used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4" name="Google Shape;564;g3a2a419c17e_0_4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0799" y="2170951"/>
              <a:ext cx="2399400" cy="36854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5" name="Google Shape;565;g3a2a419c17e_0_49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Reproducible Research Practices</a:t>
            </a:r>
            <a:endParaRPr b="1" sz="2400"/>
          </a:p>
        </p:txBody>
      </p:sp>
      <p:grpSp>
        <p:nvGrpSpPr>
          <p:cNvPr id="566" name="Google Shape;566;g3a2a419c17e_0_494"/>
          <p:cNvGrpSpPr/>
          <p:nvPr/>
        </p:nvGrpSpPr>
        <p:grpSpPr>
          <a:xfrm>
            <a:off x="4891425" y="1423012"/>
            <a:ext cx="3614228" cy="4332350"/>
            <a:chOff x="4891425" y="1423012"/>
            <a:chExt cx="3614228" cy="4332350"/>
          </a:xfrm>
        </p:grpSpPr>
        <p:pic>
          <p:nvPicPr>
            <p:cNvPr id="567" name="Google Shape;567;g3a2a419c17e_0_4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91047" y="2417780"/>
              <a:ext cx="2514606" cy="3337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g3a2a419c17e_0_494"/>
            <p:cNvPicPr preferRelativeResize="0"/>
            <p:nvPr/>
          </p:nvPicPr>
          <p:blipFill rotWithShape="1">
            <a:blip r:embed="rId3">
              <a:alphaModFix/>
            </a:blip>
            <a:srcRect b="22775" l="0" r="57745" t="19710"/>
            <a:stretch/>
          </p:blipFill>
          <p:spPr>
            <a:xfrm>
              <a:off x="4891425" y="1423012"/>
              <a:ext cx="2623526" cy="200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g3a2a419c17e_0_494"/>
            <p:cNvSpPr txBox="1"/>
            <p:nvPr/>
          </p:nvSpPr>
          <p:spPr>
            <a:xfrm>
              <a:off x="5140298" y="1804937"/>
              <a:ext cx="19275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2" marL="93662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Because data replication may not be feasible or useful in some instances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2a419c17e_0_50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Reproducible Research Practices</a:t>
            </a:r>
            <a:endParaRPr b="1" sz="2400"/>
          </a:p>
        </p:txBody>
      </p:sp>
      <p:grpSp>
        <p:nvGrpSpPr>
          <p:cNvPr id="575" name="Google Shape;575;g3a2a419c17e_0_507"/>
          <p:cNvGrpSpPr/>
          <p:nvPr/>
        </p:nvGrpSpPr>
        <p:grpSpPr>
          <a:xfrm>
            <a:off x="352975" y="1525201"/>
            <a:ext cx="3164923" cy="3807599"/>
            <a:chOff x="352975" y="1056501"/>
            <a:chExt cx="3164923" cy="3807599"/>
          </a:xfrm>
        </p:grpSpPr>
        <p:pic>
          <p:nvPicPr>
            <p:cNvPr id="576" name="Google Shape;576;g3a2a419c17e_0_507"/>
            <p:cNvPicPr preferRelativeResize="0"/>
            <p:nvPr/>
          </p:nvPicPr>
          <p:blipFill rotWithShape="1">
            <a:blip r:embed="rId3">
              <a:alphaModFix/>
            </a:blip>
            <a:srcRect b="19955" l="0" r="61425" t="0"/>
            <a:stretch/>
          </p:blipFill>
          <p:spPr>
            <a:xfrm>
              <a:off x="352975" y="1056501"/>
              <a:ext cx="3164923" cy="3807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g3a2a419c17e_0_507"/>
            <p:cNvSpPr txBox="1"/>
            <p:nvPr/>
          </p:nvSpPr>
          <p:spPr>
            <a:xfrm>
              <a:off x="752237" y="2385525"/>
              <a:ext cx="23664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Why is reproducibility important? 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78" name="Google Shape;578;g3a2a419c17e_0_507"/>
          <p:cNvGrpSpPr/>
          <p:nvPr/>
        </p:nvGrpSpPr>
        <p:grpSpPr>
          <a:xfrm>
            <a:off x="3583975" y="1393465"/>
            <a:ext cx="5295923" cy="4071070"/>
            <a:chOff x="3583975" y="1174029"/>
            <a:chExt cx="5295923" cy="4071070"/>
          </a:xfrm>
        </p:grpSpPr>
        <p:grpSp>
          <p:nvGrpSpPr>
            <p:cNvPr id="579" name="Google Shape;579;g3a2a419c17e_0_507"/>
            <p:cNvGrpSpPr/>
            <p:nvPr/>
          </p:nvGrpSpPr>
          <p:grpSpPr>
            <a:xfrm>
              <a:off x="3583975" y="1174029"/>
              <a:ext cx="5295600" cy="1152001"/>
              <a:chOff x="3583975" y="1174029"/>
              <a:chExt cx="5295600" cy="1152001"/>
            </a:xfrm>
          </p:grpSpPr>
          <p:pic>
            <p:nvPicPr>
              <p:cNvPr id="580" name="Google Shape;580;g3a2a419c17e_0_507"/>
              <p:cNvPicPr preferRelativeResize="0"/>
              <p:nvPr/>
            </p:nvPicPr>
            <p:blipFill rotWithShape="1">
              <a:blip r:embed="rId4">
                <a:alphaModFix/>
              </a:blip>
              <a:srcRect b="68008" l="45773" r="1757" t="13716"/>
              <a:stretch/>
            </p:blipFill>
            <p:spPr>
              <a:xfrm>
                <a:off x="3583975" y="1174029"/>
                <a:ext cx="5295600" cy="1152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1" name="Google Shape;581;g3a2a419c17e_0_507"/>
              <p:cNvSpPr txBox="1"/>
              <p:nvPr/>
            </p:nvSpPr>
            <p:spPr>
              <a:xfrm>
                <a:off x="4422401" y="1411490"/>
                <a:ext cx="41976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ensures research can be assessed, verified and confirmed by other researchers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82" name="Google Shape;582;g3a2a419c17e_0_507"/>
              <p:cNvSpPr txBox="1"/>
              <p:nvPr/>
            </p:nvSpPr>
            <p:spPr>
              <a:xfrm>
                <a:off x="3706601" y="1519179"/>
                <a:ext cx="715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83" name="Google Shape;583;g3a2a419c17e_0_507"/>
            <p:cNvGrpSpPr/>
            <p:nvPr/>
          </p:nvGrpSpPr>
          <p:grpSpPr>
            <a:xfrm>
              <a:off x="3583975" y="2634789"/>
              <a:ext cx="5295600" cy="1152001"/>
              <a:chOff x="3583975" y="2703575"/>
              <a:chExt cx="5295600" cy="1152001"/>
            </a:xfrm>
          </p:grpSpPr>
          <p:pic>
            <p:nvPicPr>
              <p:cNvPr id="584" name="Google Shape;584;g3a2a419c17e_0_507"/>
              <p:cNvPicPr preferRelativeResize="0"/>
              <p:nvPr/>
            </p:nvPicPr>
            <p:blipFill rotWithShape="1">
              <a:blip r:embed="rId4">
                <a:alphaModFix/>
              </a:blip>
              <a:srcRect b="68008" l="45773" r="1757" t="13716"/>
              <a:stretch/>
            </p:blipFill>
            <p:spPr>
              <a:xfrm>
                <a:off x="3583975" y="2703575"/>
                <a:ext cx="5295600" cy="1152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5" name="Google Shape;585;g3a2a419c17e_0_507"/>
              <p:cNvSpPr txBox="1"/>
              <p:nvPr/>
            </p:nvSpPr>
            <p:spPr>
              <a:xfrm>
                <a:off x="4422401" y="2820341"/>
                <a:ext cx="43788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helps identify and correct situations where researchers have engaged in questionable</a:t>
                </a:r>
                <a:b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research practices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86" name="Google Shape;586;g3a2a419c17e_0_507"/>
              <p:cNvSpPr txBox="1"/>
              <p:nvPr/>
            </p:nvSpPr>
            <p:spPr>
              <a:xfrm>
                <a:off x="3683553" y="3048725"/>
                <a:ext cx="715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87" name="Google Shape;587;g3a2a419c17e_0_507"/>
            <p:cNvGrpSpPr/>
            <p:nvPr/>
          </p:nvGrpSpPr>
          <p:grpSpPr>
            <a:xfrm>
              <a:off x="3583976" y="4095550"/>
              <a:ext cx="5295922" cy="1149549"/>
              <a:chOff x="3583976" y="4095550"/>
              <a:chExt cx="5295922" cy="1149549"/>
            </a:xfrm>
          </p:grpSpPr>
          <p:pic>
            <p:nvPicPr>
              <p:cNvPr id="588" name="Google Shape;588;g3a2a419c17e_0_507"/>
              <p:cNvPicPr preferRelativeResize="0"/>
              <p:nvPr/>
            </p:nvPicPr>
            <p:blipFill rotWithShape="1">
              <a:blip r:embed="rId4">
                <a:alphaModFix/>
              </a:blip>
              <a:srcRect b="68008" l="45773" r="1757" t="13716"/>
              <a:stretch/>
            </p:blipFill>
            <p:spPr>
              <a:xfrm>
                <a:off x="3583976" y="4095550"/>
                <a:ext cx="5295922" cy="11495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9" name="Google Shape;589;g3a2a419c17e_0_507"/>
              <p:cNvSpPr txBox="1"/>
              <p:nvPr/>
            </p:nvSpPr>
            <p:spPr>
              <a:xfrm>
                <a:off x="4471226" y="4227297"/>
                <a:ext cx="41487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Creating a culture of reproducibility can </a:t>
                </a:r>
                <a:b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discourage researchers from reporting only </a:t>
                </a:r>
                <a:b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those findings that are significant/exciting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90" name="Google Shape;590;g3a2a419c17e_0_507"/>
              <p:cNvSpPr txBox="1"/>
              <p:nvPr/>
            </p:nvSpPr>
            <p:spPr>
              <a:xfrm>
                <a:off x="3683553" y="4439475"/>
                <a:ext cx="715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595" name="Google Shape;595;g3a2a419c17e_0_5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596" name="Google Shape;596;g3a2a419c17e_0_5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01" name="Google Shape;601;g3a2a419c17e_0_678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02" name="Google Shape;602;g3a2a419c17e_0_6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g3a2a419c17e_0_678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g3a2a419c17e_0_678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a2a419c17e_0_685"/>
          <p:cNvSpPr txBox="1"/>
          <p:nvPr>
            <p:ph type="title"/>
          </p:nvPr>
        </p:nvSpPr>
        <p:spPr>
          <a:xfrm>
            <a:off x="2755900" y="2372350"/>
            <a:ext cx="36321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Data Management</a:t>
            </a:r>
            <a:endParaRPr/>
          </a:p>
        </p:txBody>
      </p:sp>
      <p:pic>
        <p:nvPicPr>
          <p:cNvPr descr="A picture containing logo&#10;&#10;Description automatically generated" id="610" name="Google Shape;610;g3a2a419c17e_0_6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1" y="2519263"/>
            <a:ext cx="3098800" cy="35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silhouette, vector graphics&#10;&#10;Description automatically generated" id="611" name="Google Shape;611;g3a2a419c17e_0_6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705969" y="3174990"/>
            <a:ext cx="2329411" cy="2940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hart&#10;&#10;Description automatically generated" id="612" name="Google Shape;612;g3a2a419c17e_0_6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27871" y="4528700"/>
            <a:ext cx="1838325" cy="1528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a2a419c17e_0_692"/>
          <p:cNvSpPr txBox="1"/>
          <p:nvPr>
            <p:ph idx="4294967295" type="body"/>
          </p:nvPr>
        </p:nvSpPr>
        <p:spPr>
          <a:xfrm>
            <a:off x="394775" y="1032400"/>
            <a:ext cx="8042100" cy="18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200">
                <a:solidFill>
                  <a:srgbClr val="000000"/>
                </a:solidFill>
              </a:rPr>
              <a:t>Data is all information collected, observed, recorded or created throughout the research process 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200">
                <a:solidFill>
                  <a:srgbClr val="000000"/>
                </a:solidFill>
              </a:rPr>
              <a:t>It can include spreadsheets, videos, audios, notes, diaries, images</a:t>
            </a:r>
            <a:endParaRPr sz="2200">
              <a:solidFill>
                <a:srgbClr val="000000"/>
              </a:solidFill>
            </a:endParaRPr>
          </a:p>
        </p:txBody>
      </p:sp>
      <p:sp>
        <p:nvSpPr>
          <p:cNvPr id="618" name="Google Shape;618;g3a2a419c17e_0_69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Data Management</a:t>
            </a:r>
            <a:endParaRPr b="1" sz="2400"/>
          </a:p>
        </p:txBody>
      </p:sp>
      <p:grpSp>
        <p:nvGrpSpPr>
          <p:cNvPr id="619" name="Google Shape;619;g3a2a419c17e_0_692"/>
          <p:cNvGrpSpPr/>
          <p:nvPr/>
        </p:nvGrpSpPr>
        <p:grpSpPr>
          <a:xfrm>
            <a:off x="2519522" y="2997174"/>
            <a:ext cx="4104651" cy="2710185"/>
            <a:chOff x="2541545" y="2250374"/>
            <a:chExt cx="5390218" cy="3454225"/>
          </a:xfrm>
        </p:grpSpPr>
        <p:pic>
          <p:nvPicPr>
            <p:cNvPr id="620" name="Google Shape;620;g3a2a419c17e_0_692"/>
            <p:cNvPicPr preferRelativeResize="0"/>
            <p:nvPr/>
          </p:nvPicPr>
          <p:blipFill rotWithShape="1">
            <a:blip r:embed="rId3">
              <a:alphaModFix/>
            </a:blip>
            <a:srcRect b="60145" l="32056" r="51498" t="17991"/>
            <a:stretch/>
          </p:blipFill>
          <p:spPr>
            <a:xfrm>
              <a:off x="4078090" y="2514458"/>
              <a:ext cx="1353425" cy="1369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1" name="Google Shape;621;g3a2a419c17e_0_6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1545" y="3414375"/>
              <a:ext cx="2038753" cy="229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2" name="Google Shape;622;g3a2a419c17e_0_69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15825" y="3338450"/>
              <a:ext cx="2176550" cy="2154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, weapon, knife&#10;&#10;Description automatically generated" id="623" name="Google Shape;623;g3a2a419c17e_0_69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18505" y="2250374"/>
              <a:ext cx="2213258" cy="3304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a2a419c17e_0_702"/>
          <p:cNvSpPr txBox="1"/>
          <p:nvPr>
            <p:ph idx="4294967295" type="body"/>
          </p:nvPr>
        </p:nvSpPr>
        <p:spPr>
          <a:xfrm>
            <a:off x="343614" y="925983"/>
            <a:ext cx="8042100" cy="4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>
                <a:solidFill>
                  <a:srgbClr val="000000"/>
                </a:solidFill>
              </a:rPr>
              <a:t>Research Data Management (RDM) is the organisation, storage and preservation of research data during active research and post-project.</a:t>
            </a:r>
            <a:endParaRPr b="1" sz="2200"/>
          </a:p>
        </p:txBody>
      </p:sp>
      <p:sp>
        <p:nvSpPr>
          <p:cNvPr id="629" name="Google Shape;629;g3a2a419c17e_0_70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Data Management</a:t>
            </a:r>
            <a:endParaRPr b="1" sz="2400"/>
          </a:p>
        </p:txBody>
      </p:sp>
      <p:grpSp>
        <p:nvGrpSpPr>
          <p:cNvPr id="630" name="Google Shape;630;g3a2a419c17e_0_702"/>
          <p:cNvGrpSpPr/>
          <p:nvPr/>
        </p:nvGrpSpPr>
        <p:grpSpPr>
          <a:xfrm>
            <a:off x="2587309" y="2372116"/>
            <a:ext cx="3959886" cy="3453756"/>
            <a:chOff x="4839796" y="663281"/>
            <a:chExt cx="5563200" cy="4850100"/>
          </a:xfrm>
        </p:grpSpPr>
        <p:sp>
          <p:nvSpPr>
            <p:cNvPr id="631" name="Google Shape;631;g3a2a419c17e_0_702"/>
            <p:cNvSpPr/>
            <p:nvPr/>
          </p:nvSpPr>
          <p:spPr>
            <a:xfrm>
              <a:off x="4839796" y="663281"/>
              <a:ext cx="5563200" cy="4850100"/>
            </a:xfrm>
            <a:prstGeom prst="rect">
              <a:avLst/>
            </a:prstGeom>
            <a:solidFill>
              <a:srgbClr val="CFEF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ata Management Lifecycle - Guide to data management - Research Guides at  CSU-Pueblo Library at Colorado State University - Pueblo" id="632" name="Google Shape;632;g3a2a419c17e_0_7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67299" y="1001812"/>
              <a:ext cx="4708154" cy="41729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2a419c17e_0_710"/>
          <p:cNvSpPr/>
          <p:nvPr/>
        </p:nvSpPr>
        <p:spPr>
          <a:xfrm>
            <a:off x="400350" y="1472400"/>
            <a:ext cx="8343300" cy="3913200"/>
          </a:xfrm>
          <a:prstGeom prst="rect">
            <a:avLst/>
          </a:prstGeom>
          <a:solidFill>
            <a:srgbClr val="A1DFF5">
              <a:alpha val="27840"/>
            </a:srgbClr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a2a419c17e_0_71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Data Management</a:t>
            </a:r>
            <a:endParaRPr b="1" sz="2400"/>
          </a:p>
        </p:txBody>
      </p:sp>
      <p:pic>
        <p:nvPicPr>
          <p:cNvPr descr="A picture containing text, vector graphics&#10;&#10;Description automatically generated" id="639" name="Google Shape;639;g3a2a419c17e_0_710"/>
          <p:cNvPicPr preferRelativeResize="0"/>
          <p:nvPr/>
        </p:nvPicPr>
        <p:blipFill rotWithShape="1">
          <a:blip r:embed="rId3">
            <a:alphaModFix/>
          </a:blip>
          <a:srcRect b="43521" l="0" r="0" t="0"/>
          <a:stretch/>
        </p:blipFill>
        <p:spPr>
          <a:xfrm flipH="1">
            <a:off x="-42914" y="2362024"/>
            <a:ext cx="2757777" cy="2995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g3a2a419c17e_0_710"/>
          <p:cNvPicPr preferRelativeResize="0"/>
          <p:nvPr/>
        </p:nvPicPr>
        <p:blipFill rotWithShape="1">
          <a:blip r:embed="rId4">
            <a:alphaModFix/>
          </a:blip>
          <a:srcRect b="22775" l="0" r="57745" t="19710"/>
          <a:stretch/>
        </p:blipFill>
        <p:spPr>
          <a:xfrm flipH="1" rot="1003910">
            <a:off x="1749471" y="1121854"/>
            <a:ext cx="4045575" cy="3761764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3a2a419c17e_0_710"/>
          <p:cNvSpPr txBox="1"/>
          <p:nvPr/>
        </p:nvSpPr>
        <p:spPr>
          <a:xfrm>
            <a:off x="2355435" y="2160321"/>
            <a:ext cx="29091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Data Management Plan (DMP) is a living document which describes the organization, storage, preservation and potential sharing of research data, and is an integral part of open research practice</a:t>
            </a:r>
            <a:endParaRPr/>
          </a:p>
        </p:txBody>
      </p:sp>
      <p:pic>
        <p:nvPicPr>
          <p:cNvPr descr="A picture containing text&#10;&#10;Description automatically generated" id="642" name="Google Shape;642;g3a2a419c17e_0_7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4404" y="2102560"/>
            <a:ext cx="28829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g3a2a419c17e_0_719"/>
          <p:cNvPicPr preferRelativeResize="0"/>
          <p:nvPr/>
        </p:nvPicPr>
        <p:blipFill rotWithShape="1">
          <a:blip r:embed="rId3">
            <a:alphaModFix/>
          </a:blip>
          <a:srcRect b="0" l="0" r="54695" t="0"/>
          <a:stretch/>
        </p:blipFill>
        <p:spPr>
          <a:xfrm>
            <a:off x="-126841" y="450665"/>
            <a:ext cx="41426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3a2a419c17e_0_71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Data Management</a:t>
            </a:r>
            <a:endParaRPr b="1" sz="2400"/>
          </a:p>
        </p:txBody>
      </p:sp>
      <p:sp>
        <p:nvSpPr>
          <p:cNvPr id="649" name="Google Shape;649;g3a2a419c17e_0_719"/>
          <p:cNvSpPr txBox="1"/>
          <p:nvPr/>
        </p:nvSpPr>
        <p:spPr>
          <a:xfrm>
            <a:off x="648472" y="2375915"/>
            <a:ext cx="25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is data management important?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50" name="Google Shape;650;g3a2a419c17e_0_719"/>
          <p:cNvGrpSpPr/>
          <p:nvPr/>
        </p:nvGrpSpPr>
        <p:grpSpPr>
          <a:xfrm>
            <a:off x="3736203" y="731574"/>
            <a:ext cx="5407795" cy="909800"/>
            <a:chOff x="4036007" y="843300"/>
            <a:chExt cx="5407795" cy="909800"/>
          </a:xfrm>
        </p:grpSpPr>
        <p:pic>
          <p:nvPicPr>
            <p:cNvPr id="651" name="Google Shape;651;g3a2a419c17e_0_719"/>
            <p:cNvPicPr preferRelativeResize="0"/>
            <p:nvPr/>
          </p:nvPicPr>
          <p:blipFill rotWithShape="1">
            <a:blip r:embed="rId4">
              <a:alphaModFix/>
            </a:blip>
            <a:srcRect b="68320" l="44227" r="0" t="12074"/>
            <a:stretch/>
          </p:blipFill>
          <p:spPr>
            <a:xfrm>
              <a:off x="4036007" y="843300"/>
              <a:ext cx="5407795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g3a2a419c17e_0_719"/>
            <p:cNvSpPr txBox="1"/>
            <p:nvPr/>
          </p:nvSpPr>
          <p:spPr>
            <a:xfrm>
              <a:off x="5064500" y="1118310"/>
              <a:ext cx="3815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helps you keep track of your own work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3" name="Google Shape;653;g3a2a419c17e_0_719"/>
            <p:cNvSpPr txBox="1"/>
            <p:nvPr/>
          </p:nvSpPr>
          <p:spPr>
            <a:xfrm>
              <a:off x="4302075" y="110646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4" name="Google Shape;654;g3a2a419c17e_0_719"/>
          <p:cNvGrpSpPr/>
          <p:nvPr/>
        </p:nvGrpSpPr>
        <p:grpSpPr>
          <a:xfrm>
            <a:off x="3882453" y="1587118"/>
            <a:ext cx="5261549" cy="909800"/>
            <a:chOff x="4182256" y="1629975"/>
            <a:chExt cx="5261549" cy="909800"/>
          </a:xfrm>
        </p:grpSpPr>
        <p:pic>
          <p:nvPicPr>
            <p:cNvPr id="655" name="Google Shape;655;g3a2a419c17e_0_71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162997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6" name="Google Shape;656;g3a2a419c17e_0_719"/>
            <p:cNvSpPr txBox="1"/>
            <p:nvPr/>
          </p:nvSpPr>
          <p:spPr>
            <a:xfrm>
              <a:off x="5064500" y="1930068"/>
              <a:ext cx="3815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protects against data loss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7" name="Google Shape;657;g3a2a419c17e_0_719"/>
            <p:cNvSpPr txBox="1"/>
            <p:nvPr/>
          </p:nvSpPr>
          <p:spPr>
            <a:xfrm>
              <a:off x="4302074" y="1916219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8" name="Google Shape;658;g3a2a419c17e_0_719"/>
          <p:cNvGrpSpPr/>
          <p:nvPr/>
        </p:nvGrpSpPr>
        <p:grpSpPr>
          <a:xfrm>
            <a:off x="3882453" y="2442662"/>
            <a:ext cx="5261549" cy="909800"/>
            <a:chOff x="4182256" y="2400825"/>
            <a:chExt cx="5261549" cy="909800"/>
          </a:xfrm>
        </p:grpSpPr>
        <p:pic>
          <p:nvPicPr>
            <p:cNvPr id="659" name="Google Shape;659;g3a2a419c17e_0_71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240082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0" name="Google Shape;660;g3a2a419c17e_0_719"/>
            <p:cNvSpPr txBox="1"/>
            <p:nvPr/>
          </p:nvSpPr>
          <p:spPr>
            <a:xfrm>
              <a:off x="5064500" y="2715888"/>
              <a:ext cx="3815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increases research efficiency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1" name="Google Shape;661;g3a2a419c17e_0_719"/>
            <p:cNvSpPr txBox="1"/>
            <p:nvPr/>
          </p:nvSpPr>
          <p:spPr>
            <a:xfrm>
              <a:off x="4302074" y="269726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2" name="Google Shape;662;g3a2a419c17e_0_719"/>
          <p:cNvGrpSpPr/>
          <p:nvPr/>
        </p:nvGrpSpPr>
        <p:grpSpPr>
          <a:xfrm>
            <a:off x="3882452" y="3298206"/>
            <a:ext cx="5261549" cy="909800"/>
            <a:chOff x="4182256" y="3173225"/>
            <a:chExt cx="5261549" cy="909800"/>
          </a:xfrm>
        </p:grpSpPr>
        <p:pic>
          <p:nvPicPr>
            <p:cNvPr id="663" name="Google Shape;663;g3a2a419c17e_0_71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317322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g3a2a419c17e_0_719"/>
            <p:cNvSpPr txBox="1"/>
            <p:nvPr/>
          </p:nvSpPr>
          <p:spPr>
            <a:xfrm>
              <a:off x="5064499" y="3456717"/>
              <a:ext cx="3815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minimises errors and data omission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5" name="Google Shape;665;g3a2a419c17e_0_719"/>
            <p:cNvSpPr txBox="1"/>
            <p:nvPr/>
          </p:nvSpPr>
          <p:spPr>
            <a:xfrm>
              <a:off x="4302075" y="344556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6" name="Google Shape;666;g3a2a419c17e_0_719"/>
          <p:cNvGrpSpPr/>
          <p:nvPr/>
        </p:nvGrpSpPr>
        <p:grpSpPr>
          <a:xfrm>
            <a:off x="3882452" y="4153750"/>
            <a:ext cx="5261549" cy="909800"/>
            <a:chOff x="4182256" y="3974175"/>
            <a:chExt cx="5261549" cy="909800"/>
          </a:xfrm>
        </p:grpSpPr>
        <p:pic>
          <p:nvPicPr>
            <p:cNvPr id="667" name="Google Shape;667;g3a2a419c17e_0_71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397417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g3a2a419c17e_0_719"/>
            <p:cNvSpPr txBox="1"/>
            <p:nvPr/>
          </p:nvSpPr>
          <p:spPr>
            <a:xfrm>
              <a:off x="5064500" y="4162927"/>
              <a:ext cx="38154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There are funding and publishing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incentives related to data management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9" name="Google Shape;669;g3a2a419c17e_0_719"/>
            <p:cNvSpPr txBox="1"/>
            <p:nvPr/>
          </p:nvSpPr>
          <p:spPr>
            <a:xfrm>
              <a:off x="4302075" y="427061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0" name="Google Shape;670;g3a2a419c17e_0_719"/>
          <p:cNvGrpSpPr/>
          <p:nvPr/>
        </p:nvGrpSpPr>
        <p:grpSpPr>
          <a:xfrm>
            <a:off x="3882452" y="5009292"/>
            <a:ext cx="5261549" cy="909800"/>
            <a:chOff x="4182256" y="4776675"/>
            <a:chExt cx="5261549" cy="909800"/>
          </a:xfrm>
        </p:grpSpPr>
        <p:pic>
          <p:nvPicPr>
            <p:cNvPr id="671" name="Google Shape;671;g3a2a419c17e_0_71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477667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2" name="Google Shape;672;g3a2a419c17e_0_719"/>
            <p:cNvSpPr txBox="1"/>
            <p:nvPr/>
          </p:nvSpPr>
          <p:spPr>
            <a:xfrm>
              <a:off x="5064500" y="4959989"/>
              <a:ext cx="3843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There are institutional and/or legal data management requirements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3" name="Google Shape;673;g3a2a419c17e_0_719"/>
            <p:cNvSpPr txBox="1"/>
            <p:nvPr/>
          </p:nvSpPr>
          <p:spPr>
            <a:xfrm>
              <a:off x="4302075" y="503691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a2a419c17e_0_749"/>
          <p:cNvSpPr txBox="1"/>
          <p:nvPr>
            <p:ph type="title"/>
          </p:nvPr>
        </p:nvSpPr>
        <p:spPr>
          <a:xfrm>
            <a:off x="2512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Data Management</a:t>
            </a:r>
            <a:endParaRPr b="1" sz="2400"/>
          </a:p>
        </p:txBody>
      </p:sp>
      <p:grpSp>
        <p:nvGrpSpPr>
          <p:cNvPr id="679" name="Google Shape;679;g3a2a419c17e_0_749"/>
          <p:cNvGrpSpPr/>
          <p:nvPr/>
        </p:nvGrpSpPr>
        <p:grpSpPr>
          <a:xfrm>
            <a:off x="484646" y="1812688"/>
            <a:ext cx="3577877" cy="2678624"/>
            <a:chOff x="494193" y="2005505"/>
            <a:chExt cx="3577877" cy="2678624"/>
          </a:xfrm>
        </p:grpSpPr>
        <p:pic>
          <p:nvPicPr>
            <p:cNvPr id="680" name="Google Shape;680;g3a2a419c17e_0_749"/>
            <p:cNvPicPr preferRelativeResize="0"/>
            <p:nvPr/>
          </p:nvPicPr>
          <p:blipFill rotWithShape="1">
            <a:blip r:embed="rId3">
              <a:alphaModFix/>
            </a:blip>
            <a:srcRect b="21879" l="0" r="55832" t="22688"/>
            <a:stretch/>
          </p:blipFill>
          <p:spPr>
            <a:xfrm>
              <a:off x="494193" y="2005505"/>
              <a:ext cx="3577877" cy="2678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1" name="Google Shape;681;g3a2a419c17e_0_749"/>
            <p:cNvSpPr txBox="1"/>
            <p:nvPr/>
          </p:nvSpPr>
          <p:spPr>
            <a:xfrm>
              <a:off x="1341918" y="2678762"/>
              <a:ext cx="19296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Why is 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open data important?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2" name="Google Shape;682;g3a2a419c17e_0_749"/>
          <p:cNvGrpSpPr/>
          <p:nvPr/>
        </p:nvGrpSpPr>
        <p:grpSpPr>
          <a:xfrm>
            <a:off x="3869580" y="863717"/>
            <a:ext cx="5407795" cy="909800"/>
            <a:chOff x="4036007" y="843300"/>
            <a:chExt cx="5407795" cy="909800"/>
          </a:xfrm>
        </p:grpSpPr>
        <p:pic>
          <p:nvPicPr>
            <p:cNvPr id="683" name="Google Shape;683;g3a2a419c17e_0_749"/>
            <p:cNvPicPr preferRelativeResize="0"/>
            <p:nvPr/>
          </p:nvPicPr>
          <p:blipFill rotWithShape="1">
            <a:blip r:embed="rId4">
              <a:alphaModFix/>
            </a:blip>
            <a:srcRect b="68320" l="44227" r="0" t="12074"/>
            <a:stretch/>
          </p:blipFill>
          <p:spPr>
            <a:xfrm>
              <a:off x="4036007" y="843300"/>
              <a:ext cx="5407795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g3a2a419c17e_0_749"/>
            <p:cNvSpPr txBox="1"/>
            <p:nvPr/>
          </p:nvSpPr>
          <p:spPr>
            <a:xfrm>
              <a:off x="5064500" y="1118310"/>
              <a:ext cx="3815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enhances accountability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5" name="Google Shape;685;g3a2a419c17e_0_749"/>
            <p:cNvSpPr txBox="1"/>
            <p:nvPr/>
          </p:nvSpPr>
          <p:spPr>
            <a:xfrm>
              <a:off x="4302075" y="110646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6" name="Google Shape;686;g3a2a419c17e_0_749"/>
          <p:cNvGrpSpPr/>
          <p:nvPr/>
        </p:nvGrpSpPr>
        <p:grpSpPr>
          <a:xfrm>
            <a:off x="4015830" y="1719261"/>
            <a:ext cx="5261549" cy="909800"/>
            <a:chOff x="4182256" y="1629975"/>
            <a:chExt cx="5261549" cy="909800"/>
          </a:xfrm>
        </p:grpSpPr>
        <p:pic>
          <p:nvPicPr>
            <p:cNvPr id="687" name="Google Shape;687;g3a2a419c17e_0_74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162997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8" name="Google Shape;688;g3a2a419c17e_0_749"/>
            <p:cNvSpPr txBox="1"/>
            <p:nvPr/>
          </p:nvSpPr>
          <p:spPr>
            <a:xfrm>
              <a:off x="5064500" y="1930068"/>
              <a:ext cx="3815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enhances transparency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9" name="Google Shape;689;g3a2a419c17e_0_749"/>
            <p:cNvSpPr txBox="1"/>
            <p:nvPr/>
          </p:nvSpPr>
          <p:spPr>
            <a:xfrm>
              <a:off x="4302074" y="1916219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0" name="Google Shape;690;g3a2a419c17e_0_749"/>
          <p:cNvGrpSpPr/>
          <p:nvPr/>
        </p:nvGrpSpPr>
        <p:grpSpPr>
          <a:xfrm>
            <a:off x="4015830" y="2574805"/>
            <a:ext cx="5261549" cy="909800"/>
            <a:chOff x="4182256" y="2400825"/>
            <a:chExt cx="5261549" cy="909800"/>
          </a:xfrm>
        </p:grpSpPr>
        <p:pic>
          <p:nvPicPr>
            <p:cNvPr id="691" name="Google Shape;691;g3a2a419c17e_0_74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240082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g3a2a419c17e_0_749"/>
            <p:cNvSpPr txBox="1"/>
            <p:nvPr/>
          </p:nvSpPr>
          <p:spPr>
            <a:xfrm>
              <a:off x="5064500" y="2715888"/>
              <a:ext cx="3815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enhances reproducibility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3" name="Google Shape;693;g3a2a419c17e_0_749"/>
            <p:cNvSpPr txBox="1"/>
            <p:nvPr/>
          </p:nvSpPr>
          <p:spPr>
            <a:xfrm>
              <a:off x="4302074" y="269726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4" name="Google Shape;694;g3a2a419c17e_0_749"/>
          <p:cNvGrpSpPr/>
          <p:nvPr/>
        </p:nvGrpSpPr>
        <p:grpSpPr>
          <a:xfrm>
            <a:off x="4015829" y="3430349"/>
            <a:ext cx="5261549" cy="909800"/>
            <a:chOff x="4182256" y="3173225"/>
            <a:chExt cx="5261549" cy="909800"/>
          </a:xfrm>
        </p:grpSpPr>
        <p:pic>
          <p:nvPicPr>
            <p:cNvPr id="695" name="Google Shape;695;g3a2a419c17e_0_74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317322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g3a2a419c17e_0_749"/>
            <p:cNvSpPr txBox="1"/>
            <p:nvPr/>
          </p:nvSpPr>
          <p:spPr>
            <a:xfrm>
              <a:off x="5064500" y="3336563"/>
              <a:ext cx="38154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facilitates revisiting and building on existing data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7" name="Google Shape;697;g3a2a419c17e_0_749"/>
            <p:cNvSpPr txBox="1"/>
            <p:nvPr/>
          </p:nvSpPr>
          <p:spPr>
            <a:xfrm>
              <a:off x="4302075" y="344556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8" name="Google Shape;698;g3a2a419c17e_0_749"/>
          <p:cNvGrpSpPr/>
          <p:nvPr/>
        </p:nvGrpSpPr>
        <p:grpSpPr>
          <a:xfrm>
            <a:off x="4015829" y="4285893"/>
            <a:ext cx="5261549" cy="909800"/>
            <a:chOff x="4182256" y="3974175"/>
            <a:chExt cx="5261549" cy="909800"/>
          </a:xfrm>
        </p:grpSpPr>
        <p:pic>
          <p:nvPicPr>
            <p:cNvPr id="699" name="Google Shape;699;g3a2a419c17e_0_74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397417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g3a2a419c17e_0_749"/>
            <p:cNvSpPr txBox="1"/>
            <p:nvPr/>
          </p:nvSpPr>
          <p:spPr>
            <a:xfrm>
              <a:off x="5064500" y="4162927"/>
              <a:ext cx="38154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facilitates better and stronger collaborations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1" name="Google Shape;701;g3a2a419c17e_0_749"/>
            <p:cNvSpPr txBox="1"/>
            <p:nvPr/>
          </p:nvSpPr>
          <p:spPr>
            <a:xfrm>
              <a:off x="4302075" y="427061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2" name="Google Shape;702;g3a2a419c17e_0_749"/>
          <p:cNvGrpSpPr/>
          <p:nvPr/>
        </p:nvGrpSpPr>
        <p:grpSpPr>
          <a:xfrm>
            <a:off x="4015829" y="5141435"/>
            <a:ext cx="5261549" cy="909800"/>
            <a:chOff x="4182256" y="4776675"/>
            <a:chExt cx="5261549" cy="909800"/>
          </a:xfrm>
        </p:grpSpPr>
        <p:pic>
          <p:nvPicPr>
            <p:cNvPr id="703" name="Google Shape;703;g3a2a419c17e_0_749"/>
            <p:cNvPicPr preferRelativeResize="0"/>
            <p:nvPr/>
          </p:nvPicPr>
          <p:blipFill rotWithShape="1">
            <a:blip r:embed="rId4">
              <a:alphaModFix/>
            </a:blip>
            <a:srcRect b="68320" l="45734" r="0" t="12074"/>
            <a:stretch/>
          </p:blipFill>
          <p:spPr>
            <a:xfrm>
              <a:off x="4182256" y="4776675"/>
              <a:ext cx="5261549" cy="9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4" name="Google Shape;704;g3a2a419c17e_0_749"/>
            <p:cNvSpPr txBox="1"/>
            <p:nvPr/>
          </p:nvSpPr>
          <p:spPr>
            <a:xfrm>
              <a:off x="5064500" y="4959989"/>
              <a:ext cx="3843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is better value for the public money that funds much research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5" name="Google Shape;705;g3a2a419c17e_0_749"/>
            <p:cNvSpPr txBox="1"/>
            <p:nvPr/>
          </p:nvSpPr>
          <p:spPr>
            <a:xfrm>
              <a:off x="4302075" y="5036916"/>
              <a:ext cx="63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6" name="Google Shape;706;g3a2a419c17e_0_749"/>
          <p:cNvGrpSpPr/>
          <p:nvPr/>
        </p:nvGrpSpPr>
        <p:grpSpPr>
          <a:xfrm>
            <a:off x="51960" y="4164391"/>
            <a:ext cx="2988174" cy="2251400"/>
            <a:chOff x="51960" y="4164391"/>
            <a:chExt cx="2988174" cy="2251400"/>
          </a:xfrm>
        </p:grpSpPr>
        <p:pic>
          <p:nvPicPr>
            <p:cNvPr id="707" name="Google Shape;707;g3a2a419c17e_0_749"/>
            <p:cNvPicPr preferRelativeResize="0"/>
            <p:nvPr/>
          </p:nvPicPr>
          <p:blipFill rotWithShape="1">
            <a:blip r:embed="rId5">
              <a:alphaModFix/>
            </a:blip>
            <a:srcRect b="22775" l="0" r="57745" t="19710"/>
            <a:stretch/>
          </p:blipFill>
          <p:spPr>
            <a:xfrm flipH="1" rot="1003907">
              <a:off x="820735" y="4416830"/>
              <a:ext cx="2010555" cy="1746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g3a2a419c17e_0_749"/>
            <p:cNvSpPr/>
            <p:nvPr/>
          </p:nvSpPr>
          <p:spPr>
            <a:xfrm>
              <a:off x="1013977" y="4818234"/>
              <a:ext cx="1635600" cy="10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Remember that open data is data made publicly available</a:t>
              </a:r>
              <a:endParaRPr b="1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09" name="Google Shape;709;g3a2a419c17e_0_749"/>
            <p:cNvPicPr preferRelativeResize="0"/>
            <p:nvPr/>
          </p:nvPicPr>
          <p:blipFill rotWithShape="1">
            <a:blip r:embed="rId6">
              <a:alphaModFix/>
            </a:blip>
            <a:srcRect b="68500" l="25819" r="27625" t="0"/>
            <a:stretch/>
          </p:blipFill>
          <p:spPr>
            <a:xfrm>
              <a:off x="51960" y="4879996"/>
              <a:ext cx="1016777" cy="117447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714" name="Google Shape;714;g3a2a419c17e_0_7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15" name="Google Shape;715;g3a2a419c17e_0_7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20" name="Google Shape;720;g3a2a419c17e_0_935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21" name="Google Shape;721;g3a2a419c17e_0_9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g3a2a419c17e_0_935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g3a2a419c17e_0_935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a2a419c17e_0_942"/>
          <p:cNvSpPr txBox="1"/>
          <p:nvPr>
            <p:ph type="title"/>
          </p:nvPr>
        </p:nvSpPr>
        <p:spPr>
          <a:xfrm>
            <a:off x="2755900" y="2372350"/>
            <a:ext cx="36321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Open reporting</a:t>
            </a:r>
            <a:endParaRPr/>
          </a:p>
        </p:txBody>
      </p:sp>
      <p:pic>
        <p:nvPicPr>
          <p:cNvPr descr="A picture containing text, vector graphics&#10;&#10;Description automatically generated" id="729" name="Google Shape;729;g3a2a419c17e_0_9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3914" y="1809796"/>
            <a:ext cx="2312825" cy="444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silhouette, vector graphics&#10;&#10;Description automatically generated" id="730" name="Google Shape;730;g3a2a419c17e_0_9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7950" y="3429000"/>
            <a:ext cx="2438179" cy="28290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31" name="Google Shape;731;g3a2a419c17e_0_9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4721" y="4686140"/>
            <a:ext cx="1530732" cy="1319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6" name="Google Shape;736;g3a2a419c17e_0_949"/>
          <p:cNvGrpSpPr/>
          <p:nvPr/>
        </p:nvGrpSpPr>
        <p:grpSpPr>
          <a:xfrm>
            <a:off x="158580" y="2877792"/>
            <a:ext cx="8680120" cy="3547810"/>
            <a:chOff x="158580" y="2877792"/>
            <a:chExt cx="8680120" cy="3547810"/>
          </a:xfrm>
        </p:grpSpPr>
        <p:sp>
          <p:nvSpPr>
            <p:cNvPr id="737" name="Google Shape;737;g3a2a419c17e_0_949"/>
            <p:cNvSpPr/>
            <p:nvPr/>
          </p:nvSpPr>
          <p:spPr>
            <a:xfrm>
              <a:off x="264100" y="3532070"/>
              <a:ext cx="8574600" cy="2365200"/>
            </a:xfrm>
            <a:prstGeom prst="rect">
              <a:avLst/>
            </a:prstGeom>
            <a:solidFill>
              <a:srgbClr val="A1DFF5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8" name="Google Shape;738;g3a2a419c17e_0_949"/>
            <p:cNvPicPr preferRelativeResize="0"/>
            <p:nvPr/>
          </p:nvPicPr>
          <p:blipFill rotWithShape="1">
            <a:blip r:embed="rId3">
              <a:alphaModFix/>
            </a:blip>
            <a:srcRect b="50668" l="0" r="0" t="0"/>
            <a:stretch/>
          </p:blipFill>
          <p:spPr>
            <a:xfrm>
              <a:off x="158580" y="3561112"/>
              <a:ext cx="1925690" cy="23053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9" name="Google Shape;739;g3a2a419c17e_0_949"/>
            <p:cNvPicPr preferRelativeResize="0"/>
            <p:nvPr/>
          </p:nvPicPr>
          <p:blipFill rotWithShape="1">
            <a:blip r:embed="rId4">
              <a:alphaModFix/>
            </a:blip>
            <a:srcRect b="22775" l="0" r="57745" t="19710"/>
            <a:stretch/>
          </p:blipFill>
          <p:spPr>
            <a:xfrm flipH="1" rot="1387426">
              <a:off x="1274746" y="3371996"/>
              <a:ext cx="3040431" cy="25594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0" name="Google Shape;740;g3a2a419c17e_0_949"/>
            <p:cNvSpPr/>
            <p:nvPr/>
          </p:nvSpPr>
          <p:spPr>
            <a:xfrm>
              <a:off x="1869367" y="3891548"/>
              <a:ext cx="1907100" cy="15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762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Open reporting involves providing a full, clear, and specific account of how research was conducted</a:t>
              </a:r>
              <a:endParaRPr/>
            </a:p>
          </p:txBody>
        </p:sp>
      </p:grpSp>
      <p:sp>
        <p:nvSpPr>
          <p:cNvPr id="741" name="Google Shape;741;g3a2a419c17e_0_94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Open Reporting</a:t>
            </a:r>
            <a:endParaRPr b="1" sz="2400"/>
          </a:p>
        </p:txBody>
      </p:sp>
      <p:grpSp>
        <p:nvGrpSpPr>
          <p:cNvPr id="742" name="Google Shape;742;g3a2a419c17e_0_949"/>
          <p:cNvGrpSpPr/>
          <p:nvPr/>
        </p:nvGrpSpPr>
        <p:grpSpPr>
          <a:xfrm>
            <a:off x="77029" y="460443"/>
            <a:ext cx="8761671" cy="2805792"/>
            <a:chOff x="77029" y="460443"/>
            <a:chExt cx="8761671" cy="2805792"/>
          </a:xfrm>
        </p:grpSpPr>
        <p:sp>
          <p:nvSpPr>
            <p:cNvPr id="743" name="Google Shape;743;g3a2a419c17e_0_949"/>
            <p:cNvSpPr/>
            <p:nvPr/>
          </p:nvSpPr>
          <p:spPr>
            <a:xfrm>
              <a:off x="264100" y="899835"/>
              <a:ext cx="8574600" cy="2366400"/>
            </a:xfrm>
            <a:prstGeom prst="rect">
              <a:avLst/>
            </a:prstGeom>
            <a:solidFill>
              <a:srgbClr val="A1DFF5">
                <a:alpha val="2784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text, vector graphics&#10;&#10;Description automatically generated" id="744" name="Google Shape;744;g3a2a419c17e_0_949"/>
            <p:cNvPicPr preferRelativeResize="0"/>
            <p:nvPr/>
          </p:nvPicPr>
          <p:blipFill rotWithShape="1">
            <a:blip r:embed="rId5">
              <a:alphaModFix/>
            </a:blip>
            <a:srcRect b="51774" l="0" r="0" t="0"/>
            <a:stretch/>
          </p:blipFill>
          <p:spPr>
            <a:xfrm>
              <a:off x="77029" y="1516405"/>
              <a:ext cx="2260200" cy="17277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5" name="Google Shape;745;g3a2a419c17e_0_949"/>
            <p:cNvPicPr preferRelativeResize="0"/>
            <p:nvPr/>
          </p:nvPicPr>
          <p:blipFill rotWithShape="1">
            <a:blip r:embed="rId4">
              <a:alphaModFix/>
            </a:blip>
            <a:srcRect b="22775" l="0" r="57745" t="19710"/>
            <a:stretch/>
          </p:blipFill>
          <p:spPr>
            <a:xfrm flipH="1" rot="1387423">
              <a:off x="1293351" y="849480"/>
              <a:ext cx="2352736" cy="1815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6" name="Google Shape;746;g3a2a419c17e_0_949"/>
            <p:cNvSpPr/>
            <p:nvPr/>
          </p:nvSpPr>
          <p:spPr>
            <a:xfrm>
              <a:off x="1705053" y="1199462"/>
              <a:ext cx="1538400" cy="10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 involves choices and revisions at each stage</a:t>
              </a:r>
              <a:endParaRPr b="1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7" name="Google Shape;747;g3a2a419c17e_0_949"/>
          <p:cNvGrpSpPr/>
          <p:nvPr/>
        </p:nvGrpSpPr>
        <p:grpSpPr>
          <a:xfrm>
            <a:off x="5079462" y="3039418"/>
            <a:ext cx="4396164" cy="2857850"/>
            <a:chOff x="5033620" y="3030889"/>
            <a:chExt cx="4396164" cy="2857850"/>
          </a:xfrm>
        </p:grpSpPr>
        <p:pic>
          <p:nvPicPr>
            <p:cNvPr descr="A picture containing text, vector graphics&#10;&#10;Description automatically generated" id="748" name="Google Shape;748;g3a2a419c17e_0_949"/>
            <p:cNvPicPr preferRelativeResize="0"/>
            <p:nvPr/>
          </p:nvPicPr>
          <p:blipFill rotWithShape="1">
            <a:blip r:embed="rId6">
              <a:alphaModFix/>
            </a:blip>
            <a:srcRect b="49586" l="0" r="0" t="0"/>
            <a:stretch/>
          </p:blipFill>
          <p:spPr>
            <a:xfrm>
              <a:off x="6424411" y="3773101"/>
              <a:ext cx="3005373" cy="2115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9" name="Google Shape;749;g3a2a419c17e_0_949"/>
            <p:cNvPicPr preferRelativeResize="0"/>
            <p:nvPr/>
          </p:nvPicPr>
          <p:blipFill rotWithShape="1">
            <a:blip r:embed="rId4">
              <a:alphaModFix/>
            </a:blip>
            <a:srcRect b="22775" l="0" r="57745" t="19710"/>
            <a:stretch/>
          </p:blipFill>
          <p:spPr>
            <a:xfrm rot="-882654">
              <a:off x="5239066" y="3328926"/>
              <a:ext cx="2599471" cy="1953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0" name="Google Shape;750;g3a2a419c17e_0_949"/>
            <p:cNvSpPr/>
            <p:nvPr/>
          </p:nvSpPr>
          <p:spPr>
            <a:xfrm>
              <a:off x="5645671" y="3732569"/>
              <a:ext cx="1807200" cy="8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is supported by use of open reporting checklists</a:t>
              </a:r>
              <a:endParaRPr b="1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51" name="Google Shape;751;g3a2a419c17e_0_94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5844524" y="4323386"/>
              <a:ext cx="1263577" cy="112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2" name="Google Shape;752;g3a2a419c17e_0_949"/>
          <p:cNvGrpSpPr/>
          <p:nvPr/>
        </p:nvGrpSpPr>
        <p:grpSpPr>
          <a:xfrm>
            <a:off x="3490888" y="899835"/>
            <a:ext cx="5619635" cy="3020033"/>
            <a:chOff x="3490888" y="899835"/>
            <a:chExt cx="5619635" cy="3020033"/>
          </a:xfrm>
        </p:grpSpPr>
        <p:grpSp>
          <p:nvGrpSpPr>
            <p:cNvPr id="753" name="Google Shape;753;g3a2a419c17e_0_949"/>
            <p:cNvGrpSpPr/>
            <p:nvPr/>
          </p:nvGrpSpPr>
          <p:grpSpPr>
            <a:xfrm>
              <a:off x="3490888" y="1473692"/>
              <a:ext cx="2225449" cy="1770566"/>
              <a:chOff x="3358400" y="1473692"/>
              <a:chExt cx="2225449" cy="1770566"/>
            </a:xfrm>
          </p:grpSpPr>
          <p:pic>
            <p:nvPicPr>
              <p:cNvPr descr="A picture containing chart&#10;&#10;Description automatically generated" id="754" name="Google Shape;754;g3a2a419c17e_0_94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3358400" y="1473692"/>
                <a:ext cx="2129813" cy="17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con&#10;&#10;Description automatically generated" id="755" name="Google Shape;755;g3a2a419c17e_0_94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-5068998">
                <a:off x="4055341" y="1495755"/>
                <a:ext cx="1389551" cy="154101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 picture containing text&#10;&#10;Description automatically generated" id="756" name="Google Shape;756;g3a2a419c17e_0_949"/>
            <p:cNvPicPr preferRelativeResize="0"/>
            <p:nvPr/>
          </p:nvPicPr>
          <p:blipFill rotWithShape="1">
            <a:blip r:embed="rId10">
              <a:alphaModFix/>
            </a:blip>
            <a:srcRect b="51387" l="0" r="0" t="0"/>
            <a:stretch/>
          </p:blipFill>
          <p:spPr>
            <a:xfrm>
              <a:off x="6449877" y="1205289"/>
              <a:ext cx="2660646" cy="203855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7" name="Google Shape;757;g3a2a419c17e_0_949"/>
            <p:cNvGrpSpPr/>
            <p:nvPr/>
          </p:nvGrpSpPr>
          <p:grpSpPr>
            <a:xfrm>
              <a:off x="4931876" y="899835"/>
              <a:ext cx="3088869" cy="3020033"/>
              <a:chOff x="5194892" y="838750"/>
              <a:chExt cx="3088869" cy="3020033"/>
            </a:xfrm>
          </p:grpSpPr>
          <p:pic>
            <p:nvPicPr>
              <p:cNvPr id="758" name="Google Shape;758;g3a2a419c17e_0_949"/>
              <p:cNvPicPr preferRelativeResize="0"/>
              <p:nvPr/>
            </p:nvPicPr>
            <p:blipFill rotWithShape="1">
              <a:blip r:embed="rId4">
                <a:alphaModFix/>
              </a:blip>
              <a:srcRect b="22775" l="0" r="57745" t="19710"/>
              <a:stretch/>
            </p:blipFill>
            <p:spPr>
              <a:xfrm flipH="1" rot="-8889864">
                <a:off x="5576835" y="1293143"/>
                <a:ext cx="2324982" cy="21112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9" name="Google Shape;759;g3a2a419c17e_0_949"/>
              <p:cNvSpPr/>
              <p:nvPr/>
            </p:nvSpPr>
            <p:spPr>
              <a:xfrm rot="-67527">
                <a:off x="5753405" y="1776344"/>
                <a:ext cx="1878662" cy="1169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Open reporting allows us to make our processes and our outputs transparent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g3a2a419c17e_0_976"/>
          <p:cNvPicPr preferRelativeResize="0"/>
          <p:nvPr/>
        </p:nvPicPr>
        <p:blipFill rotWithShape="1">
          <a:blip r:embed="rId3">
            <a:alphaModFix/>
          </a:blip>
          <a:srcRect b="0" l="0" r="56825" t="0"/>
          <a:stretch/>
        </p:blipFill>
        <p:spPr>
          <a:xfrm>
            <a:off x="0" y="776775"/>
            <a:ext cx="39477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g3a2a419c17e_0_97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Open Reporting</a:t>
            </a:r>
            <a:endParaRPr b="1" sz="2400"/>
          </a:p>
        </p:txBody>
      </p:sp>
      <p:sp>
        <p:nvSpPr>
          <p:cNvPr id="766" name="Google Shape;766;g3a2a419c17e_0_976"/>
          <p:cNvSpPr txBox="1"/>
          <p:nvPr/>
        </p:nvSpPr>
        <p:spPr>
          <a:xfrm>
            <a:off x="660050" y="2662189"/>
            <a:ext cx="2543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is open reporting important? 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67" name="Google Shape;767;g3a2a419c17e_0_976"/>
          <p:cNvGrpSpPr/>
          <p:nvPr/>
        </p:nvGrpSpPr>
        <p:grpSpPr>
          <a:xfrm>
            <a:off x="3670598" y="857250"/>
            <a:ext cx="5567750" cy="1059078"/>
            <a:chOff x="3769949" y="842281"/>
            <a:chExt cx="5567750" cy="1059078"/>
          </a:xfrm>
        </p:grpSpPr>
        <p:pic>
          <p:nvPicPr>
            <p:cNvPr id="768" name="Google Shape;768;g3a2a419c17e_0_976"/>
            <p:cNvPicPr preferRelativeResize="0"/>
            <p:nvPr/>
          </p:nvPicPr>
          <p:blipFill rotWithShape="1">
            <a:blip r:embed="rId4">
              <a:alphaModFix/>
            </a:blip>
            <a:srcRect b="68320" l="44227" r="0" t="12074"/>
            <a:stretch/>
          </p:blipFill>
          <p:spPr>
            <a:xfrm>
              <a:off x="3769949" y="842281"/>
              <a:ext cx="5567750" cy="1042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9" name="Google Shape;769;g3a2a419c17e_0_976"/>
            <p:cNvSpPr txBox="1"/>
            <p:nvPr/>
          </p:nvSpPr>
          <p:spPr>
            <a:xfrm>
              <a:off x="4796125" y="977959"/>
              <a:ext cx="3799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allows researchers to detail their processes and decisions at all stages of the research cycle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0" name="Google Shape;770;g3a2a419c17e_0_976"/>
            <p:cNvSpPr txBox="1"/>
            <p:nvPr/>
          </p:nvSpPr>
          <p:spPr>
            <a:xfrm>
              <a:off x="4000638" y="1192057"/>
              <a:ext cx="73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1" name="Google Shape;771;g3a2a419c17e_0_976"/>
          <p:cNvGrpSpPr/>
          <p:nvPr/>
        </p:nvGrpSpPr>
        <p:grpSpPr>
          <a:xfrm>
            <a:off x="3635011" y="2002901"/>
            <a:ext cx="5603338" cy="1044001"/>
            <a:chOff x="3769948" y="1986106"/>
            <a:chExt cx="5603338" cy="1044001"/>
          </a:xfrm>
        </p:grpSpPr>
        <p:pic>
          <p:nvPicPr>
            <p:cNvPr id="772" name="Google Shape;772;g3a2a419c17e_0_976"/>
            <p:cNvPicPr preferRelativeResize="0"/>
            <p:nvPr/>
          </p:nvPicPr>
          <p:blipFill rotWithShape="1">
            <a:blip r:embed="rId4">
              <a:alphaModFix/>
            </a:blip>
            <a:srcRect b="68320" l="44227" r="0" t="12074"/>
            <a:stretch/>
          </p:blipFill>
          <p:spPr>
            <a:xfrm>
              <a:off x="3769948" y="1986106"/>
              <a:ext cx="5603338" cy="104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3" name="Google Shape;773;g3a2a419c17e_0_976"/>
            <p:cNvSpPr txBox="1"/>
            <p:nvPr/>
          </p:nvSpPr>
          <p:spPr>
            <a:xfrm>
              <a:off x="4796125" y="2230009"/>
              <a:ext cx="3799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enhances other researchers’ ability to evaluate a study’s results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4" name="Google Shape;774;g3a2a419c17e_0_976"/>
            <p:cNvSpPr txBox="1"/>
            <p:nvPr/>
          </p:nvSpPr>
          <p:spPr>
            <a:xfrm>
              <a:off x="3974601" y="2318807"/>
              <a:ext cx="73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5" name="Google Shape;775;g3a2a419c17e_0_976"/>
          <p:cNvGrpSpPr/>
          <p:nvPr/>
        </p:nvGrpSpPr>
        <p:grpSpPr>
          <a:xfrm>
            <a:off x="3769949" y="3106650"/>
            <a:ext cx="5468400" cy="1044001"/>
            <a:chOff x="3863800" y="3106650"/>
            <a:chExt cx="5468400" cy="1044001"/>
          </a:xfrm>
        </p:grpSpPr>
        <p:pic>
          <p:nvPicPr>
            <p:cNvPr id="776" name="Google Shape;776;g3a2a419c17e_0_976"/>
            <p:cNvPicPr preferRelativeResize="0"/>
            <p:nvPr/>
          </p:nvPicPr>
          <p:blipFill rotWithShape="1">
            <a:blip r:embed="rId4">
              <a:alphaModFix/>
            </a:blip>
            <a:srcRect b="68320" l="45696" r="0" t="12074"/>
            <a:stretch/>
          </p:blipFill>
          <p:spPr>
            <a:xfrm>
              <a:off x="3863800" y="3106650"/>
              <a:ext cx="5468400" cy="104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g3a2a419c17e_0_976"/>
            <p:cNvSpPr txBox="1"/>
            <p:nvPr/>
          </p:nvSpPr>
          <p:spPr>
            <a:xfrm>
              <a:off x="4796125" y="3348525"/>
              <a:ext cx="3799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enhances other researchers’ abilities to reproduce a study’s results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8" name="Google Shape;778;g3a2a419c17e_0_976"/>
            <p:cNvSpPr txBox="1"/>
            <p:nvPr/>
          </p:nvSpPr>
          <p:spPr>
            <a:xfrm>
              <a:off x="3920712" y="3469639"/>
              <a:ext cx="73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9" name="Google Shape;779;g3a2a419c17e_0_976"/>
          <p:cNvGrpSpPr/>
          <p:nvPr/>
        </p:nvGrpSpPr>
        <p:grpSpPr>
          <a:xfrm>
            <a:off x="3635012" y="4227194"/>
            <a:ext cx="5557651" cy="1375498"/>
            <a:chOff x="3769949" y="4290624"/>
            <a:chExt cx="5557651" cy="1375498"/>
          </a:xfrm>
        </p:grpSpPr>
        <p:pic>
          <p:nvPicPr>
            <p:cNvPr id="780" name="Google Shape;780;g3a2a419c17e_0_976"/>
            <p:cNvPicPr preferRelativeResize="0"/>
            <p:nvPr/>
          </p:nvPicPr>
          <p:blipFill rotWithShape="1">
            <a:blip r:embed="rId4">
              <a:alphaModFix/>
            </a:blip>
            <a:srcRect b="68320" l="44227" r="0" t="12074"/>
            <a:stretch/>
          </p:blipFill>
          <p:spPr>
            <a:xfrm>
              <a:off x="3769949" y="4290624"/>
              <a:ext cx="5557651" cy="13753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1" name="Google Shape;781;g3a2a419c17e_0_976"/>
            <p:cNvSpPr txBox="1"/>
            <p:nvPr/>
          </p:nvSpPr>
          <p:spPr>
            <a:xfrm>
              <a:off x="4796125" y="4496422"/>
              <a:ext cx="40839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benefits decision-making at individual and societal levels, because decisions can be made on transparent processes and findings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2" name="Google Shape;782;g3a2a419c17e_0_976"/>
            <p:cNvSpPr txBox="1"/>
            <p:nvPr/>
          </p:nvSpPr>
          <p:spPr>
            <a:xfrm>
              <a:off x="3974601" y="4817329"/>
              <a:ext cx="73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787" name="Google Shape;787;g3a2a419c17e_0_9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88" name="Google Shape;788;g3a2a419c17e_0_9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93" name="Google Shape;793;g3a2a419c17e_0_1390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94" name="Google Shape;794;g3a2a419c17e_0_13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g3a2a419c17e_0_1390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g3a2a419c17e_0_1390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a2a419c17e_0_1397"/>
          <p:cNvSpPr txBox="1"/>
          <p:nvPr>
            <p:ph type="title"/>
          </p:nvPr>
        </p:nvSpPr>
        <p:spPr>
          <a:xfrm>
            <a:off x="2755900" y="2372350"/>
            <a:ext cx="36321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2500"/>
              <a:buNone/>
            </a:pPr>
            <a:r>
              <a:rPr lang="en-US" sz="3200"/>
              <a:t>Open knowledge dissemination</a:t>
            </a:r>
            <a:endParaRPr/>
          </a:p>
        </p:txBody>
      </p:sp>
      <p:pic>
        <p:nvPicPr>
          <p:cNvPr id="802" name="Google Shape;802;g3a2a419c17e_0_13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86" y="2572625"/>
            <a:ext cx="2399400" cy="3685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vector graphics&#10;&#10;Description automatically generated" id="803" name="Google Shape;803;g3a2a419c17e_0_13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668260" y="2516030"/>
            <a:ext cx="3618615" cy="3742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a2a419c17e_0_140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Open Knowledge Dissemination</a:t>
            </a:r>
            <a:endParaRPr b="1" sz="2400"/>
          </a:p>
        </p:txBody>
      </p:sp>
      <p:grpSp>
        <p:nvGrpSpPr>
          <p:cNvPr id="809" name="Google Shape;809;g3a2a419c17e_0_1403"/>
          <p:cNvGrpSpPr/>
          <p:nvPr/>
        </p:nvGrpSpPr>
        <p:grpSpPr>
          <a:xfrm>
            <a:off x="341546" y="1025785"/>
            <a:ext cx="8460900" cy="2286892"/>
            <a:chOff x="254000" y="3627606"/>
            <a:chExt cx="8460900" cy="2286892"/>
          </a:xfrm>
        </p:grpSpPr>
        <p:sp>
          <p:nvSpPr>
            <p:cNvPr id="810" name="Google Shape;810;g3a2a419c17e_0_1403"/>
            <p:cNvSpPr/>
            <p:nvPr/>
          </p:nvSpPr>
          <p:spPr>
            <a:xfrm>
              <a:off x="254000" y="3718483"/>
              <a:ext cx="8460900" cy="1975500"/>
            </a:xfrm>
            <a:prstGeom prst="rect">
              <a:avLst/>
            </a:prstGeom>
            <a:solidFill>
              <a:srgbClr val="CFEFFA"/>
            </a:solidFill>
            <a:ln cap="flat" cmpd="sng" w="25400">
              <a:solidFill>
                <a:srgbClr val="CFEF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g3a2a419c17e_0_1403"/>
            <p:cNvSpPr txBox="1"/>
            <p:nvPr/>
          </p:nvSpPr>
          <p:spPr>
            <a:xfrm>
              <a:off x="463405" y="4024571"/>
              <a:ext cx="5854200" cy="14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7620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Open knowledge dissemination means communicating knowledge gained from research in open and accessible ways</a:t>
              </a:r>
              <a:endParaRPr b="1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12" name="Google Shape;812;g3a2a419c17e_0_14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80290" y="3774620"/>
              <a:ext cx="1179225" cy="129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3" name="Google Shape;813;g3a2a419c17e_0_14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79812" y="3866570"/>
              <a:ext cx="1255371" cy="17904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g3a2a419c17e_0_1403"/>
            <p:cNvPicPr preferRelativeResize="0"/>
            <p:nvPr/>
          </p:nvPicPr>
          <p:blipFill rotWithShape="1">
            <a:blip r:embed="rId5">
              <a:alphaModFix/>
            </a:blip>
            <a:srcRect b="35026" l="0" r="0" t="0"/>
            <a:stretch/>
          </p:blipFill>
          <p:spPr>
            <a:xfrm rot="-3382187">
              <a:off x="6170696" y="4432379"/>
              <a:ext cx="1323713" cy="119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g3a2a419c17e_0_140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7687841" y="3627606"/>
              <a:ext cx="911700" cy="1247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6" name="Google Shape;816;g3a2a419c17e_0_1403"/>
          <p:cNvGrpSpPr/>
          <p:nvPr/>
        </p:nvGrpSpPr>
        <p:grpSpPr>
          <a:xfrm>
            <a:off x="341545" y="3545324"/>
            <a:ext cx="8460900" cy="1975500"/>
            <a:chOff x="341545" y="3545324"/>
            <a:chExt cx="8460900" cy="1975500"/>
          </a:xfrm>
        </p:grpSpPr>
        <p:sp>
          <p:nvSpPr>
            <p:cNvPr id="817" name="Google Shape;817;g3a2a419c17e_0_1403"/>
            <p:cNvSpPr/>
            <p:nvPr/>
          </p:nvSpPr>
          <p:spPr>
            <a:xfrm>
              <a:off x="341545" y="3545324"/>
              <a:ext cx="8460900" cy="1975500"/>
            </a:xfrm>
            <a:prstGeom prst="rect">
              <a:avLst/>
            </a:prstGeom>
            <a:solidFill>
              <a:srgbClr val="CFEFFA"/>
            </a:solidFill>
            <a:ln cap="flat" cmpd="sng" w="25400">
              <a:solidFill>
                <a:srgbClr val="CFEF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&#10;&#10;Description automatically generated" id="818" name="Google Shape;818;g3a2a419c17e_0_14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33828" y="3603698"/>
              <a:ext cx="1469512" cy="1266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iagram&#10;&#10;Description automatically generated" id="819" name="Google Shape;819;g3a2a419c17e_0_140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454175" y="4202627"/>
              <a:ext cx="1219565" cy="1206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0" name="Google Shape;820;g3a2a419c17e_0_1403"/>
            <p:cNvSpPr txBox="1"/>
            <p:nvPr/>
          </p:nvSpPr>
          <p:spPr>
            <a:xfrm>
              <a:off x="550950" y="3794030"/>
              <a:ext cx="5854200" cy="14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76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This expands on the traditional approach to sharing research knowledge, which involves publishing it in an academic journal that often can only be accessed by paying a fee 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a2a419c17e_0_1419"/>
          <p:cNvSpPr txBox="1"/>
          <p:nvPr>
            <p:ph idx="4294967295" type="body"/>
          </p:nvPr>
        </p:nvSpPr>
        <p:spPr>
          <a:xfrm>
            <a:off x="264100" y="779061"/>
            <a:ext cx="8183100" cy="3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>
                <a:solidFill>
                  <a:srgbClr val="000000"/>
                </a:solidFill>
              </a:rPr>
              <a:t>Approaches to open knowledge dissemination include:</a:t>
            </a:r>
            <a:br>
              <a:rPr b="1" lang="en-US" sz="2200"/>
            </a:b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200"/>
          </a:p>
        </p:txBody>
      </p:sp>
      <p:sp>
        <p:nvSpPr>
          <p:cNvPr id="826" name="Google Shape;826;g3a2a419c17e_0_141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Open Knowledge Dissemination</a:t>
            </a:r>
            <a:endParaRPr b="1" sz="2400"/>
          </a:p>
        </p:txBody>
      </p:sp>
      <p:grpSp>
        <p:nvGrpSpPr>
          <p:cNvPr id="827" name="Google Shape;827;g3a2a419c17e_0_1419"/>
          <p:cNvGrpSpPr/>
          <p:nvPr/>
        </p:nvGrpSpPr>
        <p:grpSpPr>
          <a:xfrm>
            <a:off x="1177889" y="1495329"/>
            <a:ext cx="6586492" cy="761700"/>
            <a:chOff x="1604761" y="1991758"/>
            <a:chExt cx="6040437" cy="761700"/>
          </a:xfrm>
        </p:grpSpPr>
        <p:grpSp>
          <p:nvGrpSpPr>
            <p:cNvPr id="828" name="Google Shape;828;g3a2a419c17e_0_1419"/>
            <p:cNvGrpSpPr/>
            <p:nvPr/>
          </p:nvGrpSpPr>
          <p:grpSpPr>
            <a:xfrm>
              <a:off x="1689221" y="1991758"/>
              <a:ext cx="5955977" cy="761700"/>
              <a:chOff x="584338" y="1737976"/>
              <a:chExt cx="5549736" cy="761700"/>
            </a:xfrm>
          </p:grpSpPr>
          <p:sp>
            <p:nvSpPr>
              <p:cNvPr id="829" name="Google Shape;829;g3a2a419c17e_0_1419"/>
              <p:cNvSpPr/>
              <p:nvPr/>
            </p:nvSpPr>
            <p:spPr>
              <a:xfrm>
                <a:off x="1354774" y="1737976"/>
                <a:ext cx="47793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g3a2a419c17e_0_1419"/>
              <p:cNvSpPr/>
              <p:nvPr/>
            </p:nvSpPr>
            <p:spPr>
              <a:xfrm>
                <a:off x="584338" y="1749861"/>
                <a:ext cx="1422600" cy="7377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1" name="Google Shape;831;g3a2a419c17e_0_1419"/>
            <p:cNvSpPr txBox="1"/>
            <p:nvPr/>
          </p:nvSpPr>
          <p:spPr>
            <a:xfrm>
              <a:off x="3304828" y="2039478"/>
              <a:ext cx="4176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Anyone can access the published research, without paying a fee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2" name="Google Shape;832;g3a2a419c17e_0_1419"/>
            <p:cNvSpPr txBox="1"/>
            <p:nvPr/>
          </p:nvSpPr>
          <p:spPr>
            <a:xfrm>
              <a:off x="1604761" y="2039478"/>
              <a:ext cx="16557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Open access publishing</a:t>
              </a:r>
              <a:endParaRPr b="1" i="0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3" name="Google Shape;833;g3a2a419c17e_0_1419"/>
          <p:cNvGrpSpPr/>
          <p:nvPr/>
        </p:nvGrpSpPr>
        <p:grpSpPr>
          <a:xfrm>
            <a:off x="1177930" y="3294217"/>
            <a:ext cx="6594345" cy="761700"/>
            <a:chOff x="1604761" y="1991758"/>
            <a:chExt cx="6040437" cy="761700"/>
          </a:xfrm>
        </p:grpSpPr>
        <p:grpSp>
          <p:nvGrpSpPr>
            <p:cNvPr id="834" name="Google Shape;834;g3a2a419c17e_0_1419"/>
            <p:cNvGrpSpPr/>
            <p:nvPr/>
          </p:nvGrpSpPr>
          <p:grpSpPr>
            <a:xfrm>
              <a:off x="1689221" y="1991758"/>
              <a:ext cx="5955977" cy="761700"/>
              <a:chOff x="584338" y="1737976"/>
              <a:chExt cx="5549736" cy="761700"/>
            </a:xfrm>
          </p:grpSpPr>
          <p:sp>
            <p:nvSpPr>
              <p:cNvPr id="835" name="Google Shape;835;g3a2a419c17e_0_1419"/>
              <p:cNvSpPr/>
              <p:nvPr/>
            </p:nvSpPr>
            <p:spPr>
              <a:xfrm>
                <a:off x="1354774" y="1737976"/>
                <a:ext cx="47793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g3a2a419c17e_0_1419"/>
              <p:cNvSpPr/>
              <p:nvPr/>
            </p:nvSpPr>
            <p:spPr>
              <a:xfrm>
                <a:off x="584338" y="1749861"/>
                <a:ext cx="1422600" cy="7377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7" name="Google Shape;837;g3a2a419c17e_0_1419"/>
            <p:cNvSpPr txBox="1"/>
            <p:nvPr/>
          </p:nvSpPr>
          <p:spPr>
            <a:xfrm>
              <a:off x="3304828" y="2039478"/>
              <a:ext cx="43335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Databases people can use to store and access research papers and/or datasets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8" name="Google Shape;838;g3a2a419c17e_0_1419"/>
            <p:cNvSpPr txBox="1"/>
            <p:nvPr/>
          </p:nvSpPr>
          <p:spPr>
            <a:xfrm>
              <a:off x="1604761" y="2156996"/>
              <a:ext cx="16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Repositories</a:t>
              </a:r>
              <a:endParaRPr b="1" i="0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9" name="Google Shape;839;g3a2a419c17e_0_1419"/>
          <p:cNvGrpSpPr/>
          <p:nvPr/>
        </p:nvGrpSpPr>
        <p:grpSpPr>
          <a:xfrm>
            <a:off x="1170231" y="2394773"/>
            <a:ext cx="6594345" cy="761700"/>
            <a:chOff x="1604761" y="1991758"/>
            <a:chExt cx="6040437" cy="761700"/>
          </a:xfrm>
        </p:grpSpPr>
        <p:grpSp>
          <p:nvGrpSpPr>
            <p:cNvPr id="840" name="Google Shape;840;g3a2a419c17e_0_1419"/>
            <p:cNvGrpSpPr/>
            <p:nvPr/>
          </p:nvGrpSpPr>
          <p:grpSpPr>
            <a:xfrm>
              <a:off x="1689221" y="1991758"/>
              <a:ext cx="5955977" cy="761700"/>
              <a:chOff x="584338" y="1737976"/>
              <a:chExt cx="5549736" cy="761700"/>
            </a:xfrm>
          </p:grpSpPr>
          <p:sp>
            <p:nvSpPr>
              <p:cNvPr id="841" name="Google Shape;841;g3a2a419c17e_0_1419"/>
              <p:cNvSpPr/>
              <p:nvPr/>
            </p:nvSpPr>
            <p:spPr>
              <a:xfrm>
                <a:off x="1354774" y="1737976"/>
                <a:ext cx="47793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g3a2a419c17e_0_1419"/>
              <p:cNvSpPr/>
              <p:nvPr/>
            </p:nvSpPr>
            <p:spPr>
              <a:xfrm>
                <a:off x="584338" y="1749861"/>
                <a:ext cx="1422600" cy="7377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3" name="Google Shape;843;g3a2a419c17e_0_1419"/>
            <p:cNvSpPr txBox="1"/>
            <p:nvPr/>
          </p:nvSpPr>
          <p:spPr>
            <a:xfrm>
              <a:off x="3304828" y="2039478"/>
              <a:ext cx="43335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Versions of research papers made available online before being peer-reviewed and published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4" name="Google Shape;844;g3a2a419c17e_0_1419"/>
            <p:cNvSpPr txBox="1"/>
            <p:nvPr/>
          </p:nvSpPr>
          <p:spPr>
            <a:xfrm>
              <a:off x="1604761" y="2156996"/>
              <a:ext cx="16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Pre-prints</a:t>
              </a:r>
              <a:endParaRPr b="1" i="0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5" name="Google Shape;845;g3a2a419c17e_0_1419"/>
          <p:cNvGrpSpPr/>
          <p:nvPr/>
        </p:nvGrpSpPr>
        <p:grpSpPr>
          <a:xfrm>
            <a:off x="1177930" y="4193661"/>
            <a:ext cx="6594345" cy="860420"/>
            <a:chOff x="1604761" y="1991758"/>
            <a:chExt cx="6040437" cy="860420"/>
          </a:xfrm>
        </p:grpSpPr>
        <p:grpSp>
          <p:nvGrpSpPr>
            <p:cNvPr id="846" name="Google Shape;846;g3a2a419c17e_0_1419"/>
            <p:cNvGrpSpPr/>
            <p:nvPr/>
          </p:nvGrpSpPr>
          <p:grpSpPr>
            <a:xfrm>
              <a:off x="1689221" y="1991758"/>
              <a:ext cx="5955977" cy="761700"/>
              <a:chOff x="584338" y="1737976"/>
              <a:chExt cx="5549736" cy="761700"/>
            </a:xfrm>
          </p:grpSpPr>
          <p:sp>
            <p:nvSpPr>
              <p:cNvPr id="847" name="Google Shape;847;g3a2a419c17e_0_1419"/>
              <p:cNvSpPr/>
              <p:nvPr/>
            </p:nvSpPr>
            <p:spPr>
              <a:xfrm>
                <a:off x="1354774" y="1737976"/>
                <a:ext cx="47793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g3a2a419c17e_0_1419"/>
              <p:cNvSpPr/>
              <p:nvPr/>
            </p:nvSpPr>
            <p:spPr>
              <a:xfrm>
                <a:off x="584338" y="1749861"/>
                <a:ext cx="1422600" cy="7377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" name="Google Shape;849;g3a2a419c17e_0_1419"/>
            <p:cNvSpPr txBox="1"/>
            <p:nvPr/>
          </p:nvSpPr>
          <p:spPr>
            <a:xfrm>
              <a:off x="3304828" y="2039478"/>
              <a:ext cx="43335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Sharing research in a way that increases appreciation, excitement, understanding and impact of research</a:t>
              </a:r>
              <a:endParaRPr/>
            </a:p>
          </p:txBody>
        </p:sp>
        <p:sp>
          <p:nvSpPr>
            <p:cNvPr id="850" name="Google Shape;850;g3a2a419c17e_0_1419"/>
            <p:cNvSpPr txBox="1"/>
            <p:nvPr/>
          </p:nvSpPr>
          <p:spPr>
            <a:xfrm>
              <a:off x="1604761" y="2045840"/>
              <a:ext cx="16557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Science communication</a:t>
              </a:r>
              <a:endParaRPr b="1" i="0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1" name="Google Shape;851;g3a2a419c17e_0_1419"/>
          <p:cNvGrpSpPr/>
          <p:nvPr/>
        </p:nvGrpSpPr>
        <p:grpSpPr>
          <a:xfrm>
            <a:off x="1239748" y="5191597"/>
            <a:ext cx="6502338" cy="761700"/>
            <a:chOff x="1689221" y="1991758"/>
            <a:chExt cx="5956159" cy="761700"/>
          </a:xfrm>
        </p:grpSpPr>
        <p:grpSp>
          <p:nvGrpSpPr>
            <p:cNvPr id="852" name="Google Shape;852;g3a2a419c17e_0_1419"/>
            <p:cNvGrpSpPr/>
            <p:nvPr/>
          </p:nvGrpSpPr>
          <p:grpSpPr>
            <a:xfrm>
              <a:off x="1689221" y="1991758"/>
              <a:ext cx="5955977" cy="761700"/>
              <a:chOff x="584338" y="1737976"/>
              <a:chExt cx="5549736" cy="761700"/>
            </a:xfrm>
          </p:grpSpPr>
          <p:sp>
            <p:nvSpPr>
              <p:cNvPr id="853" name="Google Shape;853;g3a2a419c17e_0_1419"/>
              <p:cNvSpPr/>
              <p:nvPr/>
            </p:nvSpPr>
            <p:spPr>
              <a:xfrm>
                <a:off x="1354774" y="1737976"/>
                <a:ext cx="4779300" cy="761700"/>
              </a:xfrm>
              <a:prstGeom prst="rect">
                <a:avLst/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g3a2a419c17e_0_1419"/>
              <p:cNvSpPr/>
              <p:nvPr/>
            </p:nvSpPr>
            <p:spPr>
              <a:xfrm>
                <a:off x="584338" y="1749861"/>
                <a:ext cx="1422600" cy="7377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5" name="Google Shape;855;g3a2a419c17e_0_1419"/>
            <p:cNvSpPr txBox="1"/>
            <p:nvPr/>
          </p:nvSpPr>
          <p:spPr>
            <a:xfrm>
              <a:off x="3311880" y="2113344"/>
              <a:ext cx="4333500" cy="60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Representing data graphically or visually to increase its accessibility</a:t>
              </a:r>
              <a:endParaRPr/>
            </a:p>
          </p:txBody>
        </p:sp>
        <p:sp>
          <p:nvSpPr>
            <p:cNvPr id="856" name="Google Shape;856;g3a2a419c17e_0_1419"/>
            <p:cNvSpPr txBox="1"/>
            <p:nvPr/>
          </p:nvSpPr>
          <p:spPr>
            <a:xfrm>
              <a:off x="1740460" y="2039478"/>
              <a:ext cx="14244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Data visualisation</a:t>
              </a:r>
              <a:endParaRPr b="1" i="0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a2a419c17e_0_145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Open Knowledge Dissemination</a:t>
            </a:r>
            <a:endParaRPr b="1" sz="2400"/>
          </a:p>
        </p:txBody>
      </p:sp>
      <p:grpSp>
        <p:nvGrpSpPr>
          <p:cNvPr id="862" name="Google Shape;862;g3a2a419c17e_0_1454"/>
          <p:cNvGrpSpPr/>
          <p:nvPr/>
        </p:nvGrpSpPr>
        <p:grpSpPr>
          <a:xfrm>
            <a:off x="183500" y="2004138"/>
            <a:ext cx="3895800" cy="3139225"/>
            <a:chOff x="183500" y="2388000"/>
            <a:chExt cx="3895800" cy="3139225"/>
          </a:xfrm>
        </p:grpSpPr>
        <p:pic>
          <p:nvPicPr>
            <p:cNvPr id="863" name="Google Shape;863;g3a2a419c17e_0_1454"/>
            <p:cNvPicPr preferRelativeResize="0"/>
            <p:nvPr/>
          </p:nvPicPr>
          <p:blipFill rotWithShape="1">
            <a:blip r:embed="rId3">
              <a:alphaModFix/>
            </a:blip>
            <a:srcRect b="24650" l="0" r="57394" t="14317"/>
            <a:stretch/>
          </p:blipFill>
          <p:spPr>
            <a:xfrm>
              <a:off x="183500" y="2388000"/>
              <a:ext cx="3895800" cy="313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4" name="Google Shape;864;g3a2a419c17e_0_1454"/>
            <p:cNvSpPr txBox="1"/>
            <p:nvPr/>
          </p:nvSpPr>
          <p:spPr>
            <a:xfrm>
              <a:off x="702275" y="2896825"/>
              <a:ext cx="2796300" cy="16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Why is open knowledge dissemination important?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5" name="Google Shape;865;g3a2a419c17e_0_1454"/>
          <p:cNvGrpSpPr/>
          <p:nvPr/>
        </p:nvGrpSpPr>
        <p:grpSpPr>
          <a:xfrm>
            <a:off x="3895800" y="2004138"/>
            <a:ext cx="5374051" cy="2849725"/>
            <a:chOff x="3895800" y="2388000"/>
            <a:chExt cx="5374051" cy="2849725"/>
          </a:xfrm>
        </p:grpSpPr>
        <p:grpSp>
          <p:nvGrpSpPr>
            <p:cNvPr id="866" name="Google Shape;866;g3a2a419c17e_0_1454"/>
            <p:cNvGrpSpPr/>
            <p:nvPr/>
          </p:nvGrpSpPr>
          <p:grpSpPr>
            <a:xfrm>
              <a:off x="3895800" y="2388000"/>
              <a:ext cx="5374051" cy="2849725"/>
              <a:chOff x="3895800" y="2388000"/>
              <a:chExt cx="5374051" cy="2849725"/>
            </a:xfrm>
          </p:grpSpPr>
          <p:pic>
            <p:nvPicPr>
              <p:cNvPr id="867" name="Google Shape;867;g3a2a419c17e_0_1454"/>
              <p:cNvPicPr preferRelativeResize="0"/>
              <p:nvPr/>
            </p:nvPicPr>
            <p:blipFill rotWithShape="1">
              <a:blip r:embed="rId4">
                <a:alphaModFix/>
              </a:blip>
              <a:srcRect b="68320" l="44227" r="0" t="12074"/>
              <a:stretch/>
            </p:blipFill>
            <p:spPr>
              <a:xfrm>
                <a:off x="3895800" y="4295625"/>
                <a:ext cx="5374051" cy="942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8" name="Google Shape;868;g3a2a419c17e_0_1454"/>
              <p:cNvPicPr preferRelativeResize="0"/>
              <p:nvPr/>
            </p:nvPicPr>
            <p:blipFill rotWithShape="1">
              <a:blip r:embed="rId4">
                <a:alphaModFix/>
              </a:blip>
              <a:srcRect b="68320" l="44227" r="0" t="12074"/>
              <a:stretch/>
            </p:blipFill>
            <p:spPr>
              <a:xfrm>
                <a:off x="3895800" y="3341812"/>
                <a:ext cx="5374051" cy="942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9" name="Google Shape;869;g3a2a419c17e_0_1454"/>
              <p:cNvPicPr preferRelativeResize="0"/>
              <p:nvPr/>
            </p:nvPicPr>
            <p:blipFill rotWithShape="1">
              <a:blip r:embed="rId4">
                <a:alphaModFix/>
              </a:blip>
              <a:srcRect b="68320" l="44227" r="0" t="12074"/>
              <a:stretch/>
            </p:blipFill>
            <p:spPr>
              <a:xfrm>
                <a:off x="3895800" y="2388000"/>
                <a:ext cx="5374051" cy="94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0" name="Google Shape;870;g3a2a419c17e_0_1454"/>
            <p:cNvSpPr txBox="1"/>
            <p:nvPr/>
          </p:nvSpPr>
          <p:spPr>
            <a:xfrm>
              <a:off x="4856600" y="2561958"/>
              <a:ext cx="3895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increases public access to and interest in research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1" name="Google Shape;871;g3a2a419c17e_0_1454"/>
            <p:cNvSpPr txBox="1"/>
            <p:nvPr/>
          </p:nvSpPr>
          <p:spPr>
            <a:xfrm>
              <a:off x="4856600" y="3542265"/>
              <a:ext cx="3895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increases the transparency and openness of research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2" name="Google Shape;872;g3a2a419c17e_0_1454"/>
            <p:cNvSpPr txBox="1"/>
            <p:nvPr/>
          </p:nvSpPr>
          <p:spPr>
            <a:xfrm>
              <a:off x="4856600" y="4503713"/>
              <a:ext cx="3895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helps reshape what is considered important in research and academia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3" name="Google Shape;873;g3a2a419c17e_0_1454"/>
            <p:cNvSpPr txBox="1"/>
            <p:nvPr/>
          </p:nvSpPr>
          <p:spPr>
            <a:xfrm>
              <a:off x="4079300" y="2703150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4" name="Google Shape;874;g3a2a419c17e_0_1454"/>
            <p:cNvSpPr txBox="1"/>
            <p:nvPr/>
          </p:nvSpPr>
          <p:spPr>
            <a:xfrm>
              <a:off x="4079300" y="3663025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5" name="Google Shape;875;g3a2a419c17e_0_1454"/>
            <p:cNvSpPr txBox="1"/>
            <p:nvPr/>
          </p:nvSpPr>
          <p:spPr>
            <a:xfrm>
              <a:off x="4079300" y="4612050"/>
              <a:ext cx="777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a2a419c17e_0_1472"/>
          <p:cNvSpPr txBox="1"/>
          <p:nvPr>
            <p:ph idx="4294967295" type="body"/>
          </p:nvPr>
        </p:nvSpPr>
        <p:spPr>
          <a:xfrm>
            <a:off x="349225" y="1371125"/>
            <a:ext cx="8042100" cy="47058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>
                <a:solidFill>
                  <a:srgbClr val="000000"/>
                </a:solidFill>
              </a:rPr>
              <a:t>ACTIVITY SLIDE HERE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/>
          </a:p>
        </p:txBody>
      </p:sp>
      <p:sp>
        <p:nvSpPr>
          <p:cNvPr id="881" name="Google Shape;881;g3a2a419c17e_0_147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What does open research involve?</a:t>
            </a:r>
            <a:endParaRPr b="1" sz="2000"/>
          </a:p>
        </p:txBody>
      </p:sp>
      <p:pic>
        <p:nvPicPr>
          <p:cNvPr descr="Diagram&#10;&#10;Description automatically generated with low confidence" id="882" name="Google Shape;882;g3a2a419c17e_0_1472"/>
          <p:cNvPicPr preferRelativeResize="0"/>
          <p:nvPr/>
        </p:nvPicPr>
        <p:blipFill rotWithShape="1">
          <a:blip r:embed="rId3">
            <a:alphaModFix/>
          </a:blip>
          <a:srcRect b="11535" l="0" r="1787" t="0"/>
          <a:stretch/>
        </p:blipFill>
        <p:spPr>
          <a:xfrm>
            <a:off x="-1" y="-1"/>
            <a:ext cx="9143999" cy="6112652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g3a2a419c17e_0_1472"/>
          <p:cNvSpPr txBox="1"/>
          <p:nvPr/>
        </p:nvSpPr>
        <p:spPr>
          <a:xfrm>
            <a:off x="254000" y="254001"/>
            <a:ext cx="7569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/>
          </a:p>
        </p:txBody>
      </p:sp>
      <p:sp>
        <p:nvSpPr>
          <p:cNvPr id="884" name="Google Shape;884;g3a2a419c17e_0_1472"/>
          <p:cNvSpPr txBox="1"/>
          <p:nvPr/>
        </p:nvSpPr>
        <p:spPr>
          <a:xfrm>
            <a:off x="254000" y="2712720"/>
            <a:ext cx="62103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 the activity on Canvas to reflect on where in the research cycle different open research practices are relevant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889" name="Google Shape;889;g3a2a419c17e_0_14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90" name="Google Shape;890;g3a2a419c17e_0_14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5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2021-03-16T17:05:21Z</dcterms:created>
  <dc:creator>Orlagh O'Brien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0x010100AA7A9ED9D3E8CD4BAE96912ACCE469BD</vt:lpwstr>
  </property>
</Properties>
</file>